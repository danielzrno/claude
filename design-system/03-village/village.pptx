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389120" y="3383280"/>
            <a:ext cx="7680960" cy="7680960"/>
          </a:xfrm>
          <a:prstGeom prst="ellipse">
            <a:avLst/>
          </a:prstGeom>
          <a:noFill/>
          <a:ln w="12700">
            <a:solidFill>
              <a:srgbClr val="3A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91840" y="4480560"/>
            <a:ext cx="5486400" cy="5486400"/>
          </a:xfrm>
          <a:prstGeom prst="ellipse">
            <a:avLst/>
          </a:prstGeom>
          <a:noFill/>
          <a:ln w="12700">
            <a:solidFill>
              <a:srgbClr val="3A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5486400"/>
            <a:ext cx="3474720" cy="3474720"/>
          </a:xfrm>
          <a:prstGeom prst="ellipse">
            <a:avLst/>
          </a:prstGeom>
          <a:noFill/>
          <a:ln w="12700">
            <a:solidFill>
              <a:srgbClr val="3A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095" y="1143000"/>
            <a:ext cx="4572000" cy="4572000"/>
          </a:xfrm>
          <a:prstGeom prst="ellipse">
            <a:avLst/>
          </a:prstGeom>
          <a:noFill/>
          <a:ln w="15875">
            <a:solidFill>
              <a:srgbClr val="6E5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57055" y="1965960"/>
            <a:ext cx="2926080" cy="2926080"/>
          </a:xfrm>
          <a:prstGeom prst="ellipse">
            <a:avLst/>
          </a:prstGeom>
          <a:noFill/>
          <a:ln w="12700">
            <a:solidFill>
              <a:srgbClr val="3E3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59975" y="2468880"/>
            <a:ext cx="1920240" cy="1920240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9975" y="2468880"/>
            <a:ext cx="1920240" cy="19202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6000" b="1" i="0" lang="en-AU">
                <a:solidFill>
                  <a:srgbClr val="FBF8F0"/>
                </a:solidFill>
                <a:latin typeface="Gabarito"/>
                <a:cs typeface="Gabarito"/>
              </a:rPr>
              <a:t>m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234440"/>
            <a:ext cx="155448" cy="155448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0789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2400" b="1" i="0" lang="en-AU">
                <a:solidFill>
                  <a:srgbClr val="FBF8F0"/>
                </a:solidFill>
                <a:latin typeface="Gabarito"/>
                <a:cs typeface="Gabarito"/>
              </a:rPr>
              <a:t>Mivada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lang="en-AU" spc="16">
                <a:solidFill>
                  <a:srgbClr val="E0A33E"/>
                </a:solidFill>
                <a:latin typeface="Gabarito"/>
                <a:cs typeface="Gabarito"/>
              </a:rPr>
              <a:t>CAPABILITY OVERVIEW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31720"/>
            <a:ext cx="768096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5200" b="1" i="0" lang="en-AU" spc="-1">
                <a:solidFill>
                  <a:srgbClr val="FBF8F0"/>
                </a:solidFill>
                <a:latin typeface="Gabarito"/>
                <a:cs typeface="Gabarito"/>
              </a:rPr>
              <a:t>Technology,</a:t>
            </a:r>
          </a:p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5200" b="1" i="0" lang="en-AU" spc="-1">
                <a:solidFill>
                  <a:srgbClr val="FBF8F0"/>
                </a:solidFill>
                <a:latin typeface="Gabarito"/>
                <a:cs typeface="Gabarito"/>
              </a:rPr>
              <a:t>human</a:t>
            </a:r>
            <a:r>
              <a:rPr sz="5200" b="1" i="0" lang="en-AU" spc="-1">
                <a:solidFill>
                  <a:srgbClr val="FBF8F0"/>
                </a:solidFill>
                <a:latin typeface="Gabarito"/>
                <a:cs typeface="Gabarito"/>
              </a:rPr>
              <a:t> first.</a:t>
            </a:r>
          </a:p>
        </p:txBody>
      </p:sp>
      <p:sp>
        <p:nvSpPr>
          <p:cNvPr id="13" name="Rounded Rectangle 12"/>
          <p:cNvSpPr/>
          <p:nvPr/>
        </p:nvSpPr>
        <p:spPr>
          <a:xfrm rot="21516000">
            <a:off x="859536" y="4224528"/>
            <a:ext cx="1783080" cy="77724"/>
          </a:xfrm>
          <a:prstGeom prst="roundRect">
            <a:avLst>
              <a:gd name="adj" fmla="val 50000"/>
            </a:avLst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70916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600" b="0" i="1" lang="en-AU">
                <a:solidFill>
                  <a:srgbClr val="C9C1B4"/>
                </a:solidFill>
                <a:latin typeface="Source Serif 4"/>
                <a:cs typeface="Source Serif 4"/>
              </a:rPr>
              <a:t>From </a:t>
            </a:r>
            <a:r>
              <a:rPr sz="1600" b="0" i="1" lang="en-AU">
                <a:solidFill>
                  <a:srgbClr val="C9C1B4"/>
                </a:solidFill>
                <a:latin typeface="Source Serif 4"/>
                <a:cs typeface="Source Serif 4"/>
              </a:rPr>
              <a:t>my village</a:t>
            </a:r>
            <a:r>
              <a:rPr sz="1600" b="0" i="1" lang="en-AU">
                <a:solidFill>
                  <a:srgbClr val="C9C1B4"/>
                </a:solidFill>
                <a:latin typeface="Source Serif 4"/>
                <a:cs typeface="Source Serif 4"/>
              </a:rPr>
              <a:t> — community — and wisdom. We turn enterprise platforms into measurable human outcomes.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658368"/>
            <a:ext cx="14630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47395"/>
            <a:ext cx="14630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67665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lang="en-AU" spc="4">
                <a:solidFill>
                  <a:srgbClr val="E0A33E"/>
                </a:solidFill>
                <a:latin typeface="Gabarito"/>
                <a:cs typeface="Gabarito"/>
              </a:rPr>
              <a:t>• •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548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950" b="1" i="0" lang="en-AU" spc="14">
                <a:solidFill>
                  <a:srgbClr val="6E665C"/>
                </a:solidFill>
                <a:latin typeface="Gabarito"/>
                <a:cs typeface="Gabarit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 lang="en-AU" spc="-1">
                <a:solidFill>
                  <a:srgbClr val="241F1B"/>
                </a:solidFill>
                <a:latin typeface="Gabarito"/>
                <a:cs typeface="Gabarito"/>
              </a:rPr>
              <a:t>An Australian technology consultancy, built around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974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650" b="0" i="0" lang="en-AU">
                <a:solidFill>
                  <a:srgbClr val="241F1B"/>
                </a:solidFill>
                <a:latin typeface="Source Serif 4"/>
                <a:cs typeface="Source Serif 4"/>
              </a:rPr>
              <a:t>We turn enterprise platforms — Workday, payroll, data and AI — into measurable human outcomes, not just go-lives. Plain advice, senior hands, work delivered in weeks.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4754880"/>
            <a:ext cx="841248" cy="841248"/>
          </a:xfrm>
          <a:prstGeom prst="ellipse">
            <a:avLst/>
          </a:prstGeom>
          <a:solidFill>
            <a:srgbClr val="FAF5EC"/>
          </a:solidFill>
          <a:ln w="2540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75488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 i="0" lang="en-AU">
                <a:solidFill>
                  <a:srgbClr val="586647"/>
                </a:solidFill>
                <a:latin typeface="Gabarito"/>
                <a:cs typeface="Gabarito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4736592"/>
            <a:ext cx="2405786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2">
                <a:solidFill>
                  <a:srgbClr val="241F1B"/>
                </a:solidFill>
                <a:latin typeface="Gabarito"/>
                <a:cs typeface="Gabarito"/>
              </a:rPr>
              <a:t>Since 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5212080"/>
            <a:ext cx="2405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Founded as LJM Infotech</a:t>
            </a:r>
          </a:p>
        </p:txBody>
      </p:sp>
      <p:sp>
        <p:nvSpPr>
          <p:cNvPr id="12" name="Oval 11"/>
          <p:cNvSpPr/>
          <p:nvPr/>
        </p:nvSpPr>
        <p:spPr>
          <a:xfrm>
            <a:off x="4344314" y="4754880"/>
            <a:ext cx="841248" cy="841248"/>
          </a:xfrm>
          <a:prstGeom prst="ellipse">
            <a:avLst/>
          </a:prstGeom>
          <a:solidFill>
            <a:srgbClr val="FAF5EC"/>
          </a:solidFill>
          <a:ln w="2540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4314" y="475488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 i="0" lang="en-AU">
                <a:solidFill>
                  <a:srgbClr val="586647"/>
                </a:solidFill>
                <a:latin typeface="Gabarito"/>
                <a:cs typeface="Gabarito"/>
              </a:rP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8442" y="4736592"/>
            <a:ext cx="2405786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2">
                <a:solidFill>
                  <a:srgbClr val="241F1B"/>
                </a:solidFill>
                <a:latin typeface="Gabarito"/>
                <a:cs typeface="Gabarito"/>
              </a:rPr>
              <a:t>120+ specialists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8442" y="5212080"/>
            <a:ext cx="2405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Certified, not generalists</a:t>
            </a:r>
          </a:p>
        </p:txBody>
      </p:sp>
      <p:sp>
        <p:nvSpPr>
          <p:cNvPr id="16" name="Oval 15"/>
          <p:cNvSpPr/>
          <p:nvPr/>
        </p:nvSpPr>
        <p:spPr>
          <a:xfrm>
            <a:off x="7847380" y="4754880"/>
            <a:ext cx="841248" cy="841248"/>
          </a:xfrm>
          <a:prstGeom prst="ellipse">
            <a:avLst/>
          </a:prstGeom>
          <a:solidFill>
            <a:srgbClr val="FAF5EC"/>
          </a:solidFill>
          <a:ln w="2540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7380" y="475488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500" b="1" i="0" lang="en-AU">
                <a:solidFill>
                  <a:srgbClr val="586647"/>
                </a:solidFill>
                <a:latin typeface="Gabarito"/>
                <a:cs typeface="Gabarito"/>
              </a:rPr>
              <a:t>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1508" y="4736592"/>
            <a:ext cx="2405786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2">
                <a:solidFill>
                  <a:srgbClr val="241F1B"/>
                </a:solidFill>
                <a:latin typeface="Gabarito"/>
                <a:cs typeface="Gabarito"/>
              </a:rPr>
              <a:t>AU +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1508" y="5212080"/>
            <a:ext cx="2405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Onshore led, offshore scaled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1" i="0" lang="en-AU" spc="4">
                <a:solidFill>
                  <a:srgbClr val="6E665C"/>
                </a:solidFill>
                <a:latin typeface="Gabarito"/>
                <a:cs typeface="Gabarito"/>
              </a:rPr>
              <a:t>Mivada — Technology, human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658368"/>
            <a:ext cx="14630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47395"/>
            <a:ext cx="14630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67665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lang="en-AU" spc="4">
                <a:solidFill>
                  <a:srgbClr val="E0A33E"/>
                </a:solidFill>
                <a:latin typeface="Gabarito"/>
                <a:cs typeface="Gabarito"/>
              </a:rPr>
              <a:t>• •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548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950" b="1" i="0" lang="en-AU" spc="14">
                <a:solidFill>
                  <a:srgbClr val="6E665C"/>
                </a:solidFill>
                <a:latin typeface="Gabarito"/>
                <a:cs typeface="Gabarit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000" b="1" i="0" lang="en-AU" spc="-1">
                <a:solidFill>
                  <a:srgbClr val="241F1B"/>
                </a:solidFill>
                <a:latin typeface="Gabarito"/>
                <a:cs typeface="Gabarito"/>
              </a:rPr>
              <a:t>Four practices, one operating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5071719" cy="173736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2700">
            <a:solidFill>
              <a:srgbClr val="E4DBC9"/>
            </a:solidFill>
          </a:ln>
          <a:effectLst>
            <a:outerShdw blurRad="146304" dist="64008" dir="5400000" rotWithShape="0">
              <a:srgbClr val="3C2814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33856" y="2578608"/>
            <a:ext cx="15709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567635"/>
            <a:ext cx="15709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PRACTICE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962656"/>
            <a:ext cx="452307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Workday &amp;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401568"/>
            <a:ext cx="4504791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Implementation, optimisation and managed support for Workday HCM, Financials and adjacent ERP.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286000"/>
            <a:ext cx="5071719" cy="173736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2700">
            <a:solidFill>
              <a:srgbClr val="E4DBC9"/>
            </a:solidFill>
          </a:ln>
          <a:effectLst>
            <a:outerShdw blurRad="146304" dist="64008" dir="5400000" rotWithShape="0">
              <a:srgbClr val="3C2814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71335" y="2578608"/>
            <a:ext cx="15709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2567635"/>
            <a:ext cx="15709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PRACTICE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1335" y="2962656"/>
            <a:ext cx="452307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Payroll consulting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1335" y="3401568"/>
            <a:ext cx="4504791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Compliant, accurate payroll across complex awards and multi-entity structures.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389120"/>
            <a:ext cx="5071719" cy="173736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2700">
            <a:solidFill>
              <a:srgbClr val="E4DBC9"/>
            </a:solidFill>
          </a:ln>
          <a:effectLst>
            <a:outerShdw blurRad="146304" dist="64008" dir="5400000" rotWithShape="0">
              <a:srgbClr val="3C2814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3856" y="4681728"/>
            <a:ext cx="15709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670755"/>
            <a:ext cx="15709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PRACTICE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5065776"/>
            <a:ext cx="452307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Data &amp;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5504688"/>
            <a:ext cx="4504791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Lakehouse architecture, governed analytics and applied AI on your people and finance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4389120"/>
            <a:ext cx="5071719" cy="173736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2700">
            <a:solidFill>
              <a:srgbClr val="E4DBC9"/>
            </a:solidFill>
          </a:ln>
          <a:effectLst>
            <a:outerShdw blurRad="146304" dist="64008" dir="5400000" rotWithShape="0">
              <a:srgbClr val="3C2814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71335" y="4681728"/>
            <a:ext cx="15709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1335" y="4670755"/>
            <a:ext cx="15709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PRACTICE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1335" y="5065776"/>
            <a:ext cx="452307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Intelligent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1335" y="5504688"/>
            <a:ext cx="4504791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RPA, ML and process design combined to remove low-value, repetitive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1" i="0" lang="en-AU" spc="4">
                <a:solidFill>
                  <a:srgbClr val="6E665C"/>
                </a:solidFill>
                <a:latin typeface="Gabarito"/>
                <a:cs typeface="Gabarito"/>
              </a:rPr>
              <a:t>Mivada — Technology, human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658368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47395"/>
            <a:ext cx="15709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FBF8F0"/>
                </a:solidFill>
                <a:latin typeface="Gabarito"/>
                <a:cs typeface="Gabarito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8219" y="67665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lang="en-AU" spc="4">
                <a:solidFill>
                  <a:srgbClr val="E0A33E"/>
                </a:solidFill>
                <a:latin typeface="Gabarito"/>
                <a:cs typeface="Gabarito"/>
              </a:rPr>
              <a:t>• •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0867" y="658368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0" i="0" lang="en-AU">
                <a:solidFill>
                  <a:srgbClr val="6E665C"/>
                </a:solidFill>
                <a:latin typeface="Gabarito"/>
                <a:cs typeface="Gabarito"/>
              </a:rPr>
              <a:t>Think human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548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950" b="1" i="0" lang="en-AU" spc="14">
                <a:solidFill>
                  <a:srgbClr val="6E665C"/>
                </a:solidFill>
                <a:latin typeface="Gabarito"/>
                <a:cs typeface="Gabarit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3258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000" b="1" i="0" lang="en-AU" spc="-1">
                <a:solidFill>
                  <a:srgbClr val="241F1B"/>
                </a:solidFill>
                <a:latin typeface="Gabarito"/>
                <a:cs typeface="Gabarito"/>
              </a:rPr>
              <a:t>Four steps, run in weeks — not multi-year programs.</a:t>
            </a:r>
          </a:p>
        </p:txBody>
      </p:sp>
      <p:sp>
        <p:nvSpPr>
          <p:cNvPr id="8" name="Oval 7"/>
          <p:cNvSpPr/>
          <p:nvPr/>
        </p:nvSpPr>
        <p:spPr>
          <a:xfrm>
            <a:off x="1847088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93392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39696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32304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78608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24912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71216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17520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63824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10128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4387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20691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66995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13299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59603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05907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52211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98515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44819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1123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37427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01687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47991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94295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0599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86903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33207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79511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25815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119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18423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64727" y="3604564"/>
            <a:ext cx="32918" cy="32918"/>
          </a:xfrm>
          <a:prstGeom prst="ellipse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1248" y="3200400"/>
            <a:ext cx="841248" cy="841248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20040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 i="0" lang="en-AU">
                <a:solidFill>
                  <a:srgbClr val="FBF8F0"/>
                </a:solidFill>
                <a:latin typeface="Gabarito"/>
                <a:cs typeface="Gabarito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4224528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Listen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4681728"/>
            <a:ext cx="221581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Understand the people and the work before the technology.</a:t>
            </a:r>
          </a:p>
        </p:txBody>
      </p:sp>
      <p:sp>
        <p:nvSpPr>
          <p:cNvPr id="45" name="Oval 44"/>
          <p:cNvSpPr/>
          <p:nvPr/>
        </p:nvSpPr>
        <p:spPr>
          <a:xfrm>
            <a:off x="3468547" y="3200400"/>
            <a:ext cx="841248" cy="841248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68547" y="320040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 i="0" lang="en-AU">
                <a:solidFill>
                  <a:srgbClr val="FBF8F0"/>
                </a:solidFill>
                <a:latin typeface="Gabarito"/>
                <a:cs typeface="Gabarito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68547" y="4224528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8547" y="4681728"/>
            <a:ext cx="221581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Shape the platform around how teams actually operate.</a:t>
            </a:r>
          </a:p>
        </p:txBody>
      </p:sp>
      <p:sp>
        <p:nvSpPr>
          <p:cNvPr id="49" name="Oval 48"/>
          <p:cNvSpPr/>
          <p:nvPr/>
        </p:nvSpPr>
        <p:spPr>
          <a:xfrm>
            <a:off x="6095847" y="3200400"/>
            <a:ext cx="841248" cy="841248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5847" y="320040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 i="0" lang="en-AU">
                <a:solidFill>
                  <a:srgbClr val="FBF8F0"/>
                </a:solidFill>
                <a:latin typeface="Gabarito"/>
                <a:cs typeface="Gabarito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5847" y="4224528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Deliver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5847" y="4681728"/>
            <a:ext cx="221581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Implement in weeks-long increments, measured as we go.</a:t>
            </a:r>
          </a:p>
        </p:txBody>
      </p:sp>
      <p:sp>
        <p:nvSpPr>
          <p:cNvPr id="53" name="Oval 52"/>
          <p:cNvSpPr/>
          <p:nvPr/>
        </p:nvSpPr>
        <p:spPr>
          <a:xfrm>
            <a:off x="8723147" y="3200400"/>
            <a:ext cx="841248" cy="841248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23147" y="320040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 i="0" lang="en-AU">
                <a:solidFill>
                  <a:srgbClr val="FBF8F0"/>
                </a:solidFill>
                <a:latin typeface="Gabarito"/>
                <a:cs typeface="Gabarito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23147" y="4224528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23147" y="4681728"/>
            <a:ext cx="221581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Stay on after go-live; measure outcomes, not tickets closed.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1" i="0" lang="en-AU" spc="4">
                <a:solidFill>
                  <a:srgbClr val="6E665C"/>
                </a:solidFill>
                <a:latin typeface="Gabarito"/>
                <a:cs typeface="Gabarito"/>
              </a:rPr>
              <a:t>Mivada — Technology, human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6047" y="548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950" b="1" i="0" lang="en-AU" spc="14">
                <a:solidFill>
                  <a:srgbClr val="6E665C"/>
                </a:solidFill>
                <a:latin typeface="Gabarito"/>
                <a:cs typeface="Gabarito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371600"/>
            <a:ext cx="1355140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360627"/>
            <a:ext cx="1355140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DATA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000" b="1" i="0" lang="en-AU" spc="-2">
                <a:solidFill>
                  <a:srgbClr val="241F1B"/>
                </a:solidFill>
                <a:latin typeface="Gabarito"/>
                <a:cs typeface="Gabarito"/>
              </a:rPr>
              <a:t>Decisions on current data, not last quarter's.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576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600" b="0" i="0" lang="en-AU">
                <a:solidFill>
                  <a:srgbClr val="241F1B"/>
                </a:solidFill>
                <a:latin typeface="Source Serif 4"/>
                <a:cs typeface="Source Serif 4"/>
              </a:rPr>
              <a:t>Certified consultants design Lakehouse architectures and integrate Databricks with Workday, payroll and finance — so leaders see one trusted set of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12080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lang="en-AU" spc="4">
                <a:solidFill>
                  <a:srgbClr val="E0A33E"/>
                </a:solidFill>
                <a:latin typeface="Gabarito"/>
                <a:cs typeface="Gabarito"/>
              </a:rPr>
              <a:t>• • 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234440"/>
            <a:ext cx="4812487" cy="438912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12700">
            <a:solidFill>
              <a:srgbClr val="E4DBC9"/>
            </a:solidFill>
          </a:ln>
          <a:effectLst>
            <a:outerShdw blurRad="146304" dist="64008" dir="5400000" rotWithShape="0">
              <a:srgbClr val="3C2814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618488"/>
            <a:ext cx="38980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600" b="1" i="0" lang="en-AU" spc="-1">
                <a:solidFill>
                  <a:srgbClr val="241F1B"/>
                </a:solidFill>
                <a:latin typeface="Gabarito"/>
                <a:cs typeface="Gabarito"/>
              </a:rPr>
              <a:t>Selected capabilities</a:t>
            </a:r>
          </a:p>
        </p:txBody>
      </p:sp>
      <p:sp>
        <p:nvSpPr>
          <p:cNvPr id="10" name="Oval 9"/>
          <p:cNvSpPr/>
          <p:nvPr/>
        </p:nvSpPr>
        <p:spPr>
          <a:xfrm>
            <a:off x="6995160" y="2221992"/>
            <a:ext cx="274320" cy="274320"/>
          </a:xfrm>
          <a:prstGeom prst="ellipse">
            <a:avLst/>
          </a:prstGeom>
          <a:solidFill>
            <a:srgbClr val="E7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700000">
            <a:off x="7071969" y="2352979"/>
            <a:ext cx="71323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18480000">
            <a:off x="7121347" y="2347493"/>
            <a:ext cx="109728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2157984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1" i="0" lang="en-AU">
                <a:solidFill>
                  <a:srgbClr val="241F1B"/>
                </a:solidFill>
                <a:latin typeface="Source Serif 4"/>
                <a:cs typeface="Source Serif 4"/>
              </a:rPr>
              <a:t>Lakehouse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2487168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Designed for governance from day one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3063240"/>
            <a:ext cx="274320" cy="274320"/>
          </a:xfrm>
          <a:prstGeom prst="ellipse">
            <a:avLst/>
          </a:prstGeom>
          <a:solidFill>
            <a:srgbClr val="E7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2700000">
            <a:off x="7071969" y="3194227"/>
            <a:ext cx="71323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18480000">
            <a:off x="7121347" y="3188741"/>
            <a:ext cx="109728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4072" y="2999232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1" i="0" lang="en-AU">
                <a:solidFill>
                  <a:srgbClr val="241F1B"/>
                </a:solidFill>
                <a:latin typeface="Source Serif 4"/>
                <a:cs typeface="Source Serif 4"/>
              </a:rPr>
              <a:t>Delta Lake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3328416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Batch and streaming, built to scale</a:t>
            </a:r>
          </a:p>
        </p:txBody>
      </p:sp>
      <p:sp>
        <p:nvSpPr>
          <p:cNvPr id="20" name="Oval 19"/>
          <p:cNvSpPr/>
          <p:nvPr/>
        </p:nvSpPr>
        <p:spPr>
          <a:xfrm>
            <a:off x="6995160" y="3904488"/>
            <a:ext cx="274320" cy="274320"/>
          </a:xfrm>
          <a:prstGeom prst="ellipse">
            <a:avLst/>
          </a:prstGeom>
          <a:solidFill>
            <a:srgbClr val="E7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 rot="2700000">
            <a:off x="7071969" y="4035475"/>
            <a:ext cx="71323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 rot="18480000">
            <a:off x="7121347" y="4029989"/>
            <a:ext cx="109728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2" y="3840480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1" i="0" lang="en-AU">
                <a:solidFill>
                  <a:srgbClr val="241F1B"/>
                </a:solidFill>
                <a:latin typeface="Source Serif 4"/>
                <a:cs typeface="Source Serif 4"/>
              </a:rPr>
              <a:t>Governed KPI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4169664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One trusted definition per metric</a:t>
            </a:r>
          </a:p>
        </p:txBody>
      </p:sp>
      <p:sp>
        <p:nvSpPr>
          <p:cNvPr id="25" name="Oval 24"/>
          <p:cNvSpPr/>
          <p:nvPr/>
        </p:nvSpPr>
        <p:spPr>
          <a:xfrm>
            <a:off x="6995160" y="4745736"/>
            <a:ext cx="274320" cy="274320"/>
          </a:xfrm>
          <a:prstGeom prst="ellipse">
            <a:avLst/>
          </a:prstGeom>
          <a:solidFill>
            <a:srgbClr val="E7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2700000">
            <a:off x="7071969" y="4876723"/>
            <a:ext cx="71323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 rot="18480000">
            <a:off x="7121347" y="4871237"/>
            <a:ext cx="109728" cy="23317"/>
          </a:xfrm>
          <a:prstGeom prst="roundRect">
            <a:avLst>
              <a:gd name="adj" fmla="val 50000"/>
            </a:avLst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4681728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1" i="0" lang="en-AU">
                <a:solidFill>
                  <a:srgbClr val="241F1B"/>
                </a:solidFill>
                <a:latin typeface="Source Serif 4"/>
                <a:cs typeface="Source Serif 4"/>
              </a:rPr>
              <a:t>Real-time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5010912"/>
            <a:ext cx="34408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Current data in the hands of leaders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1" i="0" lang="en-AU" spc="4">
                <a:solidFill>
                  <a:srgbClr val="6E665C"/>
                </a:solidFill>
                <a:latin typeface="Gabarito"/>
                <a:cs typeface="Gabarito"/>
              </a:rPr>
              <a:t>Mivada — Technology, human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658368"/>
            <a:ext cx="1247241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47395"/>
            <a:ext cx="1247241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4521" y="67665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lang="en-AU" spc="4">
                <a:solidFill>
                  <a:srgbClr val="E0A33E"/>
                </a:solidFill>
                <a:latin typeface="Gabarito"/>
                <a:cs typeface="Gabarito"/>
              </a:rPr>
              <a:t>• •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548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950" b="1" i="0" lang="en-AU" spc="14">
                <a:solidFill>
                  <a:srgbClr val="6E665C"/>
                </a:solidFill>
                <a:latin typeface="Gabarito"/>
                <a:cs typeface="Gabarit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2600" b="1" i="0" lang="en-AU" spc="-1">
                <a:solidFill>
                  <a:srgbClr val="241F1B"/>
                </a:solidFill>
                <a:latin typeface="Gabarito"/>
                <a:cs typeface="Gabarito"/>
              </a:rPr>
              <a:t>The work shows up as measurable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322874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5000" b="1" i="0" lang="en-AU" spc="-3">
                <a:solidFill>
                  <a:srgbClr val="241F1B"/>
                </a:solidFill>
                <a:latin typeface="Gabarito"/>
                <a:cs typeface="Gabarito"/>
              </a:rPr>
              <a:t>40</a:t>
            </a:r>
            <a:r>
              <a:rPr sz="5000" b="1" i="0" lang="en-AU" spc="-3">
                <a:solidFill>
                  <a:srgbClr val="E0A33E"/>
                </a:solidFill>
                <a:latin typeface="Gabarito"/>
                <a:cs typeface="Gabarito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5468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Workday deployments delivered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1434" y="2331720"/>
            <a:ext cx="10972" cy="1051560"/>
          </a:xfrm>
          <a:prstGeom prst="rect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4314" y="2240280"/>
            <a:ext cx="322874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5000" b="1" i="0" lang="en-AU" spc="-3">
                <a:solidFill>
                  <a:srgbClr val="241F1B"/>
                </a:solidFill>
                <a:latin typeface="Gabarito"/>
                <a:cs typeface="Gabarito"/>
              </a:rPr>
              <a:t>98</a:t>
            </a:r>
            <a:r>
              <a:rPr sz="5000" b="1" i="0" lang="en-AU" spc="-3">
                <a:solidFill>
                  <a:srgbClr val="E0A33E"/>
                </a:solidFill>
                <a:latin typeface="Gabarito"/>
                <a:cs typeface="Gabarito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4314" y="315468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Client retention, year on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4500" y="2331720"/>
            <a:ext cx="10972" cy="1051560"/>
          </a:xfrm>
          <a:prstGeom prst="rect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7380" y="2240280"/>
            <a:ext cx="322874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5000" b="1" i="0" lang="en-AU" spc="-3">
                <a:solidFill>
                  <a:srgbClr val="241F1B"/>
                </a:solidFill>
                <a:latin typeface="Gabarito"/>
                <a:cs typeface="Gabarito"/>
              </a:rPr>
              <a:t>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7380" y="315468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6E665C"/>
                </a:solidFill>
                <a:latin typeface="Source Serif 4"/>
                <a:cs typeface="Source Serif 4"/>
              </a:rPr>
              <a:t>To value — not multi-year programs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114800"/>
            <a:ext cx="10509199" cy="10972"/>
          </a:xfrm>
          <a:prstGeom prst="rect">
            <a:avLst/>
          </a:prstGeom>
          <a:solidFill>
            <a:srgbClr val="E4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4434840"/>
            <a:ext cx="1051560" cy="1051560"/>
          </a:xfrm>
          <a:prstGeom prst="ellipse">
            <a:avLst/>
          </a:prstGeom>
          <a:solidFill>
            <a:srgbClr val="58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34840"/>
            <a:ext cx="1051560" cy="1051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200" b="1" i="0" lang="en-AU">
                <a:solidFill>
                  <a:srgbClr val="FBF8F0"/>
                </a:solidFill>
                <a:latin typeface="Gabarito"/>
                <a:cs typeface="Gabarito"/>
              </a:rPr>
              <a:t>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4370832"/>
            <a:ext cx="85953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2400" b="0" i="1" lang="en-AU">
                <a:solidFill>
                  <a:srgbClr val="241F1B"/>
                </a:solidFill>
                <a:latin typeface="Source Serif 4"/>
                <a:cs typeface="Source Serif 4"/>
              </a:rPr>
              <a:t>“</a:t>
            </a:r>
            <a:r>
              <a:rPr sz="1900" b="1" i="1" lang="en-AU">
                <a:solidFill>
                  <a:srgbClr val="241F1B"/>
                </a:solidFill>
                <a:latin typeface="Source Serif 4"/>
                <a:cs typeface="Source Serif 4"/>
              </a:rPr>
              <a:t>They listened first, then built around how our teams actually work. Adoption looked after itself.</a:t>
            </a:r>
            <a:r>
              <a:rPr sz="2400" b="0" i="1" lang="en-AU">
                <a:solidFill>
                  <a:srgbClr val="241F1B"/>
                </a:solidFill>
                <a:latin typeface="Source Serif 4"/>
                <a:cs typeface="Source Serif 4"/>
              </a:rPr>
              <a:t>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57150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lang="en-AU">
                <a:solidFill>
                  <a:srgbClr val="241F1B"/>
                </a:solidFill>
                <a:latin typeface="Gabarito"/>
                <a:cs typeface="Gabarito"/>
              </a:rPr>
              <a:t>Executive sponsor</a:t>
            </a:r>
            <a:r>
              <a:rPr sz="1250" b="0" i="0" lang="en-AU">
                <a:solidFill>
                  <a:srgbClr val="6E665C"/>
                </a:solidFill>
                <a:latin typeface="Gabarito"/>
                <a:cs typeface="Gabarito"/>
              </a:rPr>
              <a:t>   Enterprise client · illustrative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1" i="0" lang="en-AU" spc="4">
                <a:solidFill>
                  <a:srgbClr val="6E665C"/>
                </a:solidFill>
                <a:latin typeface="Gabarito"/>
                <a:cs typeface="Gabarito"/>
              </a:rPr>
              <a:t>Figures illustrative.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658368"/>
            <a:ext cx="14630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47395"/>
            <a:ext cx="14630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586647"/>
                </a:solidFill>
                <a:latin typeface="Gabarito"/>
                <a:cs typeface="Gabarito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67665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lang="en-AU" spc="4">
                <a:solidFill>
                  <a:srgbClr val="E0A33E"/>
                </a:solidFill>
                <a:latin typeface="Gabarito"/>
                <a:cs typeface="Gabarito"/>
              </a:rPr>
              <a:t>• •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548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950" b="1" i="0" lang="en-AU" spc="14">
                <a:solidFill>
                  <a:srgbClr val="6E665C"/>
                </a:solidFill>
                <a:latin typeface="Gabarito"/>
                <a:cs typeface="Gabarit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000" b="1" i="0" lang="en-AU" spc="-1">
                <a:solidFill>
                  <a:srgbClr val="241F1B"/>
                </a:solidFill>
                <a:latin typeface="Gabarito"/>
                <a:cs typeface="Gabarito"/>
              </a:rPr>
              <a:t>Three reasons clients stay with us.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743200"/>
            <a:ext cx="841248" cy="841248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4320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 i="0" lang="en-AU">
                <a:solidFill>
                  <a:srgbClr val="FBF8F0"/>
                </a:solidFill>
                <a:latin typeface="Gabarito"/>
                <a:cs typeface="Gabari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94760"/>
            <a:ext cx="309158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Certified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79392"/>
            <a:ext cx="304586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 i="0" lang="en-AU">
                <a:solidFill>
                  <a:srgbClr val="6E665C"/>
                </a:solidFill>
                <a:latin typeface="Source Serif 4"/>
                <a:cs typeface="Source Serif 4"/>
              </a:rPr>
              <a:t>Workday- and Databricks-certified consultants, not generalists learning on your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4344314" y="2743200"/>
            <a:ext cx="841248" cy="841248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4314" y="274320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 i="0" lang="en-AU">
                <a:solidFill>
                  <a:srgbClr val="FBF8F0"/>
                </a:solidFill>
                <a:latin typeface="Gabarito"/>
                <a:cs typeface="Gabar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4314" y="3794760"/>
            <a:ext cx="309158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Onshore + offshore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4314" y="4279392"/>
            <a:ext cx="304586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 i="0" lang="en-AU">
                <a:solidFill>
                  <a:srgbClr val="6E665C"/>
                </a:solidFill>
                <a:latin typeface="Source Serif 4"/>
                <a:cs typeface="Source Serif 4"/>
              </a:rPr>
              <a:t>Senior onshore leadership with cost-effective India delivery, on one team.</a:t>
            </a:r>
          </a:p>
        </p:txBody>
      </p:sp>
      <p:sp>
        <p:nvSpPr>
          <p:cNvPr id="15" name="Oval 14"/>
          <p:cNvSpPr/>
          <p:nvPr/>
        </p:nvSpPr>
        <p:spPr>
          <a:xfrm>
            <a:off x="7847380" y="2743200"/>
            <a:ext cx="841248" cy="841248"/>
          </a:xfrm>
          <a:prstGeom prst="ellipse">
            <a:avLst/>
          </a:prstGeom>
          <a:solidFill>
            <a:srgbClr val="6E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7380" y="2743200"/>
            <a:ext cx="841248" cy="8412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 i="0" lang="en-AU">
                <a:solidFill>
                  <a:srgbClr val="FBF8F0"/>
                </a:solidFill>
                <a:latin typeface="Gabarito"/>
                <a:cs typeface="Gabar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7380" y="3794760"/>
            <a:ext cx="309158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900" b="1" i="0" lang="en-AU" spc="-1">
                <a:solidFill>
                  <a:srgbClr val="241F1B"/>
                </a:solidFill>
                <a:latin typeface="Gabarito"/>
                <a:cs typeface="Gabarito"/>
              </a:rPr>
              <a:t>People-first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7380" y="4279392"/>
            <a:ext cx="304586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 i="0" lang="en-AU">
                <a:solidFill>
                  <a:srgbClr val="6E665C"/>
                </a:solidFill>
                <a:latin typeface="Source Serif 4"/>
                <a:cs typeface="Source Serif 4"/>
              </a:rPr>
              <a:t>Adoption built in from day one, so the platforms you buy actually get 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1" i="0" lang="en-AU" spc="4">
                <a:solidFill>
                  <a:srgbClr val="6E665C"/>
                </a:solidFill>
                <a:latin typeface="Gabarito"/>
                <a:cs typeface="Gabarito"/>
              </a:rPr>
              <a:t>Mivada — Technology, human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7E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71055" y="-5303520"/>
            <a:ext cx="7315200" cy="7315200"/>
          </a:xfrm>
          <a:prstGeom prst="ellipse">
            <a:avLst/>
          </a:prstGeom>
          <a:noFill/>
          <a:ln w="12700">
            <a:solidFill>
              <a:srgbClr val="5C6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055" y="-3017520"/>
            <a:ext cx="5029200" cy="5029200"/>
          </a:xfrm>
          <a:prstGeom prst="ellipse">
            <a:avLst/>
          </a:prstGeom>
          <a:noFill/>
          <a:ln w="12700">
            <a:solidFill>
              <a:srgbClr val="5C6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1371600"/>
            <a:ext cx="1463039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BF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360627"/>
            <a:ext cx="1463039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lang="en-AU" spc="10">
                <a:solidFill>
                  <a:srgbClr val="FBF8F0"/>
                </a:solidFill>
                <a:latin typeface="Gabarito"/>
                <a:cs typeface="Gabarito"/>
              </a:rPr>
              <a:t>LET'S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88696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800" b="1" i="0" lang="en-AU" spc="-2">
                <a:solidFill>
                  <a:srgbClr val="FBF8F0"/>
                </a:solidFill>
                <a:latin typeface="Gabarito"/>
                <a:cs typeface="Gabarito"/>
              </a:rPr>
              <a:t>Let's build smarter systems, with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800" b="1" i="0" lang="en-AU" spc="-2">
                <a:solidFill>
                  <a:srgbClr val="FBF8F0"/>
                </a:solidFill>
                <a:latin typeface="Gabarito"/>
                <a:cs typeface="Gabarito"/>
              </a:rPr>
              <a:t>people</a:t>
            </a:r>
            <a:r>
              <a:rPr sz="3800" b="1" i="0" lang="en-AU" spc="-2">
                <a:solidFill>
                  <a:srgbClr val="FBF8F0"/>
                </a:solidFill>
                <a:latin typeface="Gabarito"/>
                <a:cs typeface="Gabarito"/>
              </a:rPr>
              <a:t> at the centre.</a:t>
            </a:r>
          </a:p>
        </p:txBody>
      </p:sp>
      <p:sp>
        <p:nvSpPr>
          <p:cNvPr id="7" name="Rounded Rectangle 6"/>
          <p:cNvSpPr/>
          <p:nvPr/>
        </p:nvSpPr>
        <p:spPr>
          <a:xfrm rot="21516000">
            <a:off x="859536" y="3310128"/>
            <a:ext cx="1691640" cy="77724"/>
          </a:xfrm>
          <a:prstGeom prst="roundRect">
            <a:avLst>
              <a:gd name="adj" fmla="val 50000"/>
            </a:avLst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1" i="0" lang="en-AU">
                <a:solidFill>
                  <a:srgbClr val="FBF8F0"/>
                </a:solidFill>
                <a:latin typeface="Gabarito"/>
                <a:cs typeface="Gabarito"/>
              </a:rPr>
              <a:t>mivada.com</a:t>
            </a:r>
            <a:r>
              <a:rPr sz="1700" b="0" i="0" lang="en-AU">
                <a:solidFill>
                  <a:srgbClr val="E0A33E"/>
                </a:solidFill>
                <a:latin typeface="Source Serif 4"/>
                <a:cs typeface="Source Serif 4"/>
              </a:rPr>
              <a:t>    ·    </a:t>
            </a:r>
            <a:r>
              <a:rPr sz="1700" b="1" i="0" lang="en-AU">
                <a:solidFill>
                  <a:srgbClr val="FBF8F0"/>
                </a:solidFill>
                <a:latin typeface="Gabarito"/>
                <a:cs typeface="Gabarito"/>
              </a:rPr>
              <a:t>hello@mivada.com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500" b="0" i="0" lang="en-AU">
                <a:solidFill>
                  <a:srgbClr val="EAE6DB"/>
                </a:solidFill>
                <a:latin typeface="Source Serif 4"/>
                <a:cs typeface="Source Serif 4"/>
              </a:rPr>
              <a:t>Sydney &amp; Melbourne</a:t>
            </a:r>
            <a:r>
              <a:rPr sz="1500" b="0" i="0" lang="en-AU">
                <a:solidFill>
                  <a:srgbClr val="E0A33E"/>
                </a:solidFill>
                <a:latin typeface="Source Serif 4"/>
                <a:cs typeface="Source Serif 4"/>
              </a:rPr>
              <a:t>    ·    </a:t>
            </a:r>
            <a:r>
              <a:rPr sz="1500" b="0" i="0" lang="en-AU">
                <a:solidFill>
                  <a:srgbClr val="EAE6DB"/>
                </a:solidFill>
                <a:latin typeface="Source Serif 4"/>
                <a:cs typeface="Source Serif 4"/>
              </a:rPr>
              <a:t>Onshore AU &amp;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1" i="0" lang="en-AU" spc="4">
                <a:solidFill>
                  <a:srgbClr val="FBF8F0"/>
                </a:solidFill>
                <a:latin typeface="Gabarito"/>
                <a:cs typeface="Gabarito"/>
              </a:rPr>
              <a:t>Technology, human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