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more source image(s) to place]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&amp; what we are doing with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</a:t>
            </a:r>
          </a:p>
          <a:p>
            <a:r>
              <a:t>[2 more source image(s) to place]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 more source image(s) to place]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 more source image(s) to place]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</a:t>
            </a:r>
          </a:p>
          <a:p>
            <a:r>
              <a:t>[2 more source image(s) to place]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3317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AU" spc="-135">
                <a:solidFill>
                  <a:srgbClr val="FFFFFF"/>
                </a:solidFill>
                <a:latin typeface="Inter"/>
              </a:rPr>
              <a:t>Implementation </a:t>
            </a:r>
            <a:r>
              <a:rPr sz="5400" b="1" i="0" lang="en-AU" spc="-135">
                <a:solidFill>
                  <a:srgbClr val="EA493F"/>
                </a:solidFill>
                <a:latin typeface="Inter"/>
              </a:rPr>
              <a:t>Discussion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WHY MIVADA_x000B_YOUR LONG-TERM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WHY MIVADA_x000B_YOUR LONG-TERM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FFFFFF"/>
                </a:solidFill>
                <a:latin typeface="Inter"/>
              </a:rPr>
              <a:t>Why Mivada Your Long-Term Partner in Workday Implementations and Managed Services, we grew out of a customer and hence we understand your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challenges…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Australian Owned Business creating Australian jobs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We Are Not a Big 4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Dedicated Local Engagement Manager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Direct Access to Our CEO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(Reduced Escalation Matrix)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People Systems and Transformation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Data, Analytics and Business Intelligence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Business Process Management and Automation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We work with notable brands such as…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Dedicated Offshore Capability</a:t>
            </a:r>
          </a:p>
        </p:txBody>
      </p:sp>
      <p:pic>
        <p:nvPicPr>
          <p:cNvPr id="7" name="Picture 6" descr="_xlat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121231"/>
            <a:ext cx="4956048" cy="9812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MIVADA’S WORKDAY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MIVADA’S WORKDAY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111111"/>
                </a:solidFill>
                <a:latin typeface="Inter"/>
              </a:rPr>
              <a:t>Mivada’s Workday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/>
        </p:txBody>
      </p:sp>
      <p:pic>
        <p:nvPicPr>
          <p:cNvPr id="7" name="Picture 6" descr="_xlat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7043"/>
            <a:ext cx="4956048" cy="38296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MIVADA’S CAPABILITY IN WORKDAY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MIVADA’S CAPABILITY IN WORKDAY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FFFFFF"/>
                </a:solidFill>
                <a:latin typeface="Inter"/>
              </a:rPr>
              <a:t>Mivada’s Capability in Workday Empowering Innovation and Capability through Workday Partnership and Local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Expertise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Our consultants have an average of 3 years of experience with Workday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3+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Workday Consultants with average of 3+ certifications per consultant.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Workday Integrations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2000+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Workday Custom Reports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3000+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200+ Mivada Employees across Australia, US and India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100+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People Systems ecosystem experience with enterprise global clients (Payroll, T&amp;A, HRIS)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10+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YEARS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Successfully completed Workday implementations and support project engagements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100" b="0" i="0" lang="en-AU" spc="0">
                <a:solidFill>
                  <a:srgbClr val="D6D6D6"/>
                </a:solidFill>
                <a:latin typeface="Inter"/>
              </a:rPr>
              <a:t>30+</a:t>
            </a:r>
          </a:p>
        </p:txBody>
      </p:sp>
      <p:pic>
        <p:nvPicPr>
          <p:cNvPr id="7" name="Picture 6" descr="_xlat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3258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111111"/>
                </a:solidFill>
                <a:latin typeface="Inter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/>
        </p:txBody>
      </p:sp>
      <p:pic>
        <p:nvPicPr>
          <p:cNvPr id="7" name="Picture 6" descr="_xlat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0101"/>
            <a:ext cx="4956048" cy="34835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DRAFT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DRAFT 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FFFFFF"/>
                </a:solidFill>
                <a:latin typeface="Inter"/>
              </a:rPr>
              <a:t>Draft Implementation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/>
        </p:txBody>
      </p:sp>
      <p:pic>
        <p:nvPicPr>
          <p:cNvPr id="7" name="Picture 6" descr="_xlat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705285"/>
            <a:ext cx="4956048" cy="18131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111111"/>
                </a:solidFill>
                <a:latin typeface="Inter"/>
              </a:rP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/>
        </p:txBody>
      </p:sp>
      <p:pic>
        <p:nvPicPr>
          <p:cNvPr id="7" name="Picture 6" descr="_xlat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0080"/>
            <a:ext cx="4956048" cy="3483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RACI &amp; DATA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RACI &amp; DATA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FFFFFF"/>
                </a:solidFill>
                <a:latin typeface="Inter"/>
              </a:rPr>
              <a:t>RACI &amp; Data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/>
        </p:txBody>
      </p:sp>
      <p:pic>
        <p:nvPicPr>
          <p:cNvPr id="7" name="Picture 6" descr="_xlate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098" y="1325880"/>
            <a:ext cx="413601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UNDERSTANDING OF YOUR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UNDERSTANDING OF YOUR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Understanding of your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10436047" cy="39776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Payroll Compliance Confidence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Connected HR &amp; Payroll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Rostering That Enforces Rules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A Single, Reliable User Experience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Frontline Manager Visibility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Funding &amp; Cost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REAL-WORLD SUCCESS STORIES: 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REAL-WORLD SUCCESS STORIES: 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FFFFFF"/>
                </a:solidFill>
                <a:latin typeface="Inter"/>
              </a:rPr>
              <a:t>Real-World Success Stories: How Mivada Enables High-Performance Workday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400" b="0" i="0" lang="en-AU" spc="0">
                <a:solidFill>
                  <a:srgbClr val="D6D6D6"/>
                </a:solidFill>
                <a:latin typeface="Inter"/>
              </a:rPr>
              <a:t>Mivada partnered with Guzman y Gomez (GYG) to stabilise and optimise their Workday platform post–go-live across functional modules, reporting, security, and compliance. Through Agile delivery, helped them onboard 150+ franchisees into Workday deliver new reporting, and a redesigned security model, Mivada strengthened audit readiness, improved performance across HCM, Absence, Learning and enabled GYG’s scalable, compliant global operations.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400" b="0" i="0" lang="en-AU" spc="0">
                <a:solidFill>
                  <a:srgbClr val="D6D6D6"/>
                </a:solidFill>
                <a:latin typeface="Inter"/>
              </a:rPr>
              <a:t>Mivada has supported Qantas since 2014, taking over Workday support in 2017 and rapidly becoming a strategic partner across HR, Payroll, Digital, Automation, Data, and Analytics. By scaling Workday integrations, modernising architectures, and embedding automation and analytics, Mivada evolved from post–go-live support to Qantas’ long-term enterprise partner.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400" b="0" i="0" lang="en-AU" spc="0">
                <a:solidFill>
                  <a:srgbClr val="D6D6D6"/>
                </a:solidFill>
                <a:latin typeface="Inter"/>
              </a:rPr>
              <a:t>Mivada partnered with Western Sydney International Airport (WSI) to deliver a card management system, then expanded into a strategic role supporting WSI’s Workday program. By resolving functional and integration issues and assuming full AMS ownership, Mivada stabilised HR, Payroll, Finance, and Procurement, becoming WSI’s trusted long-term partner.</a:t>
            </a:r>
          </a:p>
        </p:txBody>
      </p:sp>
      <p:pic>
        <p:nvPicPr>
          <p:cNvPr id="7" name="Picture 6" descr="_xlate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24186"/>
            <a:ext cx="4956048" cy="27753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10436047" cy="39776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