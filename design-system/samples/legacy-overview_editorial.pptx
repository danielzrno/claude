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Projects delivered</c:v>
                </c:pt>
              </c:strCache>
            </c:strRef>
          </c:tx>
          <c:spPr>
            <a:solidFill>
              <a:srgbClr val="EA493F"/>
            </a:solidFill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2022</c:v>
                </c:pt>
                <c:pt idx="1">
                  <c:v>2023</c:v>
                </c:pt>
                <c:pt idx="2">
                  <c:v>2024</c:v>
                </c:pt>
                <c:pt idx="3">
                  <c:v>2025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12.0</c:v>
                </c:pt>
                <c:pt idx="1">
                  <c:v>19.0</c:v>
                </c:pt>
                <c:pt idx="2">
                  <c:v>28.0</c:v>
                </c:pt>
                <c:pt idx="3">
                  <c:v>41.0</c:v>
                </c:pt>
              </c:numCache>
            </c:numRef>
          </c:val>
        </c:ser>
        <c:dLbls>
          <c:numFmt formatCode="0" sourceLinked="0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Intro the company. Australian technology consultancy. Thank the audience for their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People first. We are not a body shop — outcomes, not hours.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Lead with Workday &amp; ERP — our anchor practice.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Human-first, end to end. The 'Care' phase is our differentiator.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Figures are illustrative samples. Replace with verified numbers.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Steady growth. 41 projects in 2025. All figures illustrative.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Strongest proof point. Reinforces the 'Care'/adoption message.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with the invitation. Offer a discovery workshop.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ivada_Logo_2C_OnBlack_RGB_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749808"/>
            <a:ext cx="2531685" cy="3840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77824" y="233172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AU" spc="192" cap="all">
                <a:solidFill>
                  <a:srgbClr val="EA493F"/>
                </a:solidFill>
                <a:latin typeface="Inter"/>
              </a:rPr>
              <a:t>CAPABILITY STATEMENT ·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697480"/>
            <a:ext cx="10424160" cy="23774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96000"/>
              </a:lnSpc>
              <a:spcBef>
                <a:spcPts val="0"/>
              </a:spcBef>
              <a:spcAft>
                <a:spcPts val="0"/>
              </a:spcAft>
            </a:pPr>
            <a:r>
              <a:rPr sz="8000" b="1" i="0" lang="en-AU" spc="-200">
                <a:solidFill>
                  <a:srgbClr val="FFFFFF"/>
                </a:solidFill>
                <a:latin typeface="Inter"/>
              </a:rPr>
              <a:t>Company </a:t>
            </a:r>
            <a:r>
              <a:rPr sz="8000" b="1" i="0" lang="en-AU" spc="-200">
                <a:solidFill>
                  <a:srgbClr val="EA493F"/>
                </a:solidFill>
                <a:latin typeface="Inter"/>
              </a:rPr>
              <a:t>overview.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77824" y="6163056"/>
            <a:ext cx="10436047" cy="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877824" y="6272784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 lang="en-AU" spc="46">
                <a:solidFill>
                  <a:srgbClr val="AEAEAE"/>
                </a:solidFill>
                <a:latin typeface="Inter"/>
              </a:rPr>
              <a:t>An Australian technology consultancy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0895" y="6272784"/>
            <a:ext cx="5522976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 lang="en-AU" spc="46">
                <a:solidFill>
                  <a:srgbClr val="AEAEAE"/>
                </a:solidFill>
                <a:latin typeface="Inter"/>
              </a:rPr>
              <a:t>mivada.com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ivada_Icon_Melon_RGB_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147" cap="all">
                <a:solidFill>
                  <a:srgbClr val="AEAEAE"/>
                </a:solidFill>
                <a:latin typeface="Inter"/>
              </a:rPr>
              <a:t>02 · WHO WE 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77824" y="84124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AU" spc="192" cap="all">
                <a:solidFill>
                  <a:srgbClr val="EA493F"/>
                </a:solidFill>
                <a:latin typeface="Inter"/>
              </a:rPr>
              <a:t>ABOUT 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280160"/>
            <a:ext cx="7040880" cy="24688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i="0" lang="en-AU" spc="-87">
                <a:solidFill>
                  <a:srgbClr val="111111"/>
                </a:solidFill>
                <a:latin typeface="Inter"/>
              </a:rPr>
              <a:t>An Australian technology </a:t>
            </a:r>
            <a:r>
              <a:rPr sz="4000" b="1" i="0" lang="en-AU" spc="-87">
                <a:solidFill>
                  <a:srgbClr val="EA493F"/>
                </a:solidFill>
                <a:latin typeface="Inter"/>
              </a:rPr>
              <a:t>consultancy.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83879" y="1874519"/>
            <a:ext cx="3127248" cy="21945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 lang="en-AU" spc="0">
                <a:solidFill>
                  <a:srgbClr val="323232"/>
                </a:solidFill>
                <a:latin typeface="Inter"/>
              </a:rPr>
              <a:t>We turn enterprise platforms — Workday, payroll, data and AI — into measurable outcomes, built around how teams actually work. Independent and platform-agnostic; formerly LJM Infotech.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877824" y="3995928"/>
            <a:ext cx="10436047" cy="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877824" y="4160520"/>
            <a:ext cx="3314090" cy="1051560"/>
          </a:xfrm>
          <a:prstGeom prst="rect">
            <a:avLst/>
          </a:prstGeom>
          <a:noFill/>
        </p:spPr>
        <p:txBody>
          <a:bodyPr wrap="square" anchor="b" lIns="0" rIns="0" tIns="0" bIns="0"/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5800" b="1" i="0" lang="en-AU" spc="-203">
                <a:solidFill>
                  <a:srgbClr val="111111"/>
                </a:solidFill>
                <a:latin typeface="Inter"/>
              </a:rPr>
              <a:t>2014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7824" y="5294376"/>
            <a:ext cx="3250082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126" cap="all">
                <a:solidFill>
                  <a:srgbClr val="AEAEAE"/>
                </a:solidFill>
                <a:latin typeface="Inter"/>
              </a:rPr>
              <a:t>FOUNDED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356506" y="4206240"/>
            <a:ext cx="0" cy="155448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4667402" y="4160520"/>
            <a:ext cx="3003194" cy="1051560"/>
          </a:xfrm>
          <a:prstGeom prst="rect">
            <a:avLst/>
          </a:prstGeom>
          <a:noFill/>
        </p:spPr>
        <p:txBody>
          <a:bodyPr wrap="square" anchor="b" lIns="0" rIns="0" tIns="0" bIns="0"/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5800" b="1" i="0" lang="en-AU" spc="-203">
                <a:solidFill>
                  <a:srgbClr val="111111"/>
                </a:solidFill>
                <a:latin typeface="Inter"/>
              </a:rPr>
              <a:t>120</a:t>
            </a:r>
            <a:r>
              <a:rPr sz="5800" b="1" i="0" lang="en-AU" spc="-203">
                <a:solidFill>
                  <a:srgbClr val="EA493F"/>
                </a:solidFill>
                <a:latin typeface="Inter"/>
              </a:rPr>
              <a:t>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7402" y="5294376"/>
            <a:ext cx="2939186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126" cap="all">
                <a:solidFill>
                  <a:srgbClr val="AEAEAE"/>
                </a:solidFill>
                <a:latin typeface="Inter"/>
              </a:rPr>
              <a:t>CERTIFIED SPECIALISTS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835188" y="4206240"/>
            <a:ext cx="0" cy="155448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8146084" y="4160520"/>
            <a:ext cx="3003194" cy="1051560"/>
          </a:xfrm>
          <a:prstGeom prst="rect">
            <a:avLst/>
          </a:prstGeom>
          <a:noFill/>
        </p:spPr>
        <p:txBody>
          <a:bodyPr wrap="square" anchor="b" lIns="0" rIns="0" tIns="0" bIns="0"/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 lang="en-AU" spc="-115">
                <a:solidFill>
                  <a:srgbClr val="111111"/>
                </a:solidFill>
                <a:latin typeface="Inter"/>
              </a:rPr>
              <a:t>AU + India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46084" y="5294376"/>
            <a:ext cx="2939186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126" cap="all">
                <a:solidFill>
                  <a:srgbClr val="AEAEAE"/>
                </a:solidFill>
                <a:latin typeface="Inter"/>
              </a:rPr>
              <a:t>DELIVERY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ivada_Icon_White_RGB_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147" cap="all">
                <a:solidFill>
                  <a:srgbClr val="777777"/>
                </a:solidFill>
                <a:latin typeface="Inter"/>
              </a:rPr>
              <a:t>03 · WHAT WE 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77824" y="786384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AU" spc="192" cap="all">
                <a:solidFill>
                  <a:srgbClr val="EA493F"/>
                </a:solidFill>
                <a:latin typeface="Inter"/>
              </a:rPr>
              <a:t>WHAT WE 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170432"/>
            <a:ext cx="10058400" cy="10058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 lang="en-AU" spc="-74">
                <a:solidFill>
                  <a:srgbClr val="FFFFFF"/>
                </a:solidFill>
                <a:latin typeface="Inter"/>
              </a:rPr>
              <a:t>Four service </a:t>
            </a:r>
            <a:r>
              <a:rPr sz="3400" b="1" i="0" lang="en-AU" spc="-74">
                <a:solidFill>
                  <a:srgbClr val="EA493F"/>
                </a:solidFill>
                <a:latin typeface="Inter"/>
              </a:rPr>
              <a:t>pillars.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877824" y="2395728"/>
            <a:ext cx="10436047" cy="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877824" y="2523744"/>
            <a:ext cx="1005840" cy="8229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 lang="en-AU" spc="-96">
                <a:solidFill>
                  <a:srgbClr val="EA493F"/>
                </a:solidFill>
                <a:latin typeface="Inter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20824" y="2487168"/>
            <a:ext cx="7040880" cy="7772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 lang="en-AU" spc="-42">
                <a:solidFill>
                  <a:srgbClr val="FFFFFF"/>
                </a:solidFill>
                <a:latin typeface="Inter"/>
              </a:rPr>
              <a:t>Workday &amp; ERP</a:t>
            </a:r>
          </a:p>
          <a:p>
            <a:pPr algn="l">
              <a:lnSpc>
                <a:spcPct val="112000"/>
              </a:lnSpc>
              <a:spcBef>
                <a:spcPts val="400"/>
              </a:spcBef>
              <a:spcAft>
                <a:spcPts val="0"/>
              </a:spcAft>
            </a:pPr>
            <a:r>
              <a:rPr sz="1200" b="0" i="0" lang="en-AU" spc="0">
                <a:solidFill>
                  <a:srgbClr val="CFCFCF"/>
                </a:solidFill>
                <a:latin typeface="Inter"/>
              </a:rPr>
              <a:t>Implementation, optimisation and managed support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22815" y="2578608"/>
            <a:ext cx="1591056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lang="en-AU" spc="130" cap="all">
                <a:solidFill>
                  <a:srgbClr val="AEAEAE"/>
                </a:solidFill>
                <a:latin typeface="Inter"/>
              </a:rPr>
              <a:t>PLATFORMS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877824" y="3282696"/>
            <a:ext cx="10436047" cy="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877824" y="3410712"/>
            <a:ext cx="1005840" cy="8229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 lang="en-AU" spc="-96">
                <a:solidFill>
                  <a:srgbClr val="EA493F"/>
                </a:solidFill>
                <a:latin typeface="Inter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20824" y="3374136"/>
            <a:ext cx="7040880" cy="7772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 lang="en-AU" spc="-42">
                <a:solidFill>
                  <a:srgbClr val="FFFFFF"/>
                </a:solidFill>
                <a:latin typeface="Inter"/>
              </a:rPr>
              <a:t>Payroll consulting</a:t>
            </a:r>
          </a:p>
          <a:p>
            <a:pPr algn="l">
              <a:lnSpc>
                <a:spcPct val="112000"/>
              </a:lnSpc>
              <a:spcBef>
                <a:spcPts val="400"/>
              </a:spcBef>
              <a:spcAft>
                <a:spcPts val="0"/>
              </a:spcAft>
            </a:pPr>
            <a:r>
              <a:rPr sz="1200" b="0" i="0" lang="en-AU" spc="0">
                <a:solidFill>
                  <a:srgbClr val="CFCFCF"/>
                </a:solidFill>
                <a:latin typeface="Inter"/>
              </a:rPr>
              <a:t>Compliant, accurate payroll at scale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22815" y="3465576"/>
            <a:ext cx="1591056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lang="en-AU" spc="130" cap="all">
                <a:solidFill>
                  <a:srgbClr val="AEAEAE"/>
                </a:solidFill>
                <a:latin typeface="Inter"/>
              </a:rPr>
              <a:t>PAYROLL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77824" y="4169663"/>
            <a:ext cx="10436047" cy="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77824" y="4297680"/>
            <a:ext cx="1005840" cy="8229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 lang="en-AU" spc="-96">
                <a:solidFill>
                  <a:srgbClr val="EA493F"/>
                </a:solidFill>
                <a:latin typeface="Inter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20824" y="4261104"/>
            <a:ext cx="7040880" cy="7772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 lang="en-AU" spc="-42">
                <a:solidFill>
                  <a:srgbClr val="FFFFFF"/>
                </a:solidFill>
                <a:latin typeface="Inter"/>
              </a:rPr>
              <a:t>Data &amp; AI</a:t>
            </a:r>
          </a:p>
          <a:p>
            <a:pPr algn="l">
              <a:lnSpc>
                <a:spcPct val="112000"/>
              </a:lnSpc>
              <a:spcBef>
                <a:spcPts val="400"/>
              </a:spcBef>
              <a:spcAft>
                <a:spcPts val="0"/>
              </a:spcAft>
            </a:pPr>
            <a:r>
              <a:rPr sz="1200" b="0" i="0" lang="en-AU" spc="0">
                <a:solidFill>
                  <a:srgbClr val="CFCFCF"/>
                </a:solidFill>
                <a:latin typeface="Inter"/>
              </a:rPr>
              <a:t>Lakehouse architecture, governed analytics, applied AI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22815" y="4352544"/>
            <a:ext cx="1591056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lang="en-AU" spc="130" cap="all">
                <a:solidFill>
                  <a:srgbClr val="AEAEAE"/>
                </a:solidFill>
                <a:latin typeface="Inter"/>
              </a:rPr>
              <a:t>DATA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77824" y="5056632"/>
            <a:ext cx="10436047" cy="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877824" y="5184648"/>
            <a:ext cx="1005840" cy="8229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 lang="en-AU" spc="-96">
                <a:solidFill>
                  <a:srgbClr val="EA493F"/>
                </a:solidFill>
                <a:latin typeface="Inter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20824" y="5148072"/>
            <a:ext cx="7040880" cy="7772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 lang="en-AU" spc="-42">
                <a:solidFill>
                  <a:srgbClr val="FFFFFF"/>
                </a:solidFill>
                <a:latin typeface="Inter"/>
              </a:rPr>
              <a:t>Intelligent automation</a:t>
            </a:r>
          </a:p>
          <a:p>
            <a:pPr algn="l">
              <a:lnSpc>
                <a:spcPct val="112000"/>
              </a:lnSpc>
              <a:spcBef>
                <a:spcPts val="400"/>
              </a:spcBef>
              <a:spcAft>
                <a:spcPts val="0"/>
              </a:spcAft>
            </a:pPr>
            <a:r>
              <a:rPr sz="1200" b="0" i="0" lang="en-AU" spc="0">
                <a:solidFill>
                  <a:srgbClr val="CFCFCF"/>
                </a:solidFill>
                <a:latin typeface="Inter"/>
              </a:rPr>
              <a:t>Remove manual, error-prone work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22815" y="5239512"/>
            <a:ext cx="1591056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lang="en-AU" spc="130" cap="all">
                <a:solidFill>
                  <a:srgbClr val="AEAEAE"/>
                </a:solidFill>
                <a:latin typeface="Inter"/>
              </a:rPr>
              <a:t>AUTOMATION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877824" y="5943600"/>
            <a:ext cx="10436047" cy="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ivada_Icon_Melon_RGB_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147" cap="all">
                <a:solidFill>
                  <a:srgbClr val="AEAEAE"/>
                </a:solidFill>
                <a:latin typeface="Inter"/>
              </a:rPr>
              <a:t>04 · HOW WE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77824" y="84124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AU" spc="192" cap="all">
                <a:solidFill>
                  <a:srgbClr val="EA493F"/>
                </a:solidFill>
                <a:latin typeface="Inter"/>
              </a:rPr>
              <a:t>HOW WE 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225296"/>
            <a:ext cx="10424160" cy="10058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 lang="en-AU" spc="-74">
                <a:solidFill>
                  <a:srgbClr val="111111"/>
                </a:solidFill>
                <a:latin typeface="Inter"/>
              </a:rPr>
              <a:t>People </a:t>
            </a:r>
            <a:r>
              <a:rPr sz="3400" b="1" i="0" lang="en-AU" spc="-74">
                <a:solidFill>
                  <a:srgbClr val="EA493F"/>
                </a:solidFill>
                <a:latin typeface="Inter"/>
              </a:rPr>
              <a:t>first.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2971800"/>
            <a:ext cx="2380411" cy="2286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en-AU" spc="176" cap="all">
                <a:solidFill>
                  <a:srgbClr val="EA493F"/>
                </a:solidFill>
                <a:latin typeface="Inter"/>
              </a:rPr>
              <a:t>STEP 01</a:t>
            </a:r>
          </a:p>
          <a:p>
            <a: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</a:pPr>
            <a:r>
              <a:rPr sz="3000" b="1" i="0" lang="en-AU" spc="-75">
                <a:solidFill>
                  <a:srgbClr val="111111"/>
                </a:solidFill>
                <a:latin typeface="Inter"/>
              </a:rPr>
              <a:t>Listen</a:t>
            </a:r>
          </a:p>
          <a:p>
            <a:pPr algn="l">
              <a:lnSpc>
                <a:spcPct val="128000"/>
              </a:lnSpc>
              <a:spcBef>
                <a:spcPts val="1000"/>
              </a:spcBef>
              <a:spcAft>
                <a:spcPts val="0"/>
              </a:spcAft>
            </a:pPr>
            <a:r>
              <a:rPr sz="1250" b="0" i="0" lang="en-AU" spc="0">
                <a:solidFill>
                  <a:srgbClr val="323232"/>
                </a:solidFill>
                <a:latin typeface="Inter"/>
              </a:rPr>
              <a:t>Understand the people and the work before the technology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486835" y="2971800"/>
            <a:ext cx="0" cy="228600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3797731" y="2971800"/>
            <a:ext cx="2069515" cy="2286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en-AU" spc="176" cap="all">
                <a:solidFill>
                  <a:srgbClr val="EA493F"/>
                </a:solidFill>
                <a:latin typeface="Inter"/>
              </a:rPr>
              <a:t>STEP 02</a:t>
            </a:r>
          </a:p>
          <a:p>
            <a: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</a:pPr>
            <a:r>
              <a:rPr sz="3000" b="1" i="0" lang="en-AU" spc="-75">
                <a:solidFill>
                  <a:srgbClr val="111111"/>
                </a:solidFill>
                <a:latin typeface="Inter"/>
              </a:rPr>
              <a:t>Design</a:t>
            </a:r>
          </a:p>
          <a:p>
            <a:pPr algn="l">
              <a:lnSpc>
                <a:spcPct val="128000"/>
              </a:lnSpc>
              <a:spcBef>
                <a:spcPts val="1000"/>
              </a:spcBef>
              <a:spcAft>
                <a:spcPts val="0"/>
              </a:spcAft>
            </a:pPr>
            <a:r>
              <a:rPr sz="1250" b="0" i="0" lang="en-AU" spc="0">
                <a:solidFill>
                  <a:srgbClr val="323232"/>
                </a:solidFill>
                <a:latin typeface="Inter"/>
              </a:rPr>
              <a:t>Map to real-world needs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095847" y="2971800"/>
            <a:ext cx="0" cy="228600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406743" y="2971800"/>
            <a:ext cx="2069515" cy="2286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en-AU" spc="176" cap="all">
                <a:solidFill>
                  <a:srgbClr val="EA493F"/>
                </a:solidFill>
                <a:latin typeface="Inter"/>
              </a:rPr>
              <a:t>STEP 03</a:t>
            </a:r>
          </a:p>
          <a:p>
            <a: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</a:pPr>
            <a:r>
              <a:rPr sz="3000" b="1" i="0" lang="en-AU" spc="-75">
                <a:solidFill>
                  <a:srgbClr val="111111"/>
                </a:solidFill>
                <a:latin typeface="Inter"/>
              </a:rPr>
              <a:t>Deliver</a:t>
            </a:r>
          </a:p>
          <a:p>
            <a:pPr algn="l">
              <a:lnSpc>
                <a:spcPct val="128000"/>
              </a:lnSpc>
              <a:spcBef>
                <a:spcPts val="1000"/>
              </a:spcBef>
              <a:spcAft>
                <a:spcPts val="0"/>
              </a:spcAft>
            </a:pPr>
            <a:r>
              <a:rPr sz="1250" b="0" i="0" lang="en-AU" spc="0">
                <a:solidFill>
                  <a:srgbClr val="323232"/>
                </a:solidFill>
                <a:latin typeface="Inter"/>
              </a:rPr>
              <a:t>Implement in increments; value early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704859" y="2971800"/>
            <a:ext cx="0" cy="228600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9015755" y="2971800"/>
            <a:ext cx="2069515" cy="2286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en-AU" spc="176" cap="all">
                <a:solidFill>
                  <a:srgbClr val="EA493F"/>
                </a:solidFill>
                <a:latin typeface="Inter"/>
              </a:rPr>
              <a:t>STEP 04</a:t>
            </a:r>
          </a:p>
          <a:p>
            <a: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</a:pPr>
            <a:r>
              <a:rPr sz="3000" b="1" i="0" lang="en-AU" spc="-75">
                <a:solidFill>
                  <a:srgbClr val="111111"/>
                </a:solidFill>
                <a:latin typeface="Inter"/>
              </a:rPr>
              <a:t>Care</a:t>
            </a:r>
          </a:p>
          <a:p>
            <a:pPr algn="l">
              <a:lnSpc>
                <a:spcPct val="128000"/>
              </a:lnSpc>
              <a:spcBef>
                <a:spcPts val="1000"/>
              </a:spcBef>
              <a:spcAft>
                <a:spcPts val="0"/>
              </a:spcAft>
            </a:pPr>
            <a:r>
              <a:rPr sz="1250" b="0" i="0" lang="en-AU" spc="0">
                <a:solidFill>
                  <a:srgbClr val="323232"/>
                </a:solidFill>
                <a:latin typeface="Inter"/>
              </a:rPr>
              <a:t>Measure outcomes; keep improving after go-live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ivada_Icon_Melon_RGB_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147" cap="all">
                <a:solidFill>
                  <a:srgbClr val="AEAEAE"/>
                </a:solidFill>
                <a:latin typeface="Inter"/>
              </a:rPr>
              <a:t>BY THE NUMBERS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77824" y="84124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AU" spc="192" cap="all">
                <a:solidFill>
                  <a:srgbClr val="EA493F"/>
                </a:solidFill>
                <a:latin typeface="Inter"/>
              </a:rPr>
              <a:t>BY THE NUMBERS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28016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i="0" lang="en-AU" spc="-87">
                <a:solidFill>
                  <a:srgbClr val="111111"/>
                </a:solidFill>
                <a:latin typeface="Inter"/>
              </a:rPr>
              <a:t>The shape of </a:t>
            </a:r>
            <a:r>
              <a:rPr sz="4000" b="1" i="0" lang="en-AU" spc="-87">
                <a:solidFill>
                  <a:srgbClr val="EA493F"/>
                </a:solidFill>
                <a:latin typeface="Inter"/>
              </a:rPr>
              <a:t>the business.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877824" y="3813048"/>
            <a:ext cx="10436047" cy="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877824" y="3977639"/>
            <a:ext cx="1922617" cy="1051560"/>
          </a:xfrm>
          <a:prstGeom prst="rect">
            <a:avLst/>
          </a:prstGeom>
          <a:noFill/>
        </p:spPr>
        <p:txBody>
          <a:bodyPr wrap="square" anchor="b" lIns="0" rIns="0" tIns="0" bIns="0"/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5800" b="1" i="0" lang="en-AU" spc="-203">
                <a:solidFill>
                  <a:srgbClr val="111111"/>
                </a:solidFill>
                <a:latin typeface="Inter"/>
              </a:rPr>
              <a:t>2014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5111496"/>
            <a:ext cx="1858609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126" cap="all">
                <a:solidFill>
                  <a:srgbClr val="AEAEAE"/>
                </a:solidFill>
                <a:latin typeface="Inter"/>
              </a:rPr>
              <a:t>FOUNDED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965033" y="4023359"/>
            <a:ext cx="0" cy="1554481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3275929" y="3977639"/>
            <a:ext cx="1611721" cy="1051560"/>
          </a:xfrm>
          <a:prstGeom prst="rect">
            <a:avLst/>
          </a:prstGeom>
          <a:noFill/>
        </p:spPr>
        <p:txBody>
          <a:bodyPr wrap="square" anchor="b" lIns="0" rIns="0" tIns="0" bIns="0"/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5800" b="1" i="0" lang="en-AU" spc="-203">
                <a:solidFill>
                  <a:srgbClr val="111111"/>
                </a:solidFill>
                <a:latin typeface="Inter"/>
              </a:rPr>
              <a:t>120</a:t>
            </a:r>
            <a:r>
              <a:rPr sz="5800" b="1" i="0" lang="en-AU" spc="-203">
                <a:solidFill>
                  <a:srgbClr val="EA493F"/>
                </a:solidFill>
                <a:latin typeface="Inter"/>
              </a:rPr>
              <a:t>+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75929" y="5111496"/>
            <a:ext cx="1547713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126" cap="all">
                <a:solidFill>
                  <a:srgbClr val="AEAEAE"/>
                </a:solidFill>
                <a:latin typeface="Inter"/>
              </a:rPr>
              <a:t>CERTIFIED SPECIALISTS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052242" y="4023359"/>
            <a:ext cx="0" cy="1554481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5363138" y="3977639"/>
            <a:ext cx="1611721" cy="1051560"/>
          </a:xfrm>
          <a:prstGeom prst="rect">
            <a:avLst/>
          </a:prstGeom>
          <a:noFill/>
        </p:spPr>
        <p:txBody>
          <a:bodyPr wrap="square" anchor="b" lIns="0" rIns="0" tIns="0" bIns="0"/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5800" b="1" i="0" lang="en-AU" spc="-203">
                <a:solidFill>
                  <a:srgbClr val="111111"/>
                </a:solidFill>
                <a:latin typeface="Inter"/>
              </a:rPr>
              <a:t>40</a:t>
            </a:r>
            <a:r>
              <a:rPr sz="5800" b="1" i="0" lang="en-AU" spc="-203">
                <a:solidFill>
                  <a:srgbClr val="EA493F"/>
                </a:solidFill>
                <a:latin typeface="Inter"/>
              </a:rPr>
              <a:t>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63138" y="5111496"/>
            <a:ext cx="1547713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126" cap="all">
                <a:solidFill>
                  <a:srgbClr val="AEAEAE"/>
                </a:solidFill>
                <a:latin typeface="Inter"/>
              </a:rPr>
              <a:t>IMPLEMENTATIONS DELIVERED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139452" y="4023359"/>
            <a:ext cx="0" cy="1554481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450348" y="3977639"/>
            <a:ext cx="1611721" cy="1051560"/>
          </a:xfrm>
          <a:prstGeom prst="rect">
            <a:avLst/>
          </a:prstGeom>
          <a:noFill/>
        </p:spPr>
        <p:txBody>
          <a:bodyPr wrap="square" anchor="b" lIns="0" rIns="0" tIns="0" bIns="0"/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5800" b="1" i="0" lang="en-AU" spc="-203">
                <a:solidFill>
                  <a:srgbClr val="111111"/>
                </a:solidFill>
                <a:latin typeface="Inter"/>
              </a:rPr>
              <a:t>98</a:t>
            </a:r>
            <a:r>
              <a:rPr sz="5800" b="1" i="0" lang="en-AU" spc="-203">
                <a:solidFill>
                  <a:srgbClr val="EA493F"/>
                </a:solidFill>
                <a:latin typeface="Inter"/>
              </a:rPr>
              <a:t>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50348" y="5111496"/>
            <a:ext cx="1547713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126" cap="all">
                <a:solidFill>
                  <a:srgbClr val="AEAEAE"/>
                </a:solidFill>
                <a:latin typeface="Inter"/>
              </a:rPr>
              <a:t>CLIENT RETENTION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9226661" y="4023359"/>
            <a:ext cx="0" cy="1554481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9537557" y="3977639"/>
            <a:ext cx="1611721" cy="1051560"/>
          </a:xfrm>
          <a:prstGeom prst="rect">
            <a:avLst/>
          </a:prstGeom>
          <a:noFill/>
        </p:spPr>
        <p:txBody>
          <a:bodyPr wrap="square" anchor="b" lIns="0" rIns="0" tIns="0" bIns="0"/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 lang="en-AU" spc="-115">
                <a:solidFill>
                  <a:srgbClr val="111111"/>
                </a:solidFill>
                <a:latin typeface="Inter"/>
              </a:rPr>
              <a:t>AU + India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37557" y="5111496"/>
            <a:ext cx="1547713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126" cap="all">
                <a:solidFill>
                  <a:srgbClr val="AEAEAE"/>
                </a:solidFill>
                <a:latin typeface="Inter"/>
              </a:rPr>
              <a:t>DELIVERY FOOTPRINT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ivada_Icon_Melon_RGB_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147" cap="all">
                <a:solidFill>
                  <a:srgbClr val="AEAEAE"/>
                </a:solidFill>
                <a:latin typeface="Inter"/>
              </a:rPr>
              <a:t>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77824" y="84124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AU" spc="192" cap="all">
                <a:solidFill>
                  <a:srgbClr val="EA493F"/>
                </a:solidFill>
                <a:latin typeface="Inter"/>
              </a:rPr>
              <a:t>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28016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 lang="en-AU" spc="-74">
                <a:solidFill>
                  <a:srgbClr val="111111"/>
                </a:solidFill>
                <a:latin typeface="Inter"/>
              </a:rPr>
              <a:t>Projects delivered </a:t>
            </a:r>
            <a:r>
              <a:rPr sz="3400" b="1" i="0" lang="en-AU" spc="-74">
                <a:solidFill>
                  <a:srgbClr val="EA493F"/>
                </a:solidFill>
                <a:latin typeface="Inter"/>
              </a:rPr>
              <a:t>per year.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877824" y="2423160"/>
          <a:ext cx="10424160" cy="36576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ivada_Icon_Melon_RGB_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147" cap="all">
                <a:solidFill>
                  <a:srgbClr val="AEAEAE"/>
                </a:solidFill>
                <a:latin typeface="Inter"/>
              </a:rPr>
              <a:t>06 · OUTCOMES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77824" y="84124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AU" spc="192" cap="all">
                <a:solidFill>
                  <a:srgbClr val="EA493F"/>
                </a:solidFill>
                <a:latin typeface="Inter"/>
              </a:rPr>
              <a:t>WHAT CLIENTS SAY</a:t>
            </a:r>
          </a:p>
        </p:txBody>
      </p:sp>
      <p:sp>
        <p:nvSpPr>
          <p:cNvPr id="5" name="Rectangle 4"/>
          <p:cNvSpPr/>
          <p:nvPr/>
        </p:nvSpPr>
        <p:spPr>
          <a:xfrm>
            <a:off x="877824" y="1417320"/>
            <a:ext cx="64008" cy="2286000"/>
          </a:xfrm>
          <a:prstGeom prst="rect">
            <a:avLst/>
          </a:prstGeom>
          <a:solidFill>
            <a:srgbClr val="EA4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07008" y="1371600"/>
            <a:ext cx="9601200" cy="24688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 i="0" lang="en-AU" spc="-76">
                <a:solidFill>
                  <a:srgbClr val="EA493F"/>
                </a:solidFill>
                <a:latin typeface="Inter"/>
              </a:rPr>
              <a:t>“They delivered in weeks what we’d scoped for a year — and our team actually uses it.”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07008" y="3822191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AU" spc="24">
                <a:solidFill>
                  <a:srgbClr val="AEAEAE"/>
                </a:solidFill>
                <a:latin typeface="Inter"/>
              </a:rPr>
              <a:t>— Operations Director, enterprise client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77824" y="4727448"/>
            <a:ext cx="10436047" cy="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77824" y="4892040"/>
            <a:ext cx="3314090" cy="1051560"/>
          </a:xfrm>
          <a:prstGeom prst="rect">
            <a:avLst/>
          </a:prstGeom>
          <a:noFill/>
        </p:spPr>
        <p:txBody>
          <a:bodyPr wrap="square" anchor="b" lIns="0" rIns="0" tIns="0" bIns="0"/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5800" b="1" i="0" lang="en-AU" spc="-203">
                <a:solidFill>
                  <a:srgbClr val="111111"/>
                </a:solidFill>
                <a:latin typeface="Inter"/>
              </a:rPr>
              <a:t>41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824" y="6025896"/>
            <a:ext cx="3250082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126" cap="all">
                <a:solidFill>
                  <a:srgbClr val="AEAEAE"/>
                </a:solidFill>
                <a:latin typeface="Inter"/>
              </a:rPr>
              <a:t>PROJECTS IN 2025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356506" y="4937759"/>
            <a:ext cx="0" cy="1554481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4667402" y="4892040"/>
            <a:ext cx="3003194" cy="1051560"/>
          </a:xfrm>
          <a:prstGeom prst="rect">
            <a:avLst/>
          </a:prstGeom>
          <a:noFill/>
        </p:spPr>
        <p:txBody>
          <a:bodyPr wrap="square" anchor="b" lIns="0" rIns="0" tIns="0" bIns="0"/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5800" b="1" i="0" lang="en-AU" spc="-203">
                <a:solidFill>
                  <a:srgbClr val="111111"/>
                </a:solidFill>
                <a:latin typeface="Inter"/>
              </a:rPr>
              <a:t>98</a:t>
            </a:r>
            <a:r>
              <a:rPr sz="5800" b="1" i="0" lang="en-AU" spc="-203">
                <a:solidFill>
                  <a:srgbClr val="EA493F"/>
                </a:solidFill>
                <a:latin typeface="Inter"/>
              </a:rPr>
              <a:t>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7402" y="6025896"/>
            <a:ext cx="2939186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126" cap="all">
                <a:solidFill>
                  <a:srgbClr val="AEAEAE"/>
                </a:solidFill>
                <a:latin typeface="Inter"/>
              </a:rPr>
              <a:t>CLIENT RETENTION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835188" y="4937759"/>
            <a:ext cx="0" cy="1554481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146084" y="4892040"/>
            <a:ext cx="3003194" cy="1051560"/>
          </a:xfrm>
          <a:prstGeom prst="rect">
            <a:avLst/>
          </a:prstGeom>
          <a:noFill/>
        </p:spPr>
        <p:txBody>
          <a:bodyPr wrap="square" anchor="b" lIns="0" rIns="0" tIns="0" bIns="0"/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5800" b="1" i="0" lang="en-AU" spc="-203">
                <a:solidFill>
                  <a:srgbClr val="111111"/>
                </a:solidFill>
                <a:latin typeface="Inter"/>
              </a:rPr>
              <a:t>40</a:t>
            </a:r>
            <a:r>
              <a:rPr sz="5800" b="1" i="0" lang="en-AU" spc="-203">
                <a:solidFill>
                  <a:srgbClr val="EA493F"/>
                </a:solidFill>
                <a:latin typeface="Inter"/>
              </a:rPr>
              <a:t>+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46084" y="6025896"/>
            <a:ext cx="2939186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126" cap="all">
                <a:solidFill>
                  <a:srgbClr val="AEAEAE"/>
                </a:solidFill>
                <a:latin typeface="Inter"/>
              </a:rPr>
              <a:t>IMPLEMENTATIONS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ivada_Logo_2C_OnBlack_RGB_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749808"/>
            <a:ext cx="2531685" cy="3840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77824" y="219456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AU" spc="192" cap="all">
                <a:solidFill>
                  <a:srgbClr val="EA493F"/>
                </a:solidFill>
                <a:latin typeface="Inter"/>
              </a:rPr>
              <a:t>LET'S TALK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606040"/>
            <a:ext cx="10058400" cy="21945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400" b="1" i="0" lang="en-AU" spc="-135">
                <a:solidFill>
                  <a:srgbClr val="FFFFFF"/>
                </a:solidFill>
                <a:latin typeface="Inter"/>
              </a:rPr>
              <a:t>Let's build something </a:t>
            </a:r>
            <a:r>
              <a:rPr sz="5400" b="1" i="0" lang="en-AU" spc="-135">
                <a:solidFill>
                  <a:srgbClr val="EA493F"/>
                </a:solidFill>
                <a:latin typeface="Inter"/>
              </a:rPr>
              <a:t>together.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77824" y="5852160"/>
            <a:ext cx="10436047" cy="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877824" y="598932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lang="en-AU" spc="25">
                <a:solidFill>
                  <a:srgbClr val="CFCFCF"/>
                </a:solidFill>
                <a:latin typeface="Inter"/>
              </a:rPr>
              <a:t>hello@mivada.com · mivada.com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0895" y="5989320"/>
            <a:ext cx="5522976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 lang="en-AU" spc="25">
                <a:solidFill>
                  <a:srgbClr val="AEAEAE"/>
                </a:solidFill>
                <a:latin typeface="Inter"/>
              </a:rPr>
              <a:t>Sydney &amp; Melbourne · Onshore AU &amp; India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