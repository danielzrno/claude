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Projects delivered</c:v>
                </c:pt>
              </c:strCache>
            </c:strRef>
          </c:tx>
          <c:spPr>
            <a:solidFill>
              <a:srgbClr val="EA493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12.0</c:v>
                </c:pt>
                <c:pt idx="1">
                  <c:v>19.0</c:v>
                </c:pt>
                <c:pt idx="2">
                  <c:v>28.0</c:v>
                </c:pt>
                <c:pt idx="3">
                  <c:v>41.0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the company. Australian technology consultancy. Thank the audience for their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first. We are not a body shop — outcomes, not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Workday &amp; ERP — our anchor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Human-first, end to end. The 'Care' phase is our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 are illustrative samples. Replace with verified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Steady growth. 41 projects in 2025. All figures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Strongest proof point. Reinforces the 'Care'/adoption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invitation. Offer a discovery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331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CAPABILITY STATEMENT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0" b="1" i="0" lang="en-AU" spc="-200">
                <a:solidFill>
                  <a:srgbClr val="FFFFFF"/>
                </a:solidFill>
                <a:latin typeface="Inter"/>
              </a:rPr>
              <a:t>Company </a:t>
            </a:r>
            <a:r>
              <a:rPr sz="8000" b="1" i="0" lang="en-AU" spc="-200">
                <a:solidFill>
                  <a:srgbClr val="EA493F"/>
                </a:solidFill>
                <a:latin typeface="Inter"/>
              </a:rPr>
              <a:t>overview.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616305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627278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An Australian technology consultancy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6272784"/>
            <a:ext cx="5522976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mivada.com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02 · 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ABOUT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80160"/>
            <a:ext cx="7040880" cy="2468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87">
                <a:solidFill>
                  <a:srgbClr val="111111"/>
                </a:solidFill>
                <a:latin typeface="Inter"/>
              </a:rPr>
              <a:t>An Australian technology </a:t>
            </a:r>
            <a:r>
              <a:rPr sz="4000" b="1" i="0" lang="en-AU" spc="-87">
                <a:solidFill>
                  <a:srgbClr val="EA493F"/>
                </a:solidFill>
                <a:latin typeface="Inter"/>
              </a:rPr>
              <a:t>consultancy.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874519"/>
            <a:ext cx="3127248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n-AU" spc="0">
                <a:solidFill>
                  <a:srgbClr val="323232"/>
                </a:solidFill>
                <a:latin typeface="Inter"/>
              </a:rPr>
              <a:t>We turn enterprise platforms — Workday, payroll, data and AI — into measurable outcomes, built around how teams actually work. Independent and platform-agnostic; formerly LJM Infotech.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7824" y="399592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7824" y="4160520"/>
            <a:ext cx="3314090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5294376"/>
            <a:ext cx="325008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FOUNDED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56506" y="42062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667402" y="416052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120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402" y="529437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CERTIFIED SPECIALISTS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35188" y="42062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46084" y="416052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115">
                <a:solidFill>
                  <a:srgbClr val="111111"/>
                </a:solidFill>
                <a:latin typeface="Inter"/>
              </a:rPr>
              <a:t>AU + India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6084" y="529437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03 · 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78638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WHAT WE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170432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FFFFFF"/>
                </a:solidFill>
                <a:latin typeface="Inter"/>
              </a:rPr>
              <a:t>Four service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pillars.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2395728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2523744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2487168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Workday &amp; ERP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Implementation, optimisation and managed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2578608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PLATFORMS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" y="328269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7824" y="3410712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4" y="3374136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Payroll consulting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Compliant, accurate payroll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2815" y="3465576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PAYROLL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" y="4169663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7824" y="4297680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0824" y="4261104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Data &amp; AI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Lakehouse architecture, governed analytics, applied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2815" y="4352544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824" y="5056632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7824" y="5184648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0824" y="5148072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Intelligent automation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Remove manual, error-prone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2815" y="5239512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AUTOMATION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7824" y="594360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04 · 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People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971800"/>
            <a:ext cx="2380411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STEP 01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Listen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Understand the people and the work before the technology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835" y="2971800"/>
            <a:ext cx="0" cy="22860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97731" y="2971800"/>
            <a:ext cx="2069515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STEP 02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Design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Map to real-world needs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7" y="2971800"/>
            <a:ext cx="0" cy="22860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6743" y="2971800"/>
            <a:ext cx="2069515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STEP 03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Deliver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Implement in increments; value early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04859" y="2971800"/>
            <a:ext cx="0" cy="22860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15755" y="2971800"/>
            <a:ext cx="2069515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STEP 04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Care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Measure outcomes; keep improving after go-live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80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87">
                <a:solidFill>
                  <a:srgbClr val="111111"/>
                </a:solidFill>
                <a:latin typeface="Inter"/>
              </a:rPr>
              <a:t>The shape of </a:t>
            </a:r>
            <a:r>
              <a:rPr sz="4000" b="1" i="0" lang="en-AU" spc="-87">
                <a:solidFill>
                  <a:srgbClr val="EA493F"/>
                </a:solidFill>
                <a:latin typeface="Inter"/>
              </a:rPr>
              <a:t>the business.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38130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3977639"/>
            <a:ext cx="1922617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5111496"/>
            <a:ext cx="185860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FOUNDED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65033" y="4023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75929" y="3977639"/>
            <a:ext cx="1611721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120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5929" y="5111496"/>
            <a:ext cx="154771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CERTIFIED SPECIALISTS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52242" y="4023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63138" y="3977639"/>
            <a:ext cx="1611721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40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3138" y="5111496"/>
            <a:ext cx="154771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IMPLEMENTATIONS DELIVERED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9452" y="4023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50348" y="3977639"/>
            <a:ext cx="1611721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98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0348" y="5111496"/>
            <a:ext cx="154771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CLIENT RETENTION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26661" y="4023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537557" y="3977639"/>
            <a:ext cx="1611721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115">
                <a:solidFill>
                  <a:srgbClr val="111111"/>
                </a:solidFill>
                <a:latin typeface="Inter"/>
              </a:rPr>
              <a:t>AU +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557" y="5111496"/>
            <a:ext cx="1547713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DELIVERY FOOTPRINT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80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Projects delivered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per year.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77824" y="2423160"/>
          <a:ext cx="1042416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06 ·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WHAT CLIENTS SAY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" y="1417320"/>
            <a:ext cx="64008" cy="228600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371600"/>
            <a:ext cx="9601200" cy="2468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lang="en-AU" spc="-76">
                <a:solidFill>
                  <a:srgbClr val="EA493F"/>
                </a:solidFill>
                <a:latin typeface="Inter"/>
              </a:rPr>
              <a:t>“They delivered in weeks what we’d scoped for a year — and our team actually uses it.”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822191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24">
                <a:solidFill>
                  <a:srgbClr val="AEAEAE"/>
                </a:solidFill>
                <a:latin typeface="Inter"/>
              </a:rPr>
              <a:t>— Operations Director, enterprise client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" y="47274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7824" y="4892040"/>
            <a:ext cx="3314090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6025896"/>
            <a:ext cx="325008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PROJECTS IN 2025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56506" y="49377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67402" y="489204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98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402" y="602589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CLIENT RETENTION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35188" y="49377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46084" y="489204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40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6084" y="602589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IMPLEMENTATIONS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1945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LET'S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lang="en-AU" spc="-135">
                <a:solidFill>
                  <a:srgbClr val="FFFFFF"/>
                </a:solidFill>
                <a:latin typeface="Inter"/>
              </a:rPr>
              <a:t>Let's build something </a:t>
            </a:r>
            <a:r>
              <a:rPr sz="5400" b="1" i="0" lang="en-AU" spc="-135">
                <a:solidFill>
                  <a:srgbClr val="EA493F"/>
                </a:solidFill>
                <a:latin typeface="Inter"/>
              </a:rPr>
              <a:t>together.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585216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5989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25">
                <a:solidFill>
                  <a:srgbClr val="CFCFCF"/>
                </a:solidFill>
                <a:latin typeface="Inter"/>
              </a:rPr>
              <a:t>hello@mivada.com · mivada.com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5989320"/>
            <a:ext cx="552297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n-AU" spc="25">
                <a:solidFill>
                  <a:srgbClr val="AEAEAE"/>
                </a:solidFill>
                <a:latin typeface="Inter"/>
              </a:rPr>
              <a:t>Sydney &amp; Melbourne · Onshore AU &amp;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