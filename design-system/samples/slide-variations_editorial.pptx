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WHY MIVADA ·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WHY MIVADA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Your long-term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Workday partner.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9933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AU" spc="0">
                <a:solidFill>
                  <a:srgbClr val="323232"/>
                </a:solidFill>
                <a:latin typeface="Inter"/>
              </a:rPr>
              <a:t>We grew out of a customer — so we understand your challenges from the inside.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" y="2697480"/>
            <a:ext cx="24581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80360"/>
            <a:ext cx="20466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191256"/>
            <a:ext cx="2046655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Australian-owned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739896"/>
            <a:ext cx="2019223" cy="4206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Creating Australian jobs, accountable locally.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7127" y="2697480"/>
            <a:ext cx="24581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4871" y="2880360"/>
            <a:ext cx="20466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4871" y="3191256"/>
            <a:ext cx="2046655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Not a Big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4871" y="3739896"/>
            <a:ext cx="2019223" cy="4206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Senior practitioners on the tools — no pyramid, no juniors learning on you.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431" y="2697480"/>
            <a:ext cx="24581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880360"/>
            <a:ext cx="20466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3191256"/>
            <a:ext cx="2046655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Direct access to our CEO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5" y="3739896"/>
            <a:ext cx="2019223" cy="4206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A reduced escalation matrix — decisions in hours, not weeks.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55735" y="2697480"/>
            <a:ext cx="24581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3479" y="2880360"/>
            <a:ext cx="20466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3479" y="3191256"/>
            <a:ext cx="2046655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Dedicated engagement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3479" y="3739896"/>
            <a:ext cx="2019223" cy="4206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One local owner across your whole engagement.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" y="4398264"/>
            <a:ext cx="24581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581144"/>
            <a:ext cx="20466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892040"/>
            <a:ext cx="2046655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People Systems &amp; Transformation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5440680"/>
            <a:ext cx="2019223" cy="4206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HCM, Payroll, Time &amp; Attendance and HRIS.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37127" y="4398264"/>
            <a:ext cx="24581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4871" y="4581144"/>
            <a:ext cx="20466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4871" y="4892040"/>
            <a:ext cx="2046655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Data, Analytics &amp; 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4871" y="5440680"/>
            <a:ext cx="2019223" cy="4206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From reporting to governed, trusted analytics.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6431" y="4398264"/>
            <a:ext cx="24581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4175" y="4581144"/>
            <a:ext cx="20466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4175" y="4892040"/>
            <a:ext cx="2046655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Process &amp; 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4175" y="5440680"/>
            <a:ext cx="2019223" cy="4206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Remove the manual, error-prone work.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55735" y="4398264"/>
            <a:ext cx="24581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3479" y="4581144"/>
            <a:ext cx="20466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3479" y="4892040"/>
            <a:ext cx="2046655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Dedicated offshore capability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3479" y="5440680"/>
            <a:ext cx="2019223" cy="4206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Scale without losing local accountability.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77824" y="6181344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77824" y="6327648"/>
            <a:ext cx="1043604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TRUSTED BY   </a:t>
            </a:r>
            <a:r>
              <a:rPr sz="1050" b="1" i="0" lang="en-AU" spc="42">
                <a:solidFill>
                  <a:srgbClr val="AEAEAE"/>
                </a:solidFill>
                <a:latin typeface="Inter"/>
              </a:rPr>
              <a:t>Qantas   ·   Guzman y Gomez   ·   Western Sydney International Airport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WHY MIVADA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WHY MIVADA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716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lang="en-AU" spc="-110">
                <a:solidFill>
                  <a:srgbClr val="FFFFFF"/>
                </a:solidFill>
                <a:latin typeface="Inter"/>
              </a:rPr>
              <a:t>We grew out of a customer.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lang="en-AU" spc="-110">
                <a:solidFill>
                  <a:srgbClr val="FFFFFF"/>
                </a:solidFill>
                <a:latin typeface="Inter"/>
              </a:rPr>
              <a:t>So we </a:t>
            </a:r>
            <a:r>
              <a:rPr sz="4400" b="1" i="0" lang="en-AU" spc="-110">
                <a:solidFill>
                  <a:srgbClr val="EA493F"/>
                </a:solidFill>
                <a:latin typeface="Inter"/>
              </a:rPr>
              <a:t>get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246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0">
                <a:solidFill>
                  <a:srgbClr val="D6D6D6"/>
                </a:solidFill>
                <a:latin typeface="Inter"/>
              </a:rPr>
              <a:t>Your long-term partner in Workday implementations &amp; managed 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9776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3977639"/>
            <a:ext cx="43950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14">
                <a:solidFill>
                  <a:srgbClr val="FFFFFF"/>
                </a:solidFill>
                <a:latin typeface="Inter"/>
              </a:rPr>
              <a:t>Australian-owned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5445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4544568"/>
            <a:ext cx="43950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14">
                <a:solidFill>
                  <a:srgbClr val="FFFFFF"/>
                </a:solidFill>
                <a:latin typeface="Inter"/>
              </a:rPr>
              <a:t>Not a Big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511149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111496"/>
            <a:ext cx="43950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14">
                <a:solidFill>
                  <a:srgbClr val="FFFFFF"/>
                </a:solidFill>
                <a:latin typeface="Inter"/>
              </a:rPr>
              <a:t>Direct access to our CEO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5678423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5678423"/>
            <a:ext cx="43950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14">
                <a:solidFill>
                  <a:srgbClr val="FFFFFF"/>
                </a:solidFill>
                <a:latin typeface="Inter"/>
              </a:rPr>
              <a:t>Dedicated engagement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39776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2775" y="3977639"/>
            <a:ext cx="43950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14">
                <a:solidFill>
                  <a:srgbClr val="FFFFFF"/>
                </a:solidFill>
                <a:latin typeface="Inter"/>
              </a:rPr>
              <a:t>People Systems &amp; Transformation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45445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2775" y="4544568"/>
            <a:ext cx="43950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14">
                <a:solidFill>
                  <a:srgbClr val="FFFFFF"/>
                </a:solidFill>
                <a:latin typeface="Inter"/>
              </a:rPr>
              <a:t>Data, Analytics &amp;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7" y="511149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2775" y="5111496"/>
            <a:ext cx="43950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14">
                <a:solidFill>
                  <a:srgbClr val="FFFFFF"/>
                </a:solidFill>
                <a:latin typeface="Inter"/>
              </a:rPr>
              <a:t>Process &amp;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5678423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2775" y="5678423"/>
            <a:ext cx="43950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14">
                <a:solidFill>
                  <a:srgbClr val="FFFFFF"/>
                </a:solidFill>
                <a:latin typeface="Inter"/>
              </a:rPr>
              <a:t>Dedicated offshore capability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" y="6181344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77824" y="6327648"/>
            <a:ext cx="1043604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TRUSTED BY   </a:t>
            </a:r>
            <a:r>
              <a:rPr sz="1050" b="1" i="0" lang="en-AU" spc="42">
                <a:solidFill>
                  <a:srgbClr val="CFCFCF"/>
                </a:solidFill>
                <a:latin typeface="Inter"/>
              </a:rPr>
              <a:t>Qantas   ·   Guzman y Gomez   ·   Western Sydney International Airport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WHY MIVADA ·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0515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WHY MIVADA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63040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Built by people who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ran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33756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n-AU" spc="0">
                <a:solidFill>
                  <a:srgbClr val="323232"/>
                </a:solidFill>
                <a:latin typeface="Inter"/>
              </a:rPr>
              <a:t>We grew out of a customer, so we understand your challenges first-hand. Australian-owned and senior-led — not a Big 4 — with direct access to our CEO and a dedicated local engagement manager who owns your outcome.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355080" y="1188720"/>
            <a:ext cx="495879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55080" y="1371600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AU" spc="-16">
                <a:solidFill>
                  <a:srgbClr val="111111"/>
                </a:solidFill>
                <a:latin typeface="Inter"/>
              </a:rPr>
              <a:t>People Systems &amp;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55648"/>
            <a:ext cx="495879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23">
                <a:solidFill>
                  <a:srgbClr val="EA493F"/>
                </a:solidFill>
                <a:latin typeface="Inter"/>
              </a:rPr>
              <a:t>HCM · Payroll · T&amp;A · HRIS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55080" y="2212848"/>
            <a:ext cx="495879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55080" y="2395728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AU" spc="-16">
                <a:solidFill>
                  <a:srgbClr val="111111"/>
                </a:solidFill>
                <a:latin typeface="Inter"/>
              </a:rPr>
              <a:t>Data, Analytics &amp;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79776"/>
            <a:ext cx="495879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23">
                <a:solidFill>
                  <a:srgbClr val="EA493F"/>
                </a:solidFill>
                <a:latin typeface="Inter"/>
              </a:rPr>
              <a:t>Reporting · dashboards · governed analytics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55080" y="3236976"/>
            <a:ext cx="495879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5080" y="3419856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AU" spc="-16">
                <a:solidFill>
                  <a:srgbClr val="111111"/>
                </a:solidFill>
                <a:latin typeface="Inter"/>
              </a:rPr>
              <a:t>Process &amp;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803904"/>
            <a:ext cx="495879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23">
                <a:solidFill>
                  <a:srgbClr val="EA493F"/>
                </a:solidFill>
                <a:latin typeface="Inter"/>
              </a:rPr>
              <a:t>Redesign · integrations · automation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55080" y="4261104"/>
            <a:ext cx="495879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55080" y="4443984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AU" spc="-16">
                <a:solidFill>
                  <a:srgbClr val="111111"/>
                </a:solidFill>
                <a:latin typeface="Inter"/>
              </a:rPr>
              <a:t>Dedicated offshore 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828032"/>
            <a:ext cx="495879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23">
                <a:solidFill>
                  <a:srgbClr val="EA493F"/>
                </a:solidFill>
                <a:latin typeface="Inter"/>
              </a:rPr>
              <a:t>Scale with local accountability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55080" y="5285232"/>
            <a:ext cx="495879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7824" y="6181344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7824" y="6327648"/>
            <a:ext cx="1043604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TRUSTED BY   </a:t>
            </a:r>
            <a:r>
              <a:rPr sz="1050" b="1" i="0" lang="en-AU" spc="42">
                <a:solidFill>
                  <a:srgbClr val="AEAEAE"/>
                </a:solidFill>
                <a:latin typeface="Inter"/>
              </a:rPr>
              <a:t>Qantas   ·   Guzman y Gomez   ·   Western Sydney International Airport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WORKDAY SERVICES ·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WHAT WE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Workday,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end to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9933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AU" spc="0">
                <a:solidFill>
                  <a:srgbClr val="323232"/>
                </a:solidFill>
                <a:latin typeface="Inter"/>
              </a:rPr>
              <a:t>One partner across the whole platform — from first roadmap to long-term managed services.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" y="2697480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80360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191256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Advisory &amp; roadmap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3562" y="2697480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1306" y="2880360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1306" y="3191256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Implementation &amp; deployment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69300" y="2697480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7044" y="2880360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7044" y="3191256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Optimisation &amp; phase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3941064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123944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434840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Managed services (AMS)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3562" y="3941064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1306" y="4123944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1306" y="4434840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Integrations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69300" y="3941064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7044" y="4123944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7044" y="4434840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Data, analytics &amp; BI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" y="5184648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5367528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5678424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Reporting &amp; dashboards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23562" y="5184648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1306" y="5367528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1306" y="5678424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Security &amp; compliance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69300" y="5184648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7044" y="5367528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7044" y="5678424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WORKDAY SERVICES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WORKDAY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FFFFFF"/>
                </a:solidFill>
                <a:latin typeface="Inter"/>
              </a:rPr>
              <a:t>Across the whole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Workday lifecycle.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108960"/>
            <a:ext cx="238041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STAGE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566160"/>
            <a:ext cx="2380411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en-AU" spc="-65">
                <a:solidFill>
                  <a:srgbClr val="FFFFFF"/>
                </a:solidFill>
                <a:latin typeface="Inter"/>
              </a:rPr>
              <a:t>Advise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251960"/>
            <a:ext cx="2334691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Roadmap, business case, design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835" y="3108960"/>
            <a:ext cx="0" cy="219456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97731" y="3108960"/>
            <a:ext cx="20695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STAGE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7731" y="3566160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en-AU" spc="-65">
                <a:solidFill>
                  <a:srgbClr val="FFFFFF"/>
                </a:solidFill>
                <a:latin typeface="Inter"/>
              </a:rPr>
              <a:t>Implement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7731" y="4251960"/>
            <a:ext cx="2023795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Deploy HCM, Payroll, Finance &amp; more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7" y="3108960"/>
            <a:ext cx="0" cy="219456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6743" y="3108960"/>
            <a:ext cx="20695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STAGE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6743" y="3566160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en-AU" spc="-65">
                <a:solidFill>
                  <a:srgbClr val="FFFFFF"/>
                </a:solidFill>
                <a:latin typeface="Inter"/>
              </a:rPr>
              <a:t>Optimise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6743" y="4251960"/>
            <a:ext cx="2023795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Phase 2, integrations, reporting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04859" y="3108960"/>
            <a:ext cx="0" cy="219456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015755" y="3108960"/>
            <a:ext cx="20695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STAGE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755" y="3566160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en-AU" spc="-65">
                <a:solidFill>
                  <a:srgbClr val="FFFFFF"/>
                </a:solidFill>
                <a:latin typeface="Inter"/>
              </a:rPr>
              <a:t>Manage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755" y="4251960"/>
            <a:ext cx="2023795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AMS, automation, continuous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5943600"/>
            <a:ext cx="1043604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25">
                <a:solidFill>
                  <a:srgbClr val="AEAEAE"/>
                </a:solidFill>
                <a:latin typeface="Inter"/>
              </a:rPr>
              <a:t>Wrapped in managed services &amp; support at every stage.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WORKDAY SERVICES ·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Three practices,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one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468880"/>
            <a:ext cx="3204362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AU" spc="-27">
                <a:solidFill>
                  <a:srgbClr val="111111"/>
                </a:solidFill>
                <a:latin typeface="Inter"/>
              </a:rPr>
              <a:t>People Systems &amp;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520440"/>
            <a:ext cx="320436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HCM &amp; core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023360"/>
            <a:ext cx="320436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Payroll &amp;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526280"/>
            <a:ext cx="320436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Time &amp; Attendance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029200"/>
            <a:ext cx="320436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HRIS implementation &amp; optimisation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56506" y="2468880"/>
            <a:ext cx="0" cy="356616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67402" y="2468880"/>
            <a:ext cx="2893466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AU" spc="-27">
                <a:solidFill>
                  <a:srgbClr val="111111"/>
                </a:solidFill>
                <a:latin typeface="Inter"/>
              </a:rPr>
              <a:t>Data, Analytics &amp;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402" y="352044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Reporting &amp; 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402" y="402336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Prism &amp; data lakehouse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402" y="452628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Governed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7402" y="502920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Insight at scale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35188" y="2468880"/>
            <a:ext cx="0" cy="356616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46084" y="2468880"/>
            <a:ext cx="2893466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AU" spc="-27">
                <a:solidFill>
                  <a:srgbClr val="111111"/>
                </a:solidFill>
                <a:latin typeface="Inter"/>
              </a:rPr>
              <a:t>Business Process &amp;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6084" y="352044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Process redesign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6084" y="402336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Integrations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6084" y="452628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6084" y="502920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Controls &amp; assurance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6053328"/>
            <a:ext cx="1043604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25">
                <a:solidFill>
                  <a:srgbClr val="EA493F"/>
                </a:solidFill>
                <a:latin typeface="Inter"/>
              </a:rPr>
              <a:t>All wrapped in managed services &amp;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CAPABILITY ·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Capability in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Workday.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9933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AU" spc="0">
                <a:solidFill>
                  <a:srgbClr val="323232"/>
                </a:solidFill>
                <a:latin typeface="Inter"/>
              </a:rPr>
              <a:t>Empowering innovation through a Workday partnership and local expertise — consultants average 3+ years' Workday experience.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7824" y="321868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7824" y="3383280"/>
            <a:ext cx="2444419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517136"/>
            <a:ext cx="2380411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CERTIFICATIONS / CONSULTANT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86835" y="342900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97731" y="338328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7731" y="451713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WORKDAY INTEGRATIONS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7" y="342900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6743" y="338328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3000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6743" y="451713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WORKDAY CUSTOM REPORTS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04859" y="342900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15755" y="338328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755" y="451713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IMPLEMENTATIONS &amp; SUPPORT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7824" y="495604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7824" y="5120640"/>
            <a:ext cx="3314090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6254496"/>
            <a:ext cx="325008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EMPLOYEES · AU, US &amp; INDIA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56506" y="5166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67402" y="512064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7402" y="625449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PEOPLE-SYSTEMS CLIENTS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35188" y="5166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146084" y="512064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6084" y="625449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YEARS DELIVERING WORKDAY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CAPABILITY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9144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PROVEN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6583680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 lang="en-AU" spc="-600">
                <a:solidFill>
                  <a:srgbClr val="FFFFFF"/>
                </a:solidFill>
                <a:latin typeface="Inter"/>
              </a:rPr>
              <a:t>10</a:t>
            </a:r>
            <a:r>
              <a:rPr sz="15000" b="1" i="0" lang="en-AU" spc="-60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196" cap="all">
                <a:solidFill>
                  <a:srgbClr val="D6D6D6"/>
                </a:solidFill>
                <a:latin typeface="Inter"/>
              </a:rPr>
              <a:t>YEARS DELIVERING WORKDAY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AU" spc="0">
                <a:solidFill>
                  <a:srgbClr val="CFCFCF"/>
                </a:solidFill>
                <a:latin typeface="Inter"/>
              </a:rPr>
              <a:t>Empowering innovation through a true Workday partnership and deep local expertise.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35240" y="1316736"/>
            <a:ext cx="367863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35240" y="1463040"/>
            <a:ext cx="3678631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102">
                <a:solidFill>
                  <a:srgbClr val="FFFFFF"/>
                </a:solidFill>
                <a:latin typeface="Inter"/>
              </a:rPr>
              <a:t>30+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066544"/>
            <a:ext cx="367863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00" cap="all">
                <a:solidFill>
                  <a:srgbClr val="AEAEAE"/>
                </a:solidFill>
                <a:latin typeface="Inter"/>
              </a:rPr>
              <a:t>IMPLEMENTATIONS &amp; SUPPORT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35240" y="2441448"/>
            <a:ext cx="367863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35240" y="2606040"/>
            <a:ext cx="3678631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102">
                <a:solidFill>
                  <a:srgbClr val="FFFFFF"/>
                </a:solidFill>
                <a:latin typeface="Inter"/>
              </a:rPr>
              <a:t>200+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209544"/>
            <a:ext cx="367863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00" cap="all">
                <a:solidFill>
                  <a:srgbClr val="AEAEAE"/>
                </a:solidFill>
                <a:latin typeface="Inter"/>
              </a:rPr>
              <a:t>EMPLOYEES · AU, US &amp; INDIA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35240" y="3584447"/>
            <a:ext cx="367863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35240" y="3749039"/>
            <a:ext cx="3678631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102">
                <a:solidFill>
                  <a:srgbClr val="FFFFFF"/>
                </a:solidFill>
                <a:latin typeface="Inter"/>
              </a:rPr>
              <a:t>2000+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352544"/>
            <a:ext cx="367863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00" cap="all">
                <a:solidFill>
                  <a:srgbClr val="AEAEAE"/>
                </a:solidFill>
                <a:latin typeface="Inter"/>
              </a:rPr>
              <a:t>WORKDAY INTEGRATIONS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35240" y="4727448"/>
            <a:ext cx="367863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35240" y="4892040"/>
            <a:ext cx="3678631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102">
                <a:solidFill>
                  <a:srgbClr val="FFFFFF"/>
                </a:solidFill>
                <a:latin typeface="Inter"/>
              </a:rPr>
              <a:t>3000+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495544"/>
            <a:ext cx="367863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00" cap="all">
                <a:solidFill>
                  <a:srgbClr val="AEAEAE"/>
                </a:solidFill>
                <a:latin typeface="Inter"/>
              </a:rPr>
              <a:t>CUSTOM REPORTS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35240" y="5870448"/>
            <a:ext cx="367863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CAPABILITY ·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The numbers behind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the partnership.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697480"/>
            <a:ext cx="333237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2935224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140">
                <a:solidFill>
                  <a:srgbClr val="111111"/>
                </a:solidFill>
                <a:latin typeface="Inter"/>
              </a:rPr>
              <a:t>3</a:t>
            </a:r>
            <a:r>
              <a:rPr sz="4000" b="1" i="0" lang="en-AU" spc="-14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3648456"/>
            <a:ext cx="2875178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05" cap="all">
                <a:solidFill>
                  <a:srgbClr val="AEAEAE"/>
                </a:solidFill>
                <a:latin typeface="Inter"/>
              </a:rPr>
              <a:t>CERTIFICATIONS / CONSULTANT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9658" y="2697480"/>
            <a:ext cx="333237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3978" y="2935224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140">
                <a:solidFill>
                  <a:srgbClr val="111111"/>
                </a:solidFill>
                <a:latin typeface="Inter"/>
              </a:rPr>
              <a:t>2000</a:t>
            </a:r>
            <a:r>
              <a:rPr sz="4000" b="1" i="0" lang="en-AU" spc="-14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3978" y="3648456"/>
            <a:ext cx="2875178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05" cap="all">
                <a:solidFill>
                  <a:srgbClr val="AEAEAE"/>
                </a:solidFill>
                <a:latin typeface="Inter"/>
              </a:rPr>
              <a:t>WORKDAY INTEGRATIONS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81492" y="2697480"/>
            <a:ext cx="333237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5812" y="2935224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140">
                <a:solidFill>
                  <a:srgbClr val="111111"/>
                </a:solidFill>
                <a:latin typeface="Inter"/>
              </a:rPr>
              <a:t>3000</a:t>
            </a:r>
            <a:r>
              <a:rPr sz="4000" b="1" i="0" lang="en-AU" spc="-14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5812" y="3648456"/>
            <a:ext cx="2875178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05" cap="all">
                <a:solidFill>
                  <a:srgbClr val="AEAEAE"/>
                </a:solidFill>
                <a:latin typeface="Inter"/>
              </a:rPr>
              <a:t>CUSTOM 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" y="4334256"/>
            <a:ext cx="333237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4572000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140">
                <a:solidFill>
                  <a:srgbClr val="111111"/>
                </a:solidFill>
                <a:latin typeface="Inter"/>
              </a:rPr>
              <a:t>30</a:t>
            </a:r>
            <a:r>
              <a:rPr sz="4000" b="1" i="0" lang="en-AU" spc="-14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5285232"/>
            <a:ext cx="2875178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05" cap="all">
                <a:solidFill>
                  <a:srgbClr val="AEAEAE"/>
                </a:solidFill>
                <a:latin typeface="Inter"/>
              </a:rPr>
              <a:t>IMPLEMENTATIONS &amp;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29658" y="4334256"/>
            <a:ext cx="333237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3978" y="4572000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140">
                <a:solidFill>
                  <a:srgbClr val="111111"/>
                </a:solidFill>
                <a:latin typeface="Inter"/>
              </a:rPr>
              <a:t>200</a:t>
            </a:r>
            <a:r>
              <a:rPr sz="4000" b="1" i="0" lang="en-AU" spc="-14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3978" y="5285232"/>
            <a:ext cx="2875178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05" cap="all">
                <a:solidFill>
                  <a:srgbClr val="AEAEAE"/>
                </a:solidFill>
                <a:latin typeface="Inter"/>
              </a:rPr>
              <a:t>EMPLOYEES · AU, US &amp; INDIA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81492" y="4334256"/>
            <a:ext cx="333237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5812" y="4572000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140">
                <a:solidFill>
                  <a:srgbClr val="111111"/>
                </a:solidFill>
                <a:latin typeface="Inter"/>
              </a:rPr>
              <a:t>100</a:t>
            </a:r>
            <a:r>
              <a:rPr sz="4000" b="1" i="0" lang="en-AU" spc="-14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5812" y="5285232"/>
            <a:ext cx="2875178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05" cap="all">
                <a:solidFill>
                  <a:srgbClr val="AEAEAE"/>
                </a:solidFill>
                <a:latin typeface="Inter"/>
              </a:rPr>
              <a:t>PEOPLE-SYSTEMS CLIENTS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016752"/>
            <a:ext cx="10436047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26">
                <a:solidFill>
                  <a:srgbClr val="EA493F"/>
                </a:solidFill>
                <a:latin typeface="Inter"/>
              </a:rPr>
              <a:t>10+ years delivering Workday · consultants average 3+ years'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