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Projects delivered</c:v>
                </c:pt>
              </c:strCache>
            </c:strRef>
          </c:tx>
          <c:spPr>
            <a:solidFill>
              <a:srgbClr val="EA493F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12.0</c:v>
                </c:pt>
                <c:pt idx="1">
                  <c:v>19.0</c:v>
                </c:pt>
                <c:pt idx="2">
                  <c:v>28.0</c:v>
                </c:pt>
                <c:pt idx="3">
                  <c:v>41.0</c:v>
                </c:pt>
              </c:numCache>
            </c:numRef>
          </c:val>
        </c:ser>
        <c:dLbls>
          <c:numFmt formatCode="0" sourceLinked="0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 the company. Australian technology consultancy. Thank the audience for their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first. We are not a body shop — outcomes, not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Workday &amp; ERP — our anchor practice.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Human-first, end to end. The 'Care' phase is our differentiator.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Figures are illustrative samples. Replace with verified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Steady growth. 41 projects in 2025. All figures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Strongest proof point. Reinforces the 'Care'/adoption message.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the invitation. Offer a discovery workshop.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Logo_2C_OnBlack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749808"/>
            <a:ext cx="2531685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77824" y="23317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192" cap="all">
                <a:solidFill>
                  <a:srgbClr val="EA493F"/>
                </a:solidFill>
                <a:latin typeface="Inter"/>
              </a:rPr>
              <a:t>CAPABILITY STATEMENT —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697480"/>
            <a:ext cx="10607040" cy="2926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600" b="1" i="0" lang="en-AU" spc="-190">
                <a:solidFill>
                  <a:srgbClr val="FFFFFF"/>
                </a:solidFill>
                <a:latin typeface="Inter"/>
              </a:rPr>
              <a:t>Company </a:t>
            </a:r>
            <a:r>
              <a:rPr sz="7600" b="1" i="0" lang="en-AU" spc="-190">
                <a:solidFill>
                  <a:srgbClr val="EA493F"/>
                </a:solidFill>
                <a:latin typeface="Inter"/>
              </a:rPr>
              <a:t>Overview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6163056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6272784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lang="en-AU" spc="46">
                <a:solidFill>
                  <a:srgbClr val="AEAEAE"/>
                </a:solidFill>
                <a:latin typeface="Inte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0895" y="6272784"/>
            <a:ext cx="5522976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lang="en-AU" spc="46">
                <a:solidFill>
                  <a:srgbClr val="AEAEAE"/>
                </a:solidFill>
                <a:latin typeface="Inter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777777"/>
                </a:solidFill>
                <a:latin typeface="Inter"/>
              </a:rPr>
              <a:t>ABOUT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7824" y="8412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192" cap="all">
                <a:solidFill>
                  <a:srgbClr val="EA493F"/>
                </a:solidFill>
                <a:latin typeface="Inter"/>
              </a:rPr>
              <a:t>ABOUT 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25296"/>
            <a:ext cx="1042416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 lang="en-AU" spc="-74">
                <a:solidFill>
                  <a:srgbClr val="FFFFFF"/>
                </a:solidFill>
                <a:latin typeface="Inter"/>
              </a:rPr>
              <a:t>About </a:t>
            </a:r>
            <a:r>
              <a:rPr sz="3400" b="1" i="0" lang="en-AU" spc="-74">
                <a:solidFill>
                  <a:srgbClr val="EA493F"/>
                </a:solidFill>
                <a:latin typeface="Inter"/>
              </a:rPr>
              <a:t>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514600"/>
            <a:ext cx="10436047" cy="397763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600" b="0" i="0" lang="en-AU" spc="0">
                <a:solidFill>
                  <a:srgbClr val="D6D6D6"/>
                </a:solidFill>
                <a:latin typeface="Inter"/>
              </a:rPr>
              <a:t>Mivada is an Australian technology consultancy founded in 2014. We turn enterprise platforms — Workday, payroll, data and AI — into measurable outcomes, built around how teams actually work. Onshore in Australia with a delivery team across AU and India.</a:t>
            </a:r>
          </a:p>
          <a:p>
            <a:pPr algn="l">
              <a:lnSpc>
                <a:spcPct val="122000"/>
              </a:lnSpc>
              <a:spcBef>
                <a:spcPts val="900"/>
              </a:spcBef>
              <a:spcAft>
                <a:spcPts val="0"/>
              </a:spcAft>
            </a:pPr>
            <a:r>
              <a:rPr sz="160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600" b="0" i="0" lang="en-AU" spc="0">
                <a:solidFill>
                  <a:srgbClr val="D6D6D6"/>
                </a:solidFill>
                <a:latin typeface="Inter"/>
              </a:rPr>
              <a:t>Founded 2014; formerly LJM Infotech</a:t>
            </a:r>
          </a:p>
          <a:p>
            <a:pPr algn="l">
              <a:lnSpc>
                <a:spcPct val="122000"/>
              </a:lnSpc>
              <a:spcBef>
                <a:spcPts val="900"/>
              </a:spcBef>
              <a:spcAft>
                <a:spcPts val="0"/>
              </a:spcAft>
            </a:pPr>
            <a:r>
              <a:rPr sz="160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600" b="0" i="0" lang="en-AU" spc="0">
                <a:solidFill>
                  <a:srgbClr val="D6D6D6"/>
                </a:solidFill>
                <a:latin typeface="Inter"/>
              </a:rPr>
              <a:t>120+ certified specialists</a:t>
            </a:r>
          </a:p>
          <a:p>
            <a:pPr algn="l">
              <a:lnSpc>
                <a:spcPct val="122000"/>
              </a:lnSpc>
              <a:spcBef>
                <a:spcPts val="900"/>
              </a:spcBef>
              <a:spcAft>
                <a:spcPts val="0"/>
              </a:spcAft>
            </a:pPr>
            <a:r>
              <a:rPr sz="160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600" b="0" i="0" lang="en-AU" spc="0">
                <a:solidFill>
                  <a:srgbClr val="D6D6D6"/>
                </a:solidFill>
                <a:latin typeface="Inter"/>
              </a:rPr>
              <a:t>Delivery across Australia and India</a:t>
            </a:r>
          </a:p>
          <a:p>
            <a:pPr algn="l">
              <a:lnSpc>
                <a:spcPct val="122000"/>
              </a:lnSpc>
              <a:spcBef>
                <a:spcPts val="900"/>
              </a:spcBef>
              <a:spcAft>
                <a:spcPts val="0"/>
              </a:spcAft>
            </a:pPr>
            <a:r>
              <a:rPr sz="160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600" b="0" i="0" lang="en-AU" spc="0">
                <a:solidFill>
                  <a:srgbClr val="D6D6D6"/>
                </a:solidFill>
                <a:latin typeface="Inter"/>
              </a:rPr>
              <a:t>Independent and platform-agnostic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AEAEAE"/>
                </a:solidFill>
                <a:latin typeface="Inter"/>
              </a:rPr>
              <a:t>WHAT WE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7824" y="8412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192" cap="all">
                <a:solidFill>
                  <a:srgbClr val="EA493F"/>
                </a:solidFill>
                <a:latin typeface="Inter"/>
              </a:rPr>
              <a:t>WHAT WE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25296"/>
            <a:ext cx="1042416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 lang="en-AU" spc="-74">
                <a:solidFill>
                  <a:srgbClr val="111111"/>
                </a:solidFill>
                <a:latin typeface="Inter"/>
              </a:rPr>
              <a:t>What We </a:t>
            </a:r>
            <a:r>
              <a:rPr sz="3400" b="1" i="0" lang="en-AU" spc="-74">
                <a:solidFill>
                  <a:srgbClr val="EA493F"/>
                </a:solidFill>
                <a:latin typeface="Inter"/>
              </a:rPr>
              <a:t>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514600"/>
            <a:ext cx="10436047" cy="397763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600" b="0" i="0" lang="en-AU" spc="0">
                <a:solidFill>
                  <a:srgbClr val="323232"/>
                </a:solidFill>
                <a:latin typeface="Inter"/>
              </a:rPr>
              <a:t>Four service pillars</a:t>
            </a:r>
          </a:p>
          <a:p>
            <a:pPr algn="l">
              <a:lnSpc>
                <a:spcPct val="122000"/>
              </a:lnSpc>
              <a:spcBef>
                <a:spcPts val="900"/>
              </a:spcBef>
              <a:spcAft>
                <a:spcPts val="0"/>
              </a:spcAft>
            </a:pPr>
            <a:r>
              <a:rPr sz="160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600" b="0" i="0" lang="en-AU" spc="0">
                <a:solidFill>
                  <a:srgbClr val="323232"/>
                </a:solidFill>
                <a:latin typeface="Inter"/>
              </a:rPr>
              <a:t>Workday &amp; ERP — implementation, optimisation and managed support</a:t>
            </a:r>
          </a:p>
          <a:p>
            <a:pPr algn="l">
              <a:lnSpc>
                <a:spcPct val="122000"/>
              </a:lnSpc>
              <a:spcBef>
                <a:spcPts val="900"/>
              </a:spcBef>
              <a:spcAft>
                <a:spcPts val="0"/>
              </a:spcAft>
            </a:pPr>
            <a:r>
              <a:rPr sz="160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600" b="0" i="0" lang="en-AU" spc="0">
                <a:solidFill>
                  <a:srgbClr val="323232"/>
                </a:solidFill>
                <a:latin typeface="Inter"/>
              </a:rPr>
              <a:t>Payroll consulting — compliant, accurate payroll at scale</a:t>
            </a:r>
          </a:p>
          <a:p>
            <a:pPr algn="l">
              <a:lnSpc>
                <a:spcPct val="122000"/>
              </a:lnSpc>
              <a:spcBef>
                <a:spcPts val="900"/>
              </a:spcBef>
              <a:spcAft>
                <a:spcPts val="0"/>
              </a:spcAft>
            </a:pPr>
            <a:r>
              <a:rPr sz="160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600" b="0" i="0" lang="en-AU" spc="0">
                <a:solidFill>
                  <a:srgbClr val="323232"/>
                </a:solidFill>
                <a:latin typeface="Inter"/>
              </a:rPr>
              <a:t>Data &amp; AI — lakehouse architecture, governed analytics, applied AI</a:t>
            </a:r>
          </a:p>
          <a:p>
            <a:pPr algn="l">
              <a:lnSpc>
                <a:spcPct val="122000"/>
              </a:lnSpc>
              <a:spcBef>
                <a:spcPts val="900"/>
              </a:spcBef>
              <a:spcAft>
                <a:spcPts val="0"/>
              </a:spcAft>
            </a:pPr>
            <a:r>
              <a:rPr sz="160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600" b="0" i="0" lang="en-AU" spc="0">
                <a:solidFill>
                  <a:srgbClr val="323232"/>
                </a:solidFill>
                <a:latin typeface="Inter"/>
              </a:rPr>
              <a:t>Intelligent automation — remove manual, error-prone work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777777"/>
                </a:solidFill>
                <a:latin typeface="Inter"/>
              </a:rPr>
              <a:t>OUR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7824" y="8412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192" cap="all">
                <a:solidFill>
                  <a:srgbClr val="EA493F"/>
                </a:solidFill>
                <a:latin typeface="Inter"/>
              </a:rPr>
              <a:t>OUR 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25296"/>
            <a:ext cx="1042416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 lang="en-AU" spc="-74">
                <a:solidFill>
                  <a:srgbClr val="FFFFFF"/>
                </a:solidFill>
                <a:latin typeface="Inter"/>
              </a:rPr>
              <a:t>Our </a:t>
            </a:r>
            <a:r>
              <a:rPr sz="3400" b="1" i="0" lang="en-AU" spc="-74">
                <a:solidFill>
                  <a:srgbClr val="EA493F"/>
                </a:solidFill>
                <a:latin typeface="Inter"/>
              </a:rPr>
              <a:t>Approach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514600"/>
            <a:ext cx="10436047" cy="397763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600" b="0" i="0" lang="en-AU" spc="0">
                <a:solidFill>
                  <a:srgbClr val="D6D6D6"/>
                </a:solidFill>
                <a:latin typeface="Inter"/>
              </a:rPr>
              <a:t>How we work</a:t>
            </a:r>
          </a:p>
          <a:p>
            <a:pPr algn="l">
              <a:lnSpc>
                <a:spcPct val="122000"/>
              </a:lnSpc>
              <a:spcBef>
                <a:spcPts val="900"/>
              </a:spcBef>
              <a:spcAft>
                <a:spcPts val="0"/>
              </a:spcAft>
            </a:pPr>
            <a:r>
              <a:rPr sz="160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600" b="0" i="0" lang="en-AU" spc="0">
                <a:solidFill>
                  <a:srgbClr val="D6D6D6"/>
                </a:solidFill>
                <a:latin typeface="Inter"/>
              </a:rPr>
              <a:t>Listen — understand the people and the work before the technology</a:t>
            </a:r>
          </a:p>
          <a:p>
            <a:pPr algn="l">
              <a:lnSpc>
                <a:spcPct val="122000"/>
              </a:lnSpc>
              <a:spcBef>
                <a:spcPts val="900"/>
              </a:spcBef>
              <a:spcAft>
                <a:spcPts val="0"/>
              </a:spcAft>
            </a:pPr>
            <a:r>
              <a:rPr sz="160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600" b="0" i="0" lang="en-AU" spc="0">
                <a:solidFill>
                  <a:srgbClr val="D6D6D6"/>
                </a:solidFill>
                <a:latin typeface="Inter"/>
              </a:rPr>
              <a:t>Design — map to real-world needs</a:t>
            </a:r>
          </a:p>
          <a:p>
            <a:pPr algn="l">
              <a:lnSpc>
                <a:spcPct val="122000"/>
              </a:lnSpc>
              <a:spcBef>
                <a:spcPts val="900"/>
              </a:spcBef>
              <a:spcAft>
                <a:spcPts val="0"/>
              </a:spcAft>
            </a:pPr>
            <a:r>
              <a:rPr sz="160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600" b="0" i="0" lang="en-AU" spc="0">
                <a:solidFill>
                  <a:srgbClr val="D6D6D6"/>
                </a:solidFill>
                <a:latin typeface="Inter"/>
              </a:rPr>
              <a:t>Deliver — implement in increments; value early</a:t>
            </a:r>
          </a:p>
          <a:p>
            <a:pPr algn="l">
              <a:lnSpc>
                <a:spcPct val="122000"/>
              </a:lnSpc>
              <a:spcBef>
                <a:spcPts val="900"/>
              </a:spcBef>
              <a:spcAft>
                <a:spcPts val="0"/>
              </a:spcAft>
            </a:pPr>
            <a:r>
              <a:rPr sz="160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600" b="0" i="0" lang="en-AU" spc="0">
                <a:solidFill>
                  <a:srgbClr val="D6D6D6"/>
                </a:solidFill>
                <a:latin typeface="Inter"/>
              </a:rPr>
              <a:t>Care — measure outcomes; keep improving after go-live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AEAEAE"/>
                </a:solidFill>
                <a:latin typeface="Inter"/>
              </a:rPr>
              <a:t>BY THE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7824" y="8412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192" cap="all">
                <a:solidFill>
                  <a:srgbClr val="EA493F"/>
                </a:solidFill>
                <a:latin typeface="Inter"/>
              </a:rPr>
              <a:t>BY THE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801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lang="en-AU" spc="-79">
                <a:solidFill>
                  <a:srgbClr val="111111"/>
                </a:solidFill>
                <a:latin typeface="Inter"/>
              </a:rPr>
              <a:t>Key </a:t>
            </a:r>
            <a:r>
              <a:rPr sz="3600" b="1" i="0" lang="en-AU" spc="-79">
                <a:solidFill>
                  <a:srgbClr val="EA493F"/>
                </a:solidFill>
                <a:latin typeface="Inter"/>
              </a:rPr>
              <a:t>figures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7824" y="381304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77824" y="3977639"/>
            <a:ext cx="1922617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2014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5111496"/>
            <a:ext cx="185860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FOUNDED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965033" y="4023359"/>
            <a:ext cx="0" cy="1554481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275929" y="3977639"/>
            <a:ext cx="1611721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120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75929" y="5111496"/>
            <a:ext cx="1547713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CERTIFIED SPECIALISTS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052242" y="4023359"/>
            <a:ext cx="0" cy="1554481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363138" y="3977639"/>
            <a:ext cx="1611721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40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63138" y="5111496"/>
            <a:ext cx="1547713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IMPLEMENTATIONS DELIVERED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9452" y="4023359"/>
            <a:ext cx="0" cy="1554481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450348" y="3977639"/>
            <a:ext cx="1611721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98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0348" y="5111496"/>
            <a:ext cx="1547713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CLIENT RETENTION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226661" y="4023359"/>
            <a:ext cx="0" cy="1554481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537557" y="3977639"/>
            <a:ext cx="1611721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115">
                <a:solidFill>
                  <a:srgbClr val="111111"/>
                </a:solidFill>
                <a:latin typeface="Inter"/>
              </a:rPr>
              <a:t>AU + India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37557" y="5111496"/>
            <a:ext cx="1547713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DELIVERY FOOTPRINT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AEAEAE"/>
                </a:solidFill>
                <a:latin typeface="Inter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7824" y="8412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192" cap="all">
                <a:solidFill>
                  <a:srgbClr val="EA493F"/>
                </a:solidFill>
                <a:latin typeface="Inter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25296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 lang="en-AU" spc="-70">
                <a:solidFill>
                  <a:srgbClr val="111111"/>
                </a:solidFill>
                <a:latin typeface="Inter"/>
              </a:rPr>
              <a:t>Projects delivered per </a:t>
            </a:r>
            <a:r>
              <a:rPr sz="3200" b="1" i="0" lang="en-AU" spc="-70">
                <a:solidFill>
                  <a:srgbClr val="EA493F"/>
                </a:solidFill>
                <a:latin typeface="Inter"/>
              </a:rPr>
              <a:t>year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877824" y="2468880"/>
          <a:ext cx="1042416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AEAEAE"/>
                </a:solidFill>
                <a:latin typeface="Inter"/>
              </a:rPr>
              <a:t>WHAT CLIENTS 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7824" y="8412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192" cap="all">
                <a:solidFill>
                  <a:srgbClr val="EA493F"/>
                </a:solidFill>
                <a:latin typeface="Inter"/>
              </a:rPr>
              <a:t>WHAT CLIENTS SAY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25296"/>
            <a:ext cx="1042416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 lang="en-AU" spc="-74">
                <a:solidFill>
                  <a:srgbClr val="111111"/>
                </a:solidFill>
                <a:latin typeface="Inter"/>
              </a:rPr>
              <a:t>What Clients </a:t>
            </a:r>
            <a:r>
              <a:rPr sz="3400" b="1" i="0" lang="en-AU" spc="-74">
                <a:solidFill>
                  <a:srgbClr val="EA493F"/>
                </a:solidFill>
                <a:latin typeface="Inter"/>
              </a:rPr>
              <a:t>Say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514600"/>
            <a:ext cx="10436047" cy="397763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600" b="0" i="0" lang="en-AU" spc="0">
                <a:solidFill>
                  <a:srgbClr val="323232"/>
                </a:solidFill>
                <a:latin typeface="Inter"/>
              </a:rPr>
              <a:t>“They delivered in weeks what we’d scoped for a year — and our team actually uses it.”</a:t>
            </a:r>
          </a:p>
          <a:p>
            <a:pPr algn="l">
              <a:lnSpc>
                <a:spcPct val="122000"/>
              </a:lnSpc>
              <a:spcBef>
                <a:spcPts val="900"/>
              </a:spcBef>
              <a:spcAft>
                <a:spcPts val="0"/>
              </a:spcAft>
            </a:pPr>
            <a:r>
              <a:rPr sz="160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600" b="0" i="0" lang="en-AU" spc="0">
                <a:solidFill>
                  <a:srgbClr val="323232"/>
                </a:solidFill>
                <a:latin typeface="Inter"/>
              </a:rPr>
              <a:t>— Operations Director, enterprise client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Logo_2C_OnBlack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749808"/>
            <a:ext cx="2531685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77824" y="219456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192" cap="all">
                <a:solidFill>
                  <a:srgbClr val="EA493F"/>
                </a:solidFill>
                <a:latin typeface="Inter"/>
              </a:rPr>
              <a:t>LET'S TALK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606040"/>
            <a:ext cx="10241280" cy="2743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 lang="en-AU" spc="-135">
                <a:solidFill>
                  <a:srgbClr val="FFFFFF"/>
                </a:solidFill>
                <a:latin typeface="Inter"/>
              </a:rPr>
              <a:t>Let's </a:t>
            </a:r>
            <a:r>
              <a:rPr sz="5400" b="1" i="0" lang="en-AU" spc="-135">
                <a:solidFill>
                  <a:srgbClr val="EA493F"/>
                </a:solidFill>
                <a:latin typeface="Inter"/>
              </a:rPr>
              <a:t>talk.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5852160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598932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lang="en-AU" spc="25">
                <a:solidFill>
                  <a:srgbClr val="CFCFCF"/>
                </a:solidFill>
                <a:latin typeface="Inter"/>
              </a:rPr>
              <a:t>hello@mivada.com   |   mivada.com · Sydney &amp; Melbourne   |   Onshore AU &amp; India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0895" y="5989320"/>
            <a:ext cx="552297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 lang="en-AU" spc="25">
                <a:solidFill>
                  <a:srgbClr val="AEAEAE"/>
                </a:solidFill>
                <a:latin typeface="Inter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