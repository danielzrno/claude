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delivered</c:v>
                </c:pt>
              </c:strCache>
            </c:strRef>
          </c:tx>
          <c:spPr>
            <a:solidFill>
              <a:srgbClr val="EA493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19.0</c:v>
                </c:pt>
                <c:pt idx="2">
                  <c:v>28.0</c:v>
                </c:pt>
                <c:pt idx="3">
                  <c:v>41.0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the company. Australian technology consultancy. Thank the audience for their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first. We are not a body shop — outcomes, not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Workday &amp; ERP — our anchor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Human-first, end to end. The 'Care' phase is our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are illustrative samples. Replace with verified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Steady growth. 41 projects in 2025. All figures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proof point. Reinforces the 'Care'/adoption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invitation. Offer a discovery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 STATEMENT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i="0" lang="en-AU" spc="-190">
                <a:solidFill>
                  <a:srgbClr val="FFFFFF"/>
                </a:solidFill>
                <a:latin typeface="Inter"/>
              </a:rPr>
              <a:t>Company </a:t>
            </a:r>
            <a:r>
              <a:rPr sz="7600" b="1" i="0" lang="en-AU" spc="-190">
                <a:solidFill>
                  <a:srgbClr val="EA493F"/>
                </a:solidFill>
                <a:latin typeface="Inter"/>
              </a:rPr>
              <a:t>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FFFFFF"/>
                </a:solidFill>
                <a:latin typeface="Inter"/>
              </a:rPr>
              <a:t>About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Mivada is an Australian technology consultancy founded in 2014. We turn enterprise platforms — Workday, payroll, data and AI — into measurable outcomes, built around how teams actually work. Onshore in Australia with a delivery team across AU and India.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Founded 2014; formerly LJM Infotech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120+ certified specialists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Delivery across Australia and India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400" b="0" i="0" lang="en-AU" spc="0">
                <a:solidFill>
                  <a:srgbClr val="D6D6D6"/>
                </a:solidFill>
                <a:latin typeface="Inter"/>
              </a:rPr>
              <a:t>Independent and platform-agnostic</a:t>
            </a:r>
          </a:p>
        </p:txBody>
      </p:sp>
      <p:pic>
        <p:nvPicPr>
          <p:cNvPr id="7" name="Picture 6" descr="_xlat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18563"/>
            <a:ext cx="4956048" cy="33866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What We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10436047" cy="39776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323232"/>
                </a:solidFill>
                <a:latin typeface="Inter"/>
              </a:rPr>
              <a:t>Four service pillars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323232"/>
                </a:solidFill>
                <a:latin typeface="Inter"/>
              </a:rPr>
              <a:t>Workday &amp; ERP — implementation, optimisation and managed support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323232"/>
                </a:solidFill>
                <a:latin typeface="Inter"/>
              </a:rPr>
              <a:t>Payroll consulting — compliant, accurate payroll at scale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323232"/>
                </a:solidFill>
                <a:latin typeface="Inter"/>
              </a:rPr>
              <a:t>Data &amp; AI — lakehouse architecture, governed analytics, applied AI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323232"/>
                </a:solidFill>
                <a:latin typeface="Inter"/>
              </a:rPr>
              <a:t>Intelligent automation — remove manual, error-prone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Our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10436047" cy="39776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D6D6D6"/>
                </a:solidFill>
                <a:latin typeface="Inter"/>
              </a:rPr>
              <a:t>How we work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D6D6D6"/>
                </a:solidFill>
                <a:latin typeface="Inter"/>
              </a:rPr>
              <a:t>Listen — understand the people and the work before the technology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D6D6D6"/>
                </a:solidFill>
                <a:latin typeface="Inter"/>
              </a:rPr>
              <a:t>Design — map to real-world needs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D6D6D6"/>
                </a:solidFill>
                <a:latin typeface="Inter"/>
              </a:rPr>
              <a:t>Deliver — implement in increments; value early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600" b="0" i="0" lang="en-AU" spc="0">
                <a:solidFill>
                  <a:srgbClr val="D6D6D6"/>
                </a:solidFill>
                <a:latin typeface="Inter"/>
              </a:rPr>
              <a:t>Care — measure outcomes; keep improving after go-live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en-AU" spc="-79">
                <a:solidFill>
                  <a:srgbClr val="111111"/>
                </a:solidFill>
                <a:latin typeface="Inter"/>
              </a:rPr>
              <a:t>Key </a:t>
            </a:r>
            <a:r>
              <a:rPr sz="3600" b="1" i="0" lang="en-AU" spc="-79">
                <a:solidFill>
                  <a:srgbClr val="EA493F"/>
                </a:solidFill>
                <a:latin typeface="Inter"/>
              </a:rPr>
              <a:t>figures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813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977639"/>
            <a:ext cx="1922617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111496"/>
            <a:ext cx="185860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65033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75929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120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5929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CERTIFIED SPECIALISTS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52242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63138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40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3138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DELIVERED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9452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50348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98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0348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CLIENT RETENTION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26661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37557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115">
                <a:solidFill>
                  <a:srgbClr val="111111"/>
                </a:solidFill>
                <a:latin typeface="Inter"/>
              </a:rPr>
              <a:t>AU +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557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DELIVERY FOOTPRINT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70">
                <a:solidFill>
                  <a:srgbClr val="111111"/>
                </a:solidFill>
                <a:latin typeface="Inter"/>
              </a:rPr>
              <a:t>Projects delivered per </a:t>
            </a:r>
            <a:r>
              <a:rPr sz="3200" b="1" i="0" lang="en-AU" spc="-70">
                <a:solidFill>
                  <a:srgbClr val="EA493F"/>
                </a:solidFill>
                <a:latin typeface="Inter"/>
              </a:rPr>
              <a:t>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7824" y="2468880"/>
          <a:ext cx="104241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WHAT CLIENTS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WHAT CLIENTS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554480"/>
            <a:ext cx="64008" cy="292608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463040"/>
            <a:ext cx="9875520" cy="3474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en-AU" spc="-72">
                <a:solidFill>
                  <a:srgbClr val="EA493F"/>
                </a:solidFill>
                <a:latin typeface="Inter"/>
              </a:rPr>
              <a:t>“They delivered in weeks what we’d scoped for a year — and our team actually uses it.”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5029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24">
                <a:solidFill>
                  <a:srgbClr val="AEAEAE"/>
                </a:solidFill>
                <a:latin typeface="Inter"/>
              </a:rPr>
              <a:t>— Operations Director, enterprise 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Let's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talk.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  |   mivada.com · Sydney &amp; Melbourne   |   Onshore AU &amp;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