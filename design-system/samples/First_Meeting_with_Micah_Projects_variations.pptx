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wm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Logo_2C_OnBlack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749808"/>
            <a:ext cx="2531685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77824" y="233172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MICAH PROJECTS · MARCH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697480"/>
            <a:ext cx="1060704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 lang="en-AU" spc="-135">
                <a:solidFill>
                  <a:srgbClr val="FFFFFF"/>
                </a:solidFill>
                <a:latin typeface="Inter"/>
              </a:rPr>
              <a:t>Implementation </a:t>
            </a:r>
            <a:r>
              <a:rPr sz="5400" b="1" i="0" lang="en-AU" spc="-135">
                <a:solidFill>
                  <a:srgbClr val="EA493F"/>
                </a:solidFill>
                <a:latin typeface="Inter"/>
              </a:rPr>
              <a:t>discussion.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77824" y="6163056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77824" y="6272784"/>
            <a:ext cx="68580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en-AU" spc="46">
                <a:solidFill>
                  <a:srgbClr val="AEAEAE"/>
                </a:solidFill>
                <a:latin typeface="Inter"/>
              </a:rPr>
              <a:t>Mivada — Workday implementation &amp; managed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0895" y="6272784"/>
            <a:ext cx="5522976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en-AU" spc="46">
                <a:solidFill>
                  <a:srgbClr val="AEAEAE"/>
                </a:solidFill>
                <a:latin typeface="Inter"/>
              </a:rPr>
              <a:t>mivada.com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AEAEAE"/>
                </a:solidFill>
                <a:latin typeface="Inter"/>
              </a:rPr>
              <a:t>WHY MIVADA · V1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8412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WHY MIVADA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07008"/>
            <a:ext cx="10436047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lang="en-AU" spc="-74">
                <a:solidFill>
                  <a:srgbClr val="111111"/>
                </a:solidFill>
                <a:latin typeface="Inter"/>
              </a:rPr>
              <a:t>Your long-term </a:t>
            </a:r>
            <a:r>
              <a:rPr sz="3400" b="1" i="0" lang="en-AU" spc="-74">
                <a:solidFill>
                  <a:srgbClr val="EA493F"/>
                </a:solidFill>
                <a:latin typeface="Inter"/>
              </a:rPr>
              <a:t>Workday partner.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1993392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AU" spc="0">
                <a:solidFill>
                  <a:srgbClr val="323232"/>
                </a:solidFill>
                <a:latin typeface="Inter"/>
              </a:rPr>
              <a:t>We grew out of a customer — so we understand your challenges from the inside.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77824" y="2697480"/>
            <a:ext cx="2458135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880360"/>
            <a:ext cx="204665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en-AU" spc="81">
                <a:solidFill>
                  <a:srgbClr val="EA493F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3191256"/>
            <a:ext cx="2046655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en-AU" spc="-14">
                <a:solidFill>
                  <a:srgbClr val="111111"/>
                </a:solidFill>
                <a:latin typeface="Inter"/>
              </a:rPr>
              <a:t>Australian-owned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739896"/>
            <a:ext cx="2019223" cy="42062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n-AU" spc="0">
                <a:solidFill>
                  <a:srgbClr val="323232"/>
                </a:solidFill>
                <a:latin typeface="Inter"/>
              </a:rPr>
              <a:t>Creating Australian jobs, accountable locally.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37127" y="2697480"/>
            <a:ext cx="2458135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74871" y="2880360"/>
            <a:ext cx="204665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en-AU" spc="81">
                <a:solidFill>
                  <a:srgbClr val="EA493F"/>
                </a:solidFill>
                <a:latin typeface="Inter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74871" y="3191256"/>
            <a:ext cx="2046655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en-AU" spc="-14">
                <a:solidFill>
                  <a:srgbClr val="111111"/>
                </a:solidFill>
                <a:latin typeface="Inter"/>
              </a:rPr>
              <a:t>Not a Big 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74871" y="3739896"/>
            <a:ext cx="2019223" cy="42062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n-AU" spc="0">
                <a:solidFill>
                  <a:srgbClr val="323232"/>
                </a:solidFill>
                <a:latin typeface="Inter"/>
              </a:rPr>
              <a:t>Senior practitioners on the tools — no pyramid.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6431" y="2697480"/>
            <a:ext cx="2458135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4175" y="2880360"/>
            <a:ext cx="204665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en-AU" spc="81">
                <a:solidFill>
                  <a:srgbClr val="EA493F"/>
                </a:solidFill>
                <a:latin typeface="Inter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4175" y="3191256"/>
            <a:ext cx="2046655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en-AU" spc="-14">
                <a:solidFill>
                  <a:srgbClr val="111111"/>
                </a:solidFill>
                <a:latin typeface="Inter"/>
              </a:rPr>
              <a:t>Direct access to our CEO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4175" y="3739896"/>
            <a:ext cx="2019223" cy="42062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n-AU" spc="0">
                <a:solidFill>
                  <a:srgbClr val="323232"/>
                </a:solidFill>
                <a:latin typeface="Inter"/>
              </a:rPr>
              <a:t>A reduced escalation matrix — decisions in hours.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55735" y="2697480"/>
            <a:ext cx="2458135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3479" y="2880360"/>
            <a:ext cx="204665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en-AU" spc="81">
                <a:solidFill>
                  <a:srgbClr val="EA493F"/>
                </a:solidFill>
                <a:latin typeface="Inter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3479" y="3191256"/>
            <a:ext cx="2046655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en-AU" spc="-14">
                <a:solidFill>
                  <a:srgbClr val="111111"/>
                </a:solidFill>
                <a:latin typeface="Inter"/>
              </a:rPr>
              <a:t>Dedicated engagement manager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3479" y="3739896"/>
            <a:ext cx="2019223" cy="42062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n-AU" spc="0">
                <a:solidFill>
                  <a:srgbClr val="323232"/>
                </a:solidFill>
                <a:latin typeface="Inter"/>
              </a:rPr>
              <a:t>One local owner across your engagement.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7824" y="4398264"/>
            <a:ext cx="2458135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" y="4581144"/>
            <a:ext cx="204665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en-AU" spc="81">
                <a:solidFill>
                  <a:srgbClr val="EA493F"/>
                </a:solidFill>
                <a:latin typeface="Inter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4892040"/>
            <a:ext cx="2046655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en-AU" spc="-14">
                <a:solidFill>
                  <a:srgbClr val="111111"/>
                </a:solidFill>
                <a:latin typeface="Inter"/>
              </a:rPr>
              <a:t>People Systems &amp; Transformation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5440680"/>
            <a:ext cx="2019223" cy="42062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n-AU" spc="0">
                <a:solidFill>
                  <a:srgbClr val="323232"/>
                </a:solidFill>
                <a:latin typeface="Inter"/>
              </a:rPr>
              <a:t>HCM, Payroll, Time &amp; Attendance and HRIS.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537127" y="4398264"/>
            <a:ext cx="2458135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74871" y="4581144"/>
            <a:ext cx="204665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en-AU" spc="81">
                <a:solidFill>
                  <a:srgbClr val="EA493F"/>
                </a:solidFill>
                <a:latin typeface="Inter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74871" y="4892040"/>
            <a:ext cx="2046655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en-AU" spc="-14">
                <a:solidFill>
                  <a:srgbClr val="111111"/>
                </a:solidFill>
                <a:latin typeface="Inter"/>
              </a:rPr>
              <a:t>Data, Analytics &amp; BI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74871" y="5440680"/>
            <a:ext cx="2019223" cy="42062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n-AU" spc="0">
                <a:solidFill>
                  <a:srgbClr val="323232"/>
                </a:solidFill>
                <a:latin typeface="Inter"/>
              </a:rPr>
              <a:t>From reporting to governed analytics.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6431" y="4398264"/>
            <a:ext cx="2458135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34175" y="4581144"/>
            <a:ext cx="204665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en-AU" spc="81">
                <a:solidFill>
                  <a:srgbClr val="EA493F"/>
                </a:solidFill>
                <a:latin typeface="Inter"/>
              </a:rPr>
              <a:t>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4175" y="4892040"/>
            <a:ext cx="2046655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en-AU" spc="-14">
                <a:solidFill>
                  <a:srgbClr val="111111"/>
                </a:solidFill>
                <a:latin typeface="Inter"/>
              </a:rPr>
              <a:t>Process &amp; Automation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34175" y="5440680"/>
            <a:ext cx="2019223" cy="42062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n-AU" spc="0">
                <a:solidFill>
                  <a:srgbClr val="323232"/>
                </a:solidFill>
                <a:latin typeface="Inter"/>
              </a:rPr>
              <a:t>Remove the manual, error-prone work.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55735" y="4398264"/>
            <a:ext cx="2458135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93479" y="4581144"/>
            <a:ext cx="204665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en-AU" spc="81">
                <a:solidFill>
                  <a:srgbClr val="EA493F"/>
                </a:solidFill>
                <a:latin typeface="Inter"/>
              </a:rPr>
              <a:t>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3479" y="4892040"/>
            <a:ext cx="2046655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en-AU" spc="-14">
                <a:solidFill>
                  <a:srgbClr val="111111"/>
                </a:solidFill>
                <a:latin typeface="Inter"/>
              </a:rPr>
              <a:t>Dedicated offshore capability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3479" y="5440680"/>
            <a:ext cx="2019223" cy="42062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 lang="en-AU" spc="0">
                <a:solidFill>
                  <a:srgbClr val="323232"/>
                </a:solidFill>
                <a:latin typeface="Inter"/>
              </a:rPr>
              <a:t>Scale without losing local accountability.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77824" y="6181344"/>
            <a:ext cx="10436047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77824" y="6327648"/>
            <a:ext cx="10436047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EA493F"/>
                </a:solidFill>
                <a:latin typeface="Inter"/>
              </a:rPr>
              <a:t>TRUSTED BY   </a:t>
            </a:r>
            <a:r>
              <a:rPr sz="1050" b="1" i="0" lang="en-AU" spc="42">
                <a:solidFill>
                  <a:srgbClr val="AEAEAE"/>
                </a:solidFill>
                <a:latin typeface="Inter"/>
              </a:rPr>
              <a:t>Qantas   ·   Guzman y Gomez   ·   Western Sydney International Airport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White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777777"/>
                </a:solidFill>
                <a:latin typeface="Inter"/>
              </a:rPr>
              <a:t>WHY MIVADA ·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8412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WHY MIVADA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371600"/>
            <a:ext cx="10607040" cy="2011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lang="en-AU" spc="-110">
                <a:solidFill>
                  <a:srgbClr val="FFFFFF"/>
                </a:solidFill>
                <a:latin typeface="Inter"/>
              </a:rPr>
              <a:t>We grew out of a customer.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lang="en-AU" spc="-110">
                <a:solidFill>
                  <a:srgbClr val="FFFFFF"/>
                </a:solidFill>
                <a:latin typeface="Inter"/>
              </a:rPr>
              <a:t>So we </a:t>
            </a:r>
            <a:r>
              <a:rPr sz="4400" b="1" i="0" lang="en-AU" spc="-110">
                <a:solidFill>
                  <a:srgbClr val="EA493F"/>
                </a:solidFill>
                <a:latin typeface="Inter"/>
              </a:rPr>
              <a:t>get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3246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lang="en-AU" spc="0">
                <a:solidFill>
                  <a:srgbClr val="D6D6D6"/>
                </a:solidFill>
                <a:latin typeface="Inter"/>
              </a:rPr>
              <a:t>Your long-term partner in Workday implementations &amp; managed services.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397763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AU" spc="0">
                <a:solidFill>
                  <a:srgbClr val="EA493F"/>
                </a:solidFill>
                <a:latin typeface="Inte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4752" y="3977639"/>
            <a:ext cx="4395063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AU" spc="-14">
                <a:solidFill>
                  <a:srgbClr val="FFFFFF"/>
                </a:solidFill>
                <a:latin typeface="Inter"/>
              </a:rPr>
              <a:t>Australian-owned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454456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AU" spc="0">
                <a:solidFill>
                  <a:srgbClr val="EA493F"/>
                </a:solidFill>
                <a:latin typeface="Inter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4544568"/>
            <a:ext cx="4395063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AU" spc="-14">
                <a:solidFill>
                  <a:srgbClr val="FFFFFF"/>
                </a:solidFill>
                <a:latin typeface="Inter"/>
              </a:rPr>
              <a:t>Not a Big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5111496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AU" spc="0">
                <a:solidFill>
                  <a:srgbClr val="EA493F"/>
                </a:solidFill>
                <a:latin typeface="Inter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4752" y="5111496"/>
            <a:ext cx="4395063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AU" spc="-14">
                <a:solidFill>
                  <a:srgbClr val="FFFFFF"/>
                </a:solidFill>
                <a:latin typeface="Inter"/>
              </a:rPr>
              <a:t>Direct access to our CEO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5678423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AU" spc="0">
                <a:solidFill>
                  <a:srgbClr val="EA493F"/>
                </a:solidFill>
                <a:latin typeface="Inter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5678423"/>
            <a:ext cx="4395063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AU" spc="-14">
                <a:solidFill>
                  <a:srgbClr val="FFFFFF"/>
                </a:solidFill>
                <a:latin typeface="Inter"/>
              </a:rPr>
              <a:t>Dedicated engagement manager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5847" y="397763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AU" spc="0">
                <a:solidFill>
                  <a:srgbClr val="EA493F"/>
                </a:solidFill>
                <a:latin typeface="Inter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2775" y="3977639"/>
            <a:ext cx="4395063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AU" spc="-14">
                <a:solidFill>
                  <a:srgbClr val="FFFFFF"/>
                </a:solidFill>
                <a:latin typeface="Inter"/>
              </a:rPr>
              <a:t>People Systems &amp; Transformation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5847" y="4544568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AU" spc="0">
                <a:solidFill>
                  <a:srgbClr val="EA493F"/>
                </a:solidFill>
                <a:latin typeface="Inter"/>
              </a:rPr>
              <a:t>06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2775" y="4544568"/>
            <a:ext cx="4395063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AU" spc="-14">
                <a:solidFill>
                  <a:srgbClr val="FFFFFF"/>
                </a:solidFill>
                <a:latin typeface="Inter"/>
              </a:rPr>
              <a:t>Data, Analytics &amp; BI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5847" y="5111496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AU" spc="0">
                <a:solidFill>
                  <a:srgbClr val="EA493F"/>
                </a:solidFill>
                <a:latin typeface="Inter"/>
              </a:rPr>
              <a:t>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2775" y="5111496"/>
            <a:ext cx="4395063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AU" spc="-14">
                <a:solidFill>
                  <a:srgbClr val="FFFFFF"/>
                </a:solidFill>
                <a:latin typeface="Inter"/>
              </a:rPr>
              <a:t>Process &amp; Automation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5847" y="5678423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AU" spc="0">
                <a:solidFill>
                  <a:srgbClr val="EA493F"/>
                </a:solidFill>
                <a:latin typeface="Inter"/>
              </a:rPr>
              <a:t>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2775" y="5678423"/>
            <a:ext cx="4395063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AU" spc="-14">
                <a:solidFill>
                  <a:srgbClr val="FFFFFF"/>
                </a:solidFill>
                <a:latin typeface="Inter"/>
              </a:rPr>
              <a:t>Dedicated offshore capability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77824" y="6181344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77824" y="6327648"/>
            <a:ext cx="10436047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EA493F"/>
                </a:solidFill>
                <a:latin typeface="Inter"/>
              </a:rPr>
              <a:t>TRUSTED BY   </a:t>
            </a:r>
            <a:r>
              <a:rPr sz="1050" b="1" i="0" lang="en-AU" spc="42">
                <a:solidFill>
                  <a:srgbClr val="CFCFCF"/>
                </a:solidFill>
                <a:latin typeface="Inter"/>
              </a:rPr>
              <a:t>Qantas   ·   Guzman y Gomez   ·   Western Sydney International Airport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AEAEAE"/>
                </a:solidFill>
                <a:latin typeface="Inter"/>
              </a:rPr>
              <a:t>WHY MIVADA · V3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1051560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WHY MIVADA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463040"/>
            <a:ext cx="4846320" cy="17373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lang="en-AU" spc="-74">
                <a:solidFill>
                  <a:srgbClr val="111111"/>
                </a:solidFill>
                <a:latin typeface="Inter"/>
              </a:rPr>
              <a:t>Built by people who </a:t>
            </a:r>
            <a:r>
              <a:rPr sz="3400" b="1" i="0" lang="en-AU" spc="-74">
                <a:solidFill>
                  <a:srgbClr val="EA493F"/>
                </a:solidFill>
                <a:latin typeface="Inter"/>
              </a:rPr>
              <a:t>ran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3337560"/>
            <a:ext cx="4572000" cy="23774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lang="en-AU" spc="0">
                <a:solidFill>
                  <a:srgbClr val="323232"/>
                </a:solidFill>
                <a:latin typeface="Inter"/>
              </a:rPr>
              <a:t>We grew out of a customer, so we understand your challenges first-hand. Australian-owned and senior-led — not a Big 4 — with direct access to our CEO and a dedicated local engagement manager who owns your outcome.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355080" y="1188720"/>
            <a:ext cx="4958791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355080" y="1371600"/>
            <a:ext cx="495879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en-AU" spc="-16">
                <a:solidFill>
                  <a:srgbClr val="111111"/>
                </a:solidFill>
                <a:latin typeface="Inter"/>
              </a:rPr>
              <a:t>People Systems &amp; Transformation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1755648"/>
            <a:ext cx="4958791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en-AU" spc="23">
                <a:solidFill>
                  <a:srgbClr val="EA493F"/>
                </a:solidFill>
                <a:latin typeface="Inter"/>
              </a:rPr>
              <a:t>HCM · Payroll · T&amp;A · HRIS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355080" y="2212848"/>
            <a:ext cx="4958791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355080" y="2395728"/>
            <a:ext cx="495879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en-AU" spc="-16">
                <a:solidFill>
                  <a:srgbClr val="111111"/>
                </a:solidFill>
                <a:latin typeface="Inter"/>
              </a:rPr>
              <a:t>Data, Analytics &amp; BI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779776"/>
            <a:ext cx="4958791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en-AU" spc="23">
                <a:solidFill>
                  <a:srgbClr val="EA493F"/>
                </a:solidFill>
                <a:latin typeface="Inter"/>
              </a:rPr>
              <a:t>Reporting · dashboards · governed analytics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355080" y="3236976"/>
            <a:ext cx="4958791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55080" y="3419856"/>
            <a:ext cx="495879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en-AU" spc="-16">
                <a:solidFill>
                  <a:srgbClr val="111111"/>
                </a:solidFill>
                <a:latin typeface="Inter"/>
              </a:rPr>
              <a:t>Process &amp; Automation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803904"/>
            <a:ext cx="4958791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en-AU" spc="23">
                <a:solidFill>
                  <a:srgbClr val="EA493F"/>
                </a:solidFill>
                <a:latin typeface="Inter"/>
              </a:rPr>
              <a:t>Redesign · integrations · automation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355080" y="4261104"/>
            <a:ext cx="4958791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355080" y="4443984"/>
            <a:ext cx="495879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lang="en-AU" spc="-16">
                <a:solidFill>
                  <a:srgbClr val="111111"/>
                </a:solidFill>
                <a:latin typeface="Inter"/>
              </a:rPr>
              <a:t>Dedicated offshore capability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828032"/>
            <a:ext cx="4958791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 lang="en-AU" spc="23">
                <a:solidFill>
                  <a:srgbClr val="EA493F"/>
                </a:solidFill>
                <a:latin typeface="Inter"/>
              </a:rPr>
              <a:t>Scale with local accountability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355080" y="5285232"/>
            <a:ext cx="4958791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77824" y="6181344"/>
            <a:ext cx="10436047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77824" y="6327648"/>
            <a:ext cx="10436047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EA493F"/>
                </a:solidFill>
                <a:latin typeface="Inter"/>
              </a:rPr>
              <a:t>TRUSTED BY   </a:t>
            </a:r>
            <a:r>
              <a:rPr sz="1050" b="1" i="0" lang="en-AU" spc="42">
                <a:solidFill>
                  <a:srgbClr val="AEAEAE"/>
                </a:solidFill>
                <a:latin typeface="Inter"/>
              </a:rPr>
              <a:t>Qantas   ·   Guzman y Gomez   ·   Western Sydney International Airport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AEAEAE"/>
                </a:solidFill>
                <a:latin typeface="Inter"/>
              </a:rPr>
              <a:t>WORKDAY SERVICES · V1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8412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WHAT WE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07008"/>
            <a:ext cx="10436047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lang="en-AU" spc="-74">
                <a:solidFill>
                  <a:srgbClr val="111111"/>
                </a:solidFill>
                <a:latin typeface="Inter"/>
              </a:rPr>
              <a:t>Workday, </a:t>
            </a:r>
            <a:r>
              <a:rPr sz="3400" b="1" i="0" lang="en-AU" spc="-74">
                <a:solidFill>
                  <a:srgbClr val="EA493F"/>
                </a:solidFill>
                <a:latin typeface="Inter"/>
              </a:rPr>
              <a:t>end to 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1993392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AU" spc="0">
                <a:solidFill>
                  <a:srgbClr val="323232"/>
                </a:solidFill>
                <a:latin typeface="Inter"/>
              </a:rPr>
              <a:t>One partner across the whole platform — from first roadmap to long-term managed services.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77824" y="2697480"/>
            <a:ext cx="334457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880360"/>
            <a:ext cx="293309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en-AU" spc="81">
                <a:solidFill>
                  <a:srgbClr val="EA493F"/>
                </a:solidFill>
                <a:latin typeface="Inter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3191256"/>
            <a:ext cx="2933090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en-AU" spc="-14">
                <a:solidFill>
                  <a:srgbClr val="111111"/>
                </a:solidFill>
                <a:latin typeface="Inter"/>
              </a:rPr>
              <a:t>Advisory &amp; roadmap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23562" y="2697480"/>
            <a:ext cx="334457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1306" y="2880360"/>
            <a:ext cx="293309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en-AU" spc="81">
                <a:solidFill>
                  <a:srgbClr val="EA493F"/>
                </a:solidFill>
                <a:latin typeface="Inter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1306" y="3191256"/>
            <a:ext cx="2933090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en-AU" spc="-14">
                <a:solidFill>
                  <a:srgbClr val="111111"/>
                </a:solidFill>
                <a:latin typeface="Inter"/>
              </a:rPr>
              <a:t>Implementation &amp; deployment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69300" y="2697480"/>
            <a:ext cx="334457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7044" y="2880360"/>
            <a:ext cx="293309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en-AU" spc="81">
                <a:solidFill>
                  <a:srgbClr val="EA493F"/>
                </a:solidFill>
                <a:latin typeface="Inter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7044" y="3191256"/>
            <a:ext cx="2933090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en-AU" spc="-14">
                <a:solidFill>
                  <a:srgbClr val="111111"/>
                </a:solidFill>
                <a:latin typeface="Inter"/>
              </a:rPr>
              <a:t>Optimisation &amp; phase 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" y="3941064"/>
            <a:ext cx="334457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15568" y="4123944"/>
            <a:ext cx="293309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en-AU" spc="81">
                <a:solidFill>
                  <a:srgbClr val="EA493F"/>
                </a:solidFill>
                <a:latin typeface="Inter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" y="4434840"/>
            <a:ext cx="2933090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en-AU" spc="-14">
                <a:solidFill>
                  <a:srgbClr val="111111"/>
                </a:solidFill>
                <a:latin typeface="Inter"/>
              </a:rPr>
              <a:t>Managed services (AMS)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23562" y="3941064"/>
            <a:ext cx="334457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61306" y="4123944"/>
            <a:ext cx="293309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en-AU" spc="81">
                <a:solidFill>
                  <a:srgbClr val="EA493F"/>
                </a:solidFill>
                <a:latin typeface="Inter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1306" y="4434840"/>
            <a:ext cx="2933090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en-AU" spc="-14">
                <a:solidFill>
                  <a:srgbClr val="111111"/>
                </a:solidFill>
                <a:latin typeface="Inter"/>
              </a:rPr>
              <a:t>Integrations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69300" y="3941064"/>
            <a:ext cx="334457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07044" y="4123944"/>
            <a:ext cx="293309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en-AU" spc="81">
                <a:solidFill>
                  <a:srgbClr val="EA493F"/>
                </a:solidFill>
                <a:latin typeface="Inter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07044" y="4434840"/>
            <a:ext cx="2933090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en-AU" spc="-14">
                <a:solidFill>
                  <a:srgbClr val="111111"/>
                </a:solidFill>
                <a:latin typeface="Inter"/>
              </a:rPr>
              <a:t>Data, analytics &amp; BI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7824" y="5184648"/>
            <a:ext cx="334457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5568" y="5367528"/>
            <a:ext cx="293309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en-AU" spc="81">
                <a:solidFill>
                  <a:srgbClr val="EA493F"/>
                </a:solidFill>
                <a:latin typeface="Inter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5678424"/>
            <a:ext cx="2933090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en-AU" spc="-14">
                <a:solidFill>
                  <a:srgbClr val="111111"/>
                </a:solidFill>
                <a:latin typeface="Inter"/>
              </a:rPr>
              <a:t>Reporting &amp; dashboards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23562" y="5184648"/>
            <a:ext cx="334457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61306" y="5367528"/>
            <a:ext cx="293309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en-AU" spc="81">
                <a:solidFill>
                  <a:srgbClr val="EA493F"/>
                </a:solidFill>
                <a:latin typeface="Inter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1306" y="5678424"/>
            <a:ext cx="2933090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en-AU" spc="-14">
                <a:solidFill>
                  <a:srgbClr val="111111"/>
                </a:solidFill>
                <a:latin typeface="Inter"/>
              </a:rPr>
              <a:t>Security &amp; compliance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69300" y="5184648"/>
            <a:ext cx="3344570" cy="1060704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07044" y="5367528"/>
            <a:ext cx="293309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lang="en-AU" spc="81">
                <a:solidFill>
                  <a:srgbClr val="EA493F"/>
                </a:solidFill>
                <a:latin typeface="Inter"/>
              </a:rP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7044" y="5678424"/>
            <a:ext cx="2933090" cy="56692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 lang="en-AU" spc="-14">
                <a:solidFill>
                  <a:srgbClr val="111111"/>
                </a:solidFill>
                <a:latin typeface="Inter"/>
              </a:rPr>
              <a:t>Automation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White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777777"/>
                </a:solidFill>
                <a:latin typeface="Inter"/>
              </a:rPr>
              <a:t>WORKDAY SERVICES ·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8412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WORKDAY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07008"/>
            <a:ext cx="10436047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lang="en-AU" spc="-74">
                <a:solidFill>
                  <a:srgbClr val="FFFFFF"/>
                </a:solidFill>
                <a:latin typeface="Inter"/>
              </a:rPr>
              <a:t>Across the whole </a:t>
            </a:r>
            <a:r>
              <a:rPr sz="3400" b="1" i="0" lang="en-AU" spc="-74">
                <a:solidFill>
                  <a:srgbClr val="EA493F"/>
                </a:solidFill>
                <a:latin typeface="Inter"/>
              </a:rPr>
              <a:t>Workday lifecycle.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3108960"/>
            <a:ext cx="2380411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76" cap="all">
                <a:solidFill>
                  <a:srgbClr val="EA493F"/>
                </a:solidFill>
                <a:latin typeface="Inter"/>
              </a:rPr>
              <a:t>STAGE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3566160"/>
            <a:ext cx="2380411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en-AU" spc="-65">
                <a:solidFill>
                  <a:srgbClr val="FFFFFF"/>
                </a:solidFill>
                <a:latin typeface="Inter"/>
              </a:rPr>
              <a:t>Advise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251960"/>
            <a:ext cx="2334691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AU" spc="0">
                <a:solidFill>
                  <a:srgbClr val="CFCFCF"/>
                </a:solidFill>
                <a:latin typeface="Inter"/>
              </a:rPr>
              <a:t>Roadmap, business case, design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86835" y="3108960"/>
            <a:ext cx="0" cy="219456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797731" y="3108960"/>
            <a:ext cx="2069515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76" cap="all">
                <a:solidFill>
                  <a:srgbClr val="EA493F"/>
                </a:solidFill>
                <a:latin typeface="Inter"/>
              </a:rPr>
              <a:t>STAGE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7731" y="3566160"/>
            <a:ext cx="206951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en-AU" spc="-65">
                <a:solidFill>
                  <a:srgbClr val="FFFFFF"/>
                </a:solidFill>
                <a:latin typeface="Inter"/>
              </a:rPr>
              <a:t>Implement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7731" y="4251960"/>
            <a:ext cx="2023795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AU" spc="0">
                <a:solidFill>
                  <a:srgbClr val="CFCFCF"/>
                </a:solidFill>
                <a:latin typeface="Inter"/>
              </a:rPr>
              <a:t>Deploy HCM, Payroll, Finance &amp; more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5847" y="3108960"/>
            <a:ext cx="0" cy="219456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6743" y="3108960"/>
            <a:ext cx="2069515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76" cap="all">
                <a:solidFill>
                  <a:srgbClr val="EA493F"/>
                </a:solidFill>
                <a:latin typeface="Inter"/>
              </a:rPr>
              <a:t>STAGE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6743" y="3566160"/>
            <a:ext cx="206951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en-AU" spc="-65">
                <a:solidFill>
                  <a:srgbClr val="FFFFFF"/>
                </a:solidFill>
                <a:latin typeface="Inter"/>
              </a:rPr>
              <a:t>Optimise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6743" y="4251960"/>
            <a:ext cx="2023795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AU" spc="0">
                <a:solidFill>
                  <a:srgbClr val="CFCFCF"/>
                </a:solidFill>
                <a:latin typeface="Inter"/>
              </a:rPr>
              <a:t>Phase 2, integrations, reporting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704859" y="3108960"/>
            <a:ext cx="0" cy="219456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015755" y="3108960"/>
            <a:ext cx="2069515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lang="en-AU" spc="176" cap="all">
                <a:solidFill>
                  <a:srgbClr val="EA493F"/>
                </a:solidFill>
                <a:latin typeface="Inter"/>
              </a:rPr>
              <a:t>STAGE 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5755" y="3566160"/>
            <a:ext cx="206951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 lang="en-AU" spc="-65">
                <a:solidFill>
                  <a:srgbClr val="FFFFFF"/>
                </a:solidFill>
                <a:latin typeface="Inter"/>
              </a:rPr>
              <a:t>Manage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15755" y="4251960"/>
            <a:ext cx="2023795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lang="en-AU" spc="0">
                <a:solidFill>
                  <a:srgbClr val="CFCFCF"/>
                </a:solidFill>
                <a:latin typeface="Inter"/>
              </a:rPr>
              <a:t>AMS, automation, continuous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5943600"/>
            <a:ext cx="10436047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en-AU" spc="25">
                <a:solidFill>
                  <a:srgbClr val="AEAEAE"/>
                </a:solidFill>
                <a:latin typeface="Inter"/>
              </a:rPr>
              <a:t>Wrapped in managed services &amp; support at every stage.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AEAEAE"/>
                </a:solidFill>
                <a:latin typeface="Inter"/>
              </a:rPr>
              <a:t>WORKDAY SERVICES · V3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8412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07008"/>
            <a:ext cx="10436047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lang="en-AU" spc="-74">
                <a:solidFill>
                  <a:srgbClr val="111111"/>
                </a:solidFill>
                <a:latin typeface="Inter"/>
              </a:rPr>
              <a:t>Three practices, </a:t>
            </a:r>
            <a:r>
              <a:rPr sz="3400" b="1" i="0" lang="en-AU" spc="-74">
                <a:solidFill>
                  <a:srgbClr val="EA493F"/>
                </a:solidFill>
                <a:latin typeface="Inter"/>
              </a:rPr>
              <a:t>one platform.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468880"/>
            <a:ext cx="3204362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AU" spc="-27">
                <a:solidFill>
                  <a:srgbClr val="111111"/>
                </a:solidFill>
                <a:latin typeface="Inter"/>
              </a:rPr>
              <a:t>People Systems &amp; Transformation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3520440"/>
            <a:ext cx="3204362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300" b="0" i="0" lang="en-AU" spc="0">
                <a:solidFill>
                  <a:srgbClr val="323232"/>
                </a:solidFill>
                <a:latin typeface="Inter"/>
              </a:rPr>
              <a:t>HCM &amp; core 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023360"/>
            <a:ext cx="3204362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300" b="0" i="0" lang="en-AU" spc="0">
                <a:solidFill>
                  <a:srgbClr val="323232"/>
                </a:solidFill>
                <a:latin typeface="Inter"/>
              </a:rPr>
              <a:t>Payroll &amp; compliance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4526280"/>
            <a:ext cx="3204362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300" b="0" i="0" lang="en-AU" spc="0">
                <a:solidFill>
                  <a:srgbClr val="323232"/>
                </a:solidFill>
                <a:latin typeface="Inter"/>
              </a:rPr>
              <a:t>Time &amp; Attendance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5029200"/>
            <a:ext cx="3204362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300" b="0" i="0" lang="en-AU" spc="0">
                <a:solidFill>
                  <a:srgbClr val="323232"/>
                </a:solidFill>
                <a:latin typeface="Inter"/>
              </a:rPr>
              <a:t>HRIS implementation &amp; optimisation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356506" y="2468880"/>
            <a:ext cx="0" cy="356616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667402" y="2468880"/>
            <a:ext cx="2893466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AU" spc="-27">
                <a:solidFill>
                  <a:srgbClr val="111111"/>
                </a:solidFill>
                <a:latin typeface="Inter"/>
              </a:rPr>
              <a:t>Data, Analytics &amp; BI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7402" y="3520440"/>
            <a:ext cx="2893466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300" b="0" i="0" lang="en-AU" spc="0">
                <a:solidFill>
                  <a:srgbClr val="323232"/>
                </a:solidFill>
                <a:latin typeface="Inter"/>
              </a:rPr>
              <a:t>Reporting &amp; dashboards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7402" y="4023360"/>
            <a:ext cx="2893466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300" b="0" i="0" lang="en-AU" spc="0">
                <a:solidFill>
                  <a:srgbClr val="323232"/>
                </a:solidFill>
                <a:latin typeface="Inter"/>
              </a:rPr>
              <a:t>Prism &amp; data lakehouse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7402" y="4526280"/>
            <a:ext cx="2893466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300" b="0" i="0" lang="en-AU" spc="0">
                <a:solidFill>
                  <a:srgbClr val="323232"/>
                </a:solidFill>
                <a:latin typeface="Inter"/>
              </a:rPr>
              <a:t>Governed analytics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7402" y="5029200"/>
            <a:ext cx="2893466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300" b="0" i="0" lang="en-AU" spc="0">
                <a:solidFill>
                  <a:srgbClr val="323232"/>
                </a:solidFill>
                <a:latin typeface="Inter"/>
              </a:rPr>
              <a:t>Insight at scale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835188" y="2468880"/>
            <a:ext cx="0" cy="356616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146084" y="2468880"/>
            <a:ext cx="2893466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lang="en-AU" spc="-27">
                <a:solidFill>
                  <a:srgbClr val="111111"/>
                </a:solidFill>
                <a:latin typeface="Inter"/>
              </a:rPr>
              <a:t>Business Process &amp; Automation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46084" y="3520440"/>
            <a:ext cx="2893466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300" b="0" i="0" lang="en-AU" spc="0">
                <a:solidFill>
                  <a:srgbClr val="323232"/>
                </a:solidFill>
                <a:latin typeface="Inter"/>
              </a:rPr>
              <a:t>Process redesign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46084" y="4023360"/>
            <a:ext cx="2893466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300" b="0" i="0" lang="en-AU" spc="0">
                <a:solidFill>
                  <a:srgbClr val="323232"/>
                </a:solidFill>
                <a:latin typeface="Inter"/>
              </a:rPr>
              <a:t>Integrations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46084" y="4526280"/>
            <a:ext cx="2893466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300" b="0" i="0" lang="en-AU" spc="0">
                <a:solidFill>
                  <a:srgbClr val="323232"/>
                </a:solidFill>
                <a:latin typeface="Inter"/>
              </a:rPr>
              <a:t>Automation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6084" y="5029200"/>
            <a:ext cx="2893466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300" b="0" i="0" lang="en-AU" spc="0">
                <a:solidFill>
                  <a:srgbClr val="323232"/>
                </a:solidFill>
                <a:latin typeface="Inter"/>
              </a:rPr>
              <a:t>Controls &amp; assurance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6053328"/>
            <a:ext cx="10436047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en-AU" spc="25">
                <a:solidFill>
                  <a:srgbClr val="EA493F"/>
                </a:solidFill>
                <a:latin typeface="Inter"/>
              </a:rPr>
              <a:t>All wrapped in managed services &amp; support.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AEAEAE"/>
                </a:solidFill>
                <a:latin typeface="Inter"/>
              </a:rPr>
              <a:t>CAPABILITY · V1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8412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CAPABILITY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07008"/>
            <a:ext cx="10436047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lang="en-AU" spc="-74">
                <a:solidFill>
                  <a:srgbClr val="111111"/>
                </a:solidFill>
                <a:latin typeface="Inter"/>
              </a:rPr>
              <a:t>Capability in </a:t>
            </a:r>
            <a:r>
              <a:rPr sz="3400" b="1" i="0" lang="en-AU" spc="-74">
                <a:solidFill>
                  <a:srgbClr val="EA493F"/>
                </a:solidFill>
                <a:latin typeface="Inter"/>
              </a:rPr>
              <a:t>Workday.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1993392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lang="en-AU" spc="0">
                <a:solidFill>
                  <a:srgbClr val="323232"/>
                </a:solidFill>
                <a:latin typeface="Inter"/>
              </a:rPr>
              <a:t>Empowering innovation through a Workday partnership and local expertise — consultants average 3+ years' Workday experience.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77824" y="3218688"/>
            <a:ext cx="10436047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77824" y="3383280"/>
            <a:ext cx="2444419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3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4517136"/>
            <a:ext cx="2380411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CERTIFICATIONS / CONSULTANT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486835" y="3429000"/>
            <a:ext cx="0" cy="155448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797731" y="3383280"/>
            <a:ext cx="2133523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2000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7731" y="4517136"/>
            <a:ext cx="206951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WORKDAY INTEGRATIONS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5847" y="3429000"/>
            <a:ext cx="0" cy="155448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6743" y="3383280"/>
            <a:ext cx="2133523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3000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6743" y="4517136"/>
            <a:ext cx="206951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WORKDAY CUSTOM REPORTS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704859" y="3429000"/>
            <a:ext cx="0" cy="155448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015755" y="3383280"/>
            <a:ext cx="2133523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30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755" y="4517136"/>
            <a:ext cx="2069515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IMPLEMENTATIONS &amp; SUPPORT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77824" y="4956048"/>
            <a:ext cx="10436047" cy="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77824" y="5120640"/>
            <a:ext cx="3314090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200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6254496"/>
            <a:ext cx="3250082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EMPLOYEES · AU, US &amp; INDIA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356506" y="5166359"/>
            <a:ext cx="0" cy="1554481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4667402" y="5120640"/>
            <a:ext cx="3003194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100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7402" y="6254496"/>
            <a:ext cx="2939186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PEOPLE-SYSTEMS CLIENTS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835188" y="5166359"/>
            <a:ext cx="0" cy="1554481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146084" y="5120640"/>
            <a:ext cx="3003194" cy="10515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5800" b="1" i="0" lang="en-AU" spc="-203">
                <a:solidFill>
                  <a:srgbClr val="111111"/>
                </a:solidFill>
                <a:latin typeface="Inter"/>
              </a:rPr>
              <a:t>10</a:t>
            </a:r>
            <a:r>
              <a:rPr sz="5800" b="1" i="0" lang="en-AU" spc="-203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46084" y="6254496"/>
            <a:ext cx="2939186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26" cap="all">
                <a:solidFill>
                  <a:srgbClr val="AEAEAE"/>
                </a:solidFill>
                <a:latin typeface="Inter"/>
              </a:rPr>
              <a:t>YEARS DELIVERING WORKDAY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White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777777"/>
                </a:solidFill>
                <a:latin typeface="Inter"/>
              </a:rPr>
              <a:t>CAPABILITY ·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9144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PROVEN CAPABILITY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6583680" cy="23774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82000"/>
              </a:lnSpc>
              <a:spcBef>
                <a:spcPts val="0"/>
              </a:spcBef>
              <a:spcAft>
                <a:spcPts val="0"/>
              </a:spcAft>
            </a:pPr>
            <a:r>
              <a:rPr sz="15000" b="1" i="0" lang="en-AU" spc="-600">
                <a:solidFill>
                  <a:srgbClr val="FFFFFF"/>
                </a:solidFill>
                <a:latin typeface="Inter"/>
              </a:rPr>
              <a:t>10</a:t>
            </a:r>
            <a:r>
              <a:rPr sz="15000" b="1" i="0" lang="en-AU" spc="-600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03320"/>
            <a:ext cx="603504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 lang="en-AU" spc="196" cap="all">
                <a:solidFill>
                  <a:srgbClr val="D6D6D6"/>
                </a:solidFill>
                <a:latin typeface="Inter"/>
              </a:rPr>
              <a:t>YEARS DELIVERING WORKDAY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585216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en-AU" spc="0">
                <a:solidFill>
                  <a:srgbClr val="CFCFCF"/>
                </a:solidFill>
                <a:latin typeface="Inter"/>
              </a:rPr>
              <a:t>Empowering innovation through a true Workday partnership and deep local expertise.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635240" y="1316736"/>
            <a:ext cx="3678631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635240" y="1463040"/>
            <a:ext cx="3678631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lang="en-AU" spc="-102">
                <a:solidFill>
                  <a:srgbClr val="FFFFFF"/>
                </a:solidFill>
                <a:latin typeface="Inter"/>
              </a:rPr>
              <a:t>30+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35240" y="2066544"/>
            <a:ext cx="3678631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en-AU" spc="100" cap="all">
                <a:solidFill>
                  <a:srgbClr val="AEAEAE"/>
                </a:solidFill>
                <a:latin typeface="Inter"/>
              </a:rPr>
              <a:t>IMPLEMENTATIONS &amp; SUPPORT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635240" y="2441448"/>
            <a:ext cx="3678631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635240" y="2606040"/>
            <a:ext cx="3678631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lang="en-AU" spc="-102">
                <a:solidFill>
                  <a:srgbClr val="FFFFFF"/>
                </a:solidFill>
                <a:latin typeface="Inter"/>
              </a:rPr>
              <a:t>200+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3209544"/>
            <a:ext cx="3678631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en-AU" spc="100" cap="all">
                <a:solidFill>
                  <a:srgbClr val="AEAEAE"/>
                </a:solidFill>
                <a:latin typeface="Inter"/>
              </a:rPr>
              <a:t>EMPLOYEES · AU, US &amp; INDIA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635240" y="3584447"/>
            <a:ext cx="3678631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635240" y="3749039"/>
            <a:ext cx="3678631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lang="en-AU" spc="-102">
                <a:solidFill>
                  <a:srgbClr val="FFFFFF"/>
                </a:solidFill>
                <a:latin typeface="Inter"/>
              </a:rPr>
              <a:t>2000+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4352544"/>
            <a:ext cx="3678631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en-AU" spc="100" cap="all">
                <a:solidFill>
                  <a:srgbClr val="AEAEAE"/>
                </a:solidFill>
                <a:latin typeface="Inter"/>
              </a:rPr>
              <a:t>WORKDAY INTEGRATIONS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635240" y="4727448"/>
            <a:ext cx="3678631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635240" y="4892040"/>
            <a:ext cx="3678631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lang="en-AU" spc="-102">
                <a:solidFill>
                  <a:srgbClr val="FFFFFF"/>
                </a:solidFill>
                <a:latin typeface="Inter"/>
              </a:rPr>
              <a:t>3000+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495544"/>
            <a:ext cx="3678631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lang="en-AU" spc="100" cap="all">
                <a:solidFill>
                  <a:srgbClr val="AEAEAE"/>
                </a:solidFill>
                <a:latin typeface="Inter"/>
              </a:rPr>
              <a:t>CUSTOM REPORTS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35240" y="5870448"/>
            <a:ext cx="3678631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AEAEAE"/>
                </a:solidFill>
                <a:latin typeface="Inter"/>
              </a:rPr>
              <a:t>CAPABILITY · V3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8412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CAPABILITY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07008"/>
            <a:ext cx="10436047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lang="en-AU" spc="-74">
                <a:solidFill>
                  <a:srgbClr val="111111"/>
                </a:solidFill>
                <a:latin typeface="Inter"/>
              </a:rPr>
              <a:t>The numbers behind </a:t>
            </a:r>
            <a:r>
              <a:rPr sz="3400" b="1" i="0" lang="en-AU" spc="-74">
                <a:solidFill>
                  <a:srgbClr val="EA493F"/>
                </a:solidFill>
                <a:latin typeface="Inter"/>
              </a:rPr>
              <a:t>the partnership.</a:t>
            </a:r>
          </a:p>
        </p:txBody>
      </p:sp>
      <p:sp>
        <p:nvSpPr>
          <p:cNvPr id="6" name="Rectangle 5"/>
          <p:cNvSpPr/>
          <p:nvPr/>
        </p:nvSpPr>
        <p:spPr>
          <a:xfrm>
            <a:off x="877824" y="2697480"/>
            <a:ext cx="333237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" y="2935224"/>
            <a:ext cx="2875178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lang="en-AU" spc="-140">
                <a:solidFill>
                  <a:srgbClr val="111111"/>
                </a:solidFill>
                <a:latin typeface="Inter"/>
              </a:rPr>
              <a:t>3</a:t>
            </a:r>
            <a:r>
              <a:rPr sz="4000" b="1" i="0" lang="en-AU" spc="-140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" y="3648456"/>
            <a:ext cx="2875178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05" cap="all">
                <a:solidFill>
                  <a:srgbClr val="AEAEAE"/>
                </a:solidFill>
                <a:latin typeface="Inter"/>
              </a:rPr>
              <a:t>CERTIFICATIONS / CONSULTANT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429658" y="2697480"/>
            <a:ext cx="333237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3978" y="2935224"/>
            <a:ext cx="2875178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lang="en-AU" spc="-140">
                <a:solidFill>
                  <a:srgbClr val="111111"/>
                </a:solidFill>
                <a:latin typeface="Inter"/>
              </a:rPr>
              <a:t>2000</a:t>
            </a:r>
            <a:r>
              <a:rPr sz="4000" b="1" i="0" lang="en-AU" spc="-140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3978" y="3648456"/>
            <a:ext cx="2875178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05" cap="all">
                <a:solidFill>
                  <a:srgbClr val="AEAEAE"/>
                </a:solidFill>
                <a:latin typeface="Inter"/>
              </a:rPr>
              <a:t>WORKDAY INTEGRATIONS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81492" y="2697480"/>
            <a:ext cx="333237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55812" y="2935224"/>
            <a:ext cx="2875178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lang="en-AU" spc="-140">
                <a:solidFill>
                  <a:srgbClr val="111111"/>
                </a:solidFill>
                <a:latin typeface="Inter"/>
              </a:rPr>
              <a:t>3000</a:t>
            </a:r>
            <a:r>
              <a:rPr sz="4000" b="1" i="0" lang="en-AU" spc="-140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5812" y="3648456"/>
            <a:ext cx="2875178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05" cap="all">
                <a:solidFill>
                  <a:srgbClr val="AEAEAE"/>
                </a:solidFill>
                <a:latin typeface="Inter"/>
              </a:rPr>
              <a:t>CUSTOM REPORTS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7824" y="4334256"/>
            <a:ext cx="333237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52144" y="4572000"/>
            <a:ext cx="2875178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lang="en-AU" spc="-140">
                <a:solidFill>
                  <a:srgbClr val="111111"/>
                </a:solidFill>
                <a:latin typeface="Inter"/>
              </a:rPr>
              <a:t>30</a:t>
            </a:r>
            <a:r>
              <a:rPr sz="4000" b="1" i="0" lang="en-AU" spc="-140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" y="5285232"/>
            <a:ext cx="2875178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05" cap="all">
                <a:solidFill>
                  <a:srgbClr val="AEAEAE"/>
                </a:solidFill>
                <a:latin typeface="Inter"/>
              </a:rPr>
              <a:t>IMPLEMENTATIONS &amp; SUPPORT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29658" y="4334256"/>
            <a:ext cx="333237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3978" y="4572000"/>
            <a:ext cx="2875178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lang="en-AU" spc="-140">
                <a:solidFill>
                  <a:srgbClr val="111111"/>
                </a:solidFill>
                <a:latin typeface="Inter"/>
              </a:rPr>
              <a:t>200</a:t>
            </a:r>
            <a:r>
              <a:rPr sz="4000" b="1" i="0" lang="en-AU" spc="-140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3978" y="5285232"/>
            <a:ext cx="2875178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05" cap="all">
                <a:solidFill>
                  <a:srgbClr val="AEAEAE"/>
                </a:solidFill>
                <a:latin typeface="Inter"/>
              </a:rPr>
              <a:t>EMPLOYEES · AU, US &amp; INDIA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81492" y="4334256"/>
            <a:ext cx="3332378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4E4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55812" y="4572000"/>
            <a:ext cx="2875178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lang="en-AU" spc="-140">
                <a:solidFill>
                  <a:srgbClr val="111111"/>
                </a:solidFill>
                <a:latin typeface="Inter"/>
              </a:rPr>
              <a:t>100</a:t>
            </a:r>
            <a:r>
              <a:rPr sz="4000" b="1" i="0" lang="en-AU" spc="-140">
                <a:solidFill>
                  <a:srgbClr val="EA493F"/>
                </a:solidFill>
                <a:latin typeface="Inter"/>
              </a:rP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55812" y="5285232"/>
            <a:ext cx="2875178" cy="4114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05" cap="all">
                <a:solidFill>
                  <a:srgbClr val="AEAEAE"/>
                </a:solidFill>
                <a:latin typeface="Inter"/>
              </a:rPr>
              <a:t>PEOPLE-SYSTEMS CLIENTS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" y="6016752"/>
            <a:ext cx="10436047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AU" spc="26">
                <a:solidFill>
                  <a:srgbClr val="EA493F"/>
                </a:solidFill>
                <a:latin typeface="Inter"/>
              </a:rPr>
              <a:t>10+ years delivering Workday · consultants average 3+ years' experience.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AEAEAE"/>
                </a:solidFill>
                <a:latin typeface="Inter"/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8412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HOW WE DELIVER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07008"/>
            <a:ext cx="10436047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lang="en-AU" spc="-74">
                <a:solidFill>
                  <a:srgbClr val="111111"/>
                </a:solidFill>
                <a:latin typeface="Inter"/>
              </a:rPr>
              <a:t>Our </a:t>
            </a:r>
            <a:r>
              <a:rPr sz="3400" b="1" i="0" lang="en-AU" spc="-74">
                <a:solidFill>
                  <a:srgbClr val="EA493F"/>
                </a:solidFill>
                <a:latin typeface="Inter"/>
              </a:rPr>
              <a:t>methodology.</a:t>
            </a:r>
          </a:p>
        </p:txBody>
      </p:sp>
      <p:pic>
        <p:nvPicPr>
          <p:cNvPr id="6" name="Picture 5" descr="as_4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5277" y="2057400"/>
            <a:ext cx="6049252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AEAEAE"/>
                </a:solidFill>
                <a:latin typeface="Inter"/>
              </a:rPr>
              <a:t>IMPLEMENTATION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8412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INDICATIVE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07008"/>
            <a:ext cx="10436047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lang="en-AU" spc="-74">
                <a:solidFill>
                  <a:srgbClr val="111111"/>
                </a:solidFill>
                <a:latin typeface="Inter"/>
              </a:rPr>
              <a:t>Draft implementation </a:t>
            </a:r>
            <a:r>
              <a:rPr sz="3400" b="1" i="0" lang="en-AU" spc="-74">
                <a:solidFill>
                  <a:srgbClr val="EA493F"/>
                </a:solidFill>
                <a:latin typeface="Inter"/>
              </a:rPr>
              <a:t>plan.</a:t>
            </a:r>
          </a:p>
        </p:txBody>
      </p:sp>
      <p:pic>
        <p:nvPicPr>
          <p:cNvPr id="6" name="Picture 5" descr="as_emf.em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2240280"/>
            <a:ext cx="10424160" cy="382720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AEAEAE"/>
                </a:solidFill>
                <a:latin typeface="Inter"/>
              </a:rPr>
              <a:t>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8412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HOW WE RUN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07008"/>
            <a:ext cx="10436047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lang="en-AU" spc="-74">
                <a:solidFill>
                  <a:srgbClr val="111111"/>
                </a:solidFill>
                <a:latin typeface="Inter"/>
              </a:rPr>
              <a:t> </a:t>
            </a:r>
            <a:r>
              <a:rPr sz="3400" b="1" i="0" lang="en-AU" spc="-74">
                <a:solidFill>
                  <a:srgbClr val="EA493F"/>
                </a:solidFill>
                <a:latin typeface="Inter"/>
              </a:rPr>
              <a:t>Governance.</a:t>
            </a:r>
          </a:p>
        </p:txBody>
      </p:sp>
      <p:pic>
        <p:nvPicPr>
          <p:cNvPr id="6" name="Picture 5" descr="as_6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2399803"/>
            <a:ext cx="5074920" cy="3567154"/>
          </a:xfrm>
          <a:prstGeom prst="rect">
            <a:avLst/>
          </a:prstGeom>
        </p:spPr>
      </p:pic>
      <p:pic>
        <p:nvPicPr>
          <p:cNvPr id="7" name="Picture 6" descr="as_6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7064" y="2461532"/>
            <a:ext cx="5074920" cy="344369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AEAEAE"/>
                </a:solidFill>
                <a:latin typeface="Inter"/>
              </a:rPr>
              <a:t>RACI &amp; DATA MIGRATION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8412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ROLES &amp;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07008"/>
            <a:ext cx="10436047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lang="en-AU" spc="-74">
                <a:solidFill>
                  <a:srgbClr val="111111"/>
                </a:solidFill>
                <a:latin typeface="Inter"/>
              </a:rPr>
              <a:t>RACI &amp; data </a:t>
            </a:r>
            <a:r>
              <a:rPr sz="3400" b="1" i="0" lang="en-AU" spc="-74">
                <a:solidFill>
                  <a:srgbClr val="EA493F"/>
                </a:solidFill>
                <a:latin typeface="Inter"/>
              </a:rPr>
              <a:t>migration.</a:t>
            </a:r>
          </a:p>
        </p:txBody>
      </p:sp>
      <p:pic>
        <p:nvPicPr>
          <p:cNvPr id="6" name="Picture 5" descr="as_7_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2039" y="2057400"/>
            <a:ext cx="3846489" cy="4251959"/>
          </a:xfrm>
          <a:prstGeom prst="rect">
            <a:avLst/>
          </a:prstGeom>
        </p:spPr>
      </p:pic>
      <p:pic>
        <p:nvPicPr>
          <p:cNvPr id="7" name="Picture 6" descr="as_7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5787" y="2057400"/>
            <a:ext cx="4157472" cy="42519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AEAEAE"/>
                </a:solidFill>
                <a:latin typeface="Inter"/>
              </a:rPr>
              <a:t>UNDERSTANDING YOUR NEEDS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8412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UNDERSTANDING YOUR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25296"/>
            <a:ext cx="10424160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lang="en-AU" spc="-74">
                <a:solidFill>
                  <a:srgbClr val="111111"/>
                </a:solidFill>
                <a:latin typeface="Inter"/>
              </a:rPr>
              <a:t>What you need </a:t>
            </a:r>
            <a:r>
              <a:rPr sz="3400" b="1" i="0" lang="en-AU" spc="-74">
                <a:solidFill>
                  <a:srgbClr val="EA493F"/>
                </a:solidFill>
                <a:latin typeface="Inter"/>
              </a:rPr>
              <a:t>this to 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514600"/>
            <a:ext cx="10436047" cy="39776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300" b="0" i="0" lang="en-AU" spc="0">
                <a:solidFill>
                  <a:srgbClr val="323232"/>
                </a:solidFill>
                <a:latin typeface="Inter"/>
              </a:rPr>
              <a:t>Payroll compliance confidence</a:t>
            </a:r>
          </a:p>
          <a:p>
            <a:pPr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3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300" b="0" i="0" lang="en-AU" spc="0">
                <a:solidFill>
                  <a:srgbClr val="323232"/>
                </a:solidFill>
                <a:latin typeface="Inter"/>
              </a:rPr>
              <a:t>Connected HR &amp; payroll</a:t>
            </a:r>
          </a:p>
          <a:p>
            <a:pPr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3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300" b="0" i="0" lang="en-AU" spc="0">
                <a:solidFill>
                  <a:srgbClr val="323232"/>
                </a:solidFill>
                <a:latin typeface="Inter"/>
              </a:rPr>
              <a:t>Rostering that enforces rules</a:t>
            </a:r>
          </a:p>
          <a:p>
            <a:pPr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3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300" b="0" i="0" lang="en-AU" spc="0">
                <a:solidFill>
                  <a:srgbClr val="323232"/>
                </a:solidFill>
                <a:latin typeface="Inter"/>
              </a:rPr>
              <a:t>A single, reliable user experience</a:t>
            </a:r>
          </a:p>
          <a:p>
            <a:pPr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3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300" b="0" i="0" lang="en-AU" spc="0">
                <a:solidFill>
                  <a:srgbClr val="323232"/>
                </a:solidFill>
                <a:latin typeface="Inter"/>
              </a:rPr>
              <a:t>Frontline manager visibility</a:t>
            </a:r>
          </a:p>
          <a:p>
            <a:pPr algn="l">
              <a:lnSpc>
                <a:spcPct val="122000"/>
              </a:lnSpc>
              <a:spcBef>
                <a:spcPts val="500"/>
              </a:spcBef>
              <a:spcAft>
                <a:spcPts val="0"/>
              </a:spcAft>
            </a:pPr>
            <a:r>
              <a:rPr sz="1300" b="1" i="0" lang="en-AU" spc="0">
                <a:solidFill>
                  <a:srgbClr val="EA493F"/>
                </a:solidFill>
                <a:latin typeface="Inter"/>
              </a:rPr>
              <a:t>—  </a:t>
            </a:r>
            <a:r>
              <a:rPr sz="1300" b="0" i="0" lang="en-AU" spc="0">
                <a:solidFill>
                  <a:srgbClr val="323232"/>
                </a:solidFill>
                <a:latin typeface="Inter"/>
              </a:rPr>
              <a:t>Funding &amp; cost visibility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Icon_Melon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57200"/>
            <a:ext cx="402032" cy="2377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59775" y="420624"/>
            <a:ext cx="3200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lang="en-AU" spc="147" cap="all">
                <a:solidFill>
                  <a:srgbClr val="AEAEAE"/>
                </a:solidFill>
                <a:latin typeface="Inter"/>
              </a:rPr>
              <a:t>SUCCESS STORIES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7824" y="841248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REAL-WORLD SUCCESS STORIES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207008"/>
            <a:ext cx="10436047" cy="10972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 lang="en-AU" spc="-74">
                <a:solidFill>
                  <a:srgbClr val="111111"/>
                </a:solidFill>
                <a:latin typeface="Inter"/>
              </a:rPr>
              <a:t>Proven Workday </a:t>
            </a:r>
            <a:r>
              <a:rPr sz="3400" b="1" i="0" lang="en-AU" spc="-74">
                <a:solidFill>
                  <a:srgbClr val="EA493F"/>
                </a:solidFill>
                <a:latin typeface="Inter"/>
              </a:rPr>
              <a:t>outcomes.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1938528"/>
            <a:ext cx="987552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lang="en-AU" spc="0">
                <a:solidFill>
                  <a:srgbClr val="323232"/>
                </a:solidFill>
                <a:latin typeface="Inter"/>
              </a:rPr>
              <a:t>How Mivada enables high-performance Workday operations.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2697480"/>
            <a:ext cx="3250082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72" cap="all">
                <a:solidFill>
                  <a:srgbClr val="EA493F"/>
                </a:solidFill>
                <a:latin typeface="Inter"/>
              </a:rPr>
              <a:t>GUZMAN Y GOMEZ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3200400"/>
            <a:ext cx="3222650" cy="3108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en-AU" spc="0">
                <a:solidFill>
                  <a:srgbClr val="323232"/>
                </a:solidFill>
                <a:latin typeface="Inter"/>
              </a:rPr>
              <a:t>Mivada partnered with GYG to stabilise and optimise their Workday platform post–go-live across modules, reporting, security and compliance. Through Agile delivery we onboarded 150+ franchisees, delivered new reporting and a redesigned security model, and improved performance across HCM, Absence and Learning — enabling scalable, compliant global operations.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356506" y="2743200"/>
            <a:ext cx="0" cy="347472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4649114" y="2697480"/>
            <a:ext cx="2957474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72" cap="all">
                <a:solidFill>
                  <a:srgbClr val="EA493F"/>
                </a:solidFill>
                <a:latin typeface="Inter"/>
              </a:rPr>
              <a:t>QANTAS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9114" y="3200400"/>
            <a:ext cx="2930042" cy="3108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en-AU" spc="0">
                <a:solidFill>
                  <a:srgbClr val="323232"/>
                </a:solidFill>
                <a:latin typeface="Inter"/>
              </a:rPr>
              <a:t>Mivada has supported Qantas since 2014, taking over Workday support in 2017 and rapidly becoming a strategic partner across HR, Payroll, Digital, Automation, Data and Analytics. By scaling integrations, modernising architectures and embedding automation, Mivada evolved from post–go-live support to Qantas' long-term enterprise partner.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835188" y="2743200"/>
            <a:ext cx="0" cy="3474720"/>
          </a:xfrm>
          <a:prstGeom prst="bentConnector3">
            <a:avLst/>
          </a:prstGeom>
          <a:ln w="12700">
            <a:solidFill>
              <a:srgbClr val="E4E4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127796" y="2697480"/>
            <a:ext cx="2957474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72" cap="all">
                <a:solidFill>
                  <a:srgbClr val="EA493F"/>
                </a:solidFill>
                <a:latin typeface="Inter"/>
              </a:rPr>
              <a:t>WESTERN SYDNEY INTL AIRPORT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7796" y="3200400"/>
            <a:ext cx="2930042" cy="3108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lang="en-AU" spc="0">
                <a:solidFill>
                  <a:srgbClr val="323232"/>
                </a:solidFill>
                <a:latin typeface="Inter"/>
              </a:rPr>
              <a:t>Mivada partnered with WSI to deliver a card-management system, then expanded into a strategic role supporting WSI's Workday program. By resolving functional and integration issues and assuming full AMS ownership, Mivada stabilised HR, Payroll, Finance and Procurement — becoming WSI's trusted long-term partner.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vada_Logo_2C_OnBlack_RGB_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749808"/>
            <a:ext cx="2531685" cy="38404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77824" y="2194560"/>
            <a:ext cx="9601200" cy="320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lang="en-AU" spc="192" cap="all">
                <a:solidFill>
                  <a:srgbClr val="EA493F"/>
                </a:solidFill>
                <a:latin typeface="Inter"/>
              </a:rPr>
              <a:t>OVER TO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606040"/>
            <a:ext cx="10241280" cy="2743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 lang="en-AU" spc="-135">
                <a:solidFill>
                  <a:srgbClr val="FFFFFF"/>
                </a:solidFill>
                <a:latin typeface="Inter"/>
              </a:rPr>
              <a:t>Questions?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77824" y="5852160"/>
            <a:ext cx="10436047" cy="0"/>
          </a:xfrm>
          <a:prstGeom prst="bentConnector3">
            <a:avLst/>
          </a:prstGeom>
          <a:ln w="12700">
            <a:solidFill>
              <a:srgbClr val="3A3A3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77824" y="598932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lang="en-AU" spc="25">
                <a:solidFill>
                  <a:srgbClr val="CFCFCF"/>
                </a:solidFill>
                <a:latin typeface="Inter"/>
              </a:rPr>
              <a:t>hello@mivada.com · mivada.com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0895" y="5989320"/>
            <a:ext cx="5522976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 lang="en-AU" spc="25">
                <a:solidFill>
                  <a:srgbClr val="AEAEAE"/>
                </a:solidFill>
                <a:latin typeface="Inter"/>
              </a:rPr>
              <a:t>Sydney · Melbourne · AU &amp; India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