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Master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111111"/>
                </a:solidFill>
                <a:latin typeface="Inter"/>
              </a:rPr>
              <a:t>Technology, </a:t>
            </a:r>
            <a:r>
              <a:rPr sz="1600" b="1" i="0" lang="en-AU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MIVADA · COMPANY OVERVIEW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lang="en-AU" spc="-135">
                <a:solidFill>
                  <a:srgbClr val="FFFFFF"/>
                </a:solidFill>
                <a:latin typeface="Inter"/>
              </a:rPr>
              <a:t>Technology, </a:t>
            </a:r>
            <a:r>
              <a:rPr sz="5400" b="1" i="0" lang="en-AU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Australian technology consultancy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mivada.com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lang="en-AU" spc="-87">
                <a:solidFill>
                  <a:srgbClr val="111111"/>
                </a:solidFill>
                <a:latin typeface="Inter"/>
              </a:rPr>
              <a:t>An Australian technology </a:t>
            </a:r>
            <a:r>
              <a:rPr sz="4000" b="1" i="0" lang="en-AU" spc="-87">
                <a:solidFill>
                  <a:srgbClr val="EA493F"/>
                </a:solidFill>
                <a:latin typeface="Inter"/>
              </a:rPr>
              <a:t>consultancy.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83879" y="1874519"/>
            <a:ext cx="3127248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 lang="en-AU" spc="0">
                <a:solidFill>
                  <a:srgbClr val="323232"/>
                </a:solidFill>
                <a:latin typeface="Inter"/>
              </a:rPr>
              <a:t>We turn Workday, people systems, data and automation into outcomes teams actually feel — where human understanding becomes system advantage.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SPECIALISTS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PEOPLE-SYSTEMS CLIENTS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In good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993392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0">
                <a:solidFill>
                  <a:srgbClr val="323232"/>
                </a:solidFill>
                <a:latin typeface="Inter"/>
              </a:rPr>
              <a:t>A decade of work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74320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Qantas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7824" y="3200400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86835" y="274320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Jetstar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200400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95847" y="274320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Guzman y Gomez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5847" y="3200400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04859" y="274320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Western Sydney Airport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04859" y="3200400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331012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Canva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7824" y="3767328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486835" y="331012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NAB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86835" y="3767328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95847" y="331012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Rio Tinto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3767328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4859" y="331012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ResMed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04859" y="3767328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77824" y="387705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HCF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7824" y="4334256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6835" y="387705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IAG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486835" y="4334256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095847" y="387705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University of Sydney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95847" y="4334256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704859" y="387705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Macquarie University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04859" y="4334256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77824" y="4443983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Nine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7824" y="4901183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486835" y="4443983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Seven West Media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486835" y="4901183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095847" y="4443983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Amart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5847" y="4901183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704859" y="4443983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dnata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704859" y="4901183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77824" y="501091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Queensland Airports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77824" y="5468112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486835" y="501091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Kennards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86835" y="5468112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847" y="501091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Anglicare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95847" y="5468112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04859" y="501091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ProPharma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704859" y="5468112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Across your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people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People Systems 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HCM, Payroll, Time &amp; Attendance and HRIS 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Data, Analytics &amp; BI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Process &amp; Automation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Long-term AMS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HOW WE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People first,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start to finish.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2380411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Listen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We learn your people, processes and constraints before touching the platform.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486835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797731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Design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We shape Workday around how your teams really 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6743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Deliver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Agile delivery, senior practitioners, clear governance.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704859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15755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04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Care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Long-term managed services that keep improving outcomes.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DATA &amp;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972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en-AU" spc="-79">
                <a:solidFill>
                  <a:srgbClr val="FFFFFF"/>
                </a:solidFill>
                <a:latin typeface="Inter"/>
              </a:rPr>
              <a:t>Decisions on </a:t>
            </a:r>
            <a:r>
              <a:rPr sz="3600" b="1" i="0" lang="en-AU" spc="-79">
                <a:solidFill>
                  <a:srgbClr val="EA493F"/>
                </a:solidFill>
                <a:latin typeface="Inter"/>
              </a:rPr>
              <a:t>current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361188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0">
                <a:solidFill>
                  <a:srgbClr val="CFCFCF"/>
                </a:solidFill>
                <a:latin typeface="Inter"/>
              </a:rPr>
              <a:t>From reporting to governed analytics and automation — we turn Workday data into trusted, timely insight.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355080" y="123444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355080" y="141732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2821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Dashboards &amp; reporting people actually use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355080" y="233172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55080" y="251460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ANALYSE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82549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Prism &amp; data lakehouse, governed analytics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55080" y="342900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55080" y="361188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AUTOMATE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92277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Integrations &amp; automation across the stack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55080" y="452628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4709159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ASSURE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5020055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Security, controls and audit readiness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55080" y="5623559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06 ·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Proven Workday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93852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97480"/>
            <a:ext cx="3250082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200400"/>
            <a:ext cx="322265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from post–go-live support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74320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97480"/>
            <a:ext cx="295747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200400"/>
            <a:ext cx="2930042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 — enabling scalable, compliant global operations.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74320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97480"/>
            <a:ext cx="295747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200400"/>
            <a:ext cx="2930042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 — becoming WSI's trusted long-term partner.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A partner,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From go-live into managed services — we grow with you.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08 ·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Proven in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993392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0">
                <a:solidFill>
                  <a:srgbClr val="323232"/>
                </a:solidFill>
                <a:latin typeface="Inter"/>
              </a:rPr>
              <a:t>A decade of Workday delivery — consultants average 3+ years on the platform.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081527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46120"/>
            <a:ext cx="2444419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379976"/>
            <a:ext cx="2380411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29183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4612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37997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29183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4612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3000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37997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29183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4612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37997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IMPLEMENTATIONS &amp; SUPPORT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103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77824" y="507492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620877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EMPLOYEES · AU, US &amp; INDIA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56506" y="51206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0749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087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PEOPLE-SYSTEMS CLIENTS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206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0749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087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YEARS DELIVERING WORKDAY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 lang="en-AU" spc="-110">
                <a:solidFill>
                  <a:srgbClr val="FFFFFF"/>
                </a:solidFill>
                <a:latin typeface="Inter"/>
              </a:rPr>
              <a:t>Let's build something </a:t>
            </a:r>
            <a:r>
              <a:rPr sz="4400" b="1" i="0" lang="en-AU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lang="en-AU" spc="25">
                <a:solidFill>
                  <a:srgbClr val="AEAEAE"/>
                </a:solidFill>
                <a:latin typeface="Inter"/>
              </a:rPr>
              <a:t>Sydney · Melbourne · AU &amp;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