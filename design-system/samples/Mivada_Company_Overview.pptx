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111111"/>
                </a:solidFill>
                <a:latin typeface="Inter"/>
              </a:rPr>
              <a:t>Technology, </a:t>
            </a:r>
            <a:r>
              <a:rPr sz="1600" b="1" i="0" lang="en-AU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COMPANY OVERVIEW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02 · 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An Australian technology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consultancy.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We turn Workday, people systems, data and automation into outcomes teams actually feel — where human understanding becomes system advantage.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 · AU, US &amp; INDIA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03 · 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78638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170432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Across your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people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People Systems 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HCM, Payroll, Time &amp; Attendance and HRIS — implemented and optimised.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Data, Analytics &amp; BI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Process &amp;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Long-term AMS that keeps delivering value after go-live.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04 · 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People first,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start to finish.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learn your people, processes and constraints before touching the platform.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shape Workday around how your teams really work.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Agile delivery, senior practitioners, clear governance.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Long-term managed services that keep improving outcomes.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05 · 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10515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DATA &amp;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6304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From reporting to governed analytics and automation — we turn Workday data into trusted, timely insight.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355080" y="1380744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344168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0">
                <a:solidFill>
                  <a:srgbClr val="FFFFFF"/>
                </a:solidFill>
                <a:latin typeface="Inter"/>
              </a:rPr>
              <a:t>Dashboards &amp; reporting people actually use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55080" y="2203704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55080" y="2350008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ANALYSE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313432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0">
                <a:solidFill>
                  <a:srgbClr val="FFFFFF"/>
                </a:solidFill>
                <a:latin typeface="Inter"/>
              </a:rPr>
              <a:t>Prism &amp; data lakehouse, governed analytics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55080" y="3172968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55080" y="3319272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AUTOMATE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282696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0">
                <a:solidFill>
                  <a:srgbClr val="FFFFFF"/>
                </a:solidFill>
                <a:latin typeface="Inter"/>
              </a:rPr>
              <a:t>Integrations &amp; automation across the stack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55080" y="4142232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55080" y="4288536"/>
            <a:ext cx="141732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EA493F"/>
                </a:solidFill>
                <a:latin typeface="Inter"/>
              </a:rPr>
              <a:t>ASSURE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251960"/>
            <a:ext cx="3450031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0">
                <a:solidFill>
                  <a:srgbClr val="FFFFFF"/>
                </a:solidFill>
                <a:latin typeface="Inter"/>
              </a:rPr>
              <a:t>Security, controls and audit readiness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55080" y="5111496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06 ·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436047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Proven Workday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3852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697480"/>
            <a:ext cx="32500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200400"/>
            <a:ext cx="322265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from post–go-live support into a long-term enterprise partner.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274320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49114" y="269748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9114" y="320040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 — enabling scalable, compliant global operations.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274320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7796" y="269748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7796" y="320040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 — becoming WSI's trusted long-term partner.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07 · 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08 ·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436047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Proven in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93392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323232"/>
                </a:solidFill>
                <a:latin typeface="Inter"/>
              </a:rPr>
              <a:t>A decade of Workday delivery — consultants average 3+ years on the platform.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081527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3246120"/>
            <a:ext cx="2444419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4379976"/>
            <a:ext cx="2380411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86835" y="329183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797731" y="324612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7731" y="437997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5847" y="329183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6743" y="324612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6743" y="437997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04859" y="329183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015755" y="324612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755" y="437997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 &amp; SUPPORT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7824" y="49103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7824" y="50749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62087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EMPLOYEES · AU, US &amp; INDIA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356506" y="51206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402" y="50749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7402" y="62087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35188" y="51206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146084" y="50749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6084" y="62087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 lang="en-AU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sz="4400" b="1" i="0" lang="en-AU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