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Engagements</c:v>
                </c:pt>
              </c:strCache>
            </c:strRef>
          </c:tx>
          <c:spPr>
            <a:solidFill>
              <a:srgbClr val="EA493F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18</c:v>
                </c:pt>
                <c:pt idx="2">
                  <c:v>24</c:v>
                </c:pt>
                <c:pt idx="3">
                  <c:v>30</c:v>
                </c:pt>
                <c:pt idx="4">
                  <c:v>38</c:v>
                </c:pt>
              </c:numCache>
            </c:numRef>
          </c:val>
        </c:ser>
        <c:dLbls>
          <c:numFmt formatCode="0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chart" Target="../charts/char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Logo_Master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5" y="2487168"/>
            <a:ext cx="5907265" cy="8961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3767328"/>
            <a:ext cx="853409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en-AU" spc="0">
                <a:solidFill>
                  <a:srgbClr val="111111"/>
                </a:solidFill>
                <a:latin typeface="Inter"/>
              </a:rPr>
              <a:t>Technology, </a:t>
            </a:r>
            <a:r>
              <a:rPr sz="1600" b="1" i="0" lang="en-AU" spc="0">
                <a:solidFill>
                  <a:srgbClr val="EA493F"/>
                </a:solidFill>
                <a:latin typeface="Inter"/>
              </a:rPr>
              <a:t>human first.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Logo_2C_OnBlack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749808"/>
            <a:ext cx="2531685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77824" y="233172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MIVADA · SLIDE LIBRARY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697480"/>
            <a:ext cx="1060704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 lang="en-AU" spc="-135">
                <a:solidFill>
                  <a:srgbClr val="FFFFFF"/>
                </a:solidFill>
                <a:latin typeface="Inter"/>
              </a:rPr>
              <a:t>The Editorial </a:t>
            </a:r>
            <a:r>
              <a:rPr sz="5400" b="1" i="0" lang="en-AU" spc="-135">
                <a:solidFill>
                  <a:srgbClr val="EA493F"/>
                </a:solidFill>
                <a:latin typeface="Inter"/>
              </a:rPr>
              <a:t>slide library.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77824" y="6163056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77824" y="6272784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en-AU" spc="46">
                <a:solidFill>
                  <a:srgbClr val="AEAEAE"/>
                </a:solidFill>
                <a:latin typeface="Inter"/>
              </a:rPr>
              <a:t>Standard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0895" y="6272784"/>
            <a:ext cx="5522976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en-AU" spc="46">
                <a:solidFill>
                  <a:srgbClr val="AEAEAE"/>
                </a:solidFill>
                <a:latin typeface="Inter"/>
              </a:rPr>
              <a:t>mivada.com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White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54" cap="all">
                <a:solidFill>
                  <a:srgbClr val="EA493F"/>
                </a:solidFill>
                <a:latin typeface="Inter"/>
              </a:rPr>
              <a:t>SECTION DIVIDER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69748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 i="0" lang="en-AU" spc="-130">
                <a:solidFill>
                  <a:srgbClr val="FFFFFF"/>
                </a:solidFill>
                <a:latin typeface="Inter"/>
              </a:rPr>
              <a:t>How we </a:t>
            </a:r>
            <a:r>
              <a:rPr sz="5200" b="1" i="0" lang="en-AU" spc="-130">
                <a:solidFill>
                  <a:srgbClr val="EA493F"/>
                </a:solidFill>
                <a:latin typeface="Inter"/>
              </a:rPr>
              <a:t>deliver.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416052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AU" spc="0">
                <a:solidFill>
                  <a:srgbClr val="D6D6D6"/>
                </a:solidFill>
                <a:latin typeface="Inter"/>
              </a:rPr>
              <a:t>A proven methodology, a clear plan, and governance that keeps everyone aligned.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White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54" cap="all">
                <a:solidFill>
                  <a:srgbClr val="EA493F"/>
                </a:solidFill>
                <a:latin typeface="Inter"/>
              </a:rPr>
              <a:t>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243584"/>
            <a:ext cx="10607040" cy="1645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 lang="en-AU" spc="-95">
                <a:solidFill>
                  <a:srgbClr val="FFFFFF"/>
                </a:solidFill>
                <a:latin typeface="Inter"/>
              </a:rPr>
              <a:t>We grew out of a customer.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 lang="en-AU" spc="-95">
                <a:solidFill>
                  <a:srgbClr val="EA493F"/>
                </a:solidFill>
                <a:latin typeface="Inter"/>
              </a:rPr>
              <a:t>So we speak your language.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85292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0">
                <a:solidFill>
                  <a:srgbClr val="D6D6D6"/>
                </a:solidFill>
                <a:latin typeface="Inter"/>
              </a:rPr>
              <a:t>Your long-term partner in Workday implementations &amp; managed services.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3611880"/>
            <a:ext cx="4852263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AU" spc="0">
                <a:solidFill>
                  <a:srgbClr val="EA493F"/>
                </a:solidFill>
                <a:latin typeface="Inter"/>
              </a:rPr>
              <a:t>—   </a:t>
            </a:r>
            <a:r>
              <a:rPr sz="1500" b="1" i="0" lang="en-AU" spc="-15">
                <a:solidFill>
                  <a:srgbClr val="FFFFFF"/>
                </a:solidFill>
                <a:latin typeface="Inter"/>
              </a:rPr>
              <a:t>Australian-owned, senior-led    </a:t>
            </a:r>
            <a:r>
              <a:rPr sz="1250" b="0" i="0" lang="en-AU" spc="0">
                <a:solidFill>
                  <a:srgbClr val="CFCFCF"/>
                </a:solidFill>
                <a:latin typeface="Inter"/>
              </a:rPr>
              <a:t>Not a Big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4160520"/>
            <a:ext cx="4852263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AU" spc="0">
                <a:solidFill>
                  <a:srgbClr val="EA493F"/>
                </a:solidFill>
                <a:latin typeface="Inter"/>
              </a:rPr>
              <a:t>—   </a:t>
            </a:r>
            <a:r>
              <a:rPr sz="1500" b="1" i="0" lang="en-AU" spc="-15">
                <a:solidFill>
                  <a:srgbClr val="FFFFFF"/>
                </a:solidFill>
                <a:latin typeface="Inter"/>
              </a:rPr>
              <a:t>Direct CEO access    </a:t>
            </a:r>
            <a:r>
              <a:rPr sz="1250" b="0" i="0" lang="en-AU" spc="0">
                <a:solidFill>
                  <a:srgbClr val="CFCFCF"/>
                </a:solidFill>
                <a:latin typeface="Inter"/>
              </a:rPr>
              <a:t>Reduced escalation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7" y="3611880"/>
            <a:ext cx="4852263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AU" spc="0">
                <a:solidFill>
                  <a:srgbClr val="EA493F"/>
                </a:solidFill>
                <a:latin typeface="Inter"/>
              </a:rPr>
              <a:t>—   </a:t>
            </a:r>
            <a:r>
              <a:rPr sz="1500" b="1" i="0" lang="en-AU" spc="-15">
                <a:solidFill>
                  <a:srgbClr val="FFFFFF"/>
                </a:solidFill>
                <a:latin typeface="Inter"/>
              </a:rPr>
              <a:t>Dedicated engagement manager    </a:t>
            </a:r>
            <a:r>
              <a:rPr sz="1250" b="0" i="0" lang="en-AU" spc="0">
                <a:solidFill>
                  <a:srgbClr val="CFCFCF"/>
                </a:solidFill>
                <a:latin typeface="Inter"/>
              </a:rPr>
              <a:t>One owner end to 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7" y="4160520"/>
            <a:ext cx="4852263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AU" spc="0">
                <a:solidFill>
                  <a:srgbClr val="EA493F"/>
                </a:solidFill>
                <a:latin typeface="Inter"/>
              </a:rPr>
              <a:t>—   </a:t>
            </a:r>
            <a:r>
              <a:rPr sz="1500" b="1" i="0" lang="en-AU" spc="-15">
                <a:solidFill>
                  <a:srgbClr val="FFFFFF"/>
                </a:solidFill>
                <a:latin typeface="Inter"/>
              </a:rPr>
              <a:t>Onshore + offshore    </a:t>
            </a:r>
            <a:r>
              <a:rPr sz="1250" b="0" i="0" lang="en-AU" spc="0">
                <a:solidFill>
                  <a:srgbClr val="CFCFCF"/>
                </a:solidFill>
                <a:latin typeface="Inter"/>
              </a:rPr>
              <a:t>Local accountability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77824" y="6163056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7824" y="6291072"/>
            <a:ext cx="10436047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44">
                <a:solidFill>
                  <a:srgbClr val="EA493F"/>
                </a:solidFill>
                <a:latin typeface="Inter"/>
              </a:rPr>
              <a:t>TRUSTED BY  ·  Qantas · Guzman y Gomez · Western Sydney International Airport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54" cap="all">
                <a:solidFill>
                  <a:srgbClr val="EA493F"/>
                </a:solidFill>
                <a:latin typeface="Inter"/>
              </a:rPr>
              <a:t>WHO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32688"/>
            <a:ext cx="7040880" cy="2468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lang="en-AU" spc="-87">
                <a:solidFill>
                  <a:srgbClr val="111111"/>
                </a:solidFill>
                <a:latin typeface="Inter"/>
              </a:rPr>
              <a:t>An Australian technology </a:t>
            </a:r>
            <a:r>
              <a:rPr sz="4000" b="1" i="0" lang="en-AU" spc="-87">
                <a:solidFill>
                  <a:srgbClr val="EA493F"/>
                </a:solidFill>
                <a:latin typeface="Inter"/>
              </a:rPr>
              <a:t>consultancy.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83879" y="1874519"/>
            <a:ext cx="3127248" cy="2194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lang="en-AU" spc="0">
                <a:solidFill>
                  <a:srgbClr val="323232"/>
                </a:solidFill>
                <a:latin typeface="Inter"/>
              </a:rPr>
              <a:t>We turn Workday, people systems, data and automation into outcomes teams actually feel.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77824" y="3995928"/>
            <a:ext cx="10436047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77824" y="4160520"/>
            <a:ext cx="3314090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2014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5294376"/>
            <a:ext cx="3250082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FOUNDED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356506" y="4206240"/>
            <a:ext cx="0" cy="155448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67402" y="4160520"/>
            <a:ext cx="3003194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200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7402" y="5294376"/>
            <a:ext cx="2939186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SPECIALISTS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35188" y="4206240"/>
            <a:ext cx="0" cy="155448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146084" y="4160520"/>
            <a:ext cx="3003194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100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084" y="5294376"/>
            <a:ext cx="2939186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CLIENTS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White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54" cap="all">
                <a:solidFill>
                  <a:srgbClr val="EA493F"/>
                </a:solidFill>
                <a:latin typeface="Inter"/>
              </a:rPr>
              <a:t>WHAT WE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6868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lang="en-AU" spc="-74">
                <a:solidFill>
                  <a:srgbClr val="FFFFFF"/>
                </a:solidFill>
                <a:latin typeface="Inter"/>
              </a:rPr>
              <a:t>Across your </a:t>
            </a:r>
            <a:r>
              <a:rPr sz="3400" b="1" i="0" lang="en-AU" spc="-74">
                <a:solidFill>
                  <a:srgbClr val="EA493F"/>
                </a:solidFill>
                <a:latin typeface="Inter"/>
              </a:rPr>
              <a:t>people platform.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77824" y="2395728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77824" y="2523744"/>
            <a:ext cx="100584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lang="en-AU" spc="-96">
                <a:solidFill>
                  <a:srgbClr val="EA493F"/>
                </a:solidFill>
                <a:latin typeface="Inte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20824" y="2487168"/>
            <a:ext cx="704088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lang="en-AU" spc="-42">
                <a:solidFill>
                  <a:srgbClr val="FFFFFF"/>
                </a:solidFill>
                <a:latin typeface="Inter"/>
              </a:rPr>
              <a:t>People Systems &amp; Transformation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0" i="0" lang="en-AU" spc="0">
                <a:solidFill>
                  <a:srgbClr val="CFCFCF"/>
                </a:solidFill>
                <a:latin typeface="Inter"/>
              </a:rPr>
              <a:t>HCM, Payroll, Time &amp; Attendance, HRIS.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2578608"/>
            <a:ext cx="1591056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en-AU" spc="130" cap="all">
                <a:solidFill>
                  <a:srgbClr val="AEAEAE"/>
                </a:solidFill>
                <a:latin typeface="Inter"/>
              </a:rPr>
              <a:t>WORKDAY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77824" y="3282696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77824" y="3410712"/>
            <a:ext cx="100584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lang="en-AU" spc="-96">
                <a:solidFill>
                  <a:srgbClr val="EA493F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20824" y="3374136"/>
            <a:ext cx="704088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lang="en-AU" spc="-42">
                <a:solidFill>
                  <a:srgbClr val="FFFFFF"/>
                </a:solidFill>
                <a:latin typeface="Inter"/>
              </a:rPr>
              <a:t>Data, Analytics &amp; BI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0" i="0" lang="en-AU" spc="0">
                <a:solidFill>
                  <a:srgbClr val="CFCFCF"/>
                </a:solidFill>
                <a:latin typeface="Inter"/>
              </a:rPr>
              <a:t>Reporting to governed analytics.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22815" y="3465576"/>
            <a:ext cx="1591056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en-AU" spc="130" cap="all">
                <a:solidFill>
                  <a:srgbClr val="AEAEAE"/>
                </a:solidFill>
                <a:latin typeface="Inter"/>
              </a:rPr>
              <a:t>INSIGHT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7824" y="4169663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7824" y="4297680"/>
            <a:ext cx="100584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lang="en-AU" spc="-96">
                <a:solidFill>
                  <a:srgbClr val="EA493F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20824" y="4261104"/>
            <a:ext cx="704088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lang="en-AU" spc="-42">
                <a:solidFill>
                  <a:srgbClr val="FFFFFF"/>
                </a:solidFill>
                <a:latin typeface="Inter"/>
              </a:rPr>
              <a:t>Process &amp; Automation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0" i="0" lang="en-AU" spc="0">
                <a:solidFill>
                  <a:srgbClr val="CFCFCF"/>
                </a:solidFill>
                <a:latin typeface="Inter"/>
              </a:rPr>
              <a:t>Remove manual, error-prone 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22815" y="4352544"/>
            <a:ext cx="1591056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en-AU" spc="130" cap="all">
                <a:solidFill>
                  <a:srgbClr val="AEAEAE"/>
                </a:solidFill>
                <a:latin typeface="Inter"/>
              </a:rPr>
              <a:t>EFFICIENCY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7824" y="5056632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7824" y="5184648"/>
            <a:ext cx="100584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lang="en-AU" spc="-96">
                <a:solidFill>
                  <a:srgbClr val="EA493F"/>
                </a:solidFill>
                <a:latin typeface="Inter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0824" y="5148072"/>
            <a:ext cx="704088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lang="en-AU" spc="-42">
                <a:solidFill>
                  <a:srgbClr val="FFFFFF"/>
                </a:solidFill>
                <a:latin typeface="Inter"/>
              </a:rPr>
              <a:t>Managed Services &amp; Support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0" i="0" lang="en-AU" spc="0">
                <a:solidFill>
                  <a:srgbClr val="CFCFCF"/>
                </a:solidFill>
                <a:latin typeface="Inter"/>
              </a:rPr>
              <a:t>AMS that keeps delivering value.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22815" y="5239512"/>
            <a:ext cx="1591056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en-AU" spc="130" cap="all">
                <a:solidFill>
                  <a:srgbClr val="AEAEAE"/>
                </a:solidFill>
                <a:latin typeface="Inter"/>
              </a:rPr>
              <a:t>PARTNERSHIP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7824" y="5943600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54" cap="all">
                <a:solidFill>
                  <a:srgbClr val="EA493F"/>
                </a:solidFill>
                <a:latin typeface="Inter"/>
              </a:rPr>
              <a:t>HOW WE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424160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lang="en-AU" spc="-74">
                <a:solidFill>
                  <a:srgbClr val="111111"/>
                </a:solidFill>
                <a:latin typeface="Inter"/>
              </a:rPr>
              <a:t>People first, </a:t>
            </a:r>
            <a:r>
              <a:rPr sz="3400" b="1" i="0" lang="en-AU" spc="-74">
                <a:solidFill>
                  <a:srgbClr val="EA493F"/>
                </a:solidFill>
                <a:latin typeface="Inter"/>
              </a:rPr>
              <a:t>start to finish.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971800"/>
            <a:ext cx="2380411" cy="2286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76" cap="all">
                <a:solidFill>
                  <a:srgbClr val="EA493F"/>
                </a:solidFill>
                <a:latin typeface="Inter"/>
              </a:rPr>
              <a:t>01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3000" b="1" i="0" lang="en-AU" spc="-75">
                <a:solidFill>
                  <a:srgbClr val="111111"/>
                </a:solidFill>
                <a:latin typeface="Inter"/>
              </a:rPr>
              <a:t>Listen</a:t>
            </a:r>
          </a:p>
          <a:p>
            <a:pPr algn="l">
              <a:lnSpc>
                <a:spcPct val="128000"/>
              </a:lnSpc>
              <a:spcBef>
                <a:spcPts val="1000"/>
              </a:spcBef>
              <a:spcAft>
                <a:spcPts val="0"/>
              </a:spcAft>
            </a:pPr>
            <a:r>
              <a:rPr sz="1250" b="0" i="0" lang="en-AU" spc="0">
                <a:solidFill>
                  <a:srgbClr val="323232"/>
                </a:solidFill>
                <a:latin typeface="Inter"/>
              </a:rPr>
              <a:t>Learn your people, processes and constraints.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486835" y="2971800"/>
            <a:ext cx="0" cy="228600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797731" y="2971800"/>
            <a:ext cx="2069515" cy="2286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76" cap="all">
                <a:solidFill>
                  <a:srgbClr val="EA493F"/>
                </a:solidFill>
                <a:latin typeface="Inter"/>
              </a:rPr>
              <a:t>02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3000" b="1" i="0" lang="en-AU" spc="-75">
                <a:solidFill>
                  <a:srgbClr val="111111"/>
                </a:solidFill>
                <a:latin typeface="Inter"/>
              </a:rPr>
              <a:t>Design</a:t>
            </a:r>
          </a:p>
          <a:p>
            <a:pPr algn="l">
              <a:lnSpc>
                <a:spcPct val="128000"/>
              </a:lnSpc>
              <a:spcBef>
                <a:spcPts val="1000"/>
              </a:spcBef>
              <a:spcAft>
                <a:spcPts val="0"/>
              </a:spcAft>
            </a:pPr>
            <a:r>
              <a:rPr sz="1250" b="0" i="0" lang="en-AU" spc="0">
                <a:solidFill>
                  <a:srgbClr val="323232"/>
                </a:solidFill>
                <a:latin typeface="Inter"/>
              </a:rPr>
              <a:t>Shape Workday around how teams really work.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5847" y="2971800"/>
            <a:ext cx="0" cy="228600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6743" y="2971800"/>
            <a:ext cx="2069515" cy="2286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76" cap="all">
                <a:solidFill>
                  <a:srgbClr val="EA493F"/>
                </a:solidFill>
                <a:latin typeface="Inter"/>
              </a:rPr>
              <a:t>03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3000" b="1" i="0" lang="en-AU" spc="-75">
                <a:solidFill>
                  <a:srgbClr val="111111"/>
                </a:solidFill>
                <a:latin typeface="Inter"/>
              </a:rPr>
              <a:t>Deliver</a:t>
            </a:r>
          </a:p>
          <a:p>
            <a:pPr algn="l">
              <a:lnSpc>
                <a:spcPct val="128000"/>
              </a:lnSpc>
              <a:spcBef>
                <a:spcPts val="1000"/>
              </a:spcBef>
              <a:spcAft>
                <a:spcPts val="0"/>
              </a:spcAft>
            </a:pPr>
            <a:r>
              <a:rPr sz="1250" b="0" i="0" lang="en-AU" spc="0">
                <a:solidFill>
                  <a:srgbClr val="323232"/>
                </a:solidFill>
                <a:latin typeface="Inter"/>
              </a:rPr>
              <a:t>Agile delivery, senior practitioners, clear governance.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704859" y="2971800"/>
            <a:ext cx="0" cy="228600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015755" y="2971800"/>
            <a:ext cx="2069515" cy="2286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76" cap="all">
                <a:solidFill>
                  <a:srgbClr val="EA493F"/>
                </a:solidFill>
                <a:latin typeface="Inter"/>
              </a:rPr>
              <a:t>04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3000" b="1" i="0" lang="en-AU" spc="-75">
                <a:solidFill>
                  <a:srgbClr val="111111"/>
                </a:solidFill>
                <a:latin typeface="Inter"/>
              </a:rPr>
              <a:t>Care</a:t>
            </a:r>
          </a:p>
          <a:p>
            <a:pPr algn="l">
              <a:lnSpc>
                <a:spcPct val="128000"/>
              </a:lnSpc>
              <a:spcBef>
                <a:spcPts val="1000"/>
              </a:spcBef>
              <a:spcAft>
                <a:spcPts val="0"/>
              </a:spcAft>
            </a:pPr>
            <a:r>
              <a:rPr sz="1250" b="0" i="0" lang="en-AU" spc="0">
                <a:solidFill>
                  <a:srgbClr val="323232"/>
                </a:solidFill>
                <a:latin typeface="Inter"/>
              </a:rPr>
              <a:t>Long-term managed services that keep improving.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White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54" cap="all">
                <a:solidFill>
                  <a:srgbClr val="EA493F"/>
                </a:solidFill>
                <a:latin typeface="Inter"/>
              </a:rPr>
              <a:t>DATA &amp;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97280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lang="en-AU" spc="-79">
                <a:solidFill>
                  <a:srgbClr val="FFFFFF"/>
                </a:solidFill>
                <a:latin typeface="Inter"/>
              </a:rPr>
              <a:t>Decisions on </a:t>
            </a:r>
            <a:r>
              <a:rPr sz="3600" b="1" i="0" lang="en-AU" spc="-79">
                <a:solidFill>
                  <a:srgbClr val="EA493F"/>
                </a:solidFill>
                <a:latin typeface="Inter"/>
              </a:rPr>
              <a:t>current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3611880"/>
            <a:ext cx="4572000" cy="2011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AU" spc="0">
                <a:solidFill>
                  <a:srgbClr val="CFCFCF"/>
                </a:solidFill>
                <a:latin typeface="Inter"/>
              </a:rPr>
              <a:t>From reporting to governed analytics and automation — Workday data made trusted and timely.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355080" y="1234440"/>
            <a:ext cx="4958791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355080" y="1417320"/>
            <a:ext cx="4958791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EA493F"/>
                </a:solidFill>
                <a:latin typeface="Inter"/>
              </a:rPr>
              <a:t>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728216"/>
            <a:ext cx="495879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AU" spc="-7">
                <a:solidFill>
                  <a:srgbClr val="FFFFFF"/>
                </a:solidFill>
                <a:latin typeface="Inter"/>
              </a:rPr>
              <a:t>Dashboards &amp; reporting people actually use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355080" y="2331720"/>
            <a:ext cx="4958791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355080" y="2514600"/>
            <a:ext cx="4958791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EA493F"/>
                </a:solidFill>
                <a:latin typeface="Inter"/>
              </a:rPr>
              <a:t>ANALYSE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825496"/>
            <a:ext cx="495879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AU" spc="-7">
                <a:solidFill>
                  <a:srgbClr val="FFFFFF"/>
                </a:solidFill>
                <a:latin typeface="Inter"/>
              </a:rPr>
              <a:t>Prism &amp; data lakehouse, governed analytics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355080" y="3429000"/>
            <a:ext cx="4958791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355080" y="3611880"/>
            <a:ext cx="4958791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EA493F"/>
                </a:solidFill>
                <a:latin typeface="Inter"/>
              </a:rPr>
              <a:t>AUTOMATE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922776"/>
            <a:ext cx="495879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AU" spc="-7">
                <a:solidFill>
                  <a:srgbClr val="FFFFFF"/>
                </a:solidFill>
                <a:latin typeface="Inter"/>
              </a:rPr>
              <a:t>Integrations &amp; automation across the stack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355080" y="4526280"/>
            <a:ext cx="4958791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355080" y="4709159"/>
            <a:ext cx="4958791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EA493F"/>
                </a:solidFill>
                <a:latin typeface="Inter"/>
              </a:rPr>
              <a:t>ASSURE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5020055"/>
            <a:ext cx="495879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AU" spc="-7">
                <a:solidFill>
                  <a:srgbClr val="FFFFFF"/>
                </a:solidFill>
                <a:latin typeface="Inter"/>
              </a:rPr>
              <a:t>Security, controls and audit readiness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355080" y="5623559"/>
            <a:ext cx="4958791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White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54" cap="all">
                <a:solidFill>
                  <a:srgbClr val="EA493F"/>
                </a:solidFill>
                <a:latin typeface="Inter"/>
              </a:rPr>
              <a:t>ENGAGEMENT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436047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lang="en-AU" spc="-72">
                <a:solidFill>
                  <a:srgbClr val="FFFFFF"/>
                </a:solidFill>
                <a:latin typeface="Inter"/>
              </a:rPr>
              <a:t>Two ways we </a:t>
            </a:r>
            <a:r>
              <a:rPr sz="3300" b="1" i="0" lang="en-AU" spc="-72">
                <a:solidFill>
                  <a:srgbClr val="EA493F"/>
                </a:solidFill>
                <a:latin typeface="Inter"/>
              </a:rPr>
              <a:t>support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73736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n-AU" spc="0">
                <a:solidFill>
                  <a:srgbClr val="CFCFCF"/>
                </a:solidFill>
                <a:latin typeface="Inter"/>
              </a:rPr>
              <a:t>Flex between them as your needs change.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" y="2331720"/>
            <a:ext cx="5035143" cy="3291840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" y="2569463"/>
            <a:ext cx="4532223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en-AU" spc="150" cap="all">
                <a:solidFill>
                  <a:srgbClr val="EA493F"/>
                </a:solidFill>
                <a:latin typeface="Inter"/>
              </a:rPr>
              <a:t>STAFF AUGMENTATION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" y="2935224"/>
            <a:ext cx="4532223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en-AU" spc="-14">
                <a:solidFill>
                  <a:srgbClr val="FFFFFF"/>
                </a:solidFill>
                <a:latin typeface="Inter"/>
              </a:rPr>
              <a:t>Certified consultants, embedded in your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" y="3538728"/>
            <a:ext cx="4486503" cy="42062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D6D6D6"/>
                </a:solidFill>
                <a:latin typeface="Inter"/>
              </a:rPr>
              <a:t>You direct the work; certified Workday FIN &amp; HCM consultants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3959352"/>
            <a:ext cx="4486503" cy="42062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D6D6D6"/>
                </a:solidFill>
                <a:latin typeface="Inter"/>
              </a:rPr>
              <a:t>Scale up or down by day, week or sprint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" y="4379976"/>
            <a:ext cx="4486503" cy="42062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D6D6D6"/>
                </a:solidFill>
                <a:latin typeface="Inter"/>
              </a:rPr>
              <a:t>Onshore (AU), offshore (India) or blended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" y="4800600"/>
            <a:ext cx="4486503" cy="42062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D6D6D6"/>
                </a:solidFill>
                <a:latin typeface="Inter"/>
              </a:rPr>
              <a:t>Time-and-materials or a block of hours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78727" y="2331720"/>
            <a:ext cx="5035143" cy="3291840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3047" y="2569463"/>
            <a:ext cx="4532223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en-AU" spc="150" cap="all">
                <a:solidFill>
                  <a:srgbClr val="EA493F"/>
                </a:solidFill>
                <a:latin typeface="Inter"/>
              </a:rPr>
              <a:t>MANAGED SERVICES (AMS)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047" y="2935224"/>
            <a:ext cx="4532223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en-AU" spc="-14">
                <a:solidFill>
                  <a:srgbClr val="FFFFFF"/>
                </a:solidFill>
                <a:latin typeface="Inter"/>
              </a:rPr>
              <a:t>We own the outcome, end to 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047" y="3538728"/>
            <a:ext cx="4486503" cy="42062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D6D6D6"/>
                </a:solidFill>
                <a:latin typeface="Inter"/>
              </a:rPr>
              <a:t>We own incident → release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047" y="3959352"/>
            <a:ext cx="4486503" cy="42062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D6D6D6"/>
                </a:solidFill>
                <a:latin typeface="Inter"/>
              </a:rPr>
              <a:t>SLA-backed and governed, 24×7 P1/P2 on-call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047" y="4379976"/>
            <a:ext cx="4486503" cy="42062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D6D6D6"/>
                </a:solidFill>
                <a:latin typeface="Inter"/>
              </a:rPr>
              <a:t>Continuous improvement &amp; bi-annual releases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800600"/>
            <a:ext cx="4486503" cy="42062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D6D6D6"/>
                </a:solidFill>
                <a:latin typeface="Inter"/>
              </a:rPr>
              <a:t>Fixed monthly hours, carry-forward flexibility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5806440"/>
            <a:ext cx="10436047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0">
                <a:solidFill>
                  <a:srgbClr val="AEAEAE"/>
                </a:solidFill>
                <a:latin typeface="Inter"/>
              </a:rPr>
              <a:t>Many clients start with augmentation and move into AMS as their environment stabilises.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54" cap="all">
                <a:solidFill>
                  <a:srgbClr val="EA493F"/>
                </a:solidFill>
                <a:latin typeface="Inter"/>
              </a:rPr>
              <a:t>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436047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lang="en-AU" spc="-72">
                <a:solidFill>
                  <a:srgbClr val="111111"/>
                </a:solidFill>
                <a:latin typeface="Inter"/>
              </a:rPr>
              <a:t>Full-stack Workday, </a:t>
            </a:r>
            <a:r>
              <a:rPr sz="3300" b="1" i="0" lang="en-AU" spc="-72">
                <a:solidFill>
                  <a:srgbClr val="EA493F"/>
                </a:solidFill>
                <a:latin typeface="Inter"/>
              </a:rPr>
              <a:t>FIN &amp; HCM.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73736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n-AU" spc="0">
                <a:solidFill>
                  <a:srgbClr val="323232"/>
                </a:solidFill>
                <a:latin typeface="Inter"/>
              </a:rPr>
              <a:t>Full-stack functional and integration expertise across both suites.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468880"/>
            <a:ext cx="4943703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en-AU" spc="-40">
                <a:solidFill>
                  <a:srgbClr val="111111"/>
                </a:solidFill>
                <a:latin typeface="Inter"/>
              </a:rPr>
              <a:t>HCM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3063240"/>
            <a:ext cx="2471851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Core HCM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3410712"/>
            <a:ext cx="2471851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Absence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758184"/>
            <a:ext cx="2471851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Time 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4105656"/>
            <a:ext cx="2471851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Recruiting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4453128"/>
            <a:ext cx="2471851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Talent &amp;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4800600"/>
            <a:ext cx="2471851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Compensation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49675" y="3063240"/>
            <a:ext cx="2471851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Benefits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9675" y="3410712"/>
            <a:ext cx="2471851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Payroll (AU / global)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9675" y="3758184"/>
            <a:ext cx="2471851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49675" y="4105656"/>
            <a:ext cx="2471851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Security &amp; BP config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49675" y="4453128"/>
            <a:ext cx="2471851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Integrations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49675" y="4800600"/>
            <a:ext cx="2471851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Reporting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5847" y="2468880"/>
            <a:ext cx="0" cy="320040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6743" y="2468880"/>
            <a:ext cx="4632807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en-AU" spc="-40">
                <a:solidFill>
                  <a:srgbClr val="111111"/>
                </a:solidFill>
                <a:latin typeface="Inter"/>
              </a:rPr>
              <a:t>FIN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6743" y="3063240"/>
            <a:ext cx="2316403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Financial Accounting (GL)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6743" y="3410712"/>
            <a:ext cx="2316403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Accounting Center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6743" y="3758184"/>
            <a:ext cx="2316403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AP / Suppliers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6743" y="4105656"/>
            <a:ext cx="2316403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AR / Customers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6743" y="4453128"/>
            <a:ext cx="2316403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Procurement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6743" y="4800600"/>
            <a:ext cx="2316403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Expenses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23147" y="3063240"/>
            <a:ext cx="2316403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Banking &amp; Settlement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3147" y="3410712"/>
            <a:ext cx="2316403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Business Assets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23147" y="3758184"/>
            <a:ext cx="2316403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Financial Reporting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23147" y="4105656"/>
            <a:ext cx="2316403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Prism Analytics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23147" y="4453128"/>
            <a:ext cx="2316403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Security &amp; BP config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23147" y="4800600"/>
            <a:ext cx="2316403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Integrations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" y="6035040"/>
            <a:ext cx="10436047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en-AU" spc="25">
                <a:solidFill>
                  <a:srgbClr val="EA493F"/>
                </a:solidFill>
                <a:latin typeface="Inter"/>
              </a:rPr>
              <a:t>Adaptive Planning — all modules.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54" cap="all">
                <a:solidFill>
                  <a:srgbClr val="EA493F"/>
                </a:solidFill>
                <a:latin typeface="Inter"/>
              </a:rPr>
              <a:t>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436047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lang="en-AU" spc="-72">
                <a:solidFill>
                  <a:srgbClr val="111111"/>
                </a:solidFill>
                <a:latin typeface="Inter"/>
              </a:rPr>
              <a:t>AMS operating </a:t>
            </a:r>
            <a:r>
              <a:rPr sz="3300" b="1" i="0" lang="en-AU" spc="-72">
                <a:solidFill>
                  <a:srgbClr val="EA493F"/>
                </a:solidFill>
                <a:latin typeface="Inter"/>
              </a:rPr>
              <a:t>framework.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73736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n-AU" spc="0">
                <a:solidFill>
                  <a:srgbClr val="323232"/>
                </a:solidFill>
                <a:latin typeface="Inter"/>
              </a:rPr>
              <a:t>Driving operational excellence through governance, integration and continuous improvement.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" y="2286000"/>
            <a:ext cx="10436047" cy="310896"/>
          </a:xfrm>
          <a:prstGeom prst="rect">
            <a:avLst/>
          </a:prstGeom>
          <a:solidFill>
            <a:srgbClr val="EA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2286000"/>
            <a:ext cx="9978847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en-AU" spc="115" cap="all">
                <a:solidFill>
                  <a:srgbClr val="FFFFFF"/>
                </a:solidFill>
                <a:latin typeface="Inter"/>
              </a:rPr>
              <a:t>CONTINUOUS IMPROVEMENT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877824" y="2633472"/>
            <a:ext cx="10436047" cy="42062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33472"/>
            <a:ext cx="9978847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en-AU" spc="115" cap="all">
                <a:solidFill>
                  <a:srgbClr val="FFFFFF"/>
                </a:solidFill>
                <a:latin typeface="Inter"/>
              </a:rPr>
              <a:t>GOVERNANCE</a:t>
            </a:r>
            <a:r>
              <a:rPr sz="1000" b="0" i="0" lang="en-AU" spc="0">
                <a:solidFill>
                  <a:srgbClr val="FFFFFF"/>
                </a:solidFill>
                <a:latin typeface="Inter"/>
              </a:rPr>
              <a:t>    Thought leadership · Product &amp; vendor relationship · Technical-debt reduction · WD bi-annual release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7824" y="3200400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3200400"/>
            <a:ext cx="2366695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-4">
                <a:solidFill>
                  <a:srgbClr val="111111"/>
                </a:solidFill>
                <a:latin typeface="Inter"/>
              </a:rPr>
              <a:t>Incident management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8839" y="3200400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1991" y="3200400"/>
            <a:ext cx="2366695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-4">
                <a:solidFill>
                  <a:srgbClr val="111111"/>
                </a:solidFill>
                <a:latin typeface="Inter"/>
              </a:rPr>
              <a:t>Problem management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9855" y="3200400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3007" y="3200400"/>
            <a:ext cx="2366695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-4">
                <a:solidFill>
                  <a:srgbClr val="111111"/>
                </a:solidFill>
                <a:latin typeface="Inter"/>
              </a:rPr>
              <a:t>Change management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00871" y="3200400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74023" y="3200400"/>
            <a:ext cx="2366695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-4">
                <a:solidFill>
                  <a:srgbClr val="111111"/>
                </a:solidFill>
                <a:latin typeface="Inter"/>
              </a:rPr>
              <a:t>Release management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4" y="3785615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3785615"/>
            <a:ext cx="2366695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-4">
                <a:solidFill>
                  <a:srgbClr val="111111"/>
                </a:solidFill>
                <a:latin typeface="Inter"/>
              </a:rPr>
              <a:t>Service requests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18839" y="3785615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91991" y="3785615"/>
            <a:ext cx="2366695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-4">
                <a:solidFill>
                  <a:srgbClr val="111111"/>
                </a:solidFill>
                <a:latin typeface="Inter"/>
              </a:rPr>
              <a:t>Change Advisory Board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59855" y="3785615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3007" y="3785615"/>
            <a:ext cx="2366695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-4">
                <a:solidFill>
                  <a:srgbClr val="111111"/>
                </a:solidFill>
                <a:latin typeface="Inter"/>
              </a:rPr>
              <a:t>SLAs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00871" y="3785615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74023" y="3785615"/>
            <a:ext cx="2366695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-4">
                <a:solidFill>
                  <a:srgbClr val="111111"/>
                </a:solidFill>
                <a:latin typeface="Inter"/>
              </a:rPr>
              <a:t>Metrics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7824" y="4370832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" y="4370832"/>
            <a:ext cx="2366695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-4">
                <a:solidFill>
                  <a:srgbClr val="111111"/>
                </a:solidFill>
                <a:latin typeface="Inter"/>
              </a:rPr>
              <a:t>Integration health checks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18839" y="4370832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91991" y="4370832"/>
            <a:ext cx="2366695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-4">
                <a:solidFill>
                  <a:srgbClr val="111111"/>
                </a:solidFill>
                <a:latin typeface="Inter"/>
              </a:rPr>
              <a:t>Backlog management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9855" y="4370832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33007" y="4370832"/>
            <a:ext cx="2366695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-4">
                <a:solidFill>
                  <a:srgbClr val="111111"/>
                </a:solidFill>
                <a:latin typeface="Inter"/>
              </a:rPr>
              <a:t>Prioritisation forum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00871" y="4370832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74023" y="4370832"/>
            <a:ext cx="2366695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-4">
                <a:solidFill>
                  <a:srgbClr val="111111"/>
                </a:solidFill>
                <a:latin typeface="Inter"/>
              </a:rPr>
              <a:t>Capacity management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7824" y="4956048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6" y="4956048"/>
            <a:ext cx="2366695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-4">
                <a:solidFill>
                  <a:srgbClr val="111111"/>
                </a:solidFill>
                <a:latin typeface="Inter"/>
              </a:rPr>
              <a:t>Enhancements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18839" y="4956048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91991" y="4956048"/>
            <a:ext cx="2366695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-4">
                <a:solidFill>
                  <a:srgbClr val="111111"/>
                </a:solidFill>
                <a:latin typeface="Inter"/>
              </a:rPr>
              <a:t>Knowledge base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59855" y="4956048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33007" y="4956048"/>
            <a:ext cx="2366695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-4">
                <a:solidFill>
                  <a:srgbClr val="111111"/>
                </a:solidFill>
                <a:latin typeface="Inter"/>
              </a:rPr>
              <a:t>Cyber security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00871" y="4956048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74023" y="4956048"/>
            <a:ext cx="2366695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-4">
                <a:solidFill>
                  <a:srgbClr val="111111"/>
                </a:solidFill>
                <a:latin typeface="Inter"/>
              </a:rPr>
              <a:t>BP &amp; security config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7824" y="5541264"/>
            <a:ext cx="10436047" cy="384048"/>
          </a:xfrm>
          <a:prstGeom prst="rect">
            <a:avLst/>
          </a:prstGeom>
          <a:solidFill>
            <a:srgbClr val="EA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06424" y="5541264"/>
            <a:ext cx="9978847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en-AU" spc="115" cap="all">
                <a:solidFill>
                  <a:srgbClr val="FFFFFF"/>
                </a:solidFill>
                <a:latin typeface="Inter"/>
              </a:rPr>
              <a:t>SERVICE INTEGRATION · ITSM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" y="6016752"/>
            <a:ext cx="3387242" cy="365760"/>
          </a:xfrm>
          <a:prstGeom prst="rect">
            <a:avLst/>
          </a:prstGeom>
          <a:solidFill>
            <a:srgbClr val="F2F3EE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976" y="6016752"/>
            <a:ext cx="3240938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en-AU" spc="-5">
                <a:solidFill>
                  <a:srgbClr val="EA493F"/>
                </a:solidFill>
                <a:latin typeface="Inter"/>
              </a:rPr>
              <a:t>OPERATIONS AS A PRIORITY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02226" y="6016752"/>
            <a:ext cx="3387242" cy="365760"/>
          </a:xfrm>
          <a:prstGeom prst="rect">
            <a:avLst/>
          </a:prstGeom>
          <a:solidFill>
            <a:srgbClr val="F2F3EE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75378" y="6016752"/>
            <a:ext cx="3240938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en-AU" spc="-5">
                <a:solidFill>
                  <a:srgbClr val="EA493F"/>
                </a:solidFill>
                <a:latin typeface="Inter"/>
              </a:rPr>
              <a:t>BUSINESS VALUE REALISATION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26628" y="6016752"/>
            <a:ext cx="3387242" cy="365760"/>
          </a:xfrm>
          <a:prstGeom prst="rect">
            <a:avLst/>
          </a:prstGeom>
          <a:solidFill>
            <a:srgbClr val="F2F3EE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99780" y="6016752"/>
            <a:ext cx="3240938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en-AU" spc="-5">
                <a:solidFill>
                  <a:srgbClr val="EA493F"/>
                </a:solidFill>
                <a:latin typeface="Inter"/>
              </a:rPr>
              <a:t>OPERATIONAL EXCELLENCE · ITIL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54" cap="all">
                <a:solidFill>
                  <a:srgbClr val="EA493F"/>
                </a:solidFill>
                <a:latin typeface="Inter"/>
              </a:rPr>
              <a:t>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436047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lang="en-AU" spc="-72">
                <a:solidFill>
                  <a:srgbClr val="111111"/>
                </a:solidFill>
                <a:latin typeface="Inter"/>
              </a:rPr>
              <a:t>Coverage model — </a:t>
            </a:r>
            <a:r>
              <a:rPr sz="3300" b="1" i="0" lang="en-AU" spc="-72">
                <a:solidFill>
                  <a:srgbClr val="EA493F"/>
                </a:solidFill>
                <a:latin typeface="Inter"/>
              </a:rPr>
              <a:t>always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73736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n-AU" spc="0">
                <a:solidFill>
                  <a:srgbClr val="323232"/>
                </a:solidFill>
                <a:latin typeface="Inter"/>
              </a:rPr>
              <a:t>Seamless onshore–offshore collaboration for continuous support.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441448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8:30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3255" y="2441448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9:30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68687" y="2441448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10:30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14119" y="2441448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11:30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59551" y="2441448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12:30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4983" y="2441448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13:30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50415" y="2441448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14:30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5847" y="2441448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15:30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41279" y="2441448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16:30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6711" y="2441448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17:30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2143" y="2441448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18:30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7575" y="2441448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19:30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23007" y="2441448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20:30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68439" y="2441448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21:30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7824" y="2697480"/>
            <a:ext cx="0" cy="137160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623255" y="2697480"/>
            <a:ext cx="0" cy="137160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368687" y="2697480"/>
            <a:ext cx="0" cy="137160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114119" y="2697480"/>
            <a:ext cx="0" cy="137160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859551" y="2697480"/>
            <a:ext cx="0" cy="137160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604983" y="2697480"/>
            <a:ext cx="0" cy="137160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50415" y="2697480"/>
            <a:ext cx="0" cy="137160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5847" y="2697480"/>
            <a:ext cx="0" cy="137160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841279" y="2697480"/>
            <a:ext cx="0" cy="137160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586711" y="2697480"/>
            <a:ext cx="0" cy="137160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332143" y="2697480"/>
            <a:ext cx="0" cy="137160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077575" y="2697480"/>
            <a:ext cx="0" cy="137160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823007" y="2697480"/>
            <a:ext cx="0" cy="137160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568439" y="2697480"/>
            <a:ext cx="0" cy="137160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1313871" y="2697480"/>
            <a:ext cx="0" cy="137160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77824" y="2697480"/>
            <a:ext cx="10436047" cy="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77824" y="4069080"/>
            <a:ext cx="10436047" cy="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3859551" y="2697480"/>
            <a:ext cx="4472591" cy="1371600"/>
          </a:xfrm>
          <a:prstGeom prst="rect">
            <a:avLst/>
          </a:prstGeom>
          <a:solidFill>
            <a:srgbClr val="FB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4400" y="2862072"/>
            <a:ext cx="7381167" cy="420624"/>
          </a:xfrm>
          <a:prstGeom prst="rect">
            <a:avLst/>
          </a:prstGeom>
          <a:solidFill>
            <a:srgbClr val="EA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7552" y="2898648"/>
            <a:ext cx="457200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22">
                <a:solidFill>
                  <a:srgbClr val="FFFFFF"/>
                </a:solidFill>
                <a:latin typeface="Inter"/>
              </a:rPr>
              <a:t>ONSHORE · Australia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96127" y="3483864"/>
            <a:ext cx="7381167" cy="42062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69279" y="3520440"/>
            <a:ext cx="457200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22">
                <a:solidFill>
                  <a:srgbClr val="FFFFFF"/>
                </a:solidFill>
                <a:latin typeface="Inter"/>
              </a:rPr>
              <a:t>OFFSHORE · India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7824" y="4105656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4:00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23255" y="4105656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5:00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68687" y="4105656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6:00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14119" y="4105656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7:00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59551" y="4105656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8:00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04983" y="4105656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9:00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50415" y="4105656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10:00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95847" y="4105656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11:00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41279" y="4105656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12:00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86711" y="4105656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13:00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32143" y="4105656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14:00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77575" y="4105656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15:00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23007" y="4105656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16:00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68439" y="4105656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17:00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7824" y="4325112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lang="en-AU" spc="51" cap="all">
                <a:solidFill>
                  <a:srgbClr val="EA493F"/>
                </a:solidFill>
                <a:latin typeface="Inter"/>
              </a:rPr>
              <a:t>← AEST   ·   IST →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7824" y="4709160"/>
            <a:ext cx="484632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Governance &amp; stakeholder engagement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7824" y="5038344"/>
            <a:ext cx="484632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Resolution of P1 / P2 incidents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7824" y="5367528"/>
            <a:ext cx="484632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Start-of-day health check &amp; triage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43600" y="4709160"/>
            <a:ext cx="365760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Day-to-day incident management &amp; support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43600" y="5038344"/>
            <a:ext cx="365760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Routine incidents &amp; service requests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43600" y="5367528"/>
            <a:ext cx="365760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Monitoring &amp; backlog resolution per SLAs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77824" y="5943600"/>
            <a:ext cx="10436047" cy="420624"/>
          </a:xfrm>
          <a:prstGeom prst="rect">
            <a:avLst/>
          </a:prstGeom>
          <a:solidFill>
            <a:srgbClr val="EA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06424" y="6007608"/>
            <a:ext cx="9978847" cy="3108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31" cap="all">
                <a:solidFill>
                  <a:srgbClr val="FFFFFF"/>
                </a:solidFill>
                <a:latin typeface="Inter"/>
              </a:rPr>
              <a:t>24×7 P1/P2 on-call   </a:t>
            </a:r>
            <a:r>
              <a:rPr sz="1100" b="0" i="0" lang="en-AU" spc="0">
                <a:solidFill>
                  <a:srgbClr val="FFFFFF"/>
                </a:solidFill>
                <a:latin typeface="Inter"/>
              </a:rPr>
              <a:t>always-on safety net for P1 &amp; P2 incidents.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54" cap="all">
                <a:solidFill>
                  <a:srgbClr val="EA493F"/>
                </a:solidFill>
                <a:latin typeface="Inter"/>
              </a:rPr>
              <a:t>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436047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lang="en-AU" spc="-72">
                <a:solidFill>
                  <a:srgbClr val="111111"/>
                </a:solidFill>
                <a:latin typeface="Inter"/>
              </a:rPr>
              <a:t>Governance — </a:t>
            </a:r>
            <a:r>
              <a:rPr sz="3300" b="1" i="0" lang="en-AU" spc="-72">
                <a:solidFill>
                  <a:srgbClr val="EA493F"/>
                </a:solidFill>
                <a:latin typeface="Inter"/>
              </a:rPr>
              <a:t>aligned at every tier.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1945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lang="en-AU" spc="108" cap="all">
                <a:solidFill>
                  <a:srgbClr val="AEAEAE"/>
                </a:solidFill>
                <a:latin typeface="Inter"/>
              </a:rPr>
              <a:t>CUSTOMER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21945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lang="en-AU" spc="108" cap="all">
                <a:solidFill>
                  <a:srgbClr val="AEAEAE"/>
                </a:solidFill>
                <a:latin typeface="Inter"/>
              </a:rPr>
              <a:t>ACTIVITIES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21945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lang="en-AU" spc="108" cap="all">
                <a:solidFill>
                  <a:srgbClr val="AEAEAE"/>
                </a:solidFill>
                <a:latin typeface="Inter"/>
              </a:rPr>
              <a:t>MIVADA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21945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lang="en-AU" spc="108" cap="all">
                <a:solidFill>
                  <a:srgbClr val="AEAEAE"/>
                </a:solidFill>
                <a:latin typeface="Inter"/>
              </a:rPr>
              <a:t>CADENCE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10047" y="2651760"/>
            <a:ext cx="1371600" cy="841247"/>
          </a:xfrm>
          <a:prstGeom prst="rect">
            <a:avLst/>
          </a:prstGeom>
          <a:solidFill>
            <a:srgbClr val="EA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10047" y="2651760"/>
            <a:ext cx="1371600" cy="841247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96" cap="all">
                <a:solidFill>
                  <a:srgbClr val="FFFFFF"/>
                </a:solidFill>
                <a:latin typeface="Inter"/>
              </a:rPr>
              <a:t>STRATEGIC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587751"/>
            <a:ext cx="1828800" cy="9875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n-AU" spc="0">
                <a:solidFill>
                  <a:srgbClr val="323232"/>
                </a:solidFill>
                <a:latin typeface="Inter"/>
              </a:rPr>
              <a:t>Executive Sponsor · CIO / IT Exec · Head of HR / Payroll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587751"/>
            <a:ext cx="1783080" cy="9875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n-AU" spc="0">
                <a:solidFill>
                  <a:srgbClr val="323232"/>
                </a:solidFill>
                <a:latin typeface="Inter"/>
              </a:rPr>
              <a:t>Strategic oversight · innovation · roadmap &amp; investment · relationship health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587751"/>
            <a:ext cx="1828800" cy="9875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0">
                <a:solidFill>
                  <a:srgbClr val="111111"/>
                </a:solidFill>
                <a:latin typeface="Inter"/>
              </a:rPr>
              <a:t>CEO · Client Partner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2688336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76" cap="all">
                <a:solidFill>
                  <a:srgbClr val="EA493F"/>
                </a:solidFill>
                <a:latin typeface="Inter"/>
              </a:rPr>
              <a:t>QUARTERLY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7824" y="2542032"/>
            <a:ext cx="10436047" cy="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044287" y="3730752"/>
            <a:ext cx="2103120" cy="841247"/>
          </a:xfrm>
          <a:prstGeom prst="rect">
            <a:avLst/>
          </a:prstGeom>
          <a:solidFill>
            <a:srgbClr val="D83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4287" y="3730752"/>
            <a:ext cx="2103120" cy="841247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96" cap="all">
                <a:solidFill>
                  <a:srgbClr val="FFFFFF"/>
                </a:solidFill>
                <a:latin typeface="Inter"/>
              </a:rPr>
              <a:t>TACTICAL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3666744"/>
            <a:ext cx="1828800" cy="9875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n-AU" spc="0">
                <a:solidFill>
                  <a:srgbClr val="323232"/>
                </a:solidFill>
                <a:latin typeface="Inter"/>
              </a:rPr>
              <a:t>Product Owner · IT Service Owner – AMS · Risk &amp; Compliance Lead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3666744"/>
            <a:ext cx="1783080" cy="9875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n-AU" spc="0">
                <a:solidFill>
                  <a:srgbClr val="323232"/>
                </a:solidFill>
                <a:latin typeface="Inter"/>
              </a:rPr>
              <a:t>Service &amp; SLA review · risk &amp; compliance · release planning · improvement backlog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3666744"/>
            <a:ext cx="1828800" cy="9875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0">
                <a:solidFill>
                  <a:srgbClr val="111111"/>
                </a:solidFill>
                <a:latin typeface="Inter"/>
              </a:rPr>
              <a:t>Client Partner · Service Delivery Lead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376732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76" cap="all">
                <a:solidFill>
                  <a:srgbClr val="EA493F"/>
                </a:solidFill>
                <a:latin typeface="Inter"/>
              </a:rPr>
              <a:t>MONTHLY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7824" y="3621024"/>
            <a:ext cx="10436047" cy="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678527" y="4809744"/>
            <a:ext cx="2834640" cy="841247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78527" y="4809744"/>
            <a:ext cx="2834640" cy="841247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96" cap="all">
                <a:solidFill>
                  <a:srgbClr val="FFFFFF"/>
                </a:solidFill>
                <a:latin typeface="Inter"/>
              </a:rPr>
              <a:t>OPERATIONAL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4745736"/>
            <a:ext cx="1828800" cy="9875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n-AU" spc="0">
                <a:solidFill>
                  <a:srgbClr val="323232"/>
                </a:solidFill>
                <a:latin typeface="Inter"/>
              </a:rPr>
              <a:t>AMS team · Change &amp; Release Coordinators · Super Users / SMEs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4745736"/>
            <a:ext cx="1783080" cy="9875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n-AU" spc="0">
                <a:solidFill>
                  <a:srgbClr val="323232"/>
                </a:solidFill>
                <a:latin typeface="Inter"/>
              </a:rPr>
              <a:t>Daily triage &amp; resolution · change &amp; release execution · UX · performance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4745736"/>
            <a:ext cx="1828800" cy="9875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0">
                <a:solidFill>
                  <a:srgbClr val="111111"/>
                </a:solidFill>
                <a:latin typeface="Inter"/>
              </a:rPr>
              <a:t>Service Delivery Lead · Consultants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48463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76" cap="all">
                <a:solidFill>
                  <a:srgbClr val="EA493F"/>
                </a:solidFill>
                <a:latin typeface="Inter"/>
              </a:rPr>
              <a:t>WEEKLY / DAILY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77824" y="4700016"/>
            <a:ext cx="10436047" cy="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77824" y="5779008"/>
            <a:ext cx="10436047" cy="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77824" y="5888736"/>
            <a:ext cx="10436047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1">
                <a:solidFill>
                  <a:srgbClr val="EA493F"/>
                </a:solidFill>
                <a:latin typeface="Inter"/>
              </a:rPr>
              <a:t>Principles: transparent reporting · escalation by exception · decisions at the right tier · improvement built 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54" cap="all">
                <a:solidFill>
                  <a:srgbClr val="EA493F"/>
                </a:solidFill>
                <a:latin typeface="Inter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436047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lang="en-AU" spc="-72">
                <a:solidFill>
                  <a:srgbClr val="111111"/>
                </a:solidFill>
                <a:latin typeface="Inter"/>
              </a:rPr>
              <a:t>One integrated team — </a:t>
            </a:r>
            <a:r>
              <a:rPr sz="3300" b="1" i="0" lang="en-AU" spc="-72">
                <a:solidFill>
                  <a:srgbClr val="EA493F"/>
                </a:solidFill>
                <a:latin typeface="Inter"/>
              </a:rPr>
              <a:t>onshore + offshore.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77824" y="2286000"/>
            <a:ext cx="4989423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" y="2468880"/>
            <a:ext cx="4532223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Client Partner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2852928"/>
            <a:ext cx="4532223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n-AU" spc="0">
                <a:solidFill>
                  <a:srgbClr val="323232"/>
                </a:solidFill>
                <a:latin typeface="Inter"/>
              </a:rPr>
              <a:t>Strategic relationship &amp; sponsorship</a:t>
            </a:r>
          </a:p>
        </p:txBody>
      </p:sp>
      <p:sp>
        <p:nvSpPr>
          <p:cNvPr id="8" name="Rectangle 7"/>
          <p:cNvSpPr/>
          <p:nvPr/>
        </p:nvSpPr>
        <p:spPr>
          <a:xfrm>
            <a:off x="6324447" y="2286000"/>
            <a:ext cx="4989423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0479" y="2468880"/>
            <a:ext cx="4532223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Service Delivery Lead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0479" y="2852928"/>
            <a:ext cx="4532223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n-AU" spc="0">
                <a:solidFill>
                  <a:srgbClr val="323232"/>
                </a:solidFill>
                <a:latin typeface="Inter"/>
              </a:rPr>
              <a:t>Day-to-day AMS operations &amp; SLAs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72535" y="3246120"/>
            <a:ext cx="0" cy="320040"/>
          </a:xfrm>
          <a:prstGeom prst="bentConnector3">
            <a:avLst/>
          </a:prstGeom>
          <a:ln w="12700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819159" y="3246120"/>
            <a:ext cx="0" cy="320040"/>
          </a:xfrm>
          <a:prstGeom prst="bentConnector3">
            <a:avLst/>
          </a:prstGeom>
          <a:ln w="12700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372535" y="3566160"/>
            <a:ext cx="5446624" cy="0"/>
          </a:xfrm>
          <a:prstGeom prst="bentConnector3">
            <a:avLst/>
          </a:prstGeom>
          <a:ln w="12700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95847" y="3566160"/>
            <a:ext cx="0" cy="274320"/>
          </a:xfrm>
          <a:prstGeom prst="bentConnector3">
            <a:avLst/>
          </a:prstGeom>
          <a:ln w="12700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877824" y="3840480"/>
            <a:ext cx="4989423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3856" y="4023360"/>
            <a:ext cx="4532223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Onshore · Australia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" y="4407408"/>
            <a:ext cx="4532223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n-AU" spc="0">
                <a:solidFill>
                  <a:srgbClr val="323232"/>
                </a:solidFill>
                <a:latin typeface="Inter"/>
              </a:rPr>
              <a:t>Functional / Integration Consultants — HCM · Financials · Integrations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24447" y="3840480"/>
            <a:ext cx="4989423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0479" y="4023360"/>
            <a:ext cx="4532223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Offshore · India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0479" y="4407408"/>
            <a:ext cx="4532223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n-AU" spc="0">
                <a:solidFill>
                  <a:srgbClr val="323232"/>
                </a:solidFill>
                <a:latin typeface="Inter"/>
              </a:rPr>
              <a:t>Functional / Integration Consultants — HCM · Financials · Integrations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" y="5166360"/>
            <a:ext cx="4989423" cy="914400"/>
          </a:xfrm>
          <a:prstGeom prst="rect">
            <a:avLst/>
          </a:prstGeom>
          <a:solidFill>
            <a:srgbClr val="EA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3856" y="5285232"/>
            <a:ext cx="4532223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10" cap="all">
                <a:solidFill>
                  <a:srgbClr val="FFFFFF"/>
                </a:solidFill>
                <a:latin typeface="Inter"/>
              </a:rPr>
              <a:t>THOUGHT LEADERSHIP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" y="5614416"/>
            <a:ext cx="4532223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FFFFFF"/>
                </a:solidFill>
                <a:latin typeface="Inter"/>
              </a:rPr>
              <a:t>Strategic advisory · direct CEO access for escalation &amp; sponsorship.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447" y="5166360"/>
            <a:ext cx="4989423" cy="9144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0479" y="5285232"/>
            <a:ext cx="4532223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10" cap="all">
                <a:solidFill>
                  <a:srgbClr val="EA493F"/>
                </a:solidFill>
                <a:latin typeface="Inter"/>
              </a:rPr>
              <a:t>DEDICATED WORKDAY PRACTICE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0479" y="5614416"/>
            <a:ext cx="4532223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D6D6D6"/>
                </a:solidFill>
                <a:latin typeface="Inter"/>
              </a:rPr>
              <a:t>Innovation — automation, new features &amp; process optimisation.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54" cap="all">
                <a:solidFill>
                  <a:srgbClr val="EA493F"/>
                </a:solidFill>
                <a:latin typeface="Inter"/>
              </a:rPr>
              <a:t>TRUSTED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436047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lang="en-AU" spc="-72">
                <a:solidFill>
                  <a:srgbClr val="111111"/>
                </a:solidFill>
                <a:latin typeface="Inter"/>
              </a:rPr>
              <a:t>In good </a:t>
            </a:r>
            <a:r>
              <a:rPr sz="3300" b="1" i="0" lang="en-AU" spc="-72">
                <a:solidFill>
                  <a:srgbClr val="EA493F"/>
                </a:solidFill>
                <a:latin typeface="Inter"/>
              </a:rPr>
              <a:t>company.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874519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n-AU" spc="0">
                <a:solidFill>
                  <a:srgbClr val="323232"/>
                </a:solidFill>
                <a:latin typeface="Inter"/>
              </a:rPr>
              <a:t>A decade of work with some of Australia's most demanding operations.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697480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Qantas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77824" y="3154680"/>
            <a:ext cx="2288971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486835" y="2697480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Jetstar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86835" y="3154680"/>
            <a:ext cx="2288972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095847" y="2697480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Guzman y Gomez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95847" y="3154680"/>
            <a:ext cx="2288972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04859" y="2697480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Western Sydney Airport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04859" y="3154680"/>
            <a:ext cx="2288972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7824" y="3264408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Canva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7824" y="3721608"/>
            <a:ext cx="2288971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486835" y="3264408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NAB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486835" y="3721608"/>
            <a:ext cx="2288972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095847" y="3264408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Rio Tinto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5847" y="3721608"/>
            <a:ext cx="2288972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4859" y="3264408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ResMed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04859" y="3721608"/>
            <a:ext cx="2288972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77824" y="3831336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HCF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7824" y="4288536"/>
            <a:ext cx="2288971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486835" y="3831336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IAG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486835" y="4288536"/>
            <a:ext cx="2288972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095847" y="3831336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University of Sydney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5847" y="4288536"/>
            <a:ext cx="2288972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704859" y="3831336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Macquarie University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704859" y="4288536"/>
            <a:ext cx="2288972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77824" y="4398264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Nine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77824" y="4855464"/>
            <a:ext cx="2288971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486835" y="4398264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Seven West Media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486835" y="4855464"/>
            <a:ext cx="2288972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095847" y="4398264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Amart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95847" y="4855464"/>
            <a:ext cx="2288972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704859" y="4398264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dnata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704859" y="4855464"/>
            <a:ext cx="2288972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77824" y="4965192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Queensland Airports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77824" y="5422392"/>
            <a:ext cx="2288971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486835" y="4965192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Kennards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486835" y="5422392"/>
            <a:ext cx="2288972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095847" y="4965192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Anglicare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095847" y="5422392"/>
            <a:ext cx="2288972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704859" y="4965192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ProPharma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704859" y="5422392"/>
            <a:ext cx="2288972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54" cap="all">
                <a:solidFill>
                  <a:srgbClr val="EA493F"/>
                </a:solidFill>
                <a:latin typeface="Inter"/>
              </a:rPr>
              <a:t>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436047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lang="en-AU" spc="-72">
                <a:solidFill>
                  <a:srgbClr val="111111"/>
                </a:solidFill>
                <a:latin typeface="Inter"/>
              </a:rPr>
              <a:t>Proven Workday </a:t>
            </a:r>
            <a:r>
              <a:rPr sz="3300" b="1" i="0" lang="en-AU" spc="-72">
                <a:solidFill>
                  <a:srgbClr val="EA493F"/>
                </a:solidFill>
                <a:latin typeface="Inter"/>
              </a:rPr>
              <a:t>outcomes.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82880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n-AU" spc="0">
                <a:solidFill>
                  <a:srgbClr val="323232"/>
                </a:solidFill>
                <a:latin typeface="Inter"/>
              </a:rPr>
              <a:t>Long-term partnerships with some of Australia's most demanding operations.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651760"/>
            <a:ext cx="3250082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72" cap="all">
                <a:solidFill>
                  <a:srgbClr val="EA493F"/>
                </a:solidFill>
                <a:latin typeface="Inter"/>
              </a:rPr>
              <a:t>QANTAS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3154680"/>
            <a:ext cx="3222650" cy="3108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n-AU" spc="0">
                <a:solidFill>
                  <a:srgbClr val="323232"/>
                </a:solidFill>
                <a:latin typeface="Inter"/>
              </a:rPr>
              <a:t>A partner since 2014 — from Workday support into a strategic partner across HR, Payroll, Data and Automation.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356506" y="2697480"/>
            <a:ext cx="0" cy="347472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649114" y="2651760"/>
            <a:ext cx="2957474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72" cap="all">
                <a:solidFill>
                  <a:srgbClr val="EA493F"/>
                </a:solidFill>
                <a:latin typeface="Inter"/>
              </a:rPr>
              <a:t>GUZMAN Y GOMEZ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9114" y="3154680"/>
            <a:ext cx="2930042" cy="3108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n-AU" spc="0">
                <a:solidFill>
                  <a:srgbClr val="323232"/>
                </a:solidFill>
                <a:latin typeface="Inter"/>
              </a:rPr>
              <a:t>Stabilised and optimised Workday post–go-live; onboarded 150+ franchisees with new reporting and security.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35188" y="2697480"/>
            <a:ext cx="0" cy="347472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27796" y="2651760"/>
            <a:ext cx="2957474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72" cap="all">
                <a:solidFill>
                  <a:srgbClr val="EA493F"/>
                </a:solidFill>
                <a:latin typeface="Inter"/>
              </a:rPr>
              <a:t>WESTERN SYDNEY INTL AIRPORT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7796" y="3154680"/>
            <a:ext cx="2930042" cy="3108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n-AU" spc="0">
                <a:solidFill>
                  <a:srgbClr val="323232"/>
                </a:solidFill>
                <a:latin typeface="Inter"/>
              </a:rPr>
              <a:t>Assumed full AMS ownership, stabilising HR, Payroll, Finance and Procurement.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54" cap="all">
                <a:solidFill>
                  <a:srgbClr val="EA493F"/>
                </a:solidFill>
                <a:latin typeface="Inter"/>
              </a:rPr>
              <a:t>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436047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lang="en-AU" spc="-72">
                <a:solidFill>
                  <a:srgbClr val="111111"/>
                </a:solidFill>
                <a:latin typeface="Inter"/>
              </a:rPr>
              <a:t>Proven in </a:t>
            </a:r>
            <a:r>
              <a:rPr sz="3300" b="1" i="0" lang="en-AU" spc="-72">
                <a:solidFill>
                  <a:srgbClr val="EA493F"/>
                </a:solidFill>
                <a:latin typeface="Inter"/>
              </a:rPr>
              <a:t>Workday.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874519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n-AU" spc="0">
                <a:solidFill>
                  <a:srgbClr val="323232"/>
                </a:solidFill>
                <a:latin typeface="Inter"/>
              </a:rPr>
              <a:t>A decade of Workday delivery — consultants average 3+ years on the platform.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77824" y="3127248"/>
            <a:ext cx="10436047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77824" y="3291840"/>
            <a:ext cx="2444419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3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425696"/>
            <a:ext cx="2380411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CERTIFICATIONS / CONSULTANT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86835" y="3337560"/>
            <a:ext cx="0" cy="155448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797731" y="3291840"/>
            <a:ext cx="2133523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2000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7731" y="4425696"/>
            <a:ext cx="206951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WORKDAY INTEGRATIONS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5847" y="3337560"/>
            <a:ext cx="0" cy="155448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6743" y="3291840"/>
            <a:ext cx="2133523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3000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6743" y="4425696"/>
            <a:ext cx="206951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CUSTOM REPORTS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04859" y="3337560"/>
            <a:ext cx="0" cy="155448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015755" y="3291840"/>
            <a:ext cx="2133523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30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15755" y="4425696"/>
            <a:ext cx="206951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IMPLEMENTATIONS &amp; SUPPORT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77824" y="4956048"/>
            <a:ext cx="10436047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77824" y="5120640"/>
            <a:ext cx="3314090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200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6254496"/>
            <a:ext cx="3250082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EMPLOYEES · AU, US &amp; INDIA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356506" y="5166359"/>
            <a:ext cx="0" cy="1554481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667402" y="5120640"/>
            <a:ext cx="3003194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100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7402" y="6254496"/>
            <a:ext cx="2939186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PEOPLE-SYSTEMS CLIENTS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835188" y="5166359"/>
            <a:ext cx="0" cy="1554481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146084" y="5120640"/>
            <a:ext cx="3003194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10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46084" y="6254496"/>
            <a:ext cx="2939186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YEARS DELIVERING WORKDAY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54" cap="all">
                <a:solidFill>
                  <a:srgbClr val="EA493F"/>
                </a:solidFill>
                <a:latin typeface="Inter"/>
              </a:rPr>
              <a:t>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77824" y="1417320"/>
            <a:ext cx="64008" cy="2286000"/>
          </a:xfrm>
          <a:prstGeom prst="rect">
            <a:avLst/>
          </a:prstGeom>
          <a:solidFill>
            <a:srgbClr val="EA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8" y="1371600"/>
            <a:ext cx="9601200" cy="2468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 lang="en-AU" spc="-76">
                <a:solidFill>
                  <a:srgbClr val="EA493F"/>
                </a:solidFill>
                <a:latin typeface="Inter"/>
              </a:rPr>
              <a:t>They delivered in weeks what we'd scoped for a year — and our team actually uses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3822191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24">
                <a:solidFill>
                  <a:srgbClr val="AEAEAE"/>
                </a:solidFill>
                <a:latin typeface="Inter"/>
              </a:rPr>
              <a:t>Enterprise Workday client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77824" y="4727448"/>
            <a:ext cx="10436047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7824" y="4892040"/>
            <a:ext cx="3314090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30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6025896"/>
            <a:ext cx="3250082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IMPLEMENTATIONS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356506" y="4937759"/>
            <a:ext cx="0" cy="1554481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667402" y="4892040"/>
            <a:ext cx="3003194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2000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7402" y="6025896"/>
            <a:ext cx="2939186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INTEGRATIONS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35188" y="4937759"/>
            <a:ext cx="0" cy="1554481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46084" y="4892040"/>
            <a:ext cx="3003194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3000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6084" y="6025896"/>
            <a:ext cx="2939186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REPORTS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White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54" cap="all">
                <a:solidFill>
                  <a:srgbClr val="EA493F"/>
                </a:solidFill>
                <a:latin typeface="Inter"/>
              </a:rPr>
              <a:t>WHY MIVADA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lang="en-AU" spc="-74">
                <a:solidFill>
                  <a:srgbClr val="FFFFFF"/>
                </a:solidFill>
                <a:latin typeface="Inter"/>
              </a:rPr>
              <a:t>A partner, </a:t>
            </a:r>
            <a:r>
              <a:rPr sz="3400" b="1" i="0" lang="en-AU" spc="-74">
                <a:solidFill>
                  <a:srgbClr val="EA493F"/>
                </a:solidFill>
                <a:latin typeface="Inter"/>
              </a:rPr>
              <a:t>not a vendor.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971800"/>
            <a:ext cx="3204362" cy="23774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AU" spc="182">
                <a:solidFill>
                  <a:srgbClr val="EA493F"/>
                </a:solidFill>
                <a:latin typeface="Inter"/>
              </a:rPr>
              <a:t>01</a:t>
            </a:r>
          </a:p>
          <a:p>
            <a:pPr algn="l">
              <a:lnSpc>
                <a:spcPct val="102000"/>
              </a:lnSpc>
              <a:spcBef>
                <a:spcPts val="1200"/>
              </a:spcBef>
              <a:spcAft>
                <a:spcPts val="0"/>
              </a:spcAft>
            </a:pPr>
            <a:r>
              <a:rPr sz="2300" b="1" i="0" lang="en-AU" spc="-57">
                <a:solidFill>
                  <a:srgbClr val="FFFFFF"/>
                </a:solidFill>
                <a:latin typeface="Inter"/>
              </a:rPr>
              <a:t>We grew out of a customer</a:t>
            </a:r>
          </a:p>
          <a:p>
            <a:pPr algn="l">
              <a:lnSpc>
                <a:spcPct val="128000"/>
              </a:lnSpc>
              <a:spcBef>
                <a:spcPts val="1200"/>
              </a:spcBef>
              <a:spcAft>
                <a:spcPts val="0"/>
              </a:spcAft>
            </a:pPr>
            <a:r>
              <a:rPr sz="1250" b="0" i="0" lang="en-AU" spc="0">
                <a:solidFill>
                  <a:srgbClr val="CFCFCF"/>
                </a:solidFill>
                <a:latin typeface="Inter"/>
              </a:rPr>
              <a:t>Inside-out understanding — and we're not a Big 4.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56506" y="2971800"/>
            <a:ext cx="0" cy="233172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685690" y="2971800"/>
            <a:ext cx="2875178" cy="23774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AU" spc="182">
                <a:solidFill>
                  <a:srgbClr val="EA493F"/>
                </a:solidFill>
                <a:latin typeface="Inter"/>
              </a:rPr>
              <a:t>02</a:t>
            </a:r>
          </a:p>
          <a:p>
            <a:pPr algn="l">
              <a:lnSpc>
                <a:spcPct val="102000"/>
              </a:lnSpc>
              <a:spcBef>
                <a:spcPts val="1200"/>
              </a:spcBef>
              <a:spcAft>
                <a:spcPts val="0"/>
              </a:spcAft>
            </a:pPr>
            <a:r>
              <a:rPr sz="2300" b="1" i="0" lang="en-AU" spc="-57">
                <a:solidFill>
                  <a:srgbClr val="FFFFFF"/>
                </a:solidFill>
                <a:latin typeface="Inter"/>
              </a:rPr>
              <a:t>Senior, local, accountable</a:t>
            </a:r>
          </a:p>
          <a:p>
            <a:pPr algn="l">
              <a:lnSpc>
                <a:spcPct val="128000"/>
              </a:lnSpc>
              <a:spcBef>
                <a:spcPts val="1200"/>
              </a:spcBef>
              <a:spcAft>
                <a:spcPts val="0"/>
              </a:spcAft>
            </a:pPr>
            <a:r>
              <a:rPr sz="1250" b="0" i="0" lang="en-AU" spc="0">
                <a:solidFill>
                  <a:srgbClr val="CFCFCF"/>
                </a:solidFill>
                <a:latin typeface="Inter"/>
              </a:rPr>
              <a:t>Direct CEO access and a dedicated engagement manager.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835188" y="2971800"/>
            <a:ext cx="0" cy="233172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164372" y="2971800"/>
            <a:ext cx="2875178" cy="23774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AU" spc="182">
                <a:solidFill>
                  <a:srgbClr val="EA493F"/>
                </a:solidFill>
                <a:latin typeface="Inter"/>
              </a:rPr>
              <a:t>03</a:t>
            </a:r>
          </a:p>
          <a:p>
            <a:pPr algn="l">
              <a:lnSpc>
                <a:spcPct val="102000"/>
              </a:lnSpc>
              <a:spcBef>
                <a:spcPts val="1200"/>
              </a:spcBef>
              <a:spcAft>
                <a:spcPts val="0"/>
              </a:spcAft>
            </a:pPr>
            <a:r>
              <a:rPr sz="2300" b="1" i="0" lang="en-AU" spc="-57">
                <a:solidFill>
                  <a:srgbClr val="FFFFFF"/>
                </a:solidFill>
                <a:latin typeface="Inter"/>
              </a:rPr>
              <a:t>In it for the long term</a:t>
            </a:r>
          </a:p>
          <a:p>
            <a:pPr algn="l">
              <a:lnSpc>
                <a:spcPct val="128000"/>
              </a:lnSpc>
              <a:spcBef>
                <a:spcPts val="1200"/>
              </a:spcBef>
              <a:spcAft>
                <a:spcPts val="0"/>
              </a:spcAft>
            </a:pPr>
            <a:r>
              <a:rPr sz="1250" b="0" i="0" lang="en-AU" spc="0">
                <a:solidFill>
                  <a:srgbClr val="CFCFCF"/>
                </a:solidFill>
                <a:latin typeface="Inter"/>
              </a:rPr>
              <a:t>From go-live into managed services — we grow with you.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54" cap="all">
                <a:solidFill>
                  <a:srgbClr val="EA493F"/>
                </a:solidFill>
                <a:latin typeface="Inter"/>
              </a:rPr>
              <a:t>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8412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25296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lang="en-AU" spc="-70">
                <a:solidFill>
                  <a:srgbClr val="111111"/>
                </a:solidFill>
                <a:latin typeface="Inter"/>
              </a:rPr>
              <a:t>Engagements </a:t>
            </a:r>
            <a:r>
              <a:rPr sz="3200" b="1" i="0" lang="en-AU" spc="-70">
                <a:solidFill>
                  <a:srgbClr val="EA493F"/>
                </a:solidFill>
                <a:latin typeface="Inter"/>
              </a:rPr>
              <a:t>by year.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77824" y="2468880"/>
          <a:ext cx="1042416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Logo_2C_OnBlack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749808"/>
            <a:ext cx="2531685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77824" y="219456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LET'S TALK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606040"/>
            <a:ext cx="10241280" cy="2743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lang="en-AU" spc="-110">
                <a:solidFill>
                  <a:srgbClr val="FFFFFF"/>
                </a:solidFill>
                <a:latin typeface="Inter"/>
              </a:rPr>
              <a:t>Let's build something </a:t>
            </a:r>
            <a:r>
              <a:rPr sz="4400" b="1" i="0" lang="en-AU" spc="-110">
                <a:solidFill>
                  <a:srgbClr val="EA493F"/>
                </a:solidFill>
                <a:latin typeface="Inter"/>
              </a:rPr>
              <a:t>human.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77824" y="5852160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77824" y="598932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en-AU" spc="25">
                <a:solidFill>
                  <a:srgbClr val="CFCFCF"/>
                </a:solidFill>
                <a:latin typeface="Inter"/>
              </a:rPr>
              <a:t>hello@mivada.com · mivada.com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0895" y="5989320"/>
            <a:ext cx="5522976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en-AU" spc="25">
                <a:solidFill>
                  <a:srgbClr val="AEAEAE"/>
                </a:solidFill>
                <a:latin typeface="Inter"/>
              </a:rPr>
              <a:t>Sydney · Melbourne · AU &amp; India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