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AMS &amp;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Run, supported,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improved.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Application Management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24688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AU" spc="-44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9544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9544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9544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544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AU" spc="-44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94360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">
                <a:solidFill>
                  <a:srgbClr val="EA493F"/>
                </a:solidFill>
                <a:latin typeface="Inter"/>
              </a:rPr>
              <a:t>Adaptive Planning — all modules.   </a:t>
            </a:r>
            <a:r>
              <a:rPr sz="1250" b="0" i="0" lang="en-AU" spc="0">
                <a:solidFill>
                  <a:srgbClr val="323232"/>
                </a:solidFill>
                <a:latin typeface="Inter"/>
              </a:rPr>
              <a:t>Cross-skilled in reporting, security and integrations across both suites — one team, two suites.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Two ways we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Augmentation and Application Management Services — flex between them as your needs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You direct the work; we provide certified Workday FIN &amp; HCM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Scale capacity up or down by the day, week or sprint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project surge, BAU backlog, leave cover or niche 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Onshore (AU), offshore (India) or a blended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Time-and-materials or a pre-agreed block of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MANAGED SERVICES (AMS)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Mivada owns incident, problem, change &amp; release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SLA-backed and governed, with 24×7 P1/P2 on-call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Continuous improvement and bi-annual release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steady-state operations and long-term partnership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Fixed monthly hours with carry-forward flexibility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580644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0">
                <a:solidFill>
                  <a:srgbClr val="AEAEAE"/>
                </a:solidFill>
                <a:latin typeface="Inter"/>
              </a:rPr>
              <a:t>Many clients start with augmentation and move into AMS as their environment stabilises — the same team carries the knowledge across.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GOVERNANCE</a:t>
            </a:r>
            <a:r>
              <a:rPr sz="1000" b="0" i="0" lang="en-AU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Coverage model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always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Seamless onshore–offshore collaboration for continuous support.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23160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325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868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411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955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498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041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127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671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214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18:30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757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19:30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300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20:30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843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21:30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2325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6868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11411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85955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60498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5041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4127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58671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33214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07757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2300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56843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31387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77824" y="26974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7824" y="40690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3859551" y="2697480"/>
            <a:ext cx="4472591" cy="1371600"/>
          </a:xfrm>
          <a:prstGeom prst="rect">
            <a:avLst/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2862072"/>
            <a:ext cx="738116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2898648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96127" y="3483864"/>
            <a:ext cx="738116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69279" y="3520440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4:00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2325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5:00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6868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6:00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1411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7:00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5955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498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5041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584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4127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671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214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7757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2300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6843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" y="4325112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lang="en-AU" spc="51" cap="all">
                <a:solidFill>
                  <a:srgbClr val="EA493F"/>
                </a:solidFill>
                <a:latin typeface="Inter"/>
              </a:rPr>
              <a:t>← AEST   ·   IST 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" y="4709160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Governance &amp; stakeholder engagement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" y="5038344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Resolution of P1 / P2 incidents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5367528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App health check &amp; start-of-day triage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0" y="4709160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incident management &amp; support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5038344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Routine incidents &amp; service requests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43600" y="5367528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Monitoring &amp; backlog resolution per SLAs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7824" y="5943600"/>
            <a:ext cx="1043604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06424" y="6007608"/>
            <a:ext cx="9978847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31" cap="all">
                <a:solidFill>
                  <a:srgbClr val="FFFFFF"/>
                </a:solidFill>
                <a:latin typeface="Inter"/>
              </a:rPr>
              <a:t>24×7 P1/P2 ON-CALL   </a:t>
            </a:r>
            <a:r>
              <a:rPr sz="1100" b="0" i="0" lang="en-AU" spc="0">
                <a:solidFill>
                  <a:srgbClr val="FFFFFF"/>
                </a:solidFill>
                <a:latin typeface="Inter"/>
              </a:rPr>
              <a:t>always-on safety net for P1 &amp; P2 incidents, in line with monthly hours.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Strong governance. Aligned teams. Confident execution.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ACTIVITIES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MIVADA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CADENCE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STRATEGIC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587751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Strategic oversight · innovation &amp; thought leadership · roadmap &amp; investment · relationship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6883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2542032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solidFill>
            <a:srgbClr val="D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TACTICAL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Product Owner · IT Service Owner – AMS · Risk &amp; Compliance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666744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Service &amp; SLA review · risk &amp; compliance · release planning &amp; adoption · improvement backlog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37673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7824" y="3621024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OPERATIONAL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AMS team · Change &amp; Release Coordinators · Super Users / SMEs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4745736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Daily triage &amp; resolution · change &amp; release execution · UX · operational performance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846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7824" y="4700016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77824" y="5779008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7824" y="5888736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">
                <a:solidFill>
                  <a:srgbClr val="EA493F"/>
                </a:solidFill>
                <a:latin typeface="Inter"/>
              </a:rPr>
              <a:t>Principles: transparent reporting · escalation by exception · decisions at the right tier · improvement built 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One integrated team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Integrated onshore–offshore teams delivering as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Client Partner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Strategic relationship &amp; sponsorship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0479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Service Delivery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0479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AMS operations &amp; SLAs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72535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819159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72535" y="3566160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3566160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77824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0479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0479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5166360"/>
            <a:ext cx="4989423" cy="9144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FFFFFF"/>
                </a:solidFill>
                <a:latin typeface="Inter"/>
              </a:rPr>
              <a:t>THOUGHT LEADERSHIP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FFFFFF"/>
                </a:solidFill>
                <a:latin typeface="Inter"/>
              </a:rPr>
              <a:t>Strategic advisory · direct CEO access for escalation &amp; sponsorship.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4447" y="5166360"/>
            <a:ext cx="4989423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0479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DEDICATED WORKDAY PRACTICE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0479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D6D6D6"/>
                </a:solidFill>
                <a:latin typeface="Inter"/>
              </a:rPr>
              <a:t>Innovation — automation, new Workday features &amp; process optimisation.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