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 · AMS &amp;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Run, supported,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improved.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Application Management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CONSULTANT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Full-stack Workday,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FIN &amp; HCM.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Full-stack Workday functional and integration expertise across both suites.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494370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AU" spc="-40">
                <a:solidFill>
                  <a:srgbClr val="111111"/>
                </a:solidFill>
                <a:latin typeface="Inter"/>
              </a:rPr>
              <a:t>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06324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Core HCM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410712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758184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Time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105656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Recruiting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453128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Talent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80060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9675" y="306324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3410712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Payroll (AU / global)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675" y="3758184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9675" y="4105656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9675" y="4453128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9675" y="4800600"/>
            <a:ext cx="2471851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Advanced &amp; Composite Reporting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468880"/>
            <a:ext cx="0" cy="320040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6743" y="2468880"/>
            <a:ext cx="463280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en-AU" spc="-40">
                <a:solidFill>
                  <a:srgbClr val="111111"/>
                </a:solidFill>
                <a:latin typeface="Inter"/>
              </a:rPr>
              <a:t>FIN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306324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Accounting (GL)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3410712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Accounting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3758184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Accounts Payable / Suppliers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43" y="4105656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Accounts Receivable /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4453128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743" y="480060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Expenses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147" y="306324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Banking &amp; Settlement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147" y="3410712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Business Assets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147" y="3758184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Financial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147" y="4105656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Prism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147" y="4453128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Security &amp; BP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147" y="4800600"/>
            <a:ext cx="2316403" cy="34747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Integrations (EIB, CC, Studio)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6035040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EA493F"/>
                </a:solidFill>
                <a:latin typeface="Inter"/>
              </a:rPr>
              <a:t>Adaptive Planning — all modules.  ·  Cross-skilled across both suites — one team, two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ENGAGEMENT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FFFFFF"/>
                </a:solidFill>
                <a:latin typeface="Inter"/>
              </a:rPr>
              <a:t>Two ways we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support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CFCFCF"/>
                </a:solidFill>
                <a:latin typeface="Inter"/>
              </a:rPr>
              <a:t>Augmentation and Application Management Services — flex between them as your needs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STAFF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Our certified consultants, embedded in your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You direct the work; certified Workday FIN &amp; HCM consultants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Scale capacity up or down by the day, week or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Ideal for project surge, BAU backlog, leave cover or niche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Onshore (AU), offshore (India) or a blended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5221224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Time-and-materials or a pre-agreed block of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331720"/>
            <a:ext cx="5035143" cy="329184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569463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150" cap="all">
                <a:solidFill>
                  <a:srgbClr val="EA493F"/>
                </a:solidFill>
                <a:latin typeface="Inter"/>
              </a:rPr>
              <a:t>MANAGED SERVICES (AMS)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935224"/>
            <a:ext cx="453222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FFFFFF"/>
                </a:solidFill>
                <a:latin typeface="Inter"/>
              </a:rPr>
              <a:t>We own the outcome,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538728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Mivada owns incident, problem, change &amp; release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959352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SLA-backed and governed, with 24×7 P1/P2 on-call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379976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Continuous improvement and bi-annual release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4800600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Ideal for steady-state operations and long-term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21224"/>
            <a:ext cx="4486503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D6D6D6"/>
                </a:solidFill>
                <a:latin typeface="Inter"/>
              </a:rPr>
              <a:t>Fixed monthly hours with carry-forward flexibility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806440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0">
                <a:solidFill>
                  <a:srgbClr val="AEAEAE"/>
                </a:solidFill>
                <a:latin typeface="Inter"/>
              </a:rPr>
              <a:t>Many clients start with augmentation and move into AMS as their environment stabilises — the same team carries the knowledge across.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AMS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AMS operating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Driving operational excellence through governance, integration and continuous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286000"/>
            <a:ext cx="10436047" cy="310896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286000"/>
            <a:ext cx="9978847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77824" y="2633472"/>
            <a:ext cx="1043604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33472"/>
            <a:ext cx="9978847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GOVERNANCE</a:t>
            </a:r>
            <a:r>
              <a:rPr sz="1000" b="0" i="0" lang="en-AU" spc="0">
                <a:solidFill>
                  <a:srgbClr val="FFFFFF"/>
                </a:solidFill>
                <a:latin typeface="Inter"/>
              </a:rPr>
              <a:t>    Thought leadership · Product &amp; vendor relationship · Technical-debt reduction · WD bi-annual release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Incident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8839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Problem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855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00871" y="3200400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4023" y="3200400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Release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Service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8839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991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Change Advisory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9855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SLAs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00871" y="3785615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4023" y="3785615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Integration health checks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8839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991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Backlog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855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3007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Prioritisation forum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00871" y="4370832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74023" y="4370832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Capacity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8839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991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Knowledge 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855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3007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Cyber security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0871" y="4956048"/>
            <a:ext cx="2512999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74023" y="4956048"/>
            <a:ext cx="2366695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-4">
                <a:solidFill>
                  <a:srgbClr val="111111"/>
                </a:solidFill>
                <a:latin typeface="Inter"/>
              </a:rPr>
              <a:t>BP &amp; security config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" y="5541264"/>
            <a:ext cx="10436047" cy="384048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" y="5541264"/>
            <a:ext cx="9978847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115" cap="all">
                <a:solidFill>
                  <a:srgbClr val="FFFFFF"/>
                </a:solidFill>
                <a:latin typeface="Inter"/>
              </a:rPr>
              <a:t>SERVICE INTEGRATION · ITSM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OPERATIONS AS A PRIORITY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2226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5378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BUSINESS VALUE REALISATION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6628" y="6016752"/>
            <a:ext cx="3387242" cy="365760"/>
          </a:xfrm>
          <a:prstGeom prst="rect">
            <a:avLst/>
          </a:prstGeom>
          <a:solidFill>
            <a:srgbClr val="F2F3EE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99780" y="6016752"/>
            <a:ext cx="3240938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-5">
                <a:solidFill>
                  <a:srgbClr val="EA493F"/>
                </a:solidFill>
                <a:latin typeface="Inter"/>
              </a:rPr>
              <a:t>OPERATIONAL EXCELLENCE · ITIL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COVERAGE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Coverage model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always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73736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Seamless onshore–offshore collaboration for continuous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325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68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11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955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498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41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127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6711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143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18:30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575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19:30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3007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8439" y="2441448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21:30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2325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6868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1411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5955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60498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5041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584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4127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8671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32143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77575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3007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568439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313871" y="2697480"/>
            <a:ext cx="0" cy="137160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7824" y="26974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7824" y="4069080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59551" y="2697480"/>
            <a:ext cx="4472591" cy="1371600"/>
          </a:xfrm>
          <a:prstGeom prst="rect">
            <a:avLst/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2862072"/>
            <a:ext cx="738116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2898648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ONSHORE · Australia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96127" y="3483864"/>
            <a:ext cx="7381167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69279" y="3520440"/>
            <a:ext cx="45720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22">
                <a:solidFill>
                  <a:srgbClr val="FFFFFF"/>
                </a:solidFill>
                <a:latin typeface="Inter"/>
              </a:rPr>
              <a:t>OFFSHORE ·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4:00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325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5:00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868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6:00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1411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7:00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955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8:00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498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041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10:00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584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11:00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127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12:00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6711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13:00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2143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14:00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575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15:00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3007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16:00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8439" y="4105656"/>
            <a:ext cx="745431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lang="en-AU" spc="0">
                <a:solidFill>
                  <a:srgbClr val="AEAEAE"/>
                </a:solidFill>
                <a:latin typeface="Inter"/>
              </a:rPr>
              <a:t>17:00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" y="432511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en-AU" spc="51" cap="all">
                <a:solidFill>
                  <a:srgbClr val="EA493F"/>
                </a:solidFill>
                <a:latin typeface="Inter"/>
              </a:rPr>
              <a:t>← AEST   ·   IST 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" y="4709160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Governance &amp; stakeholder engagement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" y="5038344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Resolution of P1 / P2 incidents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5367528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App health check &amp; start-of-day triage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4709160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incident management &amp; support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038344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Routine incidents &amp; service requests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367528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050" b="0" i="0" lang="en-AU" spc="0">
                <a:solidFill>
                  <a:srgbClr val="323232"/>
                </a:solidFill>
                <a:latin typeface="Inter"/>
              </a:rPr>
              <a:t>Monitoring &amp; backlog resolution per SLAs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" y="5943600"/>
            <a:ext cx="10436047" cy="420624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4" y="6007608"/>
            <a:ext cx="9978847" cy="31089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31" cap="all">
                <a:solidFill>
                  <a:srgbClr val="FFFFFF"/>
                </a:solidFill>
                <a:latin typeface="Inter"/>
              </a:rPr>
              <a:t>24×7 P1/P2 on-call   </a:t>
            </a:r>
            <a:r>
              <a:rPr sz="1100" b="0" i="0" lang="en-AU" spc="0">
                <a:solidFill>
                  <a:srgbClr val="FFFFFF"/>
                </a:solidFill>
                <a:latin typeface="Inter"/>
              </a:rPr>
              <a:t>always-on safety net for P1 &amp; P2 incidents, in line with monthly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Governance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aligned at every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MIVADA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en-AU" spc="108" cap="all">
                <a:solidFill>
                  <a:srgbClr val="AEAEAE"/>
                </a:solidFill>
                <a:latin typeface="Inter"/>
              </a:rPr>
              <a:t>CADENCE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0047" y="2651760"/>
            <a:ext cx="137160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STRATEGIC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Executive Sponsor · CIO / IT Exec · Head of HR / Payroll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87751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Strategic oversight · innovation &amp; thought leadership · roadmap &amp; investment · relationship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87751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CEO · Client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68833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QUARTERLY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2542032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solidFill>
            <a:srgbClr val="D8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4287" y="3730752"/>
            <a:ext cx="210312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TACTICAL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Product Owner · IT Service Owner – AMS · Risk &amp; Compliance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666744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Service &amp; SLA review · risk &amp; compliance · release planning &amp; adoption · improvement backlog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66744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Client Partner · Service Delivery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767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MONTHLY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7824" y="3621024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8527" y="4809744"/>
            <a:ext cx="2834640" cy="84124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96" cap="all">
                <a:solidFill>
                  <a:srgbClr val="FFFFFF"/>
                </a:solidFill>
                <a:latin typeface="Inter"/>
              </a:rPr>
              <a:t>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AMS team · Change &amp; Release Coordinators · Super Users / SMEs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745736"/>
            <a:ext cx="178308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en-AU" spc="0">
                <a:solidFill>
                  <a:srgbClr val="323232"/>
                </a:solidFill>
                <a:latin typeface="Inter"/>
              </a:rPr>
              <a:t>Daily triage &amp; resolution · change &amp; release execution · UX · operational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745736"/>
            <a:ext cx="1828800" cy="9875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0">
                <a:solidFill>
                  <a:srgbClr val="111111"/>
                </a:solidFill>
                <a:latin typeface="Inter"/>
              </a:rPr>
              <a:t>Service Delivery Lead · Consultants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846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en-AU" spc="76" cap="all">
                <a:solidFill>
                  <a:srgbClr val="EA493F"/>
                </a:solidFill>
                <a:latin typeface="Inter"/>
              </a:rPr>
              <a:t>WEEKLY / DAILY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" y="4700016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7824" y="5779008"/>
            <a:ext cx="10436047" cy="0"/>
          </a:xfrm>
          <a:prstGeom prst="bentConnector3">
            <a:avLst/>
          </a:prstGeom>
          <a:ln w="9525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77824" y="5888736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">
                <a:solidFill>
                  <a:srgbClr val="EA493F"/>
                </a:solidFill>
                <a:latin typeface="Inter"/>
              </a:rPr>
              <a:t>Principles: transparent reporting · escalation by exception · decisions at the right tier · improvement built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54" cap="all">
                <a:solidFill>
                  <a:srgbClr val="EA493F"/>
                </a:solidFill>
                <a:latin typeface="Inter"/>
              </a:rP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14400"/>
            <a:ext cx="10436047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en-AU" spc="-72">
                <a:solidFill>
                  <a:srgbClr val="111111"/>
                </a:solidFill>
                <a:latin typeface="Inter"/>
              </a:rPr>
              <a:t>One integrated team — </a:t>
            </a:r>
            <a:r>
              <a:rPr sz="3300" b="1" i="0" lang="en-AU" spc="-72">
                <a:solidFill>
                  <a:srgbClr val="EA493F"/>
                </a:solidFill>
                <a:latin typeface="Inter"/>
              </a:rPr>
              <a:t>onshore + offshore.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Client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Strategic relationship &amp; sponsorship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4447" y="2286000"/>
            <a:ext cx="4989423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0479" y="246888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Service Delivery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0479" y="285292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Day-to-day AMS operations &amp; SLAs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72535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19159" y="3246120"/>
            <a:ext cx="0" cy="32004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72535" y="3566160"/>
            <a:ext cx="5446624" cy="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3566160"/>
            <a:ext cx="0" cy="274320"/>
          </a:xfrm>
          <a:prstGeom prst="bentConnector3">
            <a:avLst/>
          </a:prstGeom>
          <a:ln w="12700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77824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Onshore · Australia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4447" y="3840480"/>
            <a:ext cx="498942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0479" y="4023360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-15">
                <a:solidFill>
                  <a:srgbClr val="111111"/>
                </a:solidFill>
                <a:latin typeface="Inter"/>
              </a:rPr>
              <a:t>Offshore · 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479" y="4407408"/>
            <a:ext cx="4532223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Functional / Integration Consultants — Core HCM · Financials · Integrations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" y="5166360"/>
            <a:ext cx="4989423" cy="914400"/>
          </a:xfrm>
          <a:prstGeom prst="rect">
            <a:avLst/>
          </a:prstGeom>
          <a:solidFill>
            <a:srgbClr val="EA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FFFFFF"/>
                </a:solidFill>
                <a:latin typeface="Inter"/>
              </a:rPr>
              <a:t>THOUGHT 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FFFFFF"/>
                </a:solidFill>
                <a:latin typeface="Inter"/>
              </a:rPr>
              <a:t>Strategic advisory · direct CEO access for escalation &amp; sponsorship.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5166360"/>
            <a:ext cx="4989423" cy="9144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0479" y="5285232"/>
            <a:ext cx="4532223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10" cap="all">
                <a:solidFill>
                  <a:srgbClr val="EA493F"/>
                </a:solidFill>
                <a:latin typeface="Inter"/>
              </a:rPr>
              <a:t>DEDICATED WORKDAY 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0479" y="5614416"/>
            <a:ext cx="4532223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0">
                <a:solidFill>
                  <a:srgbClr val="D6D6D6"/>
                </a:solidFill>
                <a:latin typeface="Inter"/>
              </a:rPr>
              <a:t>Innovation — automation, new Workday features &amp; process optimisation.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