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Logo_2C_OnBlack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192" cap="all">
                <a:solidFill>
                  <a:srgbClr val="EA493F"/>
                </a:solidFill>
                <a:latin typeface="Inter"/>
              </a:rPr>
              <a:t>MIVADA · AMS &amp;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AU" spc="-135">
                <a:solidFill>
                  <a:srgbClr val="FFFFFF"/>
                </a:solidFill>
                <a:latin typeface="Inter"/>
              </a:rPr>
              <a:t>Run, supported, </a:t>
            </a:r>
            <a:r>
              <a:rPr sz="5400" b="1" i="0" lang="en-AU" spc="-135">
                <a:solidFill>
                  <a:srgbClr val="EA493F"/>
                </a:solidFill>
                <a:latin typeface="Inter"/>
              </a:rPr>
              <a:t>improved.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Application Management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46">
                <a:solidFill>
                  <a:srgbClr val="AEAEAE"/>
                </a:solidFill>
                <a:latin typeface="Inter"/>
              </a:rPr>
              <a:t>mivada.com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Full-stack Workday,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68880"/>
            <a:ext cx="4943703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AU" spc="-40">
                <a:solidFill>
                  <a:srgbClr val="111111"/>
                </a:solidFill>
                <a:latin typeface="Inter"/>
              </a:rPr>
              <a:t>HCM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06324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Core 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410712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Absence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758184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Time Tracking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" y="4105656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Recruiting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4453128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Talent &amp; Performance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80060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Compensation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49675" y="306324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Benefits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49675" y="3410712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Payroll (AU / global)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9675" y="3758184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9675" y="4105656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4453128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4800600"/>
            <a:ext cx="2471851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Advanced &amp; Composite Reporting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5847" y="2468880"/>
            <a:ext cx="0" cy="3200400"/>
          </a:xfrm>
          <a:prstGeom prst="bentConnector3">
            <a:avLst/>
          </a:prstGeom>
          <a:ln w="12700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06743" y="2468880"/>
            <a:ext cx="4632807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 lang="en-AU" spc="-40">
                <a:solidFill>
                  <a:srgbClr val="111111"/>
                </a:solidFill>
                <a:latin typeface="Inter"/>
              </a:rPr>
              <a:t>FIN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6743" y="306324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Accounting (GL)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3" y="3410712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Accounting Center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743" y="3758184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6743" y="4105656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6743" y="4453128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Procurement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6743" y="480060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23147" y="306324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Banking &amp; Settlement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3147" y="3410712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Business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23147" y="3758184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Financial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3147" y="4105656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Prism Analytics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23147" y="4453128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Security &amp; BP config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23147" y="4800600"/>
            <a:ext cx="2316403" cy="34747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7824" y="6035040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25">
                <a:solidFill>
                  <a:srgbClr val="EA493F"/>
                </a:solidFill>
                <a:latin typeface="Inter"/>
              </a:rPr>
              <a:t>Adaptive Planning — all modules.  ·  Cross-skilled across both suites — one team, two suites.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WORKDAY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77824" y="2194560"/>
            <a:ext cx="3234842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52144" y="2468879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112" cap="all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144" y="2962656"/>
            <a:ext cx="2686202" cy="8229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lang="en-AU" spc="-13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78426" y="2194560"/>
            <a:ext cx="3234842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2746" y="2468879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112" cap="all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2746" y="2962656"/>
            <a:ext cx="2686202" cy="8229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lang="en-AU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79028" y="2194560"/>
            <a:ext cx="3234842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3348" y="2468879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 lang="en-AU" spc="112" cap="all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3348" y="2962656"/>
            <a:ext cx="2686202" cy="82295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 lang="en-AU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7530" y="2830068"/>
            <a:ext cx="548640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lang="en-AU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68132" y="2830068"/>
            <a:ext cx="548640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 lang="en-AU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4389120"/>
            <a:ext cx="6835444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52144" y="4572000"/>
            <a:ext cx="6286804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4901183"/>
            <a:ext cx="6286804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lang="en-AU" spc="0">
                <a:solidFill>
                  <a:srgbClr val="D6D6D6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9028" y="4389120"/>
            <a:ext cx="3234842" cy="9144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3348" y="4572000"/>
            <a:ext cx="2686202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 lang="en-AU" spc="115" cap="all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3348" y="4901183"/>
            <a:ext cx="2686202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" y="6144768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24">
                <a:solidFill>
                  <a:srgbClr val="AEAEAE"/>
                </a:solidFill>
                <a:latin typeface="Inter"/>
              </a:rPr>
              <a:t>Flex between engagement models as you move from build to run.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White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25" cap="all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25" cap="all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 lang="en-AU" spc="125" cap="all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D6D6D6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24">
                <a:solidFill>
                  <a:srgbClr val="AEAEAE"/>
                </a:solidFill>
                <a:latin typeface="Inter"/>
              </a:rPr>
              <a:t>Operational excellence, by design.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Coverage model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always 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 lang="en-AU" spc="0">
                <a:solidFill>
                  <a:srgbClr val="323232"/>
                </a:solidFill>
                <a:latin typeface="Inter"/>
              </a:rPr>
              <a:t>Seamless onshore–offshore collaboration for continuous support.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8:30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325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9:30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868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1411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11:30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59551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12:30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4983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13:30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041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14:30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584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15:30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4127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16:30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6711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17:30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2143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18:30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7575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19:30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3007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20:30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68439" y="2441448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21:30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77824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62325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6868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11411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85955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604983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35041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584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84127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758671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332143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077575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823007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568439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1313871" y="2697480"/>
            <a:ext cx="0" cy="137160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7824" y="2697480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77824" y="4069080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859551" y="2697480"/>
            <a:ext cx="4472591" cy="1371600"/>
          </a:xfrm>
          <a:prstGeom prst="rect">
            <a:avLst/>
          </a:prstGeom>
          <a:solidFill>
            <a:srgbClr val="FB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14400" y="2862072"/>
            <a:ext cx="7381167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87552" y="2898648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22">
                <a:solidFill>
                  <a:srgbClr val="FFFFFF"/>
                </a:solidFill>
                <a:latin typeface="Inter"/>
              </a:rPr>
              <a:t>ONSHORE · Australia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96127" y="3483864"/>
            <a:ext cx="7381167" cy="42062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69279" y="3520440"/>
            <a:ext cx="45720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22">
                <a:solidFill>
                  <a:srgbClr val="FFFFFF"/>
                </a:solidFill>
                <a:latin typeface="Inter"/>
              </a:rPr>
              <a:t>OFFSHORE · India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4:00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325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5:00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6868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6:00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1411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7:00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59551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8:00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04983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9:00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5041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10:00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584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11:00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4127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12:00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6711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13:00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32143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14:00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77575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15:00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23007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16:00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68439" y="4105656"/>
            <a:ext cx="745431" cy="21945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lang="en-AU" spc="0">
                <a:solidFill>
                  <a:srgbClr val="AEAEAE"/>
                </a:solidFill>
                <a:latin typeface="Inter"/>
              </a:rPr>
              <a:t>17:00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7824" y="4325112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lang="en-AU" spc="51" cap="all">
                <a:solidFill>
                  <a:srgbClr val="EA493F"/>
                </a:solidFill>
                <a:latin typeface="Inter"/>
              </a:rPr>
              <a:t>← AEST   ·   IST →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824" y="4709160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Governance &amp; stakeholder engagement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77824" y="5038344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Resolution of P1 / P2 incidents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77824" y="5367528"/>
            <a:ext cx="484632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App health check &amp; start-of-day triage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4709160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Day-to-day incident management &amp; support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43600" y="5038344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Routine incidents &amp; service requests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943600" y="5367528"/>
            <a:ext cx="3657600" cy="32918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EA493F"/>
                </a:solidFill>
                <a:latin typeface="Inter"/>
              </a:rPr>
              <a:t>—  </a:t>
            </a:r>
            <a:r>
              <a:rPr sz="1050" b="0" i="0" lang="en-AU" spc="0">
                <a:solidFill>
                  <a:srgbClr val="323232"/>
                </a:solidFill>
                <a:latin typeface="Inter"/>
              </a:rPr>
              <a:t>Monitoring &amp; backlog resolution per SLAs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77824" y="5943600"/>
            <a:ext cx="10436047" cy="420624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06424" y="6007608"/>
            <a:ext cx="9978847" cy="31089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31" cap="all">
                <a:solidFill>
                  <a:srgbClr val="FFFFFF"/>
                </a:solidFill>
                <a:latin typeface="Inter"/>
              </a:rPr>
              <a:t>24×7 P1/P2 on-call   </a:t>
            </a:r>
            <a:r>
              <a:rPr sz="1100" b="0" i="0" lang="en-AU" spc="0">
                <a:solidFill>
                  <a:srgbClr val="FFFFFF"/>
                </a:solidFill>
                <a:latin typeface="Inter"/>
              </a:rPr>
              <a:t>always-on safety net for P1 &amp; P2 incidents, in line with monthly hours.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Governance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CUSTOMER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ACTIVITIES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MIVADA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219456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lang="en-AU" spc="108" cap="all">
                <a:solidFill>
                  <a:srgbClr val="AEAEAE"/>
                </a:solidFill>
                <a:latin typeface="Inter"/>
              </a:rPr>
              <a:t>CADENCE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0047" y="2651760"/>
            <a:ext cx="1371600" cy="841247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10047" y="2651760"/>
            <a:ext cx="137160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STRATEGIC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2587751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587751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Strategic oversight · innovation &amp; thought leadership · roadmap &amp; investment · relationship health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587751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CEO · Client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2688336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7824" y="2542032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44287" y="3730752"/>
            <a:ext cx="2103120" cy="841247"/>
          </a:xfrm>
          <a:prstGeom prst="rect">
            <a:avLst/>
          </a:prstGeom>
          <a:solidFill>
            <a:srgbClr val="D839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4287" y="3730752"/>
            <a:ext cx="210312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TACTICAL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" y="3666744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Product Owner · IT Service Owner – AMS · Risk &amp; Compliance Lead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666744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Service &amp; SLA review · risk &amp; compliance · release planning &amp; adoption · improvement backlog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520" y="3666744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7673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77824" y="3621024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678527" y="4809744"/>
            <a:ext cx="2834640" cy="841247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78527" y="4809744"/>
            <a:ext cx="2834640" cy="84124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lang="en-AU" spc="96" cap="all">
                <a:solidFill>
                  <a:srgbClr val="FFFFFF"/>
                </a:solidFill>
                <a:latin typeface="Inter"/>
              </a:rPr>
              <a:t>OPERATIONAL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7824" y="4745736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AMS team · Change &amp; Release Coordinators · Super Users / SMEs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4745736"/>
            <a:ext cx="178308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lang="en-AU" spc="0">
                <a:solidFill>
                  <a:srgbClr val="323232"/>
                </a:solidFill>
                <a:latin typeface="Inter"/>
              </a:rPr>
              <a:t>Daily triage &amp; resolution · change &amp; release execution · UX · operational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745736"/>
            <a:ext cx="1828800" cy="98755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0">
                <a:solidFill>
                  <a:srgbClr val="111111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48463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lang="en-AU" spc="76" cap="all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7824" y="4700016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77824" y="5779008"/>
            <a:ext cx="10436047" cy="0"/>
          </a:xfrm>
          <a:prstGeom prst="bentConnector3">
            <a:avLst/>
          </a:prstGeom>
          <a:ln w="9525">
            <a:solidFill>
              <a:srgbClr val="E4E4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877824" y="5888736"/>
            <a:ext cx="10436047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">
                <a:solidFill>
                  <a:srgbClr val="EA493F"/>
                </a:solidFill>
                <a:latin typeface="Inter"/>
              </a:rPr>
              <a:t>Principles: transparent reporting · escalation by exception · decisions at the right tier · improvement built 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vada_Icon_Melon_RGB_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54" cap="all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 i="0" lang="en-AU" spc="-72">
                <a:solidFill>
                  <a:srgbClr val="111111"/>
                </a:solidFill>
                <a:latin typeface="Inter"/>
              </a:rPr>
              <a:t>One integrated team — </a:t>
            </a:r>
            <a:r>
              <a:rPr sz="3300" b="1" i="0" lang="en-AU" spc="-72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877824" y="2286000"/>
            <a:ext cx="4989423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246888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Client Partner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" y="285292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Strategic relationship &amp; sponsorship</a:t>
            </a:r>
          </a:p>
        </p:txBody>
      </p:sp>
      <p:sp>
        <p:nvSpPr>
          <p:cNvPr id="8" name="Rectangle 7"/>
          <p:cNvSpPr/>
          <p:nvPr/>
        </p:nvSpPr>
        <p:spPr>
          <a:xfrm>
            <a:off x="6324447" y="2286000"/>
            <a:ext cx="4989423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0479" y="246888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Service Delivery Lead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0479" y="285292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Day-to-day AMS operations &amp; SLAs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72535" y="3246120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819159" y="3246120"/>
            <a:ext cx="0" cy="32004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2535" y="3566160"/>
            <a:ext cx="5446624" cy="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3566160"/>
            <a:ext cx="0" cy="274320"/>
          </a:xfrm>
          <a:prstGeom prst="bentConnector3">
            <a:avLst/>
          </a:prstGeom>
          <a:ln w="12700">
            <a:solidFill>
              <a:srgbClr val="AEAEA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77824" y="3840480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33856" y="402336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40740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4447" y="3840480"/>
            <a:ext cx="4989423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0479" y="4023360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 lang="en-AU" spc="-15">
                <a:solidFill>
                  <a:srgbClr val="111111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0479" y="4407408"/>
            <a:ext cx="4532223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lang="en-AU" spc="0">
                <a:solidFill>
                  <a:srgbClr val="323232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5166360"/>
            <a:ext cx="4989423" cy="914400"/>
          </a:xfrm>
          <a:prstGeom prst="rect">
            <a:avLst/>
          </a:prstGeom>
          <a:solidFill>
            <a:srgbClr val="EA4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3856" y="5285232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FFFFFF"/>
                </a:solidFill>
                <a:latin typeface="Inter"/>
              </a:rPr>
              <a:t>THOUGHT LEADERSHIP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3856" y="5614416"/>
            <a:ext cx="4532223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FFFFFF"/>
                </a:solidFill>
                <a:latin typeface="Inter"/>
              </a:rPr>
              <a:t>Strategic advisory · direct CEO access for escalation &amp; sponsorship.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24447" y="5166360"/>
            <a:ext cx="4989423" cy="914400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0479" y="5285232"/>
            <a:ext cx="4532223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 lang="en-AU" spc="110" cap="all">
                <a:solidFill>
                  <a:srgbClr val="EA493F"/>
                </a:solidFill>
                <a:latin typeface="Inter"/>
              </a:rPr>
              <a:t>DEDICATED WORKDAY PRACTICE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0479" y="5614416"/>
            <a:ext cx="4532223" cy="4114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 lang="en-AU" spc="0">
                <a:solidFill>
                  <a:srgbClr val="D6D6D6"/>
                </a:solidFill>
                <a:latin typeface="Inter"/>
              </a:rPr>
              <a:t>Innovation — automation, new Workday features &amp; process optimisation.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