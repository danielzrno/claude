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ivada_Logo_Master_RGB_L.png"/>
          <p:cNvPicPr>
            <a:picLocks noChangeAspect="1"/>
          </p:cNvPicPr>
          <p:nvPr/>
        </p:nvPicPr>
        <p:blipFill>
          <a:blip r:embed="rId2"/>
          <a:stretch>
            <a:fillRect/>
          </a:stretch>
        </p:blipFill>
        <p:spPr>
          <a:xfrm>
            <a:off x="3142215" y="2487168"/>
            <a:ext cx="5907265" cy="896112"/>
          </a:xfrm>
          <a:prstGeom prst="rect">
            <a:avLst/>
          </a:prstGeom>
        </p:spPr>
      </p:pic>
      <p:sp>
        <p:nvSpPr>
          <p:cNvPr id="3" name="TextBox 2"/>
          <p:cNvSpPr txBox="1"/>
          <p:nvPr/>
        </p:nvSpPr>
        <p:spPr>
          <a:xfrm>
            <a:off x="1828800" y="3767328"/>
            <a:ext cx="8534095" cy="548640"/>
          </a:xfrm>
          <a:prstGeom prst="rect">
            <a:avLst/>
          </a:prstGeom>
          <a:noFill/>
        </p:spPr>
        <p:txBody>
          <a:bodyPr wrap="square" anchor="t" lIns="0" rIns="0" tIns="0" bIns="0"/>
          <a:lstStyle/>
          <a:p>
            <a:pPr algn="ctr">
              <a:lnSpc>
                <a:spcPct val="100000"/>
              </a:lnSpc>
              <a:spcBef>
                <a:spcPts val="0"/>
              </a:spcBef>
              <a:spcAft>
                <a:spcPts val="0"/>
              </a:spcAft>
            </a:pPr>
            <a:r>
              <a:rPr sz="1600" b="1" i="0" lang="en-AU" spc="0">
                <a:solidFill>
                  <a:srgbClr val="111111"/>
                </a:solidFill>
                <a:latin typeface="Inter"/>
              </a:rPr>
              <a:t>Technology, </a:t>
            </a:r>
            <a:r>
              <a:rPr sz="1600" b="1" i="0" lang="en-AU" spc="0">
                <a:solidFill>
                  <a:srgbClr val="EA493F"/>
                </a:solidFill>
                <a:latin typeface="Inter"/>
              </a:rPr>
              <a:t>human first.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Mivada_Logo_2C_OnBlack_RGB_L.png"/>
          <p:cNvPicPr>
            <a:picLocks noChangeAspect="1"/>
          </p:cNvPicPr>
          <p:nvPr/>
        </p:nvPicPr>
        <p:blipFill>
          <a:blip r:embed="rId2"/>
          <a:stretch>
            <a:fillRect/>
          </a:stretch>
        </p:blipFill>
        <p:spPr>
          <a:xfrm>
            <a:off x="877824" y="749808"/>
            <a:ext cx="2531685" cy="384048"/>
          </a:xfrm>
          <a:prstGeom prst="rect">
            <a:avLst/>
          </a:prstGeom>
        </p:spPr>
      </p:pic>
      <p:sp>
        <p:nvSpPr>
          <p:cNvPr id="3" name="TextBox 2"/>
          <p:cNvSpPr txBox="1"/>
          <p:nvPr/>
        </p:nvSpPr>
        <p:spPr>
          <a:xfrm>
            <a:off x="877824" y="2286000"/>
            <a:ext cx="91440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MICAH PROJECTS · FIRST MEETING · MARCH 2026</a:t>
            </a:r>
          </a:p>
        </p:txBody>
      </p:sp>
      <p:sp>
        <p:nvSpPr>
          <p:cNvPr id="4" name="TextBox 3"/>
          <p:cNvSpPr txBox="1"/>
          <p:nvPr/>
        </p:nvSpPr>
        <p:spPr>
          <a:xfrm>
            <a:off x="841248" y="2697480"/>
            <a:ext cx="10607040" cy="2377440"/>
          </a:xfrm>
          <a:prstGeom prst="rect">
            <a:avLst/>
          </a:prstGeom>
          <a:noFill/>
        </p:spPr>
        <p:txBody>
          <a:bodyPr wrap="square" anchor="t" lIns="0" rIns="0" tIns="0" bIns="0"/>
          <a:lstStyle/>
          <a:p>
            <a:pPr algn="l">
              <a:lnSpc>
                <a:spcPct val="94000"/>
              </a:lnSpc>
              <a:spcBef>
                <a:spcPts val="0"/>
              </a:spcBef>
              <a:spcAft>
                <a:spcPts val="0"/>
              </a:spcAft>
            </a:pPr>
            <a:r>
              <a:rPr sz="7000" b="1" i="0" lang="en-AU" spc="-196">
                <a:solidFill>
                  <a:srgbClr val="FFFFFF"/>
                </a:solidFill>
                <a:latin typeface="Inter"/>
              </a:rPr>
              <a:t>A partner for your</a:t>
            </a:r>
          </a:p>
          <a:p>
            <a:pPr algn="l">
              <a:lnSpc>
                <a:spcPct val="94000"/>
              </a:lnSpc>
              <a:spcBef>
                <a:spcPts val="0"/>
              </a:spcBef>
              <a:spcAft>
                <a:spcPts val="0"/>
              </a:spcAft>
            </a:pPr>
            <a:r>
              <a:rPr sz="7000" b="1" i="0" lang="en-AU" spc="-196">
                <a:solidFill>
                  <a:srgbClr val="FFFFFF"/>
                </a:solidFill>
                <a:latin typeface="Inter"/>
              </a:rPr>
              <a:t>Workday </a:t>
            </a:r>
            <a:r>
              <a:rPr sz="7000" b="1" i="0" lang="en-AU" spc="-196">
                <a:solidFill>
                  <a:srgbClr val="EA493F"/>
                </a:solidFill>
                <a:latin typeface="Inter"/>
              </a:rPr>
              <a:t>journey.</a:t>
            </a:r>
          </a:p>
        </p:txBody>
      </p:sp>
      <p:cxnSp>
        <p:nvCxnSpPr>
          <p:cNvPr id="5" name="Connector 4"/>
          <p:cNvCxnSpPr/>
          <p:nvPr/>
        </p:nvCxnSpPr>
        <p:spPr>
          <a:xfrm>
            <a:off x="877824" y="6163056"/>
            <a:ext cx="10436047"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77824" y="6272784"/>
            <a:ext cx="6400800" cy="365760"/>
          </a:xfrm>
          <a:prstGeom prst="rect">
            <a:avLst/>
          </a:prstGeom>
          <a:noFill/>
        </p:spPr>
        <p:txBody>
          <a:bodyPr wrap="square" anchor="t" lIns="0" rIns="0" tIns="0" bIns="0"/>
          <a:lstStyle/>
          <a:p>
            <a:pPr algn="l">
              <a:lnSpc>
                <a:spcPct val="100000"/>
              </a:lnSpc>
              <a:spcBef>
                <a:spcPts val="0"/>
              </a:spcBef>
              <a:spcAft>
                <a:spcPts val="0"/>
              </a:spcAft>
            </a:pPr>
            <a:r>
              <a:rPr sz="1150" b="1" i="0" lang="en-AU" spc="46">
                <a:solidFill>
                  <a:srgbClr val="AEAEAE"/>
                </a:solidFill>
                <a:latin typeface="Inter"/>
              </a:rPr>
              <a:t>Mivada — Workday implementation &amp; managed services</a:t>
            </a:r>
          </a:p>
        </p:txBody>
      </p:sp>
      <p:sp>
        <p:nvSpPr>
          <p:cNvPr id="7" name="TextBox 6"/>
          <p:cNvSpPr txBox="1"/>
          <p:nvPr/>
        </p:nvSpPr>
        <p:spPr>
          <a:xfrm>
            <a:off x="5790895" y="6272784"/>
            <a:ext cx="5522976" cy="365760"/>
          </a:xfrm>
          <a:prstGeom prst="rect">
            <a:avLst/>
          </a:prstGeom>
          <a:noFill/>
        </p:spPr>
        <p:txBody>
          <a:bodyPr wrap="square" anchor="t" lIns="0" rIns="0" tIns="0" bIns="0"/>
          <a:lstStyle/>
          <a:p>
            <a:pPr algn="r">
              <a:lnSpc>
                <a:spcPct val="100000"/>
              </a:lnSpc>
              <a:spcBef>
                <a:spcPts val="0"/>
              </a:spcBef>
              <a:spcAft>
                <a:spcPts val="0"/>
              </a:spcAft>
            </a:pPr>
            <a:r>
              <a:rPr sz="1150" b="1" i="0" lang="en-AU" spc="46">
                <a:solidFill>
                  <a:srgbClr val="AEAEAE"/>
                </a:solidFill>
                <a:latin typeface="Inter"/>
              </a:rPr>
              <a:t>mivada.com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AGENDA</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AGENDA</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What we'll </a:t>
            </a:r>
            <a:r>
              <a:rPr sz="3400" b="1" i="0" lang="en-AU" spc="-74">
                <a:solidFill>
                  <a:srgbClr val="EA493F"/>
                </a:solidFill>
                <a:latin typeface="Inter"/>
              </a:rPr>
              <a:t>cover today.</a:t>
            </a:r>
          </a:p>
        </p:txBody>
      </p:sp>
      <p:sp>
        <p:nvSpPr>
          <p:cNvPr id="6" name="TextBox 5"/>
          <p:cNvSpPr txBox="1"/>
          <p:nvPr/>
        </p:nvSpPr>
        <p:spPr>
          <a:xfrm>
            <a:off x="877824" y="2697480"/>
            <a:ext cx="822960" cy="548640"/>
          </a:xfrm>
          <a:prstGeom prst="rect">
            <a:avLst/>
          </a:prstGeom>
          <a:noFill/>
        </p:spPr>
        <p:txBody>
          <a:bodyPr wrap="square" anchor="t" lIns="0" rIns="0" tIns="0" bIns="0"/>
          <a:lstStyle/>
          <a:p>
            <a:pPr algn="l">
              <a:lnSpc>
                <a:spcPct val="100000"/>
              </a:lnSpc>
              <a:spcBef>
                <a:spcPts val="0"/>
              </a:spcBef>
              <a:spcAft>
                <a:spcPts val="0"/>
              </a:spcAft>
            </a:pPr>
            <a:r>
              <a:rPr sz="2200" b="1" i="0" lang="en-AU" spc="-22">
                <a:solidFill>
                  <a:srgbClr val="EA493F"/>
                </a:solidFill>
                <a:latin typeface="Inter"/>
              </a:rPr>
              <a:t>01</a:t>
            </a:r>
          </a:p>
        </p:txBody>
      </p:sp>
      <p:sp>
        <p:nvSpPr>
          <p:cNvPr id="7" name="TextBox 6"/>
          <p:cNvSpPr txBox="1"/>
          <p:nvPr/>
        </p:nvSpPr>
        <p:spPr>
          <a:xfrm>
            <a:off x="1609344" y="2734056"/>
            <a:ext cx="4303623" cy="640080"/>
          </a:xfrm>
          <a:prstGeom prst="rect">
            <a:avLst/>
          </a:prstGeom>
          <a:noFill/>
        </p:spPr>
        <p:txBody>
          <a:bodyPr wrap="square" anchor="t" lIns="0" rIns="0" tIns="0" bIns="0"/>
          <a:lstStyle/>
          <a:p>
            <a:pPr algn="l">
              <a:lnSpc>
                <a:spcPct val="100000"/>
              </a:lnSpc>
              <a:spcBef>
                <a:spcPts val="0"/>
              </a:spcBef>
              <a:spcAft>
                <a:spcPts val="0"/>
              </a:spcAft>
            </a:pPr>
            <a:r>
              <a:rPr sz="1800" b="1" i="0" lang="en-AU" spc="-18">
                <a:solidFill>
                  <a:srgbClr val="111111"/>
                </a:solidFill>
                <a:latin typeface="Inter"/>
              </a:rPr>
              <a:t>Why Mivada</a:t>
            </a:r>
          </a:p>
        </p:txBody>
      </p:sp>
      <p:cxnSp>
        <p:nvCxnSpPr>
          <p:cNvPr id="8" name="Connector 7"/>
          <p:cNvCxnSpPr/>
          <p:nvPr/>
        </p:nvCxnSpPr>
        <p:spPr>
          <a:xfrm>
            <a:off x="877824" y="3483864"/>
            <a:ext cx="4760823" cy="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77824" y="3657600"/>
            <a:ext cx="822960" cy="548640"/>
          </a:xfrm>
          <a:prstGeom prst="rect">
            <a:avLst/>
          </a:prstGeom>
          <a:noFill/>
        </p:spPr>
        <p:txBody>
          <a:bodyPr wrap="square" anchor="t" lIns="0" rIns="0" tIns="0" bIns="0"/>
          <a:lstStyle/>
          <a:p>
            <a:pPr algn="l">
              <a:lnSpc>
                <a:spcPct val="100000"/>
              </a:lnSpc>
              <a:spcBef>
                <a:spcPts val="0"/>
              </a:spcBef>
              <a:spcAft>
                <a:spcPts val="0"/>
              </a:spcAft>
            </a:pPr>
            <a:r>
              <a:rPr sz="2200" b="1" i="0" lang="en-AU" spc="-22">
                <a:solidFill>
                  <a:srgbClr val="EA493F"/>
                </a:solidFill>
                <a:latin typeface="Inter"/>
              </a:rPr>
              <a:t>02</a:t>
            </a:r>
          </a:p>
        </p:txBody>
      </p:sp>
      <p:sp>
        <p:nvSpPr>
          <p:cNvPr id="10" name="TextBox 9"/>
          <p:cNvSpPr txBox="1"/>
          <p:nvPr/>
        </p:nvSpPr>
        <p:spPr>
          <a:xfrm>
            <a:off x="1609344" y="3694176"/>
            <a:ext cx="4303623" cy="640080"/>
          </a:xfrm>
          <a:prstGeom prst="rect">
            <a:avLst/>
          </a:prstGeom>
          <a:noFill/>
        </p:spPr>
        <p:txBody>
          <a:bodyPr wrap="square" anchor="t" lIns="0" rIns="0" tIns="0" bIns="0"/>
          <a:lstStyle/>
          <a:p>
            <a:pPr algn="l">
              <a:lnSpc>
                <a:spcPct val="100000"/>
              </a:lnSpc>
              <a:spcBef>
                <a:spcPts val="0"/>
              </a:spcBef>
              <a:spcAft>
                <a:spcPts val="0"/>
              </a:spcAft>
            </a:pPr>
            <a:r>
              <a:rPr sz="1800" b="1" i="0" lang="en-AU" spc="-18">
                <a:solidFill>
                  <a:srgbClr val="111111"/>
                </a:solidFill>
                <a:latin typeface="Inter"/>
              </a:rPr>
              <a:t>What we understand you need</a:t>
            </a:r>
          </a:p>
        </p:txBody>
      </p:sp>
      <p:cxnSp>
        <p:nvCxnSpPr>
          <p:cNvPr id="11" name="Connector 10"/>
          <p:cNvCxnSpPr/>
          <p:nvPr/>
        </p:nvCxnSpPr>
        <p:spPr>
          <a:xfrm>
            <a:off x="877824" y="4443984"/>
            <a:ext cx="4760823" cy="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617720"/>
            <a:ext cx="822960" cy="548640"/>
          </a:xfrm>
          <a:prstGeom prst="rect">
            <a:avLst/>
          </a:prstGeom>
          <a:noFill/>
        </p:spPr>
        <p:txBody>
          <a:bodyPr wrap="square" anchor="t" lIns="0" rIns="0" tIns="0" bIns="0"/>
          <a:lstStyle/>
          <a:p>
            <a:pPr algn="l">
              <a:lnSpc>
                <a:spcPct val="100000"/>
              </a:lnSpc>
              <a:spcBef>
                <a:spcPts val="0"/>
              </a:spcBef>
              <a:spcAft>
                <a:spcPts val="0"/>
              </a:spcAft>
            </a:pPr>
            <a:r>
              <a:rPr sz="2200" b="1" i="0" lang="en-AU" spc="-22">
                <a:solidFill>
                  <a:srgbClr val="EA493F"/>
                </a:solidFill>
                <a:latin typeface="Inter"/>
              </a:rPr>
              <a:t>03</a:t>
            </a:r>
          </a:p>
        </p:txBody>
      </p:sp>
      <p:sp>
        <p:nvSpPr>
          <p:cNvPr id="13" name="TextBox 12"/>
          <p:cNvSpPr txBox="1"/>
          <p:nvPr/>
        </p:nvSpPr>
        <p:spPr>
          <a:xfrm>
            <a:off x="1609344" y="4654296"/>
            <a:ext cx="4303623" cy="640080"/>
          </a:xfrm>
          <a:prstGeom prst="rect">
            <a:avLst/>
          </a:prstGeom>
          <a:noFill/>
        </p:spPr>
        <p:txBody>
          <a:bodyPr wrap="square" anchor="t" lIns="0" rIns="0" tIns="0" bIns="0"/>
          <a:lstStyle/>
          <a:p>
            <a:pPr algn="l">
              <a:lnSpc>
                <a:spcPct val="100000"/>
              </a:lnSpc>
              <a:spcBef>
                <a:spcPts val="0"/>
              </a:spcBef>
              <a:spcAft>
                <a:spcPts val="0"/>
              </a:spcAft>
            </a:pPr>
            <a:r>
              <a:rPr sz="1800" b="1" i="0" lang="en-AU" spc="-18">
                <a:solidFill>
                  <a:srgbClr val="111111"/>
                </a:solidFill>
                <a:latin typeface="Inter"/>
              </a:rPr>
              <a:t>Workday — end to end</a:t>
            </a:r>
          </a:p>
        </p:txBody>
      </p:sp>
      <p:cxnSp>
        <p:nvCxnSpPr>
          <p:cNvPr id="14" name="Connector 13"/>
          <p:cNvCxnSpPr/>
          <p:nvPr/>
        </p:nvCxnSpPr>
        <p:spPr>
          <a:xfrm>
            <a:off x="877824" y="5404104"/>
            <a:ext cx="4760823" cy="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5847" y="2697480"/>
            <a:ext cx="822960" cy="548640"/>
          </a:xfrm>
          <a:prstGeom prst="rect">
            <a:avLst/>
          </a:prstGeom>
          <a:noFill/>
        </p:spPr>
        <p:txBody>
          <a:bodyPr wrap="square" anchor="t" lIns="0" rIns="0" tIns="0" bIns="0"/>
          <a:lstStyle/>
          <a:p>
            <a:pPr algn="l">
              <a:lnSpc>
                <a:spcPct val="100000"/>
              </a:lnSpc>
              <a:spcBef>
                <a:spcPts val="0"/>
              </a:spcBef>
              <a:spcAft>
                <a:spcPts val="0"/>
              </a:spcAft>
            </a:pPr>
            <a:r>
              <a:rPr sz="2200" b="1" i="0" lang="en-AU" spc="-22">
                <a:solidFill>
                  <a:srgbClr val="EA493F"/>
                </a:solidFill>
                <a:latin typeface="Inter"/>
              </a:rPr>
              <a:t>04</a:t>
            </a:r>
          </a:p>
        </p:txBody>
      </p:sp>
      <p:sp>
        <p:nvSpPr>
          <p:cNvPr id="16" name="TextBox 15"/>
          <p:cNvSpPr txBox="1"/>
          <p:nvPr/>
        </p:nvSpPr>
        <p:spPr>
          <a:xfrm>
            <a:off x="6827367" y="2734056"/>
            <a:ext cx="4303623" cy="640080"/>
          </a:xfrm>
          <a:prstGeom prst="rect">
            <a:avLst/>
          </a:prstGeom>
          <a:noFill/>
        </p:spPr>
        <p:txBody>
          <a:bodyPr wrap="square" anchor="t" lIns="0" rIns="0" tIns="0" bIns="0"/>
          <a:lstStyle/>
          <a:p>
            <a:pPr algn="l">
              <a:lnSpc>
                <a:spcPct val="100000"/>
              </a:lnSpc>
              <a:spcBef>
                <a:spcPts val="0"/>
              </a:spcBef>
              <a:spcAft>
                <a:spcPts val="0"/>
              </a:spcAft>
            </a:pPr>
            <a:r>
              <a:rPr sz="1800" b="1" i="0" lang="en-AU" spc="-18">
                <a:solidFill>
                  <a:srgbClr val="111111"/>
                </a:solidFill>
                <a:latin typeface="Inter"/>
              </a:rPr>
              <a:t>Proven capability &amp; outcomes</a:t>
            </a:r>
          </a:p>
        </p:txBody>
      </p:sp>
      <p:cxnSp>
        <p:nvCxnSpPr>
          <p:cNvPr id="17" name="Connector 16"/>
          <p:cNvCxnSpPr/>
          <p:nvPr/>
        </p:nvCxnSpPr>
        <p:spPr>
          <a:xfrm>
            <a:off x="6095847" y="3483864"/>
            <a:ext cx="4760824" cy="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95847" y="3657600"/>
            <a:ext cx="822960" cy="548640"/>
          </a:xfrm>
          <a:prstGeom prst="rect">
            <a:avLst/>
          </a:prstGeom>
          <a:noFill/>
        </p:spPr>
        <p:txBody>
          <a:bodyPr wrap="square" anchor="t" lIns="0" rIns="0" tIns="0" bIns="0"/>
          <a:lstStyle/>
          <a:p>
            <a:pPr algn="l">
              <a:lnSpc>
                <a:spcPct val="100000"/>
              </a:lnSpc>
              <a:spcBef>
                <a:spcPts val="0"/>
              </a:spcBef>
              <a:spcAft>
                <a:spcPts val="0"/>
              </a:spcAft>
            </a:pPr>
            <a:r>
              <a:rPr sz="2200" b="1" i="0" lang="en-AU" spc="-22">
                <a:solidFill>
                  <a:srgbClr val="EA493F"/>
                </a:solidFill>
                <a:latin typeface="Inter"/>
              </a:rPr>
              <a:t>05</a:t>
            </a:r>
          </a:p>
        </p:txBody>
      </p:sp>
      <p:sp>
        <p:nvSpPr>
          <p:cNvPr id="19" name="TextBox 18"/>
          <p:cNvSpPr txBox="1"/>
          <p:nvPr/>
        </p:nvSpPr>
        <p:spPr>
          <a:xfrm>
            <a:off x="6827367" y="3694176"/>
            <a:ext cx="4303623" cy="640080"/>
          </a:xfrm>
          <a:prstGeom prst="rect">
            <a:avLst/>
          </a:prstGeom>
          <a:noFill/>
        </p:spPr>
        <p:txBody>
          <a:bodyPr wrap="square" anchor="t" lIns="0" rIns="0" tIns="0" bIns="0"/>
          <a:lstStyle/>
          <a:p>
            <a:pPr algn="l">
              <a:lnSpc>
                <a:spcPct val="100000"/>
              </a:lnSpc>
              <a:spcBef>
                <a:spcPts val="0"/>
              </a:spcBef>
              <a:spcAft>
                <a:spcPts val="0"/>
              </a:spcAft>
            </a:pPr>
            <a:r>
              <a:rPr sz="1800" b="1" i="0" lang="en-AU" spc="-18">
                <a:solidFill>
                  <a:srgbClr val="111111"/>
                </a:solidFill>
                <a:latin typeface="Inter"/>
              </a:rPr>
              <a:t>How we deliver</a:t>
            </a:r>
          </a:p>
        </p:txBody>
      </p:sp>
      <p:cxnSp>
        <p:nvCxnSpPr>
          <p:cNvPr id="20" name="Connector 19"/>
          <p:cNvCxnSpPr/>
          <p:nvPr/>
        </p:nvCxnSpPr>
        <p:spPr>
          <a:xfrm>
            <a:off x="6095847" y="4443984"/>
            <a:ext cx="4760824" cy="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5847" y="4617720"/>
            <a:ext cx="822960" cy="548640"/>
          </a:xfrm>
          <a:prstGeom prst="rect">
            <a:avLst/>
          </a:prstGeom>
          <a:noFill/>
        </p:spPr>
        <p:txBody>
          <a:bodyPr wrap="square" anchor="t" lIns="0" rIns="0" tIns="0" bIns="0"/>
          <a:lstStyle/>
          <a:p>
            <a:pPr algn="l">
              <a:lnSpc>
                <a:spcPct val="100000"/>
              </a:lnSpc>
              <a:spcBef>
                <a:spcPts val="0"/>
              </a:spcBef>
              <a:spcAft>
                <a:spcPts val="0"/>
              </a:spcAft>
            </a:pPr>
            <a:r>
              <a:rPr sz="2200" b="1" i="0" lang="en-AU" spc="-22">
                <a:solidFill>
                  <a:srgbClr val="EA493F"/>
                </a:solidFill>
                <a:latin typeface="Inter"/>
              </a:rPr>
              <a:t>06</a:t>
            </a:r>
          </a:p>
        </p:txBody>
      </p:sp>
      <p:sp>
        <p:nvSpPr>
          <p:cNvPr id="22" name="TextBox 21"/>
          <p:cNvSpPr txBox="1"/>
          <p:nvPr/>
        </p:nvSpPr>
        <p:spPr>
          <a:xfrm>
            <a:off x="6827367" y="4654296"/>
            <a:ext cx="4303623" cy="640080"/>
          </a:xfrm>
          <a:prstGeom prst="rect">
            <a:avLst/>
          </a:prstGeom>
          <a:noFill/>
        </p:spPr>
        <p:txBody>
          <a:bodyPr wrap="square" anchor="t" lIns="0" rIns="0" tIns="0" bIns="0"/>
          <a:lstStyle/>
          <a:p>
            <a:pPr algn="l">
              <a:lnSpc>
                <a:spcPct val="100000"/>
              </a:lnSpc>
              <a:spcBef>
                <a:spcPts val="0"/>
              </a:spcBef>
              <a:spcAft>
                <a:spcPts val="0"/>
              </a:spcAft>
            </a:pPr>
            <a:r>
              <a:rPr sz="1800" b="1" i="0" lang="en-AU" spc="-18">
                <a:solidFill>
                  <a:srgbClr val="111111"/>
                </a:solidFill>
                <a:latin typeface="Inter"/>
              </a:rPr>
              <a:t>Where to from here</a:t>
            </a:r>
          </a:p>
        </p:txBody>
      </p:sp>
      <p:cxnSp>
        <p:nvCxnSpPr>
          <p:cNvPr id="23" name="Connector 22"/>
          <p:cNvCxnSpPr/>
          <p:nvPr/>
        </p:nvCxnSpPr>
        <p:spPr>
          <a:xfrm>
            <a:off x="6095847" y="5404104"/>
            <a:ext cx="4760824" cy="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Mivada_Icon_White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777777"/>
                </a:solidFill>
                <a:latin typeface="Inter"/>
              </a:rPr>
              <a:t>WHY MIVADA</a:t>
            </a:r>
          </a:p>
        </p:txBody>
      </p:sp>
      <p:sp>
        <p:nvSpPr>
          <p:cNvPr id="4" name="TextBox 3"/>
          <p:cNvSpPr txBox="1"/>
          <p:nvPr/>
        </p:nvSpPr>
        <p:spPr>
          <a:xfrm>
            <a:off x="877824" y="841248"/>
            <a:ext cx="91440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WHY MIVADA</a:t>
            </a:r>
          </a:p>
        </p:txBody>
      </p:sp>
      <p:sp>
        <p:nvSpPr>
          <p:cNvPr id="5" name="TextBox 4"/>
          <p:cNvSpPr txBox="1"/>
          <p:nvPr/>
        </p:nvSpPr>
        <p:spPr>
          <a:xfrm>
            <a:off x="841248" y="1243584"/>
            <a:ext cx="10607040" cy="1554480"/>
          </a:xfrm>
          <a:prstGeom prst="rect">
            <a:avLst/>
          </a:prstGeom>
          <a:noFill/>
        </p:spPr>
        <p:txBody>
          <a:bodyPr wrap="square" anchor="t" lIns="0" rIns="0" tIns="0" bIns="0"/>
          <a:lstStyle/>
          <a:p>
            <a:pPr algn="l">
              <a:lnSpc>
                <a:spcPct val="98000"/>
              </a:lnSpc>
              <a:spcBef>
                <a:spcPts val="0"/>
              </a:spcBef>
              <a:spcAft>
                <a:spcPts val="0"/>
              </a:spcAft>
            </a:pPr>
            <a:r>
              <a:rPr sz="3800" b="1" i="0" lang="en-AU" spc="-95">
                <a:solidFill>
                  <a:srgbClr val="FFFFFF"/>
                </a:solidFill>
                <a:latin typeface="Inter"/>
              </a:rPr>
              <a:t>We grew out of a customer.</a:t>
            </a:r>
          </a:p>
          <a:p>
            <a:pPr algn="l">
              <a:lnSpc>
                <a:spcPct val="98000"/>
              </a:lnSpc>
              <a:spcBef>
                <a:spcPts val="0"/>
              </a:spcBef>
              <a:spcAft>
                <a:spcPts val="0"/>
              </a:spcAft>
            </a:pPr>
            <a:r>
              <a:rPr sz="3800" b="1" i="0" lang="en-AU" spc="-95">
                <a:solidFill>
                  <a:srgbClr val="FFFFFF"/>
                </a:solidFill>
                <a:latin typeface="Inter"/>
              </a:rPr>
              <a:t>So we </a:t>
            </a:r>
            <a:r>
              <a:rPr sz="3800" b="1" i="0" lang="en-AU" spc="-95">
                <a:solidFill>
                  <a:srgbClr val="EA493F"/>
                </a:solidFill>
                <a:latin typeface="Inter"/>
              </a:rPr>
              <a:t>speak your language.</a:t>
            </a:r>
          </a:p>
        </p:txBody>
      </p:sp>
      <p:sp>
        <p:nvSpPr>
          <p:cNvPr id="6" name="TextBox 5"/>
          <p:cNvSpPr txBox="1"/>
          <p:nvPr/>
        </p:nvSpPr>
        <p:spPr>
          <a:xfrm>
            <a:off x="877824" y="2852928"/>
            <a:ext cx="10058400" cy="457200"/>
          </a:xfrm>
          <a:prstGeom prst="rect">
            <a:avLst/>
          </a:prstGeom>
          <a:noFill/>
        </p:spPr>
        <p:txBody>
          <a:bodyPr wrap="square" anchor="t" lIns="0" rIns="0" tIns="0" bIns="0"/>
          <a:lstStyle/>
          <a:p>
            <a:pPr algn="l">
              <a:lnSpc>
                <a:spcPct val="100000"/>
              </a:lnSpc>
              <a:spcBef>
                <a:spcPts val="0"/>
              </a:spcBef>
              <a:spcAft>
                <a:spcPts val="0"/>
              </a:spcAft>
            </a:pPr>
            <a:r>
              <a:rPr sz="1500" b="1" i="0" lang="en-AU" spc="0">
                <a:solidFill>
                  <a:srgbClr val="D6D6D6"/>
                </a:solidFill>
                <a:latin typeface="Inter"/>
              </a:rPr>
              <a:t>Your long-term partner in Workday implementations &amp; managed services.</a:t>
            </a:r>
          </a:p>
        </p:txBody>
      </p:sp>
      <p:sp>
        <p:nvSpPr>
          <p:cNvPr id="7" name="TextBox 6"/>
          <p:cNvSpPr txBox="1"/>
          <p:nvPr/>
        </p:nvSpPr>
        <p:spPr>
          <a:xfrm>
            <a:off x="877824" y="3611880"/>
            <a:ext cx="10424160" cy="411480"/>
          </a:xfrm>
          <a:prstGeom prst="rect">
            <a:avLst/>
          </a:prstGeom>
          <a:noFill/>
        </p:spPr>
        <p:txBody>
          <a:bodyPr wrap="square" anchor="t" lIns="0" rIns="0" tIns="0" bIns="0"/>
          <a:lstStyle/>
          <a:p>
            <a:pPr algn="l">
              <a:lnSpc>
                <a:spcPct val="100000"/>
              </a:lnSpc>
              <a:spcBef>
                <a:spcPts val="0"/>
              </a:spcBef>
              <a:spcAft>
                <a:spcPts val="0"/>
              </a:spcAft>
            </a:pPr>
            <a:r>
              <a:rPr sz="1400" b="1" i="0" lang="en-AU" spc="0">
                <a:solidFill>
                  <a:srgbClr val="EA493F"/>
                </a:solidFill>
                <a:latin typeface="Inter"/>
              </a:rPr>
              <a:t>—   </a:t>
            </a:r>
            <a:r>
              <a:rPr sz="1500" b="1" i="0" lang="en-AU" spc="-15">
                <a:solidFill>
                  <a:srgbClr val="FFFFFF"/>
                </a:solidFill>
                <a:latin typeface="Inter"/>
              </a:rPr>
              <a:t>Australian-owned, senior-led    </a:t>
            </a:r>
            <a:r>
              <a:rPr sz="1250" b="0" i="0" lang="en-AU" spc="0">
                <a:solidFill>
                  <a:srgbClr val="CFCFCF"/>
                </a:solidFill>
                <a:latin typeface="Inter"/>
              </a:rPr>
              <a:t>Not a Big 4 — practitioners on the tools</a:t>
            </a:r>
          </a:p>
        </p:txBody>
      </p:sp>
      <p:sp>
        <p:nvSpPr>
          <p:cNvPr id="8" name="TextBox 7"/>
          <p:cNvSpPr txBox="1"/>
          <p:nvPr/>
        </p:nvSpPr>
        <p:spPr>
          <a:xfrm>
            <a:off x="877824" y="4069080"/>
            <a:ext cx="10424160" cy="411480"/>
          </a:xfrm>
          <a:prstGeom prst="rect">
            <a:avLst/>
          </a:prstGeom>
          <a:noFill/>
        </p:spPr>
        <p:txBody>
          <a:bodyPr wrap="square" anchor="t" lIns="0" rIns="0" tIns="0" bIns="0"/>
          <a:lstStyle/>
          <a:p>
            <a:pPr algn="l">
              <a:lnSpc>
                <a:spcPct val="100000"/>
              </a:lnSpc>
              <a:spcBef>
                <a:spcPts val="0"/>
              </a:spcBef>
              <a:spcAft>
                <a:spcPts val="0"/>
              </a:spcAft>
            </a:pPr>
            <a:r>
              <a:rPr sz="1400" b="1" i="0" lang="en-AU" spc="0">
                <a:solidFill>
                  <a:srgbClr val="EA493F"/>
                </a:solidFill>
                <a:latin typeface="Inter"/>
              </a:rPr>
              <a:t>—   </a:t>
            </a:r>
            <a:r>
              <a:rPr sz="1500" b="1" i="0" lang="en-AU" spc="-15">
                <a:solidFill>
                  <a:srgbClr val="FFFFFF"/>
                </a:solidFill>
                <a:latin typeface="Inter"/>
              </a:rPr>
              <a:t>Direct access to our CEO    </a:t>
            </a:r>
            <a:r>
              <a:rPr sz="1250" b="0" i="0" lang="en-AU" spc="0">
                <a:solidFill>
                  <a:srgbClr val="CFCFCF"/>
                </a:solidFill>
                <a:latin typeface="Inter"/>
              </a:rPr>
              <a:t>A reduced escalation matrix</a:t>
            </a:r>
          </a:p>
        </p:txBody>
      </p:sp>
      <p:sp>
        <p:nvSpPr>
          <p:cNvPr id="9" name="TextBox 8"/>
          <p:cNvSpPr txBox="1"/>
          <p:nvPr/>
        </p:nvSpPr>
        <p:spPr>
          <a:xfrm>
            <a:off x="877824" y="4526280"/>
            <a:ext cx="10424160" cy="411480"/>
          </a:xfrm>
          <a:prstGeom prst="rect">
            <a:avLst/>
          </a:prstGeom>
          <a:noFill/>
        </p:spPr>
        <p:txBody>
          <a:bodyPr wrap="square" anchor="t" lIns="0" rIns="0" tIns="0" bIns="0"/>
          <a:lstStyle/>
          <a:p>
            <a:pPr algn="l">
              <a:lnSpc>
                <a:spcPct val="100000"/>
              </a:lnSpc>
              <a:spcBef>
                <a:spcPts val="0"/>
              </a:spcBef>
              <a:spcAft>
                <a:spcPts val="0"/>
              </a:spcAft>
            </a:pPr>
            <a:r>
              <a:rPr sz="1400" b="1" i="0" lang="en-AU" spc="0">
                <a:solidFill>
                  <a:srgbClr val="EA493F"/>
                </a:solidFill>
                <a:latin typeface="Inter"/>
              </a:rPr>
              <a:t>—   </a:t>
            </a:r>
            <a:r>
              <a:rPr sz="1500" b="1" i="0" lang="en-AU" spc="-15">
                <a:solidFill>
                  <a:srgbClr val="FFFFFF"/>
                </a:solidFill>
                <a:latin typeface="Inter"/>
              </a:rPr>
              <a:t>A dedicated local engagement manager    </a:t>
            </a:r>
            <a:r>
              <a:rPr sz="1250" b="0" i="0" lang="en-AU" spc="0">
                <a:solidFill>
                  <a:srgbClr val="CFCFCF"/>
                </a:solidFill>
                <a:latin typeface="Inter"/>
              </a:rPr>
              <a:t>One owner across your whole engagement</a:t>
            </a:r>
          </a:p>
        </p:txBody>
      </p:sp>
      <p:sp>
        <p:nvSpPr>
          <p:cNvPr id="10" name="TextBox 9"/>
          <p:cNvSpPr txBox="1"/>
          <p:nvPr/>
        </p:nvSpPr>
        <p:spPr>
          <a:xfrm>
            <a:off x="877824" y="4983480"/>
            <a:ext cx="10424160" cy="411480"/>
          </a:xfrm>
          <a:prstGeom prst="rect">
            <a:avLst/>
          </a:prstGeom>
          <a:noFill/>
        </p:spPr>
        <p:txBody>
          <a:bodyPr wrap="square" anchor="t" lIns="0" rIns="0" tIns="0" bIns="0"/>
          <a:lstStyle/>
          <a:p>
            <a:pPr algn="l">
              <a:lnSpc>
                <a:spcPct val="100000"/>
              </a:lnSpc>
              <a:spcBef>
                <a:spcPts val="0"/>
              </a:spcBef>
              <a:spcAft>
                <a:spcPts val="0"/>
              </a:spcAft>
            </a:pPr>
            <a:r>
              <a:rPr sz="1400" b="1" i="0" lang="en-AU" spc="0">
                <a:solidFill>
                  <a:srgbClr val="EA493F"/>
                </a:solidFill>
                <a:latin typeface="Inter"/>
              </a:rPr>
              <a:t>—   </a:t>
            </a:r>
            <a:r>
              <a:rPr sz="1500" b="1" i="0" lang="en-AU" spc="-15">
                <a:solidFill>
                  <a:srgbClr val="FFFFFF"/>
                </a:solidFill>
                <a:latin typeface="Inter"/>
              </a:rPr>
              <a:t>Onshore + dedicated offshore    </a:t>
            </a:r>
            <a:r>
              <a:rPr sz="1250" b="0" i="0" lang="en-AU" spc="0">
                <a:solidFill>
                  <a:srgbClr val="CFCFCF"/>
                </a:solidFill>
                <a:latin typeface="Inter"/>
              </a:rPr>
              <a:t>Scale without losing local accountability</a:t>
            </a:r>
          </a:p>
        </p:txBody>
      </p:sp>
      <p:sp>
        <p:nvSpPr>
          <p:cNvPr id="11" name="TextBox 10"/>
          <p:cNvSpPr txBox="1"/>
          <p:nvPr/>
        </p:nvSpPr>
        <p:spPr>
          <a:xfrm>
            <a:off x="877824" y="5440680"/>
            <a:ext cx="10424160" cy="411480"/>
          </a:xfrm>
          <a:prstGeom prst="rect">
            <a:avLst/>
          </a:prstGeom>
          <a:noFill/>
        </p:spPr>
        <p:txBody>
          <a:bodyPr wrap="square" anchor="t" lIns="0" rIns="0" tIns="0" bIns="0"/>
          <a:lstStyle/>
          <a:p>
            <a:pPr algn="l">
              <a:lnSpc>
                <a:spcPct val="100000"/>
              </a:lnSpc>
              <a:spcBef>
                <a:spcPts val="0"/>
              </a:spcBef>
              <a:spcAft>
                <a:spcPts val="0"/>
              </a:spcAft>
            </a:pPr>
            <a:r>
              <a:rPr sz="1400" b="1" i="0" lang="en-AU" spc="0">
                <a:solidFill>
                  <a:srgbClr val="EA493F"/>
                </a:solidFill>
                <a:latin typeface="Inter"/>
              </a:rPr>
              <a:t>—   </a:t>
            </a:r>
            <a:r>
              <a:rPr sz="1500" b="1" i="0" lang="en-AU" spc="-15">
                <a:solidFill>
                  <a:srgbClr val="FFFFFF"/>
                </a:solidFill>
                <a:latin typeface="Inter"/>
              </a:rPr>
              <a:t>10+ years, exclusively Workday    </a:t>
            </a:r>
            <a:r>
              <a:rPr sz="1250" b="0" i="0" lang="en-AU" spc="0">
                <a:solidFill>
                  <a:srgbClr val="CFCFCF"/>
                </a:solidFill>
                <a:latin typeface="Inter"/>
              </a:rPr>
              <a:t>Deep platform expertise, locally delivered</a:t>
            </a:r>
          </a:p>
        </p:txBody>
      </p:sp>
      <p:cxnSp>
        <p:nvCxnSpPr>
          <p:cNvPr id="12" name="Connector 11"/>
          <p:cNvCxnSpPr/>
          <p:nvPr/>
        </p:nvCxnSpPr>
        <p:spPr>
          <a:xfrm>
            <a:off x="877824" y="6181344"/>
            <a:ext cx="10436047"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7824" y="6327648"/>
            <a:ext cx="10436047" cy="365760"/>
          </a:xfrm>
          <a:prstGeom prst="rect">
            <a:avLst/>
          </a:prstGeom>
          <a:noFill/>
        </p:spPr>
        <p:txBody>
          <a:bodyPr wrap="square" anchor="t" lIns="0" rIns="0" tIns="0" bIns="0"/>
          <a:lstStyle/>
          <a:p>
            <a:pPr algn="l">
              <a:lnSpc>
                <a:spcPct val="100000"/>
              </a:lnSpc>
              <a:spcBef>
                <a:spcPts val="0"/>
              </a:spcBef>
              <a:spcAft>
                <a:spcPts val="0"/>
              </a:spcAft>
            </a:pPr>
            <a:r>
              <a:rPr sz="1050" b="1" i="0" lang="en-AU" spc="147" cap="all">
                <a:solidFill>
                  <a:srgbClr val="EA493F"/>
                </a:solidFill>
                <a:latin typeface="Inter"/>
              </a:rPr>
              <a:t>TRUSTED BY   </a:t>
            </a:r>
            <a:r>
              <a:rPr sz="1050" b="1" i="0" lang="en-AU" spc="42">
                <a:solidFill>
                  <a:srgbClr val="CFCFCF"/>
                </a:solidFill>
                <a:latin typeface="Inter"/>
              </a:rPr>
              <a:t>Qantas   ·   Guzman y Gomez   ·   Western Sydney International Airport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YOUR NEEDS</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YOUR NEEDS</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What we understand </a:t>
            </a:r>
            <a:r>
              <a:rPr sz="3400" b="1" i="0" lang="en-AU" spc="-74">
                <a:solidFill>
                  <a:srgbClr val="EA493F"/>
                </a:solidFill>
                <a:latin typeface="Inter"/>
              </a:rPr>
              <a:t>you need.</a:t>
            </a:r>
          </a:p>
        </p:txBody>
      </p:sp>
      <p:sp>
        <p:nvSpPr>
          <p:cNvPr id="6" name="TextBox 5"/>
          <p:cNvSpPr txBox="1"/>
          <p:nvPr/>
        </p:nvSpPr>
        <p:spPr>
          <a:xfrm>
            <a:off x="877824" y="1993392"/>
            <a:ext cx="9875520" cy="822960"/>
          </a:xfrm>
          <a:prstGeom prst="rect">
            <a:avLst/>
          </a:prstGeom>
          <a:noFill/>
        </p:spPr>
        <p:txBody>
          <a:bodyPr wrap="square" anchor="t" lIns="0" rIns="0" tIns="0" bIns="0"/>
          <a:lstStyle/>
          <a:p>
            <a:pPr algn="l">
              <a:lnSpc>
                <a:spcPct val="130000"/>
              </a:lnSpc>
              <a:spcBef>
                <a:spcPts val="0"/>
              </a:spcBef>
              <a:spcAft>
                <a:spcPts val="0"/>
              </a:spcAft>
            </a:pPr>
            <a:r>
              <a:rPr sz="1400" b="0" i="0" lang="en-AU" spc="0">
                <a:solidFill>
                  <a:srgbClr val="323232"/>
                </a:solidFill>
                <a:latin typeface="Inter"/>
              </a:rPr>
              <a:t>The outcomes this Workday programme has to deliver for Micah Projects.</a:t>
            </a:r>
          </a:p>
        </p:txBody>
      </p:sp>
      <p:sp>
        <p:nvSpPr>
          <p:cNvPr id="7" name="Rectangle 6"/>
          <p:cNvSpPr/>
          <p:nvPr/>
        </p:nvSpPr>
        <p:spPr>
          <a:xfrm>
            <a:off x="877824" y="2697480"/>
            <a:ext cx="3332378" cy="1371600"/>
          </a:xfrm>
          <a:prstGeom prst="rect">
            <a:avLst/>
          </a:prstGeom>
          <a:solidFill>
            <a:srgbClr val="FFFFFF"/>
          </a:solidFill>
          <a:ln w="12700">
            <a:solidFill>
              <a:srgbClr val="E4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2880360"/>
            <a:ext cx="2920898" cy="365760"/>
          </a:xfrm>
          <a:prstGeom prst="rect">
            <a:avLst/>
          </a:prstGeom>
          <a:noFill/>
        </p:spPr>
        <p:txBody>
          <a:bodyPr wrap="square" anchor="t" lIns="0" rIns="0" tIns="0" bIns="0"/>
          <a:lstStyle/>
          <a:p>
            <a:pPr algn="l">
              <a:lnSpc>
                <a:spcPct val="100000"/>
              </a:lnSpc>
              <a:spcBef>
                <a:spcPts val="0"/>
              </a:spcBef>
              <a:spcAft>
                <a:spcPts val="0"/>
              </a:spcAft>
            </a:pPr>
            <a:r>
              <a:rPr sz="1350" b="1" i="0" lang="en-AU" spc="81">
                <a:solidFill>
                  <a:srgbClr val="EA493F"/>
                </a:solidFill>
                <a:latin typeface="Inter"/>
              </a:rPr>
              <a:t>01</a:t>
            </a:r>
          </a:p>
        </p:txBody>
      </p:sp>
      <p:sp>
        <p:nvSpPr>
          <p:cNvPr id="9" name="TextBox 8"/>
          <p:cNvSpPr txBox="1"/>
          <p:nvPr/>
        </p:nvSpPr>
        <p:spPr>
          <a:xfrm>
            <a:off x="1115568" y="3191256"/>
            <a:ext cx="2920898" cy="566928"/>
          </a:xfrm>
          <a:prstGeom prst="rect">
            <a:avLst/>
          </a:prstGeom>
          <a:noFill/>
        </p:spPr>
        <p:txBody>
          <a:bodyPr wrap="square" anchor="t" lIns="0" rIns="0" tIns="0" bIns="0"/>
          <a:lstStyle/>
          <a:p>
            <a:pPr algn="l">
              <a:lnSpc>
                <a:spcPct val="104000"/>
              </a:lnSpc>
              <a:spcBef>
                <a:spcPts val="0"/>
              </a:spcBef>
              <a:spcAft>
                <a:spcPts val="0"/>
              </a:spcAft>
            </a:pPr>
            <a:r>
              <a:rPr sz="1450" b="1" i="0" lang="en-AU" spc="-14">
                <a:solidFill>
                  <a:srgbClr val="111111"/>
                </a:solidFill>
                <a:latin typeface="Inter"/>
              </a:rPr>
              <a:t>Payroll compliance confidence</a:t>
            </a:r>
          </a:p>
        </p:txBody>
      </p:sp>
      <p:sp>
        <p:nvSpPr>
          <p:cNvPr id="10" name="Rectangle 9"/>
          <p:cNvSpPr/>
          <p:nvPr/>
        </p:nvSpPr>
        <p:spPr>
          <a:xfrm>
            <a:off x="4429658" y="2697480"/>
            <a:ext cx="3332378" cy="1371600"/>
          </a:xfrm>
          <a:prstGeom prst="rect">
            <a:avLst/>
          </a:prstGeom>
          <a:solidFill>
            <a:srgbClr val="FFFFFF"/>
          </a:solidFill>
          <a:ln w="12700">
            <a:solidFill>
              <a:srgbClr val="E4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7402" y="2880360"/>
            <a:ext cx="2920898" cy="365760"/>
          </a:xfrm>
          <a:prstGeom prst="rect">
            <a:avLst/>
          </a:prstGeom>
          <a:noFill/>
        </p:spPr>
        <p:txBody>
          <a:bodyPr wrap="square" anchor="t" lIns="0" rIns="0" tIns="0" bIns="0"/>
          <a:lstStyle/>
          <a:p>
            <a:pPr algn="l">
              <a:lnSpc>
                <a:spcPct val="100000"/>
              </a:lnSpc>
              <a:spcBef>
                <a:spcPts val="0"/>
              </a:spcBef>
              <a:spcAft>
                <a:spcPts val="0"/>
              </a:spcAft>
            </a:pPr>
            <a:r>
              <a:rPr sz="1350" b="1" i="0" lang="en-AU" spc="81">
                <a:solidFill>
                  <a:srgbClr val="EA493F"/>
                </a:solidFill>
                <a:latin typeface="Inter"/>
              </a:rPr>
              <a:t>02</a:t>
            </a:r>
          </a:p>
        </p:txBody>
      </p:sp>
      <p:sp>
        <p:nvSpPr>
          <p:cNvPr id="12" name="TextBox 11"/>
          <p:cNvSpPr txBox="1"/>
          <p:nvPr/>
        </p:nvSpPr>
        <p:spPr>
          <a:xfrm>
            <a:off x="4667402" y="3191256"/>
            <a:ext cx="2920898" cy="566928"/>
          </a:xfrm>
          <a:prstGeom prst="rect">
            <a:avLst/>
          </a:prstGeom>
          <a:noFill/>
        </p:spPr>
        <p:txBody>
          <a:bodyPr wrap="square" anchor="t" lIns="0" rIns="0" tIns="0" bIns="0"/>
          <a:lstStyle/>
          <a:p>
            <a:pPr algn="l">
              <a:lnSpc>
                <a:spcPct val="104000"/>
              </a:lnSpc>
              <a:spcBef>
                <a:spcPts val="0"/>
              </a:spcBef>
              <a:spcAft>
                <a:spcPts val="0"/>
              </a:spcAft>
            </a:pPr>
            <a:r>
              <a:rPr sz="1450" b="1" i="0" lang="en-AU" spc="-14">
                <a:solidFill>
                  <a:srgbClr val="111111"/>
                </a:solidFill>
                <a:latin typeface="Inter"/>
              </a:rPr>
              <a:t>Connected HR &amp; payroll</a:t>
            </a:r>
          </a:p>
        </p:txBody>
      </p:sp>
      <p:sp>
        <p:nvSpPr>
          <p:cNvPr id="13" name="Rectangle 12"/>
          <p:cNvSpPr/>
          <p:nvPr/>
        </p:nvSpPr>
        <p:spPr>
          <a:xfrm>
            <a:off x="7981492" y="2697480"/>
            <a:ext cx="3332378" cy="1371600"/>
          </a:xfrm>
          <a:prstGeom prst="rect">
            <a:avLst/>
          </a:prstGeom>
          <a:solidFill>
            <a:srgbClr val="FFFFFF"/>
          </a:solidFill>
          <a:ln w="12700">
            <a:solidFill>
              <a:srgbClr val="E4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9236" y="2880360"/>
            <a:ext cx="2920898" cy="365760"/>
          </a:xfrm>
          <a:prstGeom prst="rect">
            <a:avLst/>
          </a:prstGeom>
          <a:noFill/>
        </p:spPr>
        <p:txBody>
          <a:bodyPr wrap="square" anchor="t" lIns="0" rIns="0" tIns="0" bIns="0"/>
          <a:lstStyle/>
          <a:p>
            <a:pPr algn="l">
              <a:lnSpc>
                <a:spcPct val="100000"/>
              </a:lnSpc>
              <a:spcBef>
                <a:spcPts val="0"/>
              </a:spcBef>
              <a:spcAft>
                <a:spcPts val="0"/>
              </a:spcAft>
            </a:pPr>
            <a:r>
              <a:rPr sz="1350" b="1" i="0" lang="en-AU" spc="81">
                <a:solidFill>
                  <a:srgbClr val="EA493F"/>
                </a:solidFill>
                <a:latin typeface="Inter"/>
              </a:rPr>
              <a:t>03</a:t>
            </a:r>
          </a:p>
        </p:txBody>
      </p:sp>
      <p:sp>
        <p:nvSpPr>
          <p:cNvPr id="15" name="TextBox 14"/>
          <p:cNvSpPr txBox="1"/>
          <p:nvPr/>
        </p:nvSpPr>
        <p:spPr>
          <a:xfrm>
            <a:off x="8219236" y="3191256"/>
            <a:ext cx="2920898" cy="566928"/>
          </a:xfrm>
          <a:prstGeom prst="rect">
            <a:avLst/>
          </a:prstGeom>
          <a:noFill/>
        </p:spPr>
        <p:txBody>
          <a:bodyPr wrap="square" anchor="t" lIns="0" rIns="0" tIns="0" bIns="0"/>
          <a:lstStyle/>
          <a:p>
            <a:pPr algn="l">
              <a:lnSpc>
                <a:spcPct val="104000"/>
              </a:lnSpc>
              <a:spcBef>
                <a:spcPts val="0"/>
              </a:spcBef>
              <a:spcAft>
                <a:spcPts val="0"/>
              </a:spcAft>
            </a:pPr>
            <a:r>
              <a:rPr sz="1450" b="1" i="0" lang="en-AU" spc="-14">
                <a:solidFill>
                  <a:srgbClr val="111111"/>
                </a:solidFill>
                <a:latin typeface="Inter"/>
              </a:rPr>
              <a:t>Rostering that enforces rules</a:t>
            </a:r>
          </a:p>
        </p:txBody>
      </p:sp>
      <p:sp>
        <p:nvSpPr>
          <p:cNvPr id="16" name="Rectangle 15"/>
          <p:cNvSpPr/>
          <p:nvPr/>
        </p:nvSpPr>
        <p:spPr>
          <a:xfrm>
            <a:off x="877824" y="4288536"/>
            <a:ext cx="3332378" cy="1371600"/>
          </a:xfrm>
          <a:prstGeom prst="rect">
            <a:avLst/>
          </a:prstGeom>
          <a:solidFill>
            <a:srgbClr val="FFFFFF"/>
          </a:solidFill>
          <a:ln w="12700">
            <a:solidFill>
              <a:srgbClr val="E4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4471416"/>
            <a:ext cx="2920898" cy="365760"/>
          </a:xfrm>
          <a:prstGeom prst="rect">
            <a:avLst/>
          </a:prstGeom>
          <a:noFill/>
        </p:spPr>
        <p:txBody>
          <a:bodyPr wrap="square" anchor="t" lIns="0" rIns="0" tIns="0" bIns="0"/>
          <a:lstStyle/>
          <a:p>
            <a:pPr algn="l">
              <a:lnSpc>
                <a:spcPct val="100000"/>
              </a:lnSpc>
              <a:spcBef>
                <a:spcPts val="0"/>
              </a:spcBef>
              <a:spcAft>
                <a:spcPts val="0"/>
              </a:spcAft>
            </a:pPr>
            <a:r>
              <a:rPr sz="1350" b="1" i="0" lang="en-AU" spc="81">
                <a:solidFill>
                  <a:srgbClr val="EA493F"/>
                </a:solidFill>
                <a:latin typeface="Inter"/>
              </a:rPr>
              <a:t>04</a:t>
            </a:r>
          </a:p>
        </p:txBody>
      </p:sp>
      <p:sp>
        <p:nvSpPr>
          <p:cNvPr id="18" name="TextBox 17"/>
          <p:cNvSpPr txBox="1"/>
          <p:nvPr/>
        </p:nvSpPr>
        <p:spPr>
          <a:xfrm>
            <a:off x="1115568" y="4782312"/>
            <a:ext cx="2920898" cy="566928"/>
          </a:xfrm>
          <a:prstGeom prst="rect">
            <a:avLst/>
          </a:prstGeom>
          <a:noFill/>
        </p:spPr>
        <p:txBody>
          <a:bodyPr wrap="square" anchor="t" lIns="0" rIns="0" tIns="0" bIns="0"/>
          <a:lstStyle/>
          <a:p>
            <a:pPr algn="l">
              <a:lnSpc>
                <a:spcPct val="104000"/>
              </a:lnSpc>
              <a:spcBef>
                <a:spcPts val="0"/>
              </a:spcBef>
              <a:spcAft>
                <a:spcPts val="0"/>
              </a:spcAft>
            </a:pPr>
            <a:r>
              <a:rPr sz="1450" b="1" i="0" lang="en-AU" spc="-14">
                <a:solidFill>
                  <a:srgbClr val="111111"/>
                </a:solidFill>
                <a:latin typeface="Inter"/>
              </a:rPr>
              <a:t>A single, reliable user experience</a:t>
            </a:r>
          </a:p>
        </p:txBody>
      </p:sp>
      <p:sp>
        <p:nvSpPr>
          <p:cNvPr id="19" name="Rectangle 18"/>
          <p:cNvSpPr/>
          <p:nvPr/>
        </p:nvSpPr>
        <p:spPr>
          <a:xfrm>
            <a:off x="4429658" y="4288536"/>
            <a:ext cx="3332378" cy="1371600"/>
          </a:xfrm>
          <a:prstGeom prst="rect">
            <a:avLst/>
          </a:prstGeom>
          <a:solidFill>
            <a:srgbClr val="FFFFFF"/>
          </a:solidFill>
          <a:ln w="12700">
            <a:solidFill>
              <a:srgbClr val="E4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7402" y="4471416"/>
            <a:ext cx="2920898" cy="365760"/>
          </a:xfrm>
          <a:prstGeom prst="rect">
            <a:avLst/>
          </a:prstGeom>
          <a:noFill/>
        </p:spPr>
        <p:txBody>
          <a:bodyPr wrap="square" anchor="t" lIns="0" rIns="0" tIns="0" bIns="0"/>
          <a:lstStyle/>
          <a:p>
            <a:pPr algn="l">
              <a:lnSpc>
                <a:spcPct val="100000"/>
              </a:lnSpc>
              <a:spcBef>
                <a:spcPts val="0"/>
              </a:spcBef>
              <a:spcAft>
                <a:spcPts val="0"/>
              </a:spcAft>
            </a:pPr>
            <a:r>
              <a:rPr sz="1350" b="1" i="0" lang="en-AU" spc="81">
                <a:solidFill>
                  <a:srgbClr val="EA493F"/>
                </a:solidFill>
                <a:latin typeface="Inter"/>
              </a:rPr>
              <a:t>05</a:t>
            </a:r>
          </a:p>
        </p:txBody>
      </p:sp>
      <p:sp>
        <p:nvSpPr>
          <p:cNvPr id="21" name="TextBox 20"/>
          <p:cNvSpPr txBox="1"/>
          <p:nvPr/>
        </p:nvSpPr>
        <p:spPr>
          <a:xfrm>
            <a:off x="4667402" y="4782312"/>
            <a:ext cx="2920898" cy="566928"/>
          </a:xfrm>
          <a:prstGeom prst="rect">
            <a:avLst/>
          </a:prstGeom>
          <a:noFill/>
        </p:spPr>
        <p:txBody>
          <a:bodyPr wrap="square" anchor="t" lIns="0" rIns="0" tIns="0" bIns="0"/>
          <a:lstStyle/>
          <a:p>
            <a:pPr algn="l">
              <a:lnSpc>
                <a:spcPct val="104000"/>
              </a:lnSpc>
              <a:spcBef>
                <a:spcPts val="0"/>
              </a:spcBef>
              <a:spcAft>
                <a:spcPts val="0"/>
              </a:spcAft>
            </a:pPr>
            <a:r>
              <a:rPr sz="1450" b="1" i="0" lang="en-AU" spc="-14">
                <a:solidFill>
                  <a:srgbClr val="111111"/>
                </a:solidFill>
                <a:latin typeface="Inter"/>
              </a:rPr>
              <a:t>Frontline manager visibility</a:t>
            </a:r>
          </a:p>
        </p:txBody>
      </p:sp>
      <p:sp>
        <p:nvSpPr>
          <p:cNvPr id="22" name="Rectangle 21"/>
          <p:cNvSpPr/>
          <p:nvPr/>
        </p:nvSpPr>
        <p:spPr>
          <a:xfrm>
            <a:off x="7981492" y="4288536"/>
            <a:ext cx="3332378" cy="1371600"/>
          </a:xfrm>
          <a:prstGeom prst="rect">
            <a:avLst/>
          </a:prstGeom>
          <a:solidFill>
            <a:srgbClr val="FFFFFF"/>
          </a:solidFill>
          <a:ln w="12700">
            <a:solidFill>
              <a:srgbClr val="E4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9236" y="4471416"/>
            <a:ext cx="2920898" cy="365760"/>
          </a:xfrm>
          <a:prstGeom prst="rect">
            <a:avLst/>
          </a:prstGeom>
          <a:noFill/>
        </p:spPr>
        <p:txBody>
          <a:bodyPr wrap="square" anchor="t" lIns="0" rIns="0" tIns="0" bIns="0"/>
          <a:lstStyle/>
          <a:p>
            <a:pPr algn="l">
              <a:lnSpc>
                <a:spcPct val="100000"/>
              </a:lnSpc>
              <a:spcBef>
                <a:spcPts val="0"/>
              </a:spcBef>
              <a:spcAft>
                <a:spcPts val="0"/>
              </a:spcAft>
            </a:pPr>
            <a:r>
              <a:rPr sz="1350" b="1" i="0" lang="en-AU" spc="81">
                <a:solidFill>
                  <a:srgbClr val="EA493F"/>
                </a:solidFill>
                <a:latin typeface="Inter"/>
              </a:rPr>
              <a:t>06</a:t>
            </a:r>
          </a:p>
        </p:txBody>
      </p:sp>
      <p:sp>
        <p:nvSpPr>
          <p:cNvPr id="24" name="TextBox 23"/>
          <p:cNvSpPr txBox="1"/>
          <p:nvPr/>
        </p:nvSpPr>
        <p:spPr>
          <a:xfrm>
            <a:off x="8219236" y="4782312"/>
            <a:ext cx="2920898" cy="566928"/>
          </a:xfrm>
          <a:prstGeom prst="rect">
            <a:avLst/>
          </a:prstGeom>
          <a:noFill/>
        </p:spPr>
        <p:txBody>
          <a:bodyPr wrap="square" anchor="t" lIns="0" rIns="0" tIns="0" bIns="0"/>
          <a:lstStyle/>
          <a:p>
            <a:pPr algn="l">
              <a:lnSpc>
                <a:spcPct val="104000"/>
              </a:lnSpc>
              <a:spcBef>
                <a:spcPts val="0"/>
              </a:spcBef>
              <a:spcAft>
                <a:spcPts val="0"/>
              </a:spcAft>
            </a:pPr>
            <a:r>
              <a:rPr sz="1450" b="1" i="0" lang="en-AU" spc="-14">
                <a:solidFill>
                  <a:srgbClr val="111111"/>
                </a:solidFill>
                <a:latin typeface="Inter"/>
              </a:rPr>
              <a:t>Funding &amp; cost visibility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WORKDAY SERVICES</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WHAT WE DO</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Workday, </a:t>
            </a:r>
            <a:r>
              <a:rPr sz="3400" b="1" i="0" lang="en-AU" spc="-74">
                <a:solidFill>
                  <a:srgbClr val="EA493F"/>
                </a:solidFill>
                <a:latin typeface="Inter"/>
              </a:rPr>
              <a:t>end to end.</a:t>
            </a:r>
          </a:p>
        </p:txBody>
      </p:sp>
      <p:sp>
        <p:nvSpPr>
          <p:cNvPr id="6" name="TextBox 5"/>
          <p:cNvSpPr txBox="1"/>
          <p:nvPr/>
        </p:nvSpPr>
        <p:spPr>
          <a:xfrm>
            <a:off x="877824" y="2468880"/>
            <a:ext cx="3204362" cy="822960"/>
          </a:xfrm>
          <a:prstGeom prst="rect">
            <a:avLst/>
          </a:prstGeom>
          <a:noFill/>
        </p:spPr>
        <p:txBody>
          <a:bodyPr wrap="square" anchor="t" lIns="0" rIns="0" tIns="0" bIns="0"/>
          <a:lstStyle/>
          <a:p>
            <a:pPr algn="l">
              <a:lnSpc>
                <a:spcPct val="105000"/>
              </a:lnSpc>
              <a:spcBef>
                <a:spcPts val="0"/>
              </a:spcBef>
              <a:spcAft>
                <a:spcPts val="0"/>
              </a:spcAft>
            </a:pPr>
            <a:r>
              <a:rPr sz="1800" b="1" i="0" lang="en-AU" spc="-27">
                <a:solidFill>
                  <a:srgbClr val="111111"/>
                </a:solidFill>
                <a:latin typeface="Inter"/>
              </a:rPr>
              <a:t>People Systems &amp; Transformation</a:t>
            </a:r>
          </a:p>
        </p:txBody>
      </p:sp>
      <p:sp>
        <p:nvSpPr>
          <p:cNvPr id="7" name="TextBox 6"/>
          <p:cNvSpPr txBox="1"/>
          <p:nvPr/>
        </p:nvSpPr>
        <p:spPr>
          <a:xfrm>
            <a:off x="877824" y="3520440"/>
            <a:ext cx="3204362"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HCM &amp; core HR</a:t>
            </a:r>
          </a:p>
        </p:txBody>
      </p:sp>
      <p:sp>
        <p:nvSpPr>
          <p:cNvPr id="8" name="TextBox 7"/>
          <p:cNvSpPr txBox="1"/>
          <p:nvPr/>
        </p:nvSpPr>
        <p:spPr>
          <a:xfrm>
            <a:off x="877824" y="4023360"/>
            <a:ext cx="3204362"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Payroll &amp; compliance</a:t>
            </a:r>
          </a:p>
        </p:txBody>
      </p:sp>
      <p:sp>
        <p:nvSpPr>
          <p:cNvPr id="9" name="TextBox 8"/>
          <p:cNvSpPr txBox="1"/>
          <p:nvPr/>
        </p:nvSpPr>
        <p:spPr>
          <a:xfrm>
            <a:off x="877824" y="4526280"/>
            <a:ext cx="3204362"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Time &amp; Attendance</a:t>
            </a:r>
          </a:p>
        </p:txBody>
      </p:sp>
      <p:sp>
        <p:nvSpPr>
          <p:cNvPr id="10" name="TextBox 9"/>
          <p:cNvSpPr txBox="1"/>
          <p:nvPr/>
        </p:nvSpPr>
        <p:spPr>
          <a:xfrm>
            <a:off x="877824" y="5029200"/>
            <a:ext cx="3204362"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HRIS implementation &amp; optimisation</a:t>
            </a:r>
          </a:p>
        </p:txBody>
      </p:sp>
      <p:cxnSp>
        <p:nvCxnSpPr>
          <p:cNvPr id="11" name="Connector 10"/>
          <p:cNvCxnSpPr/>
          <p:nvPr/>
        </p:nvCxnSpPr>
        <p:spPr>
          <a:xfrm>
            <a:off x="4356506" y="2468880"/>
            <a:ext cx="0" cy="356616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667402" y="2468880"/>
            <a:ext cx="2893466" cy="822960"/>
          </a:xfrm>
          <a:prstGeom prst="rect">
            <a:avLst/>
          </a:prstGeom>
          <a:noFill/>
        </p:spPr>
        <p:txBody>
          <a:bodyPr wrap="square" anchor="t" lIns="0" rIns="0" tIns="0" bIns="0"/>
          <a:lstStyle/>
          <a:p>
            <a:pPr algn="l">
              <a:lnSpc>
                <a:spcPct val="105000"/>
              </a:lnSpc>
              <a:spcBef>
                <a:spcPts val="0"/>
              </a:spcBef>
              <a:spcAft>
                <a:spcPts val="0"/>
              </a:spcAft>
            </a:pPr>
            <a:r>
              <a:rPr sz="1800" b="1" i="0" lang="en-AU" spc="-27">
                <a:solidFill>
                  <a:srgbClr val="111111"/>
                </a:solidFill>
                <a:latin typeface="Inter"/>
              </a:rPr>
              <a:t>Data, Analytics &amp; BI</a:t>
            </a:r>
          </a:p>
        </p:txBody>
      </p:sp>
      <p:sp>
        <p:nvSpPr>
          <p:cNvPr id="13" name="TextBox 12"/>
          <p:cNvSpPr txBox="1"/>
          <p:nvPr/>
        </p:nvSpPr>
        <p:spPr>
          <a:xfrm>
            <a:off x="4667402" y="352044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Reporting &amp; dashboards</a:t>
            </a:r>
          </a:p>
        </p:txBody>
      </p:sp>
      <p:sp>
        <p:nvSpPr>
          <p:cNvPr id="14" name="TextBox 13"/>
          <p:cNvSpPr txBox="1"/>
          <p:nvPr/>
        </p:nvSpPr>
        <p:spPr>
          <a:xfrm>
            <a:off x="4667402" y="402336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Prism &amp; data lakehouse</a:t>
            </a:r>
          </a:p>
        </p:txBody>
      </p:sp>
      <p:sp>
        <p:nvSpPr>
          <p:cNvPr id="15" name="TextBox 14"/>
          <p:cNvSpPr txBox="1"/>
          <p:nvPr/>
        </p:nvSpPr>
        <p:spPr>
          <a:xfrm>
            <a:off x="4667402" y="452628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Governed analytics</a:t>
            </a:r>
          </a:p>
        </p:txBody>
      </p:sp>
      <p:sp>
        <p:nvSpPr>
          <p:cNvPr id="16" name="TextBox 15"/>
          <p:cNvSpPr txBox="1"/>
          <p:nvPr/>
        </p:nvSpPr>
        <p:spPr>
          <a:xfrm>
            <a:off x="4667402" y="502920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Insight at scale</a:t>
            </a:r>
          </a:p>
        </p:txBody>
      </p:sp>
      <p:cxnSp>
        <p:nvCxnSpPr>
          <p:cNvPr id="17" name="Connector 16"/>
          <p:cNvCxnSpPr/>
          <p:nvPr/>
        </p:nvCxnSpPr>
        <p:spPr>
          <a:xfrm>
            <a:off x="7835188" y="2468880"/>
            <a:ext cx="0" cy="356616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46084" y="2468880"/>
            <a:ext cx="2893466" cy="822960"/>
          </a:xfrm>
          <a:prstGeom prst="rect">
            <a:avLst/>
          </a:prstGeom>
          <a:noFill/>
        </p:spPr>
        <p:txBody>
          <a:bodyPr wrap="square" anchor="t" lIns="0" rIns="0" tIns="0" bIns="0"/>
          <a:lstStyle/>
          <a:p>
            <a:pPr algn="l">
              <a:lnSpc>
                <a:spcPct val="105000"/>
              </a:lnSpc>
              <a:spcBef>
                <a:spcPts val="0"/>
              </a:spcBef>
              <a:spcAft>
                <a:spcPts val="0"/>
              </a:spcAft>
            </a:pPr>
            <a:r>
              <a:rPr sz="1800" b="1" i="0" lang="en-AU" spc="-27">
                <a:solidFill>
                  <a:srgbClr val="111111"/>
                </a:solidFill>
                <a:latin typeface="Inter"/>
              </a:rPr>
              <a:t>Business Process &amp; Automation</a:t>
            </a:r>
          </a:p>
        </p:txBody>
      </p:sp>
      <p:sp>
        <p:nvSpPr>
          <p:cNvPr id="19" name="TextBox 18"/>
          <p:cNvSpPr txBox="1"/>
          <p:nvPr/>
        </p:nvSpPr>
        <p:spPr>
          <a:xfrm>
            <a:off x="8146084" y="352044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Process redesign</a:t>
            </a:r>
          </a:p>
        </p:txBody>
      </p:sp>
      <p:sp>
        <p:nvSpPr>
          <p:cNvPr id="20" name="TextBox 19"/>
          <p:cNvSpPr txBox="1"/>
          <p:nvPr/>
        </p:nvSpPr>
        <p:spPr>
          <a:xfrm>
            <a:off x="8146084" y="402336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Integrations</a:t>
            </a:r>
          </a:p>
        </p:txBody>
      </p:sp>
      <p:sp>
        <p:nvSpPr>
          <p:cNvPr id="21" name="TextBox 20"/>
          <p:cNvSpPr txBox="1"/>
          <p:nvPr/>
        </p:nvSpPr>
        <p:spPr>
          <a:xfrm>
            <a:off x="8146084" y="452628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Automation</a:t>
            </a:r>
          </a:p>
        </p:txBody>
      </p:sp>
      <p:sp>
        <p:nvSpPr>
          <p:cNvPr id="22" name="TextBox 21"/>
          <p:cNvSpPr txBox="1"/>
          <p:nvPr/>
        </p:nvSpPr>
        <p:spPr>
          <a:xfrm>
            <a:off x="8146084" y="5029200"/>
            <a:ext cx="2893466" cy="457200"/>
          </a:xfrm>
          <a:prstGeom prst="rect">
            <a:avLst/>
          </a:prstGeom>
          <a:noFill/>
        </p:spPr>
        <p:txBody>
          <a:bodyPr wrap="square" anchor="t" lIns="0" rIns="0" tIns="0" bIns="0"/>
          <a:lstStyle/>
          <a:p>
            <a:pPr algn="l">
              <a:lnSpc>
                <a:spcPct val="100000"/>
              </a:lnSpc>
              <a:spcBef>
                <a:spcPts val="0"/>
              </a:spcBef>
              <a:spcAft>
                <a:spcPts val="0"/>
              </a:spcAft>
            </a:pPr>
            <a:r>
              <a:rPr sz="1300" b="1" i="0" lang="en-AU" spc="0">
                <a:solidFill>
                  <a:srgbClr val="EA493F"/>
                </a:solidFill>
                <a:latin typeface="Inter"/>
              </a:rPr>
              <a:t>—  </a:t>
            </a:r>
            <a:r>
              <a:rPr sz="1300" b="0" i="0" lang="en-AU" spc="0">
                <a:solidFill>
                  <a:srgbClr val="323232"/>
                </a:solidFill>
                <a:latin typeface="Inter"/>
              </a:rPr>
              <a:t>Controls &amp; assurance</a:t>
            </a:r>
          </a:p>
        </p:txBody>
      </p:sp>
      <p:sp>
        <p:nvSpPr>
          <p:cNvPr id="23" name="TextBox 22"/>
          <p:cNvSpPr txBox="1"/>
          <p:nvPr/>
        </p:nvSpPr>
        <p:spPr>
          <a:xfrm>
            <a:off x="877824" y="6053328"/>
            <a:ext cx="10436047" cy="365760"/>
          </a:xfrm>
          <a:prstGeom prst="rect">
            <a:avLst/>
          </a:prstGeom>
          <a:noFill/>
        </p:spPr>
        <p:txBody>
          <a:bodyPr wrap="square" anchor="t" lIns="0" rIns="0" tIns="0" bIns="0"/>
          <a:lstStyle/>
          <a:p>
            <a:pPr algn="l">
              <a:lnSpc>
                <a:spcPct val="100000"/>
              </a:lnSpc>
              <a:spcBef>
                <a:spcPts val="0"/>
              </a:spcBef>
              <a:spcAft>
                <a:spcPts val="0"/>
              </a:spcAft>
            </a:pPr>
            <a:r>
              <a:rPr sz="1250" b="1" i="0" lang="en-AU" spc="25">
                <a:solidFill>
                  <a:srgbClr val="EA493F"/>
                </a:solidFill>
                <a:latin typeface="Inter"/>
              </a:rPr>
              <a:t>All wrapped in managed services &amp; support.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Mivada_Icon_White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777777"/>
                </a:solidFill>
                <a:latin typeface="Inter"/>
              </a:rPr>
              <a:t>CAPABILITY</a:t>
            </a:r>
          </a:p>
        </p:txBody>
      </p:sp>
      <p:sp>
        <p:nvSpPr>
          <p:cNvPr id="4" name="TextBox 3"/>
          <p:cNvSpPr txBox="1"/>
          <p:nvPr/>
        </p:nvSpPr>
        <p:spPr>
          <a:xfrm>
            <a:off x="877824" y="914400"/>
            <a:ext cx="91440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PROVEN CAPABILITY</a:t>
            </a:r>
          </a:p>
        </p:txBody>
      </p:sp>
      <p:sp>
        <p:nvSpPr>
          <p:cNvPr id="5" name="TextBox 4"/>
          <p:cNvSpPr txBox="1"/>
          <p:nvPr/>
        </p:nvSpPr>
        <p:spPr>
          <a:xfrm>
            <a:off x="822960" y="1371600"/>
            <a:ext cx="6583680" cy="2377440"/>
          </a:xfrm>
          <a:prstGeom prst="rect">
            <a:avLst/>
          </a:prstGeom>
          <a:noFill/>
        </p:spPr>
        <p:txBody>
          <a:bodyPr wrap="square" anchor="t" lIns="0" rIns="0" tIns="0" bIns="0"/>
          <a:lstStyle/>
          <a:p>
            <a:pPr algn="l">
              <a:lnSpc>
                <a:spcPct val="82000"/>
              </a:lnSpc>
              <a:spcBef>
                <a:spcPts val="0"/>
              </a:spcBef>
              <a:spcAft>
                <a:spcPts val="0"/>
              </a:spcAft>
            </a:pPr>
            <a:r>
              <a:rPr sz="15000" b="1" i="0" lang="en-AU" spc="-600">
                <a:solidFill>
                  <a:srgbClr val="FFFFFF"/>
                </a:solidFill>
                <a:latin typeface="Inter"/>
              </a:rPr>
              <a:t>10</a:t>
            </a:r>
            <a:r>
              <a:rPr sz="15000" b="1" i="0" lang="en-AU" spc="-600">
                <a:solidFill>
                  <a:srgbClr val="EA493F"/>
                </a:solidFill>
                <a:latin typeface="Inter"/>
              </a:rPr>
              <a:t>+</a:t>
            </a:r>
          </a:p>
        </p:txBody>
      </p:sp>
      <p:sp>
        <p:nvSpPr>
          <p:cNvPr id="6" name="TextBox 5"/>
          <p:cNvSpPr txBox="1"/>
          <p:nvPr/>
        </p:nvSpPr>
        <p:spPr>
          <a:xfrm>
            <a:off x="914400" y="3703320"/>
            <a:ext cx="6035040" cy="548640"/>
          </a:xfrm>
          <a:prstGeom prst="rect">
            <a:avLst/>
          </a:prstGeom>
          <a:noFill/>
        </p:spPr>
        <p:txBody>
          <a:bodyPr wrap="square" anchor="t" lIns="0" rIns="0" tIns="0" bIns="0"/>
          <a:lstStyle/>
          <a:p>
            <a:pPr algn="l">
              <a:lnSpc>
                <a:spcPct val="100000"/>
              </a:lnSpc>
              <a:spcBef>
                <a:spcPts val="0"/>
              </a:spcBef>
              <a:spcAft>
                <a:spcPts val="0"/>
              </a:spcAft>
            </a:pPr>
            <a:r>
              <a:rPr sz="1400" b="1" i="0" lang="en-AU" spc="196" cap="all">
                <a:solidFill>
                  <a:srgbClr val="D6D6D6"/>
                </a:solidFill>
                <a:latin typeface="Inter"/>
              </a:rPr>
              <a:t>YEARS DELIVERING WORKDAY</a:t>
            </a:r>
          </a:p>
        </p:txBody>
      </p:sp>
      <p:sp>
        <p:nvSpPr>
          <p:cNvPr id="7" name="TextBox 6"/>
          <p:cNvSpPr txBox="1"/>
          <p:nvPr/>
        </p:nvSpPr>
        <p:spPr>
          <a:xfrm>
            <a:off x="914400" y="4297680"/>
            <a:ext cx="5852160" cy="1463040"/>
          </a:xfrm>
          <a:prstGeom prst="rect">
            <a:avLst/>
          </a:prstGeom>
          <a:noFill/>
        </p:spPr>
        <p:txBody>
          <a:bodyPr wrap="square" anchor="t" lIns="0" rIns="0" tIns="0" bIns="0"/>
          <a:lstStyle/>
          <a:p>
            <a:pPr algn="l">
              <a:lnSpc>
                <a:spcPct val="130000"/>
              </a:lnSpc>
              <a:spcBef>
                <a:spcPts val="0"/>
              </a:spcBef>
              <a:spcAft>
                <a:spcPts val="0"/>
              </a:spcAft>
            </a:pPr>
            <a:r>
              <a:rPr sz="1450" b="0" i="0" lang="en-AU" spc="0">
                <a:solidFill>
                  <a:srgbClr val="CFCFCF"/>
                </a:solidFill>
                <a:latin typeface="Inter"/>
              </a:rPr>
              <a:t>Empowering innovation through a true Workday partnership and deep local expertise — consultants average 3+ years on the platform.</a:t>
            </a:r>
          </a:p>
        </p:txBody>
      </p:sp>
      <p:cxnSp>
        <p:nvCxnSpPr>
          <p:cNvPr id="8" name="Connector 7"/>
          <p:cNvCxnSpPr/>
          <p:nvPr/>
        </p:nvCxnSpPr>
        <p:spPr>
          <a:xfrm>
            <a:off x="7635240" y="1225296"/>
            <a:ext cx="3678631"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635240" y="1371600"/>
            <a:ext cx="3678631" cy="548640"/>
          </a:xfrm>
          <a:prstGeom prst="rect">
            <a:avLst/>
          </a:prstGeom>
          <a:noFill/>
        </p:spPr>
        <p:txBody>
          <a:bodyPr wrap="square" anchor="t" lIns="0" rIns="0" tIns="0" bIns="0"/>
          <a:lstStyle/>
          <a:p>
            <a:pPr algn="l">
              <a:lnSpc>
                <a:spcPct val="90000"/>
              </a:lnSpc>
              <a:spcBef>
                <a:spcPts val="0"/>
              </a:spcBef>
              <a:spcAft>
                <a:spcPts val="0"/>
              </a:spcAft>
            </a:pPr>
            <a:r>
              <a:rPr sz="3000" b="1" i="0" lang="en-AU" spc="-89">
                <a:solidFill>
                  <a:srgbClr val="FFFFFF"/>
                </a:solidFill>
                <a:latin typeface="Inter"/>
              </a:rPr>
              <a:t>30+</a:t>
            </a:r>
          </a:p>
        </p:txBody>
      </p:sp>
      <p:sp>
        <p:nvSpPr>
          <p:cNvPr id="10" name="TextBox 9"/>
          <p:cNvSpPr txBox="1"/>
          <p:nvPr/>
        </p:nvSpPr>
        <p:spPr>
          <a:xfrm>
            <a:off x="7635240" y="1883664"/>
            <a:ext cx="3678631" cy="320040"/>
          </a:xfrm>
          <a:prstGeom prst="rect">
            <a:avLst/>
          </a:prstGeom>
          <a:noFill/>
        </p:spPr>
        <p:txBody>
          <a:bodyPr wrap="square" anchor="t" lIns="0" rIns="0" tIns="0" bIns="0"/>
          <a:lstStyle/>
          <a:p>
            <a:pPr algn="l">
              <a:lnSpc>
                <a:spcPct val="100000"/>
              </a:lnSpc>
              <a:spcBef>
                <a:spcPts val="0"/>
              </a:spcBef>
              <a:spcAft>
                <a:spcPts val="0"/>
              </a:spcAft>
            </a:pPr>
            <a:r>
              <a:rPr sz="950" b="1" i="0" lang="en-AU" spc="95" cap="all">
                <a:solidFill>
                  <a:srgbClr val="AEAEAE"/>
                </a:solidFill>
                <a:latin typeface="Inter"/>
              </a:rPr>
              <a:t>IMPLEMENTATIONS &amp; SUPPORT</a:t>
            </a:r>
          </a:p>
        </p:txBody>
      </p:sp>
      <p:cxnSp>
        <p:nvCxnSpPr>
          <p:cNvPr id="11" name="Connector 10"/>
          <p:cNvCxnSpPr/>
          <p:nvPr/>
        </p:nvCxnSpPr>
        <p:spPr>
          <a:xfrm>
            <a:off x="7635240" y="2194560"/>
            <a:ext cx="3678631"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635240" y="2340864"/>
            <a:ext cx="3678631" cy="548640"/>
          </a:xfrm>
          <a:prstGeom prst="rect">
            <a:avLst/>
          </a:prstGeom>
          <a:noFill/>
        </p:spPr>
        <p:txBody>
          <a:bodyPr wrap="square" anchor="t" lIns="0" rIns="0" tIns="0" bIns="0"/>
          <a:lstStyle/>
          <a:p>
            <a:pPr algn="l">
              <a:lnSpc>
                <a:spcPct val="90000"/>
              </a:lnSpc>
              <a:spcBef>
                <a:spcPts val="0"/>
              </a:spcBef>
              <a:spcAft>
                <a:spcPts val="0"/>
              </a:spcAft>
            </a:pPr>
            <a:r>
              <a:rPr sz="3000" b="1" i="0" lang="en-AU" spc="-89">
                <a:solidFill>
                  <a:srgbClr val="FFFFFF"/>
                </a:solidFill>
                <a:latin typeface="Inter"/>
              </a:rPr>
              <a:t>2000+</a:t>
            </a:r>
          </a:p>
        </p:txBody>
      </p:sp>
      <p:sp>
        <p:nvSpPr>
          <p:cNvPr id="13" name="TextBox 12"/>
          <p:cNvSpPr txBox="1"/>
          <p:nvPr/>
        </p:nvSpPr>
        <p:spPr>
          <a:xfrm>
            <a:off x="7635240" y="2852928"/>
            <a:ext cx="3678631" cy="320040"/>
          </a:xfrm>
          <a:prstGeom prst="rect">
            <a:avLst/>
          </a:prstGeom>
          <a:noFill/>
        </p:spPr>
        <p:txBody>
          <a:bodyPr wrap="square" anchor="t" lIns="0" rIns="0" tIns="0" bIns="0"/>
          <a:lstStyle/>
          <a:p>
            <a:pPr algn="l">
              <a:lnSpc>
                <a:spcPct val="100000"/>
              </a:lnSpc>
              <a:spcBef>
                <a:spcPts val="0"/>
              </a:spcBef>
              <a:spcAft>
                <a:spcPts val="0"/>
              </a:spcAft>
            </a:pPr>
            <a:r>
              <a:rPr sz="950" b="1" i="0" lang="en-AU" spc="95" cap="all">
                <a:solidFill>
                  <a:srgbClr val="AEAEAE"/>
                </a:solidFill>
                <a:latin typeface="Inter"/>
              </a:rPr>
              <a:t>WORKDAY INTEGRATIONS</a:t>
            </a:r>
          </a:p>
        </p:txBody>
      </p:sp>
      <p:cxnSp>
        <p:nvCxnSpPr>
          <p:cNvPr id="14" name="Connector 13"/>
          <p:cNvCxnSpPr/>
          <p:nvPr/>
        </p:nvCxnSpPr>
        <p:spPr>
          <a:xfrm>
            <a:off x="7635240" y="3163824"/>
            <a:ext cx="3678631"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635240" y="3310128"/>
            <a:ext cx="3678631" cy="548640"/>
          </a:xfrm>
          <a:prstGeom prst="rect">
            <a:avLst/>
          </a:prstGeom>
          <a:noFill/>
        </p:spPr>
        <p:txBody>
          <a:bodyPr wrap="square" anchor="t" lIns="0" rIns="0" tIns="0" bIns="0"/>
          <a:lstStyle/>
          <a:p>
            <a:pPr algn="l">
              <a:lnSpc>
                <a:spcPct val="90000"/>
              </a:lnSpc>
              <a:spcBef>
                <a:spcPts val="0"/>
              </a:spcBef>
              <a:spcAft>
                <a:spcPts val="0"/>
              </a:spcAft>
            </a:pPr>
            <a:r>
              <a:rPr sz="3000" b="1" i="0" lang="en-AU" spc="-89">
                <a:solidFill>
                  <a:srgbClr val="FFFFFF"/>
                </a:solidFill>
                <a:latin typeface="Inter"/>
              </a:rPr>
              <a:t>3000+</a:t>
            </a:r>
          </a:p>
        </p:txBody>
      </p:sp>
      <p:sp>
        <p:nvSpPr>
          <p:cNvPr id="16" name="TextBox 15"/>
          <p:cNvSpPr txBox="1"/>
          <p:nvPr/>
        </p:nvSpPr>
        <p:spPr>
          <a:xfrm>
            <a:off x="7635240" y="3822191"/>
            <a:ext cx="3678631" cy="320040"/>
          </a:xfrm>
          <a:prstGeom prst="rect">
            <a:avLst/>
          </a:prstGeom>
          <a:noFill/>
        </p:spPr>
        <p:txBody>
          <a:bodyPr wrap="square" anchor="t" lIns="0" rIns="0" tIns="0" bIns="0"/>
          <a:lstStyle/>
          <a:p>
            <a:pPr algn="l">
              <a:lnSpc>
                <a:spcPct val="100000"/>
              </a:lnSpc>
              <a:spcBef>
                <a:spcPts val="0"/>
              </a:spcBef>
              <a:spcAft>
                <a:spcPts val="0"/>
              </a:spcAft>
            </a:pPr>
            <a:r>
              <a:rPr sz="950" b="1" i="0" lang="en-AU" spc="95" cap="all">
                <a:solidFill>
                  <a:srgbClr val="AEAEAE"/>
                </a:solidFill>
                <a:latin typeface="Inter"/>
              </a:rPr>
              <a:t>CUSTOM REPORTS</a:t>
            </a:r>
          </a:p>
        </p:txBody>
      </p:sp>
      <p:cxnSp>
        <p:nvCxnSpPr>
          <p:cNvPr id="17" name="Connector 16"/>
          <p:cNvCxnSpPr/>
          <p:nvPr/>
        </p:nvCxnSpPr>
        <p:spPr>
          <a:xfrm>
            <a:off x="7635240" y="4133087"/>
            <a:ext cx="3678631"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635240" y="4279392"/>
            <a:ext cx="3678631" cy="548640"/>
          </a:xfrm>
          <a:prstGeom prst="rect">
            <a:avLst/>
          </a:prstGeom>
          <a:noFill/>
        </p:spPr>
        <p:txBody>
          <a:bodyPr wrap="square" anchor="t" lIns="0" rIns="0" tIns="0" bIns="0"/>
          <a:lstStyle/>
          <a:p>
            <a:pPr algn="l">
              <a:lnSpc>
                <a:spcPct val="90000"/>
              </a:lnSpc>
              <a:spcBef>
                <a:spcPts val="0"/>
              </a:spcBef>
              <a:spcAft>
                <a:spcPts val="0"/>
              </a:spcAft>
            </a:pPr>
            <a:r>
              <a:rPr sz="3000" b="1" i="0" lang="en-AU" spc="-89">
                <a:solidFill>
                  <a:srgbClr val="FFFFFF"/>
                </a:solidFill>
                <a:latin typeface="Inter"/>
              </a:rPr>
              <a:t>200+</a:t>
            </a:r>
          </a:p>
        </p:txBody>
      </p:sp>
      <p:sp>
        <p:nvSpPr>
          <p:cNvPr id="19" name="TextBox 18"/>
          <p:cNvSpPr txBox="1"/>
          <p:nvPr/>
        </p:nvSpPr>
        <p:spPr>
          <a:xfrm>
            <a:off x="7635240" y="4791456"/>
            <a:ext cx="3678631" cy="320040"/>
          </a:xfrm>
          <a:prstGeom prst="rect">
            <a:avLst/>
          </a:prstGeom>
          <a:noFill/>
        </p:spPr>
        <p:txBody>
          <a:bodyPr wrap="square" anchor="t" lIns="0" rIns="0" tIns="0" bIns="0"/>
          <a:lstStyle/>
          <a:p>
            <a:pPr algn="l">
              <a:lnSpc>
                <a:spcPct val="100000"/>
              </a:lnSpc>
              <a:spcBef>
                <a:spcPts val="0"/>
              </a:spcBef>
              <a:spcAft>
                <a:spcPts val="0"/>
              </a:spcAft>
            </a:pPr>
            <a:r>
              <a:rPr sz="950" b="1" i="0" lang="en-AU" spc="95" cap="all">
                <a:solidFill>
                  <a:srgbClr val="AEAEAE"/>
                </a:solidFill>
                <a:latin typeface="Inter"/>
              </a:rPr>
              <a:t>EMPLOYEES · AU, US &amp; INDIA</a:t>
            </a:r>
          </a:p>
        </p:txBody>
      </p:sp>
      <p:cxnSp>
        <p:nvCxnSpPr>
          <p:cNvPr id="20" name="Connector 19"/>
          <p:cNvCxnSpPr/>
          <p:nvPr/>
        </p:nvCxnSpPr>
        <p:spPr>
          <a:xfrm>
            <a:off x="7635240" y="5102352"/>
            <a:ext cx="3678631"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635240" y="5248656"/>
            <a:ext cx="3678631" cy="548640"/>
          </a:xfrm>
          <a:prstGeom prst="rect">
            <a:avLst/>
          </a:prstGeom>
          <a:noFill/>
        </p:spPr>
        <p:txBody>
          <a:bodyPr wrap="square" anchor="t" lIns="0" rIns="0" tIns="0" bIns="0"/>
          <a:lstStyle/>
          <a:p>
            <a:pPr algn="l">
              <a:lnSpc>
                <a:spcPct val="90000"/>
              </a:lnSpc>
              <a:spcBef>
                <a:spcPts val="0"/>
              </a:spcBef>
              <a:spcAft>
                <a:spcPts val="0"/>
              </a:spcAft>
            </a:pPr>
            <a:r>
              <a:rPr sz="3000" b="1" i="0" lang="en-AU" spc="-89">
                <a:solidFill>
                  <a:srgbClr val="FFFFFF"/>
                </a:solidFill>
                <a:latin typeface="Inter"/>
              </a:rPr>
              <a:t>100+</a:t>
            </a:r>
          </a:p>
        </p:txBody>
      </p:sp>
      <p:sp>
        <p:nvSpPr>
          <p:cNvPr id="22" name="TextBox 21"/>
          <p:cNvSpPr txBox="1"/>
          <p:nvPr/>
        </p:nvSpPr>
        <p:spPr>
          <a:xfrm>
            <a:off x="7635240" y="5760720"/>
            <a:ext cx="3678631" cy="320040"/>
          </a:xfrm>
          <a:prstGeom prst="rect">
            <a:avLst/>
          </a:prstGeom>
          <a:noFill/>
        </p:spPr>
        <p:txBody>
          <a:bodyPr wrap="square" anchor="t" lIns="0" rIns="0" tIns="0" bIns="0"/>
          <a:lstStyle/>
          <a:p>
            <a:pPr algn="l">
              <a:lnSpc>
                <a:spcPct val="100000"/>
              </a:lnSpc>
              <a:spcBef>
                <a:spcPts val="0"/>
              </a:spcBef>
              <a:spcAft>
                <a:spcPts val="0"/>
              </a:spcAft>
            </a:pPr>
            <a:r>
              <a:rPr sz="950" b="1" i="0" lang="en-AU" spc="95" cap="all">
                <a:solidFill>
                  <a:srgbClr val="AEAEAE"/>
                </a:solidFill>
                <a:latin typeface="Inter"/>
              </a:rPr>
              <a:t>PEOPLE-SYSTEMS CLIENTS</a:t>
            </a:r>
          </a:p>
        </p:txBody>
      </p:sp>
      <p:cxnSp>
        <p:nvCxnSpPr>
          <p:cNvPr id="23" name="Connector 22"/>
          <p:cNvCxnSpPr/>
          <p:nvPr/>
        </p:nvCxnSpPr>
        <p:spPr>
          <a:xfrm>
            <a:off x="7635240" y="6071616"/>
            <a:ext cx="3678631"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SUCCESS STORIES</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REAL-WORLD SUCCESS STORIES</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Proven Workday </a:t>
            </a:r>
            <a:r>
              <a:rPr sz="3400" b="1" i="0" lang="en-AU" spc="-74">
                <a:solidFill>
                  <a:srgbClr val="EA493F"/>
                </a:solidFill>
                <a:latin typeface="Inter"/>
              </a:rPr>
              <a:t>outcomes.</a:t>
            </a:r>
          </a:p>
        </p:txBody>
      </p:sp>
      <p:sp>
        <p:nvSpPr>
          <p:cNvPr id="6" name="TextBox 5"/>
          <p:cNvSpPr txBox="1"/>
          <p:nvPr/>
        </p:nvSpPr>
        <p:spPr>
          <a:xfrm>
            <a:off x="877824" y="1938528"/>
            <a:ext cx="9875520" cy="822960"/>
          </a:xfrm>
          <a:prstGeom prst="rect">
            <a:avLst/>
          </a:prstGeom>
          <a:noFill/>
        </p:spPr>
        <p:txBody>
          <a:bodyPr wrap="square" anchor="t" lIns="0" rIns="0" tIns="0" bIns="0"/>
          <a:lstStyle/>
          <a:p>
            <a:pPr algn="l">
              <a:lnSpc>
                <a:spcPct val="130000"/>
              </a:lnSpc>
              <a:spcBef>
                <a:spcPts val="0"/>
              </a:spcBef>
              <a:spcAft>
                <a:spcPts val="0"/>
              </a:spcAft>
            </a:pPr>
            <a:r>
              <a:rPr sz="1300" b="0" i="0" lang="en-AU" spc="0">
                <a:solidFill>
                  <a:srgbClr val="323232"/>
                </a:solidFill>
                <a:latin typeface="Inter"/>
              </a:rPr>
              <a:t>How Mivada enables high-performance Workday operations.</a:t>
            </a:r>
          </a:p>
        </p:txBody>
      </p:sp>
      <p:sp>
        <p:nvSpPr>
          <p:cNvPr id="7" name="TextBox 6"/>
          <p:cNvSpPr txBox="1"/>
          <p:nvPr/>
        </p:nvSpPr>
        <p:spPr>
          <a:xfrm>
            <a:off x="877824" y="2697480"/>
            <a:ext cx="3250082" cy="457200"/>
          </a:xfrm>
          <a:prstGeom prst="rect">
            <a:avLst/>
          </a:prstGeom>
          <a:noFill/>
        </p:spPr>
        <p:txBody>
          <a:bodyPr wrap="square" anchor="t" lIns="0" rIns="0" tIns="0" bIns="0"/>
          <a:lstStyle/>
          <a:p>
            <a:pPr algn="l">
              <a:lnSpc>
                <a:spcPct val="100000"/>
              </a:lnSpc>
              <a:spcBef>
                <a:spcPts val="0"/>
              </a:spcBef>
              <a:spcAft>
                <a:spcPts val="0"/>
              </a:spcAft>
            </a:pPr>
            <a:r>
              <a:rPr sz="1200" b="1" i="0" lang="en-AU" spc="72" cap="all">
                <a:solidFill>
                  <a:srgbClr val="EA493F"/>
                </a:solidFill>
                <a:latin typeface="Inter"/>
              </a:rPr>
              <a:t>GUZMAN Y GOMEZ</a:t>
            </a:r>
          </a:p>
        </p:txBody>
      </p:sp>
      <p:sp>
        <p:nvSpPr>
          <p:cNvPr id="8" name="TextBox 7"/>
          <p:cNvSpPr txBox="1"/>
          <p:nvPr/>
        </p:nvSpPr>
        <p:spPr>
          <a:xfrm>
            <a:off x="877824" y="3200400"/>
            <a:ext cx="3222650" cy="3108960"/>
          </a:xfrm>
          <a:prstGeom prst="rect">
            <a:avLst/>
          </a:prstGeom>
          <a:noFill/>
        </p:spPr>
        <p:txBody>
          <a:bodyPr wrap="square" anchor="t" lIns="0" rIns="0" tIns="0" bIns="0"/>
          <a:lstStyle/>
          <a:p>
            <a:pPr algn="l">
              <a:lnSpc>
                <a:spcPct val="128000"/>
              </a:lnSpc>
              <a:spcBef>
                <a:spcPts val="0"/>
              </a:spcBef>
              <a:spcAft>
                <a:spcPts val="0"/>
              </a:spcAft>
            </a:pPr>
            <a:r>
              <a:rPr sz="1050" b="0" i="0" lang="en-AU" spc="0">
                <a:solidFill>
                  <a:srgbClr val="323232"/>
                </a:solidFill>
                <a:latin typeface="Inter"/>
              </a:rPr>
              <a:t>Stabilised and optimised Workday post–go-live across modules, reporting, security and compliance. Agile delivery onboarded 150+ franchisees, shipped new reporting and a redesigned security model, and lifted performance across HCM, Absence and Learning — enabling scalable, compliant global operations.</a:t>
            </a:r>
          </a:p>
        </p:txBody>
      </p:sp>
      <p:cxnSp>
        <p:nvCxnSpPr>
          <p:cNvPr id="9" name="Connector 8"/>
          <p:cNvCxnSpPr/>
          <p:nvPr/>
        </p:nvCxnSpPr>
        <p:spPr>
          <a:xfrm>
            <a:off x="4356506" y="2743200"/>
            <a:ext cx="0" cy="347472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49114" y="2697480"/>
            <a:ext cx="2957474" cy="457200"/>
          </a:xfrm>
          <a:prstGeom prst="rect">
            <a:avLst/>
          </a:prstGeom>
          <a:noFill/>
        </p:spPr>
        <p:txBody>
          <a:bodyPr wrap="square" anchor="t" lIns="0" rIns="0" tIns="0" bIns="0"/>
          <a:lstStyle/>
          <a:p>
            <a:pPr algn="l">
              <a:lnSpc>
                <a:spcPct val="100000"/>
              </a:lnSpc>
              <a:spcBef>
                <a:spcPts val="0"/>
              </a:spcBef>
              <a:spcAft>
                <a:spcPts val="0"/>
              </a:spcAft>
            </a:pPr>
            <a:r>
              <a:rPr sz="1200" b="1" i="0" lang="en-AU" spc="72" cap="all">
                <a:solidFill>
                  <a:srgbClr val="EA493F"/>
                </a:solidFill>
                <a:latin typeface="Inter"/>
              </a:rPr>
              <a:t>QANTAS</a:t>
            </a:r>
          </a:p>
        </p:txBody>
      </p:sp>
      <p:sp>
        <p:nvSpPr>
          <p:cNvPr id="11" name="TextBox 10"/>
          <p:cNvSpPr txBox="1"/>
          <p:nvPr/>
        </p:nvSpPr>
        <p:spPr>
          <a:xfrm>
            <a:off x="4649114" y="3200400"/>
            <a:ext cx="2930042" cy="3108960"/>
          </a:xfrm>
          <a:prstGeom prst="rect">
            <a:avLst/>
          </a:prstGeom>
          <a:noFill/>
        </p:spPr>
        <p:txBody>
          <a:bodyPr wrap="square" anchor="t" lIns="0" rIns="0" tIns="0" bIns="0"/>
          <a:lstStyle/>
          <a:p>
            <a:pPr algn="l">
              <a:lnSpc>
                <a:spcPct val="128000"/>
              </a:lnSpc>
              <a:spcBef>
                <a:spcPts val="0"/>
              </a:spcBef>
              <a:spcAft>
                <a:spcPts val="0"/>
              </a:spcAft>
            </a:pPr>
            <a:r>
              <a:rPr sz="1050" b="0" i="0" lang="en-AU" spc="0">
                <a:solidFill>
                  <a:srgbClr val="323232"/>
                </a:solidFill>
                <a:latin typeface="Inter"/>
              </a:rPr>
              <a:t>A partner since 2014, taking over Workday support in 2017 and becoming strategic across HR, Payroll, Digital, Automation, Data and Analytics. By scaling integrations, modernising architectures and embedding automation, Mivada grew from post–go-live support into Qantas' long-term enterprise partner.</a:t>
            </a:r>
          </a:p>
        </p:txBody>
      </p:sp>
      <p:cxnSp>
        <p:nvCxnSpPr>
          <p:cNvPr id="12" name="Connector 11"/>
          <p:cNvCxnSpPr/>
          <p:nvPr/>
        </p:nvCxnSpPr>
        <p:spPr>
          <a:xfrm>
            <a:off x="7835188" y="2743200"/>
            <a:ext cx="0" cy="3474720"/>
          </a:xfrm>
          <a:prstGeom prst="bentConnector3">
            <a:avLst/>
          </a:prstGeom>
          <a:ln w="12700">
            <a:solidFill>
              <a:srgbClr val="E4E4E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27796" y="2697480"/>
            <a:ext cx="2957474" cy="457200"/>
          </a:xfrm>
          <a:prstGeom prst="rect">
            <a:avLst/>
          </a:prstGeom>
          <a:noFill/>
        </p:spPr>
        <p:txBody>
          <a:bodyPr wrap="square" anchor="t" lIns="0" rIns="0" tIns="0" bIns="0"/>
          <a:lstStyle/>
          <a:p>
            <a:pPr algn="l">
              <a:lnSpc>
                <a:spcPct val="100000"/>
              </a:lnSpc>
              <a:spcBef>
                <a:spcPts val="0"/>
              </a:spcBef>
              <a:spcAft>
                <a:spcPts val="0"/>
              </a:spcAft>
            </a:pPr>
            <a:r>
              <a:rPr sz="1200" b="1" i="0" lang="en-AU" spc="72" cap="all">
                <a:solidFill>
                  <a:srgbClr val="EA493F"/>
                </a:solidFill>
                <a:latin typeface="Inter"/>
              </a:rPr>
              <a:t>WESTERN SYDNEY INTL AIRPORT</a:t>
            </a:r>
          </a:p>
        </p:txBody>
      </p:sp>
      <p:sp>
        <p:nvSpPr>
          <p:cNvPr id="14" name="TextBox 13"/>
          <p:cNvSpPr txBox="1"/>
          <p:nvPr/>
        </p:nvSpPr>
        <p:spPr>
          <a:xfrm>
            <a:off x="8127796" y="3200400"/>
            <a:ext cx="2930042" cy="3108960"/>
          </a:xfrm>
          <a:prstGeom prst="rect">
            <a:avLst/>
          </a:prstGeom>
          <a:noFill/>
        </p:spPr>
        <p:txBody>
          <a:bodyPr wrap="square" anchor="t" lIns="0" rIns="0" tIns="0" bIns="0"/>
          <a:lstStyle/>
          <a:p>
            <a:pPr algn="l">
              <a:lnSpc>
                <a:spcPct val="128000"/>
              </a:lnSpc>
              <a:spcBef>
                <a:spcPts val="0"/>
              </a:spcBef>
              <a:spcAft>
                <a:spcPts val="0"/>
              </a:spcAft>
            </a:pPr>
            <a:r>
              <a:rPr sz="1050" b="0" i="0" lang="en-AU" spc="0">
                <a:solidFill>
                  <a:srgbClr val="323232"/>
                </a:solidFill>
                <a:latin typeface="Inter"/>
              </a:rPr>
              <a:t>Delivered a card-management system, then expanded into a strategic role on WSI's Workday program. By resolving functional and integration issues and assuming full AMS ownership, Mivada stabilised HR, Payroll, Finance and Procurement — becoming WSI's trusted long-term partner.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Mivada_Icon_White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777777"/>
                </a:solidFill>
                <a:latin typeface="Inter"/>
              </a:rPr>
              <a:t>HOW WE DELIVER</a:t>
            </a:r>
          </a:p>
        </p:txBody>
      </p:sp>
      <p:sp>
        <p:nvSpPr>
          <p:cNvPr id="4" name="TextBox 3"/>
          <p:cNvSpPr txBox="1"/>
          <p:nvPr/>
        </p:nvSpPr>
        <p:spPr>
          <a:xfrm>
            <a:off x="877824" y="2286000"/>
            <a:ext cx="73152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HOW WE DELIVER</a:t>
            </a:r>
          </a:p>
        </p:txBody>
      </p:sp>
      <p:sp>
        <p:nvSpPr>
          <p:cNvPr id="5" name="TextBox 4"/>
          <p:cNvSpPr txBox="1"/>
          <p:nvPr/>
        </p:nvSpPr>
        <p:spPr>
          <a:xfrm>
            <a:off x="841248" y="2697480"/>
            <a:ext cx="10424160" cy="1463040"/>
          </a:xfrm>
          <a:prstGeom prst="rect">
            <a:avLst/>
          </a:prstGeom>
          <a:noFill/>
        </p:spPr>
        <p:txBody>
          <a:bodyPr wrap="square" anchor="t" lIns="0" rIns="0" tIns="0" bIns="0"/>
          <a:lstStyle/>
          <a:p>
            <a:pPr algn="l">
              <a:lnSpc>
                <a:spcPct val="98000"/>
              </a:lnSpc>
              <a:spcBef>
                <a:spcPts val="0"/>
              </a:spcBef>
              <a:spcAft>
                <a:spcPts val="0"/>
              </a:spcAft>
            </a:pPr>
            <a:r>
              <a:rPr sz="5200" b="1" i="0" lang="en-AU" spc="-130">
                <a:solidFill>
                  <a:srgbClr val="FFFFFF"/>
                </a:solidFill>
                <a:latin typeface="Inter"/>
              </a:rPr>
              <a:t>Delivery you can </a:t>
            </a:r>
            <a:r>
              <a:rPr sz="5200" b="1" i="0" lang="en-AU" spc="-130">
                <a:solidFill>
                  <a:srgbClr val="EA493F"/>
                </a:solidFill>
                <a:latin typeface="Inter"/>
              </a:rPr>
              <a:t>see and trust.</a:t>
            </a:r>
          </a:p>
        </p:txBody>
      </p:sp>
      <p:sp>
        <p:nvSpPr>
          <p:cNvPr id="6" name="TextBox 5"/>
          <p:cNvSpPr txBox="1"/>
          <p:nvPr/>
        </p:nvSpPr>
        <p:spPr>
          <a:xfrm>
            <a:off x="877824" y="4114800"/>
            <a:ext cx="9601200" cy="548640"/>
          </a:xfrm>
          <a:prstGeom prst="rect">
            <a:avLst/>
          </a:prstGeom>
          <a:noFill/>
        </p:spPr>
        <p:txBody>
          <a:bodyPr wrap="square" anchor="t" lIns="0" rIns="0" tIns="0" bIns="0"/>
          <a:lstStyle/>
          <a:p>
            <a:pPr algn="l">
              <a:lnSpc>
                <a:spcPct val="100000"/>
              </a:lnSpc>
              <a:spcBef>
                <a:spcPts val="0"/>
              </a:spcBef>
              <a:spcAft>
                <a:spcPts val="0"/>
              </a:spcAft>
            </a:pPr>
            <a:r>
              <a:rPr sz="1500" b="0" i="0" lang="en-AU" spc="0">
                <a:solidFill>
                  <a:srgbClr val="D6D6D6"/>
                </a:solidFill>
                <a:latin typeface="Inter"/>
              </a:rPr>
              <a:t>A proven methodology, a clear plan, and governance that keeps everyone aligned.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METHODOLOGY</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METHODOLOGY</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How we </a:t>
            </a:r>
            <a:r>
              <a:rPr sz="3400" b="1" i="0" lang="en-AU" spc="-74">
                <a:solidFill>
                  <a:srgbClr val="EA493F"/>
                </a:solidFill>
                <a:latin typeface="Inter"/>
              </a:rPr>
              <a:t>deliver.</a:t>
            </a:r>
          </a:p>
        </p:txBody>
      </p:sp>
      <p:pic>
        <p:nvPicPr>
          <p:cNvPr id="6" name="Picture 5" descr="mr_4_0.png"/>
          <p:cNvPicPr>
            <a:picLocks noChangeAspect="1"/>
          </p:cNvPicPr>
          <p:nvPr/>
        </p:nvPicPr>
        <p:blipFill>
          <a:blip r:embed="rId3"/>
          <a:stretch>
            <a:fillRect/>
          </a:stretch>
        </p:blipFill>
        <p:spPr>
          <a:xfrm>
            <a:off x="3097800" y="2057400"/>
            <a:ext cx="5984206" cy="4206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IMPLEMENTATION PLAN</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INDICATIVE TIMELINE</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Draft implementation </a:t>
            </a:r>
            <a:r>
              <a:rPr sz="3400" b="1" i="0" lang="en-AU" spc="-74">
                <a:solidFill>
                  <a:srgbClr val="EA493F"/>
                </a:solidFill>
                <a:latin typeface="Inter"/>
              </a:rPr>
              <a:t>plan.</a:t>
            </a:r>
          </a:p>
        </p:txBody>
      </p:sp>
      <p:pic>
        <p:nvPicPr>
          <p:cNvPr id="6" name="Picture 5" descr="mr_emf.emf"/>
          <p:cNvPicPr>
            <a:picLocks noChangeAspect="1"/>
          </p:cNvPicPr>
          <p:nvPr/>
        </p:nvPicPr>
        <p:blipFill>
          <a:blip r:embed="rId3"/>
          <a:stretch>
            <a:fillRect/>
          </a:stretch>
        </p:blipFill>
        <p:spPr>
          <a:xfrm>
            <a:off x="877824" y="2240280"/>
            <a:ext cx="10424160" cy="382720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GOVERNANCE</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GOVERNANCE</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How we </a:t>
            </a:r>
            <a:r>
              <a:rPr sz="3400" b="1" i="0" lang="en-AU" spc="-74">
                <a:solidFill>
                  <a:srgbClr val="EA493F"/>
                </a:solidFill>
                <a:latin typeface="Inter"/>
              </a:rPr>
              <a:t>run it.</a:t>
            </a:r>
          </a:p>
        </p:txBody>
      </p:sp>
      <p:pic>
        <p:nvPicPr>
          <p:cNvPr id="6" name="Picture 5" descr="mr_6_0.png"/>
          <p:cNvPicPr>
            <a:picLocks noChangeAspect="1"/>
          </p:cNvPicPr>
          <p:nvPr/>
        </p:nvPicPr>
        <p:blipFill>
          <a:blip r:embed="rId3"/>
          <a:stretch>
            <a:fillRect/>
          </a:stretch>
        </p:blipFill>
        <p:spPr>
          <a:xfrm>
            <a:off x="877824" y="2376943"/>
            <a:ext cx="5074920" cy="3567154"/>
          </a:xfrm>
          <a:prstGeom prst="rect">
            <a:avLst/>
          </a:prstGeom>
        </p:spPr>
      </p:pic>
      <p:pic>
        <p:nvPicPr>
          <p:cNvPr id="7" name="Picture 6" descr="mr_6_1.png"/>
          <p:cNvPicPr>
            <a:picLocks noChangeAspect="1"/>
          </p:cNvPicPr>
          <p:nvPr/>
        </p:nvPicPr>
        <p:blipFill>
          <a:blip r:embed="rId4"/>
          <a:stretch>
            <a:fillRect/>
          </a:stretch>
        </p:blipFill>
        <p:spPr>
          <a:xfrm>
            <a:off x="6227064" y="2438672"/>
            <a:ext cx="5074920" cy="34436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pic>
        <p:nvPicPr>
          <p:cNvPr id="2" name="Picture 1" descr="Mivada_Icon_Melon_RGB_L.png"/>
          <p:cNvPicPr>
            <a:picLocks noChangeAspect="1"/>
          </p:cNvPicPr>
          <p:nvPr/>
        </p:nvPicPr>
        <p:blipFill>
          <a:blip r:embed="rId2"/>
          <a:stretch>
            <a:fillRect/>
          </a:stretch>
        </p:blipFill>
        <p:spPr>
          <a:xfrm>
            <a:off x="877824" y="457200"/>
            <a:ext cx="402032" cy="237744"/>
          </a:xfrm>
          <a:prstGeom prst="rect">
            <a:avLst/>
          </a:prstGeom>
        </p:spPr>
      </p:pic>
      <p:sp>
        <p:nvSpPr>
          <p:cNvPr id="3" name="TextBox 2"/>
          <p:cNvSpPr txBox="1"/>
          <p:nvPr/>
        </p:nvSpPr>
        <p:spPr>
          <a:xfrm>
            <a:off x="8259775" y="420624"/>
            <a:ext cx="3200400" cy="320040"/>
          </a:xfrm>
          <a:prstGeom prst="rect">
            <a:avLst/>
          </a:prstGeom>
          <a:noFill/>
        </p:spPr>
        <p:txBody>
          <a:bodyPr wrap="square" anchor="t" lIns="0" rIns="0" tIns="0" bIns="0"/>
          <a:lstStyle/>
          <a:p>
            <a:pPr algn="r">
              <a:lnSpc>
                <a:spcPct val="100000"/>
              </a:lnSpc>
              <a:spcBef>
                <a:spcPts val="0"/>
              </a:spcBef>
              <a:spcAft>
                <a:spcPts val="0"/>
              </a:spcAft>
            </a:pPr>
            <a:r>
              <a:rPr sz="1050" b="1" i="0" lang="en-AU" spc="147" cap="all">
                <a:solidFill>
                  <a:srgbClr val="AEAEAE"/>
                </a:solidFill>
                <a:latin typeface="Inter"/>
              </a:rPr>
              <a:t>RACI &amp; DATA MIGRATION</a:t>
            </a:r>
          </a:p>
        </p:txBody>
      </p:sp>
      <p:sp>
        <p:nvSpPr>
          <p:cNvPr id="4" name="TextBox 3"/>
          <p:cNvSpPr txBox="1"/>
          <p:nvPr/>
        </p:nvSpPr>
        <p:spPr>
          <a:xfrm>
            <a:off x="877824" y="841248"/>
            <a:ext cx="100584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ROLES &amp; DATA</a:t>
            </a:r>
          </a:p>
        </p:txBody>
      </p:sp>
      <p:sp>
        <p:nvSpPr>
          <p:cNvPr id="5" name="TextBox 4"/>
          <p:cNvSpPr txBox="1"/>
          <p:nvPr/>
        </p:nvSpPr>
        <p:spPr>
          <a:xfrm>
            <a:off x="841248" y="1207008"/>
            <a:ext cx="10436047" cy="1097280"/>
          </a:xfrm>
          <a:prstGeom prst="rect">
            <a:avLst/>
          </a:prstGeom>
          <a:noFill/>
        </p:spPr>
        <p:txBody>
          <a:bodyPr wrap="square" anchor="t" lIns="0" rIns="0" tIns="0" bIns="0"/>
          <a:lstStyle/>
          <a:p>
            <a:pPr algn="l">
              <a:lnSpc>
                <a:spcPct val="100000"/>
              </a:lnSpc>
              <a:spcBef>
                <a:spcPts val="0"/>
              </a:spcBef>
              <a:spcAft>
                <a:spcPts val="0"/>
              </a:spcAft>
            </a:pPr>
            <a:r>
              <a:rPr sz="3400" b="1" i="0" lang="en-AU" spc="-74">
                <a:solidFill>
                  <a:srgbClr val="111111"/>
                </a:solidFill>
                <a:latin typeface="Inter"/>
              </a:rPr>
              <a:t>RACI &amp; data </a:t>
            </a:r>
            <a:r>
              <a:rPr sz="3400" b="1" i="0" lang="en-AU" spc="-74">
                <a:solidFill>
                  <a:srgbClr val="EA493F"/>
                </a:solidFill>
                <a:latin typeface="Inter"/>
              </a:rPr>
              <a:t>migration.</a:t>
            </a:r>
          </a:p>
        </p:txBody>
      </p:sp>
      <p:pic>
        <p:nvPicPr>
          <p:cNvPr id="6" name="Picture 5" descr="mr_7_0.png"/>
          <p:cNvPicPr>
            <a:picLocks noChangeAspect="1"/>
          </p:cNvPicPr>
          <p:nvPr/>
        </p:nvPicPr>
        <p:blipFill>
          <a:blip r:embed="rId3"/>
          <a:stretch>
            <a:fillRect/>
          </a:stretch>
        </p:blipFill>
        <p:spPr>
          <a:xfrm>
            <a:off x="1512719" y="2057400"/>
            <a:ext cx="3805129" cy="4206239"/>
          </a:xfrm>
          <a:prstGeom prst="rect">
            <a:avLst/>
          </a:prstGeom>
        </p:spPr>
      </p:pic>
      <p:pic>
        <p:nvPicPr>
          <p:cNvPr id="7" name="Picture 6" descr="mr_7_1.png"/>
          <p:cNvPicPr>
            <a:picLocks noChangeAspect="1"/>
          </p:cNvPicPr>
          <p:nvPr/>
        </p:nvPicPr>
        <p:blipFill>
          <a:blip r:embed="rId4"/>
          <a:stretch>
            <a:fillRect/>
          </a:stretch>
        </p:blipFill>
        <p:spPr>
          <a:xfrm>
            <a:off x="6708139" y="2057400"/>
            <a:ext cx="4112767" cy="420623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Mivada_Logo_2C_OnBlack_RGB_L.png"/>
          <p:cNvPicPr>
            <a:picLocks noChangeAspect="1"/>
          </p:cNvPicPr>
          <p:nvPr/>
        </p:nvPicPr>
        <p:blipFill>
          <a:blip r:embed="rId2"/>
          <a:stretch>
            <a:fillRect/>
          </a:stretch>
        </p:blipFill>
        <p:spPr>
          <a:xfrm>
            <a:off x="877824" y="749808"/>
            <a:ext cx="2531685" cy="384048"/>
          </a:xfrm>
          <a:prstGeom prst="rect">
            <a:avLst/>
          </a:prstGeom>
        </p:spPr>
      </p:pic>
      <p:sp>
        <p:nvSpPr>
          <p:cNvPr id="3" name="TextBox 2"/>
          <p:cNvSpPr txBox="1"/>
          <p:nvPr/>
        </p:nvSpPr>
        <p:spPr>
          <a:xfrm>
            <a:off x="877824" y="2194560"/>
            <a:ext cx="7315200" cy="320040"/>
          </a:xfrm>
          <a:prstGeom prst="rect">
            <a:avLst/>
          </a:prstGeom>
          <a:noFill/>
        </p:spPr>
        <p:txBody>
          <a:bodyPr wrap="square" anchor="t" lIns="0" rIns="0" tIns="0" bIns="0"/>
          <a:lstStyle/>
          <a:p>
            <a:pPr algn="l">
              <a:lnSpc>
                <a:spcPct val="100000"/>
              </a:lnSpc>
              <a:spcBef>
                <a:spcPts val="0"/>
              </a:spcBef>
              <a:spcAft>
                <a:spcPts val="0"/>
              </a:spcAft>
            </a:pPr>
            <a:r>
              <a:rPr sz="1200" b="1" i="0" lang="en-AU" spc="192" cap="all">
                <a:solidFill>
                  <a:srgbClr val="EA493F"/>
                </a:solidFill>
                <a:latin typeface="Inter"/>
              </a:rPr>
              <a:t>NEXT STEPS</a:t>
            </a:r>
          </a:p>
        </p:txBody>
      </p:sp>
      <p:sp>
        <p:nvSpPr>
          <p:cNvPr id="4" name="TextBox 3"/>
          <p:cNvSpPr txBox="1"/>
          <p:nvPr/>
        </p:nvSpPr>
        <p:spPr>
          <a:xfrm>
            <a:off x="841248" y="2606040"/>
            <a:ext cx="10058400" cy="1280160"/>
          </a:xfrm>
          <a:prstGeom prst="rect">
            <a:avLst/>
          </a:prstGeom>
          <a:noFill/>
        </p:spPr>
        <p:txBody>
          <a:bodyPr wrap="square" anchor="t" lIns="0" rIns="0" tIns="0" bIns="0"/>
          <a:lstStyle/>
          <a:p>
            <a:pPr algn="l">
              <a:lnSpc>
                <a:spcPct val="98000"/>
              </a:lnSpc>
              <a:spcBef>
                <a:spcPts val="0"/>
              </a:spcBef>
              <a:spcAft>
                <a:spcPts val="0"/>
              </a:spcAft>
            </a:pPr>
            <a:r>
              <a:rPr sz="5000" b="1" i="0" lang="en-AU" spc="-125">
                <a:solidFill>
                  <a:srgbClr val="FFFFFF"/>
                </a:solidFill>
                <a:latin typeface="Inter"/>
              </a:rPr>
              <a:t>Where to </a:t>
            </a:r>
            <a:r>
              <a:rPr sz="5000" b="1" i="0" lang="en-AU" spc="-125">
                <a:solidFill>
                  <a:srgbClr val="EA493F"/>
                </a:solidFill>
                <a:latin typeface="Inter"/>
              </a:rPr>
              <a:t>from here?</a:t>
            </a:r>
          </a:p>
        </p:txBody>
      </p:sp>
      <p:sp>
        <p:nvSpPr>
          <p:cNvPr id="5" name="TextBox 4"/>
          <p:cNvSpPr txBox="1"/>
          <p:nvPr/>
        </p:nvSpPr>
        <p:spPr>
          <a:xfrm>
            <a:off x="877824" y="3977639"/>
            <a:ext cx="640080" cy="457200"/>
          </a:xfrm>
          <a:prstGeom prst="rect">
            <a:avLst/>
          </a:prstGeom>
          <a:noFill/>
        </p:spPr>
        <p:txBody>
          <a:bodyPr wrap="square" anchor="t" lIns="0" rIns="0" tIns="0" bIns="0"/>
          <a:lstStyle/>
          <a:p>
            <a:pPr algn="l">
              <a:lnSpc>
                <a:spcPct val="100000"/>
              </a:lnSpc>
              <a:spcBef>
                <a:spcPts val="0"/>
              </a:spcBef>
              <a:spcAft>
                <a:spcPts val="0"/>
              </a:spcAft>
            </a:pPr>
            <a:r>
              <a:rPr sz="1500" b="1" i="0" lang="en-AU" spc="0">
                <a:solidFill>
                  <a:srgbClr val="EA493F"/>
                </a:solidFill>
                <a:latin typeface="Inter"/>
              </a:rPr>
              <a:t>01</a:t>
            </a:r>
          </a:p>
        </p:txBody>
      </p:sp>
      <p:sp>
        <p:nvSpPr>
          <p:cNvPr id="6" name="TextBox 5"/>
          <p:cNvSpPr txBox="1"/>
          <p:nvPr/>
        </p:nvSpPr>
        <p:spPr>
          <a:xfrm>
            <a:off x="1444752" y="3977639"/>
            <a:ext cx="9144000" cy="457200"/>
          </a:xfrm>
          <a:prstGeom prst="rect">
            <a:avLst/>
          </a:prstGeom>
          <a:noFill/>
        </p:spPr>
        <p:txBody>
          <a:bodyPr wrap="square" anchor="t" lIns="0" rIns="0" tIns="0" bIns="0"/>
          <a:lstStyle/>
          <a:p>
            <a:pPr algn="l">
              <a:lnSpc>
                <a:spcPct val="100000"/>
              </a:lnSpc>
              <a:spcBef>
                <a:spcPts val="0"/>
              </a:spcBef>
              <a:spcAft>
                <a:spcPts val="0"/>
              </a:spcAft>
            </a:pPr>
            <a:r>
              <a:rPr sz="1500" b="1" i="0" lang="en-AU" spc="-15">
                <a:solidFill>
                  <a:srgbClr val="FFFFFF"/>
                </a:solidFill>
                <a:latin typeface="Inter"/>
              </a:rPr>
              <a:t>Share your priorities and constraints</a:t>
            </a:r>
          </a:p>
        </p:txBody>
      </p:sp>
      <p:sp>
        <p:nvSpPr>
          <p:cNvPr id="7" name="TextBox 6"/>
          <p:cNvSpPr txBox="1"/>
          <p:nvPr/>
        </p:nvSpPr>
        <p:spPr>
          <a:xfrm>
            <a:off x="877824" y="4526279"/>
            <a:ext cx="640080" cy="457200"/>
          </a:xfrm>
          <a:prstGeom prst="rect">
            <a:avLst/>
          </a:prstGeom>
          <a:noFill/>
        </p:spPr>
        <p:txBody>
          <a:bodyPr wrap="square" anchor="t" lIns="0" rIns="0" tIns="0" bIns="0"/>
          <a:lstStyle/>
          <a:p>
            <a:pPr algn="l">
              <a:lnSpc>
                <a:spcPct val="100000"/>
              </a:lnSpc>
              <a:spcBef>
                <a:spcPts val="0"/>
              </a:spcBef>
              <a:spcAft>
                <a:spcPts val="0"/>
              </a:spcAft>
            </a:pPr>
            <a:r>
              <a:rPr sz="1500" b="1" i="0" lang="en-AU" spc="0">
                <a:solidFill>
                  <a:srgbClr val="EA493F"/>
                </a:solidFill>
                <a:latin typeface="Inter"/>
              </a:rPr>
              <a:t>02</a:t>
            </a:r>
          </a:p>
        </p:txBody>
      </p:sp>
      <p:sp>
        <p:nvSpPr>
          <p:cNvPr id="8" name="TextBox 7"/>
          <p:cNvSpPr txBox="1"/>
          <p:nvPr/>
        </p:nvSpPr>
        <p:spPr>
          <a:xfrm>
            <a:off x="1444752" y="4526279"/>
            <a:ext cx="9144000" cy="457200"/>
          </a:xfrm>
          <a:prstGeom prst="rect">
            <a:avLst/>
          </a:prstGeom>
          <a:noFill/>
        </p:spPr>
        <p:txBody>
          <a:bodyPr wrap="square" anchor="t" lIns="0" rIns="0" tIns="0" bIns="0"/>
          <a:lstStyle/>
          <a:p>
            <a:pPr algn="l">
              <a:lnSpc>
                <a:spcPct val="100000"/>
              </a:lnSpc>
              <a:spcBef>
                <a:spcPts val="0"/>
              </a:spcBef>
              <a:spcAft>
                <a:spcPts val="0"/>
              </a:spcAft>
            </a:pPr>
            <a:r>
              <a:rPr sz="1500" b="1" i="0" lang="en-AU" spc="-15">
                <a:solidFill>
                  <a:srgbClr val="FFFFFF"/>
                </a:solidFill>
                <a:latin typeface="Inter"/>
              </a:rPr>
              <a:t>We shape a tailored Workday plan</a:t>
            </a:r>
          </a:p>
        </p:txBody>
      </p:sp>
      <p:sp>
        <p:nvSpPr>
          <p:cNvPr id="9" name="TextBox 8"/>
          <p:cNvSpPr txBox="1"/>
          <p:nvPr/>
        </p:nvSpPr>
        <p:spPr>
          <a:xfrm>
            <a:off x="877824" y="5074919"/>
            <a:ext cx="640080" cy="457200"/>
          </a:xfrm>
          <a:prstGeom prst="rect">
            <a:avLst/>
          </a:prstGeom>
          <a:noFill/>
        </p:spPr>
        <p:txBody>
          <a:bodyPr wrap="square" anchor="t" lIns="0" rIns="0" tIns="0" bIns="0"/>
          <a:lstStyle/>
          <a:p>
            <a:pPr algn="l">
              <a:lnSpc>
                <a:spcPct val="100000"/>
              </a:lnSpc>
              <a:spcBef>
                <a:spcPts val="0"/>
              </a:spcBef>
              <a:spcAft>
                <a:spcPts val="0"/>
              </a:spcAft>
            </a:pPr>
            <a:r>
              <a:rPr sz="1500" b="1" i="0" lang="en-AU" spc="0">
                <a:solidFill>
                  <a:srgbClr val="EA493F"/>
                </a:solidFill>
                <a:latin typeface="Inter"/>
              </a:rPr>
              <a:t>03</a:t>
            </a:r>
          </a:p>
        </p:txBody>
      </p:sp>
      <p:sp>
        <p:nvSpPr>
          <p:cNvPr id="10" name="TextBox 9"/>
          <p:cNvSpPr txBox="1"/>
          <p:nvPr/>
        </p:nvSpPr>
        <p:spPr>
          <a:xfrm>
            <a:off x="1444752" y="5074919"/>
            <a:ext cx="9144000" cy="457200"/>
          </a:xfrm>
          <a:prstGeom prst="rect">
            <a:avLst/>
          </a:prstGeom>
          <a:noFill/>
        </p:spPr>
        <p:txBody>
          <a:bodyPr wrap="square" anchor="t" lIns="0" rIns="0" tIns="0" bIns="0"/>
          <a:lstStyle/>
          <a:p>
            <a:pPr algn="l">
              <a:lnSpc>
                <a:spcPct val="100000"/>
              </a:lnSpc>
              <a:spcBef>
                <a:spcPts val="0"/>
              </a:spcBef>
              <a:spcAft>
                <a:spcPts val="0"/>
              </a:spcAft>
            </a:pPr>
            <a:r>
              <a:rPr sz="1500" b="1" i="0" lang="en-AU" spc="-15">
                <a:solidFill>
                  <a:srgbClr val="FFFFFF"/>
                </a:solidFill>
                <a:latin typeface="Inter"/>
              </a:rPr>
              <a:t>Kick off with a focused discovery workshop</a:t>
            </a:r>
          </a:p>
        </p:txBody>
      </p:sp>
      <p:cxnSp>
        <p:nvCxnSpPr>
          <p:cNvPr id="11" name="Connector 10"/>
          <p:cNvCxnSpPr/>
          <p:nvPr/>
        </p:nvCxnSpPr>
        <p:spPr>
          <a:xfrm>
            <a:off x="877824" y="6053328"/>
            <a:ext cx="10436047" cy="0"/>
          </a:xfrm>
          <a:prstGeom prst="bentConnector3">
            <a:avLst/>
          </a:prstGeom>
          <a:ln w="12700">
            <a:solidFill>
              <a:srgbClr val="3A3A3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6181344"/>
            <a:ext cx="7315200" cy="457200"/>
          </a:xfrm>
          <a:prstGeom prst="rect">
            <a:avLst/>
          </a:prstGeom>
          <a:noFill/>
        </p:spPr>
        <p:txBody>
          <a:bodyPr wrap="square" anchor="t" lIns="0" rIns="0" tIns="0" bIns="0"/>
          <a:lstStyle/>
          <a:p>
            <a:pPr algn="l">
              <a:lnSpc>
                <a:spcPct val="100000"/>
              </a:lnSpc>
              <a:spcBef>
                <a:spcPts val="0"/>
              </a:spcBef>
              <a:spcAft>
                <a:spcPts val="0"/>
              </a:spcAft>
            </a:pPr>
            <a:r>
              <a:rPr sz="1250" b="1" i="0" lang="en-AU" spc="25">
                <a:solidFill>
                  <a:srgbClr val="CFCFCF"/>
                </a:solidFill>
                <a:latin typeface="Inter"/>
              </a:rPr>
              <a:t>hello@mivada.com · mivada.com</a:t>
            </a:r>
          </a:p>
        </p:txBody>
      </p:sp>
      <p:sp>
        <p:nvSpPr>
          <p:cNvPr id="13" name="TextBox 12"/>
          <p:cNvSpPr txBox="1"/>
          <p:nvPr/>
        </p:nvSpPr>
        <p:spPr>
          <a:xfrm>
            <a:off x="5790895" y="6181344"/>
            <a:ext cx="5522976" cy="457200"/>
          </a:xfrm>
          <a:prstGeom prst="rect">
            <a:avLst/>
          </a:prstGeom>
          <a:noFill/>
        </p:spPr>
        <p:txBody>
          <a:bodyPr wrap="square" anchor="t" lIns="0" rIns="0" tIns="0" bIns="0"/>
          <a:lstStyle/>
          <a:p>
            <a:pPr algn="r">
              <a:lnSpc>
                <a:spcPct val="100000"/>
              </a:lnSpc>
              <a:spcBef>
                <a:spcPts val="0"/>
              </a:spcBef>
              <a:spcAft>
                <a:spcPts val="0"/>
              </a:spcAft>
            </a:pPr>
            <a:r>
              <a:rPr sz="1250" b="0" i="0" lang="en-AU" spc="25">
                <a:solidFill>
                  <a:srgbClr val="AEAEAE"/>
                </a:solidFill>
                <a:latin typeface="Inter"/>
              </a:rPr>
              <a:t>Sydney · Melbourne · AU &amp;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