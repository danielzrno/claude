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In good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Qantas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154680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86835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Jetstar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5847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Guzman y Gomez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04859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Western Sydney Airport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4859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Canva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721608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835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NAB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86835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5847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Rio Tinto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4859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ResMed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04859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HCF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4288536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835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IAG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86835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5847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University of Sydney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04859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Macquarie University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4859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77824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824" y="4855464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86835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Seven West Media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6835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95847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Amart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704859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dnata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04859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77824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Queensland Airports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" y="5422392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486835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Kennards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835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847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Anglicare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4859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ProPharma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04859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2468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44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9544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9544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44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94360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">
                <a:solidFill>
                  <a:srgbClr val="EA493F"/>
                </a:solidFill>
                <a:latin typeface="Inter"/>
              </a:rPr>
              <a:t>Adaptive Planning — all modules.   </a:t>
            </a:r>
            <a:r>
              <a:rPr sz="1250" b="0" i="0" lang="en-AU" spc="0">
                <a:solidFill>
                  <a:srgbClr val="323232"/>
                </a:solidFill>
                <a:latin typeface="Inter"/>
              </a:rPr>
              <a:t>Cross-skilled in reporting, security and integrations across both suites — one team, two suites.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Two ways we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Augmentation and Application Management Services — flex between them as your needs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You direct the work; we provide certified Workday FIN &amp; HCM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Scale capacity up or down by the day, week or 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project surge, BAU backlog, leave cover or niche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Onshore (AU), offshore (India) or a blended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Time-and-materials or a pre-agreed block of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MANAGED SERVICES (AMS)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Mivada owns incident, problem, change &amp; release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SLA-backed and governed, with 24×7 P1/P2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Continuous improvement and bi-annual release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steady-state operations and long-term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Fixed monthly hours with carry-forward flexibility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580644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AEAEAE"/>
                </a:solidFill>
                <a:latin typeface="Inter"/>
              </a:rPr>
              <a:t>Many clients start with augmentation and move into AMS as their environment stabilises — the same team carries the knowledge across.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320436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111111"/>
                </a:solidFill>
                <a:latin typeface="Inter"/>
              </a:rPr>
              <a:t>Operational excellence · ITIL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Incident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52044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Problem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8620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Change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25196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Release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61772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Service requests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98348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SLAs &amp;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534924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Change Advisory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71500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Service integration (ITSM)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608076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Capacity management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56506" y="2468880"/>
            <a:ext cx="0" cy="36576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7402" y="2468880"/>
            <a:ext cx="289346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111111"/>
                </a:solidFill>
                <a:latin typeface="Inter"/>
              </a:rPr>
              <a:t>Operations as a 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402" y="31546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402" y="352044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BP &amp; security config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7402" y="388620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Integration health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7402" y="425196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Cyber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7402" y="461772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Backlog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49834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Prioritisation forum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7402" y="534924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WD bi-annual release management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35188" y="2468880"/>
            <a:ext cx="0" cy="36576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146084" y="2468880"/>
            <a:ext cx="289346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111111"/>
                </a:solidFill>
                <a:latin typeface="Inter"/>
              </a:rPr>
              <a:t>Business value realisation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6084" y="31546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Continuous improvement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6084" y="352044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Enhancements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6084" y="388620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Knowledge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6084" y="425196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Thought leadership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46084" y="461772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Technical-debt reduction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49834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Product &amp; vendor relationship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5957" y="2697480"/>
            <a:ext cx="2898902" cy="1554480"/>
          </a:xfrm>
          <a:prstGeom prst="rect">
            <a:avLst/>
          </a:prstGeom>
          <a:solidFill>
            <a:srgbClr val="2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5694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23">
                <a:solidFill>
                  <a:srgbClr val="FFFFFF"/>
                </a:solidFill>
                <a:latin typeface="Inter"/>
              </a:rPr>
              <a:t>ONSHORE · Australia   </a:t>
            </a:r>
            <a:r>
              <a:rPr sz="1150" b="1" i="0" lang="en-AU" spc="46">
                <a:solidFill>
                  <a:srgbClr val="AEAEAE"/>
                </a:solidFill>
                <a:latin typeface="Inter"/>
              </a:rPr>
              <a:t>8:30 – 17:30 AEST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2880360"/>
            <a:ext cx="5218023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4838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23">
                <a:solidFill>
                  <a:srgbClr val="FFFFFF"/>
                </a:solidFill>
                <a:latin typeface="Inter"/>
              </a:rPr>
              <a:t>OFFSHORE · India   </a:t>
            </a:r>
            <a:r>
              <a:rPr sz="1150" b="1" i="0" lang="en-AU" spc="46">
                <a:solidFill>
                  <a:srgbClr val="AEAEAE"/>
                </a:solidFill>
                <a:latin typeface="Inter"/>
              </a:rPr>
              <a:t>8:00 – 17:00 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5957" y="3794760"/>
            <a:ext cx="5218023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1075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197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099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58221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4892040"/>
            <a:ext cx="10436047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95604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EA493F"/>
                </a:solidFill>
                <a:latin typeface="Inter"/>
              </a:rPr>
              <a:t>24×7 P1/P2 ON-CALL   </a:t>
            </a:r>
            <a:r>
              <a:rPr sz="1100" b="1" i="0" lang="en-AU" spc="0">
                <a:solidFill>
                  <a:srgbClr val="D6D6D6"/>
                </a:solidFill>
                <a:latin typeface="Inter"/>
              </a:rPr>
              <a:t>always-on safety net for P1 &amp; P2 incidents, in line with monthly hours.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53212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861304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6190488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53212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861304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190488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Monitoring &amp; backlog resolution per SLAs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Strong governance. Aligned teams. Confident execution.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233172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697480" y="2404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404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404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70632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99815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90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752344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5234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Strategic oversight &amp; direction · innovation &amp; thought leadership · roadmap &amp; investment · relationship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752344"/>
            <a:ext cx="16916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95020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7824" y="4005072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Tactical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3342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90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986784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Product Owner – Workday · IT Service Owner – AMS · Risk, Security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98678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Service performance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986784"/>
            <a:ext cx="16916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1846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5239512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Operational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5686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90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5221224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IT App Support / AMS team · Change &amp; Release Coordinators · Super Users / SMEs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22122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Daily incident triage &amp; resolution · change &amp; release execution · user experience · operational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5221224"/>
            <a:ext cx="16916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0">
                <a:solidFill>
                  <a:srgbClr val="111111"/>
                </a:solidFill>
                <a:latin typeface="Inter"/>
              </a:rPr>
              <a:t>Service Delivery Lead · Workday Consultants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" y="641908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7824" y="652881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Integrated onshore–offshore teams delivering as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3234842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487168"/>
            <a:ext cx="277764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-16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926080"/>
            <a:ext cx="277764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en-AU" spc="0">
                <a:solidFill>
                  <a:srgbClr val="CFCFCF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286000"/>
            <a:ext cx="3234842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4458" y="2487168"/>
            <a:ext cx="277764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-16">
                <a:solidFill>
                  <a:srgbClr val="FFFFFF"/>
                </a:solidFill>
                <a:latin typeface="Inter"/>
              </a:rPr>
              <a:t>Service Delivery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4458" y="2926080"/>
            <a:ext cx="277764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en-AU" spc="0">
                <a:solidFill>
                  <a:srgbClr val="CFCFCF"/>
                </a:solidFill>
                <a:latin typeface="Inter"/>
              </a:rPr>
              <a:t>Day-to-day AMS operations &amp; SLAs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286000"/>
            <a:ext cx="3234842" cy="13716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5060" y="2487168"/>
            <a:ext cx="277764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05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060" y="2852928"/>
            <a:ext cx="277764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FFFFFF"/>
                </a:solidFill>
                <a:latin typeface="Inter"/>
              </a:rPr>
              <a:t>Direct CEO access for executive escalation and strategic sponsorship throughout the engagement.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3840480"/>
            <a:ext cx="5035143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144" y="4023360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37083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Functional / Integration Consultants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473659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CFCFCF"/>
                </a:solidFill>
                <a:latin typeface="Inter"/>
              </a:rPr>
              <a:t>Core HCM · Financials · Integrations (inbound &amp; outbound)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3840480"/>
            <a:ext cx="5035143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047" y="4023360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OFFSHORE · INDIA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437083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Functional / Integration Consultants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473659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CFCFCF"/>
                </a:solidFill>
                <a:latin typeface="Inter"/>
              </a:rPr>
              <a:t>Core HCM · Financials · Integrations (inbound &amp; outbound)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25780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AEAEAE"/>
                </a:solidFill>
                <a:latin typeface="Inter"/>
              </a:rPr>
              <a:t>Dedicated Workday practice · innovation — automation, new Workday features and process optimisation, flowing from Mivada's wider practice.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in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206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2544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