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Master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5" y="2487168"/>
            <a:ext cx="5907265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767328"/>
            <a:ext cx="853409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0">
                <a:solidFill>
                  <a:srgbClr val="111111"/>
                </a:solidFill>
                <a:latin typeface="Inter"/>
              </a:rPr>
              <a:t>Technology, </a:t>
            </a:r>
            <a:r>
              <a:rPr sz="1600" b="1" i="0" lang="en-AU" spc="0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 · COMPANY OVERVIEW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Technology,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human first.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Australian technology consultancy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70408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87">
                <a:solidFill>
                  <a:srgbClr val="111111"/>
                </a:solidFill>
                <a:latin typeface="Inter"/>
              </a:rPr>
              <a:t>An Australian technology </a:t>
            </a:r>
            <a:r>
              <a:rPr sz="4000" b="1" i="0" lang="en-AU" spc="-87">
                <a:solidFill>
                  <a:srgbClr val="EA493F"/>
                </a:solidFill>
                <a:latin typeface="Inter"/>
              </a:rPr>
              <a:t>consultancy.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1874519"/>
            <a:ext cx="3127248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lang="en-AU" spc="0">
                <a:solidFill>
                  <a:srgbClr val="323232"/>
                </a:solidFill>
                <a:latin typeface="Inter"/>
              </a:rPr>
              <a:t>We turn Workday, people systems, data and automation into outcomes teams actually feel — where human understanding becomes system advantage.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9959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41605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2943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FOUNDED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7402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SPECIALISTS · AU, US &amp; INDIA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42062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6084" y="41605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084" y="52943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TRUSTED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In good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A decade of work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Qantas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154680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86835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Jetstar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5847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Guzman y Gomez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04859" y="2697480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Western Sydney Airport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4859" y="3154680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Canva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3721608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86835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NAB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86835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95847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Rio Tinto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4859" y="3264408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ResMed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04859" y="3721608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HCF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4288536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6835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IAG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86835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5847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University of Sydney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04859" y="3831336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Macquarie University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04859" y="4288536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7824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Nine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7824" y="4855464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86835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Seven West Media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86835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095847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Amart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5847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704859" y="4398264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dnata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04859" y="4855464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7824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Queensland Airports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" y="5422392"/>
            <a:ext cx="228897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86835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Kennards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86835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5847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Anglicare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5847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4859" y="4965192"/>
            <a:ext cx="242613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ProPharma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04859" y="5422392"/>
            <a:ext cx="2288972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Across your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people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2395728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2523744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0824" y="2487168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People Systems &amp; Transformation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HCM, Payroll, Time &amp; Attendance and HRIS — implemented and optimised.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2578608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WORKDAY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28269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410712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3374136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Data, Analytics &amp; BI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Reporting, dashboards and governed analytics leaders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2815" y="3465576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INSIGHT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4169663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429768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0824" y="4261104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Process &amp; Automation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Redesign, integrations and automation that remove manual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4352544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EFFICIENCY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5056632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" y="518464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AU" spc="-96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5148072"/>
            <a:ext cx="70408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en-AU" spc="-42">
                <a:solidFill>
                  <a:srgbClr val="FFFFFF"/>
                </a:solidFill>
                <a:latin typeface="Inter"/>
              </a:rPr>
              <a:t>Managed Services &amp; Support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Long-term AMS that keeps delivering value after go-live.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5239512"/>
            <a:ext cx="1591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30" cap="all">
                <a:solidFill>
                  <a:srgbClr val="AEAEAE"/>
                </a:solidFill>
                <a:latin typeface="Inter"/>
              </a:rPr>
              <a:t>PARTNERSHIP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594360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People first,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start to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2380411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Listen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We learn your people, processes and constraints before touching the platform.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86835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7731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Design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We shape Workday around how your teams really work.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6743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Deliver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Agile delivery, senior practitioners, clear governance.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04859" y="2971800"/>
            <a:ext cx="0" cy="22860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15755" y="2971800"/>
            <a:ext cx="2069515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1" i="0" lang="en-AU" spc="-75">
                <a:solidFill>
                  <a:srgbClr val="111111"/>
                </a:solidFill>
                <a:latin typeface="Inter"/>
              </a:rPr>
              <a:t>Care</a:t>
            </a:r>
          </a:p>
          <a:p>
            <a:pPr algn="l">
              <a:lnSpc>
                <a:spcPct val="128000"/>
              </a:lnSpc>
              <a:spcBef>
                <a:spcPts val="10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323232"/>
                </a:solidFill>
                <a:latin typeface="Inter"/>
              </a:rPr>
              <a:t>Long-term managed services that keep improving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DATA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972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AU" spc="-79">
                <a:solidFill>
                  <a:srgbClr val="FFFFFF"/>
                </a:solidFill>
                <a:latin typeface="Inter"/>
              </a:rPr>
              <a:t>Decisions on </a:t>
            </a:r>
            <a:r>
              <a:rPr sz="3600" b="1" i="0" lang="en-AU" spc="-79">
                <a:solidFill>
                  <a:srgbClr val="EA493F"/>
                </a:solidFill>
                <a:latin typeface="Inter"/>
              </a:rPr>
              <a:t>current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11880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CFCFCF"/>
                </a:solidFill>
                <a:latin typeface="Inter"/>
              </a:rPr>
              <a:t>From reporting to governed analytics and automation — we turn Workday data into trusted, timely insight.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55080" y="123444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55080" y="141732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2821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Dashboards &amp; reporting people actually 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233172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251460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82549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Prism &amp; data lakehouse, governed analytics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342900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5080" y="3611880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AUTOMATE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2277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Integrations &amp; automation across the stack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55080" y="4526280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4709159"/>
            <a:ext cx="4958791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ASSURE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20055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7">
                <a:solidFill>
                  <a:srgbClr val="FFFFFF"/>
                </a:solidFill>
                <a:latin typeface="Inter"/>
              </a:rPr>
              <a:t>Security, controls and audit readiness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5623559"/>
            <a:ext cx="495879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CONSULTANT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Full-stack Workday,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Full-stack Workday functional and integration expertise across both suites.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9904" y="2468880"/>
            <a:ext cx="0" cy="32004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AU" spc="-44">
                <a:solidFill>
                  <a:srgbClr val="111111"/>
                </a:solidFill>
                <a:latin typeface="Inter"/>
              </a:rPr>
              <a:t>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Core HCM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10712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Absence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58184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Time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105656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Recruiting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453128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Talent &amp;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006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Compensation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306324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3410712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Payroll (AU / global)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3758184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9544" y="4105656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4453128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48006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Advanced &amp; Composite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AU" spc="-44">
                <a:solidFill>
                  <a:srgbClr val="111111"/>
                </a:solidFill>
                <a:latin typeface="Inter"/>
              </a:rPr>
              <a:t>FIN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Accounting (GL)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10712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Accounting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58184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Accounts Payable / Suppliers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05656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Accounts Receivable /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53128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06324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Banking &amp; Settlement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410712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Business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758184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105656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Prism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453128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80060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943600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2">
                <a:solidFill>
                  <a:srgbClr val="EA493F"/>
                </a:solidFill>
                <a:latin typeface="Inter"/>
              </a:rPr>
              <a:t>Adaptive Planning — all modules.   </a:t>
            </a:r>
            <a:r>
              <a:rPr sz="1250" b="0" i="0" lang="en-AU" spc="0">
                <a:solidFill>
                  <a:srgbClr val="323232"/>
                </a:solidFill>
                <a:latin typeface="Inter"/>
              </a:rPr>
              <a:t>Cross-skilled in reporting, security and integrations across both suites — one team, two suites.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FFFFFF"/>
                </a:solidFill>
                <a:latin typeface="Inter"/>
              </a:rPr>
              <a:t>Two ways we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CFCFCF"/>
                </a:solidFill>
                <a:latin typeface="Inter"/>
              </a:rPr>
              <a:t>Augmentation and Application Management Services — flex between them as your needs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Our certified consultants, embedded in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You direct the work; we provide certified Workday FIN &amp; HCM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Scale capacity up or down by the day, week or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Ideal for project surge, BAU backlog, leave cover or niche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Onshore (AU), offshore (India) or a blended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5221224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Time-and-materials or a pre-agreed block of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MANAGED SERVICES (AMS)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Mivada owns incident, problem, change &amp; release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SLA-backed and governed, with 24×7 P1/P2 on-call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Continuous improvement and bi-annual release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Ideal for steady-state operations and long-term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21224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Fixed monthly hours with carry-forward flexibility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806440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0">
                <a:solidFill>
                  <a:srgbClr val="AEAEAE"/>
                </a:solidFill>
                <a:latin typeface="Inter"/>
              </a:rPr>
              <a:t>Many clients start with augmentation and move into AMS as their environment stabilises — the same team carries the knowledge across.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AMS operating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GOVERNANCE</a:t>
            </a:r>
            <a:r>
              <a:rPr sz="1000" b="0" i="0" lang="en-AU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COVERAGE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Coverage model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always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Seamless onshore–offshore collaboration for continuous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2316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325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868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11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955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498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041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127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671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214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18:30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757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19:30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300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843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21:30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2325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6868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1411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5955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0498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5041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84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4127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8671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3214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7757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2300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56843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31387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7824" y="26974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" y="40690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859551" y="2697480"/>
            <a:ext cx="4472591" cy="1371600"/>
          </a:xfrm>
          <a:prstGeom prst="rect">
            <a:avLst/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2862072"/>
            <a:ext cx="738116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2898648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ONSHORE · Australia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96127" y="3483864"/>
            <a:ext cx="738116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9279" y="352044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OFFSHORE · India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4:00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325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5:00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68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6:00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411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7:00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955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498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5041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584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4127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671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214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757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300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843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" y="432511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en-AU" spc="51" cap="all">
                <a:solidFill>
                  <a:srgbClr val="EA493F"/>
                </a:solidFill>
                <a:latin typeface="Inter"/>
              </a:rPr>
              <a:t>← AEST   ·   IST 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470916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Governance &amp; stakeholder engagement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5038344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Resolution of P1 / P2 incidents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5367528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App health check &amp; start-of-day triage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470916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incident management &amp; 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038344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Routine incidents &amp; service requests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36752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Monitoring &amp; backlog resolution per SLAs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" y="5943600"/>
            <a:ext cx="1043604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6424" y="6007608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31" cap="all">
                <a:solidFill>
                  <a:srgbClr val="FFFFFF"/>
                </a:solidFill>
                <a:latin typeface="Inter"/>
              </a:rPr>
              <a:t>24×7 P1/P2 ON-CALL   </a:t>
            </a:r>
            <a:r>
              <a:rPr sz="1100" b="0" i="0" lang="en-AU" spc="0">
                <a:solidFill>
                  <a:srgbClr val="FFFFFF"/>
                </a:solidFill>
                <a:latin typeface="Inter"/>
              </a:rPr>
              <a:t>always-on safety net for P1 &amp; P2 incidents, in line with monthly hours.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Governance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Strong governance. Aligned teams. Confident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MIVADA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CADENCE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STRATEGIC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Executive Sponsor · CIO / IT Exec · Head of HR / Payroll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587751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Strategic oversight · innovation &amp; thought leadership · roadmap &amp; investment · relationship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CEO · Client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6883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QUARTERLY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2542032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solidFill>
            <a:srgbClr val="D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TACTICAL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Product Owner · IT Service Owner – AMS · Risk &amp; Compliance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666744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Service &amp; SLA review · risk &amp; compliance · release planning &amp; adoption · improvement backlog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Client Partner · Service Delivery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767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MONTHLY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3621024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AMS team · Change &amp; Release Coordinators · Super Users / SMEs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745736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Daily triage &amp; resolution · change &amp; release execution · UX · operational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Service Delivery Lead · Consultants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846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WEEKLY / DAILY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" y="4700016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7824" y="5779008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7824" y="5888736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">
                <a:solidFill>
                  <a:srgbClr val="EA493F"/>
                </a:solidFill>
                <a:latin typeface="Inter"/>
              </a:rPr>
              <a:t>Principles: transparent reporting · escalation by exception · decisions at the right tier · improvement built 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One integrated team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Integrated onshore–offshore teams delivering as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Client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Strategic relationship &amp; sponsorship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0479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Service Delivery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0479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AMS operations &amp; SLAs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72535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819159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72535" y="3566160"/>
            <a:ext cx="5446624" cy="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3566160"/>
            <a:ext cx="0" cy="27432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77824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Onshore · Australia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4447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0479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Offshore ·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0479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" y="5166360"/>
            <a:ext cx="4989423" cy="9144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FFFFFF"/>
                </a:solidFill>
                <a:latin typeface="Inter"/>
              </a:rPr>
              <a:t>THOUGHT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FFFFFF"/>
                </a:solidFill>
                <a:latin typeface="Inter"/>
              </a:rPr>
              <a:t>Strategic advisory · direct CEO access for escalation &amp; sponsorship.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4447" y="5166360"/>
            <a:ext cx="4989423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0479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EA493F"/>
                </a:solidFill>
                <a:latin typeface="Inter"/>
              </a:rPr>
              <a:t>DEDICATED WORKDAY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479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D6D6D6"/>
                </a:solidFill>
                <a:latin typeface="Inter"/>
              </a:rPr>
              <a:t>Innovation — automation, new Workday features &amp; process optimisation.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Proven Workday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288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Long-term partnerships with some of Australia's most demanding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651760"/>
            <a:ext cx="325008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154680"/>
            <a:ext cx="322265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 partner since 2014 — taking over Workday support in 2017 and growing into a strategic partner across HR, Payroll, Digital, Automation, Data and Analytics. We scaled integrations, modernised architectures and embedded automation, evolving into a long-term enterprise partner.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56506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9114" y="265176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114" y="315468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Stabilised and optimised Workday post–go-live across modules, reporting, security and compliance. Agile delivery onboarded 150+ franchisees, shipped new reporting and a redesigned security model, and lifted performance across HCM, Absence and Learning.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35188" y="269748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7796" y="265176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315468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Delivered a card-management system, then expanded into a strategic role on WSI's Workday program. By resolving functional and integration issues and assuming full AMS ownership, we stabilised HR, Payroll, Finance and Procurement.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 partner,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not a vendor.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971800"/>
            <a:ext cx="3204362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01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We grew out of a customer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So we understand your challenges from the inside — and we're not a Big 4.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56506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85690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02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Senior, local, accountable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Australian-owned, with direct access to our CEO and a dedicated engagement manager.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35188" y="2971800"/>
            <a:ext cx="0" cy="233172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64372" y="2971800"/>
            <a:ext cx="2875178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182">
                <a:solidFill>
                  <a:srgbClr val="EA493F"/>
                </a:solidFill>
                <a:latin typeface="Inter"/>
              </a:rPr>
              <a:t>03</a:t>
            </a:r>
          </a:p>
          <a:p>
            <a:pPr algn="l">
              <a:lnSpc>
                <a:spcPct val="102000"/>
              </a:lnSpc>
              <a:spcBef>
                <a:spcPts val="1200"/>
              </a:spcBef>
              <a:spcAft>
                <a:spcPts val="0"/>
              </a:spcAft>
            </a:pPr>
            <a:r>
              <a:rPr sz="2300" b="1" i="0" lang="en-AU" spc="-57">
                <a:solidFill>
                  <a:srgbClr val="FFFFFF"/>
                </a:solidFill>
                <a:latin typeface="Inter"/>
              </a:rPr>
              <a:t>In it for the long term</a:t>
            </a:r>
          </a:p>
          <a:p>
            <a:pPr algn="l">
              <a:lnSpc>
                <a:spcPct val="128000"/>
              </a:lnSpc>
              <a:spcBef>
                <a:spcPts val="1200"/>
              </a:spcBef>
              <a:spcAft>
                <a:spcPts val="0"/>
              </a:spcAft>
            </a:pPr>
            <a:r>
              <a:rPr sz="1250" b="0" i="0" lang="en-AU" spc="0">
                <a:solidFill>
                  <a:srgbClr val="CFCFCF"/>
                </a:solidFill>
                <a:latin typeface="Inter"/>
              </a:rPr>
              <a:t>From go-live into managed services — we grow with you.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Proven in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874519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A decade of Workday delivery — consultants average 3+ years on the platform.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" y="51206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62544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LET'S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Let's build something </a:t>
            </a:r>
            <a:r>
              <a:rPr sz="4400" b="1" i="0" lang="en-AU" spc="-110">
                <a:solidFill>
                  <a:srgbClr val="EA493F"/>
                </a:solidFill>
                <a:latin typeface="Inter"/>
              </a:rPr>
              <a:t>human.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