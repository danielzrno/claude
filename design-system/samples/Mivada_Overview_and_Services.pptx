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Master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111111"/>
                </a:solidFill>
                <a:latin typeface="Inter"/>
              </a:rPr>
              <a:t>Technology, </a:t>
            </a:r>
            <a:r>
              <a:rPr sz="1600" b="1" i="0" lang="en-AU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MIVADA · COMPANY OVERVIEW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Australian technology consultancy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lang="en-AU" spc="-87">
                <a:solidFill>
                  <a:srgbClr val="111111"/>
                </a:solidFill>
                <a:latin typeface="Inter"/>
              </a:rPr>
              <a:t>An Australian technology </a:t>
            </a:r>
            <a:r>
              <a:rPr sz="4000" b="1" i="0" lang="en-AU" spc="-87">
                <a:solidFill>
                  <a:srgbClr val="EA493F"/>
                </a:solidFill>
                <a:latin typeface="Inter"/>
              </a:rPr>
              <a:t>consultancy.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3879" y="1874519"/>
            <a:ext cx="3127248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 lang="en-AU" spc="0">
                <a:solidFill>
                  <a:srgbClr val="323232"/>
                </a:solidFill>
                <a:latin typeface="Inter"/>
              </a:rPr>
              <a:t>We turn Workday, people systems, data and automation into outcomes teams actually feel — where human understanding becomes system advantage.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SPECIALISTS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PEOPLE-SYSTEMS CLIENTS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In good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Qantas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3154680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86835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Jetstar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15468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95847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Guzman y Gomez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5847" y="315468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04859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Western Sydney Airport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04859" y="315468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Canva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7824" y="3721608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486835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NAB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86835" y="372160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95847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Rio Tinto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372160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4859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ResMed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04859" y="372160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77824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HCF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7824" y="4288536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6835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IAG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486835" y="428853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095847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University of Sydney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5847" y="428853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704859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Macquarie University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04859" y="428853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77824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Nine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7824" y="4855464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486835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Seven West Media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486835" y="4855464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095847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Amart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5847" y="4855464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704859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dnata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704859" y="4855464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77824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Queensland Airports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77824" y="5422392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486835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Kennards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86835" y="542239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847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Anglicare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5847" y="542239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04859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ProPharma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704859" y="542239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Across your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people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People Systems 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HCM, Payroll, Time &amp; Attendance and HRIS 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Data, Analytics &amp; BI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Process &amp; Automation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Long-term AMS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People first,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start to finish.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2380411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Listen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We learn your people, processes and constraints before touching the platform.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86835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797731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Design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We shape Workday around how your teams really 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6743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Deliver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Agile delivery, senior practitioners, clear governance.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04859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15755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04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Care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Long-term managed services that keep improving outcomes.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DATA &amp;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972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en-AU" spc="-79">
                <a:solidFill>
                  <a:srgbClr val="FFFFFF"/>
                </a:solidFill>
                <a:latin typeface="Inter"/>
              </a:rPr>
              <a:t>Decisions on </a:t>
            </a:r>
            <a:r>
              <a:rPr sz="3600" b="1" i="0" lang="en-AU" spc="-79">
                <a:solidFill>
                  <a:srgbClr val="EA493F"/>
                </a:solidFill>
                <a:latin typeface="Inter"/>
              </a:rPr>
              <a:t>current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361188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0">
                <a:solidFill>
                  <a:srgbClr val="CFCFCF"/>
                </a:solidFill>
                <a:latin typeface="Inter"/>
              </a:rPr>
              <a:t>From reporting to governed analytics and automation — we turn Workday data into trusted, timely insight.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355080" y="123444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355080" y="141732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2821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Dashboards &amp; reporting people actually use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55080" y="233172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55080" y="251460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ANALYSE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82549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Prism &amp; data lakehouse, governed analytics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55080" y="342900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55080" y="361188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AUTOMATE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92277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Integrations &amp; automation across the stack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55080" y="452628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4709159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ASSURE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5020055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Security, controls and audit readiness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55080" y="5623559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Full-stack Workday,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4943703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AU" spc="-40">
                <a:solidFill>
                  <a:srgbClr val="111111"/>
                </a:solidFill>
                <a:latin typeface="Inter"/>
              </a:rPr>
              <a:t>HCM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06324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Core HCM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410712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Absence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758184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Time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105656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Recruiting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453128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Talent &amp; 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80060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Compensation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9675" y="306324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Benefits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410712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Payroll (AU / global)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3758184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9675" y="4105656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9675" y="4453128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480060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Advanced &amp; Composite Reporting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468880"/>
            <a:ext cx="0" cy="32004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6743" y="2468880"/>
            <a:ext cx="4632807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AU" spc="-40">
                <a:solidFill>
                  <a:srgbClr val="111111"/>
                </a:solidFill>
                <a:latin typeface="Inter"/>
              </a:rPr>
              <a:t>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3" y="306324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Accounting (GL)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3410712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Accounting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6743" y="3758184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43" y="4105656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3" y="4453128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Procurement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6743" y="480060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Expenses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23147" y="306324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Banking &amp; Settlement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3147" y="3410712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Business Assets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3147" y="3758184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147" y="4105656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Prism 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23147" y="4453128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3147" y="480060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6035040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EA493F"/>
                </a:solidFill>
                <a:latin typeface="Inter"/>
              </a:rPr>
              <a:t>Adaptive Planning — all modules.  ·  Cross-skilled across both suites — one team, two suites.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WORKDAY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FFFFFF"/>
                </a:solidFill>
                <a:latin typeface="Inter"/>
              </a:rPr>
              <a:t>Across the whole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77824" y="2194560"/>
            <a:ext cx="3234842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2144" y="2468879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112" cap="all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" y="2962656"/>
            <a:ext cx="2686202" cy="8229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lang="en-AU" spc="-13">
                <a:solidFill>
                  <a:srgbClr val="FFFFFF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78426" y="2194560"/>
            <a:ext cx="3234842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2746" y="2468879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112" cap="all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2746" y="2962656"/>
            <a:ext cx="2686202" cy="8229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lang="en-AU" spc="-13">
                <a:solidFill>
                  <a:srgbClr val="FFFFFF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79028" y="2194560"/>
            <a:ext cx="3234842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3348" y="2468879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112" cap="all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3348" y="2962656"/>
            <a:ext cx="2686202" cy="8229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lang="en-AU" spc="-13">
                <a:solidFill>
                  <a:srgbClr val="FFFFFF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7530" y="2830068"/>
            <a:ext cx="548640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lang="en-AU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8132" y="2830068"/>
            <a:ext cx="548640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lang="en-AU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" y="4389120"/>
            <a:ext cx="6835444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52144" y="4572000"/>
            <a:ext cx="6286804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115" cap="all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4901183"/>
            <a:ext cx="6286804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D6D6D6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9028" y="4389120"/>
            <a:ext cx="3234842" cy="9144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3348" y="4572000"/>
            <a:ext cx="2686202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115" cap="all">
                <a:solidFill>
                  <a:srgbClr val="FFFFFF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3348" y="4901183"/>
            <a:ext cx="2686202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0">
                <a:solidFill>
                  <a:srgbClr val="FFFFFF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6144768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24">
                <a:solidFill>
                  <a:srgbClr val="AEAEAE"/>
                </a:solidFill>
                <a:latin typeface="Inter"/>
              </a:rPr>
              <a:t>Flex between engagement models as you move from build to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FFFFFF"/>
                </a:solidFill>
                <a:latin typeface="Inter"/>
              </a:rPr>
              <a:t>AMS, built on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CFCFCF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25" cap="all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25" cap="all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25" cap="all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24">
                <a:solidFill>
                  <a:srgbClr val="AEAEAE"/>
                </a:solidFill>
                <a:latin typeface="Inter"/>
              </a:rPr>
              <a:t>Operational excellence, by design.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Coverage model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always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Seamless onshore–offshore collaboration for continuous support.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8:30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325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9:30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868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10:30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1411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11:30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9551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12:30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4983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13:30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041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14:30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15:30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127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16:30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6711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17:30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143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18:30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757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19:30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300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20:30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843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21:30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7824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2325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6868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11411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85955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604983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5041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584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84127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58671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332143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7757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82300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56843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31387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7824" y="2697480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77824" y="4069080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859551" y="2697480"/>
            <a:ext cx="4472591" cy="1371600"/>
          </a:xfrm>
          <a:prstGeom prst="rect">
            <a:avLst/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2862072"/>
            <a:ext cx="7381167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2898648"/>
            <a:ext cx="4572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22">
                <a:solidFill>
                  <a:srgbClr val="FFFFFF"/>
                </a:solidFill>
                <a:latin typeface="Inter"/>
              </a:rPr>
              <a:t>ONSHORE · Australia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96127" y="3483864"/>
            <a:ext cx="7381167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69279" y="3520440"/>
            <a:ext cx="4572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22">
                <a:solidFill>
                  <a:srgbClr val="FFFFFF"/>
                </a:solidFill>
                <a:latin typeface="Inter"/>
              </a:rPr>
              <a:t>OFFSHORE · India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4:00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325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5:00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6868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6:00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1411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7:00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59551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8:00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4983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9:00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5041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10:00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584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11:00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4127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12:00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6711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13:00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32143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14:00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7757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15:00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2300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16:00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6843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17:00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7824" y="4325112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lang="en-AU" spc="51" cap="all">
                <a:solidFill>
                  <a:srgbClr val="EA493F"/>
                </a:solidFill>
                <a:latin typeface="Inter"/>
              </a:rPr>
              <a:t>← AEST   ·   IST →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" y="4709160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Governance &amp; stakeholder engagement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7824" y="5038344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Resolution of P1 / P2 incidents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" y="5367528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App health check &amp; start-of-day triage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4709160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Day-to-day incident management &amp; support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43600" y="5038344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Routine incidents &amp; service requests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0" y="5367528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Monitoring &amp; backlog resolution per SLAs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7824" y="5943600"/>
            <a:ext cx="10436047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06424" y="6007608"/>
            <a:ext cx="9978847" cy="3108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31" cap="all">
                <a:solidFill>
                  <a:srgbClr val="FFFFFF"/>
                </a:solidFill>
                <a:latin typeface="Inter"/>
              </a:rPr>
              <a:t>24×7 P1/P2 on-call   </a:t>
            </a:r>
            <a:r>
              <a:rPr sz="1100" b="0" i="0" lang="en-AU" spc="0">
                <a:solidFill>
                  <a:srgbClr val="FFFFFF"/>
                </a:solidFill>
                <a:latin typeface="Inter"/>
              </a:rPr>
              <a:t>always-on safety net for P1 &amp; P2 incidents, in line with monthly hours.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CUSTOMER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MIVADA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CADENCE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0047" y="2651760"/>
            <a:ext cx="1371600" cy="841247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0047" y="2651760"/>
            <a:ext cx="137160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STRATEGIC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587751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587751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Strategic oversight · innovation &amp; thought leadership · roadmap &amp; investment · relationship health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587751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CEO · Client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68833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7824" y="2542032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44287" y="3730752"/>
            <a:ext cx="2103120" cy="841247"/>
          </a:xfrm>
          <a:prstGeom prst="rect">
            <a:avLst/>
          </a:prstGeom>
          <a:solidFill>
            <a:srgbClr val="D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4287" y="3730752"/>
            <a:ext cx="210312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TACTICAL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3666744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Product Owner · IT Service Owner – AMS · Risk &amp; Compliance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666744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Service &amp; SLA review · risk &amp; compliance · release planning &amp; adoption · improvement backlog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666744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Client Partner · Service Delivery Lead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7673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7824" y="3621024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678527" y="4809744"/>
            <a:ext cx="2834640" cy="841247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78527" y="4809744"/>
            <a:ext cx="283464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OPERATIONAL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4745736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AMS team · Change &amp; Release Coordinators · Super Users / SMEs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745736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Daily triage &amp; resolution · change &amp; release execution · UX · operational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745736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Service Delivery Lead · Consultants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4846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7824" y="4700016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77824" y="5779008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7824" y="5888736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">
                <a:solidFill>
                  <a:srgbClr val="EA493F"/>
                </a:solidFill>
                <a:latin typeface="Inter"/>
              </a:rPr>
              <a:t>Principles: transparent reporting · escalation by exception · decisions at the right tier · improvement built 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One integrated team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77824" y="2286000"/>
            <a:ext cx="4989423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246888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Client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285292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Strategic relationship &amp; sponsorship</a:t>
            </a:r>
          </a:p>
        </p:txBody>
      </p:sp>
      <p:sp>
        <p:nvSpPr>
          <p:cNvPr id="8" name="Rectangle 7"/>
          <p:cNvSpPr/>
          <p:nvPr/>
        </p:nvSpPr>
        <p:spPr>
          <a:xfrm>
            <a:off x="6324447" y="2286000"/>
            <a:ext cx="4989423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0479" y="246888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Service Delivery Lead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0479" y="285292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Day-to-day AMS operations &amp; SLAs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72535" y="3246120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819159" y="3246120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2535" y="3566160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3566160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77824" y="3840480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856" y="402336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440740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447" y="3840480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0479" y="402336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0479" y="440740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5166360"/>
            <a:ext cx="4989423" cy="9144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3856" y="5285232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FFFFFF"/>
                </a:solidFill>
                <a:latin typeface="Inter"/>
              </a:rPr>
              <a:t>THOUGHT LEADERSHIP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" y="5614416"/>
            <a:ext cx="4532223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FFFFFF"/>
                </a:solidFill>
                <a:latin typeface="Inter"/>
              </a:rPr>
              <a:t>Strategic advisory · direct CEO access for escalation &amp; sponsorship.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5166360"/>
            <a:ext cx="4989423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0479" y="5285232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EA493F"/>
                </a:solidFill>
                <a:latin typeface="Inter"/>
              </a:rPr>
              <a:t>DEDICATED WORKDAY PRACTICE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0479" y="5614416"/>
            <a:ext cx="4532223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D6D6D6"/>
                </a:solidFill>
                <a:latin typeface="Inter"/>
              </a:rPr>
              <a:t>Innovation — automation, new Workday features &amp; process optimisation.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Proven Workday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Proven in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A decade of Workday delivery — consultants average 3+ years on the platform.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3000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IMPLEMENTATIONS &amp; SUPPORT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77824" y="512064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625449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EMPLOYEES · AU, US &amp; INDIA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PEOPLE-SYSTEMS CLIENTS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YEARS DELIVERING WORKDAY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 lang="en-AU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sz="4400" b="1" i="0" lang="en-AU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lang="en-AU" spc="25">
                <a:solidFill>
                  <a:srgbClr val="AEAEAE"/>
                </a:solidFill>
                <a:latin typeface="Inter"/>
              </a:rPr>
              <a:t>Sydney · Melbourne · AU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