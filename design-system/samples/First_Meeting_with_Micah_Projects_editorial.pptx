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 &amp; what we are doing with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MICAH PROJECTS ·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Implementation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discussion.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 — Workday implementation &amp; 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WHY MIVADA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lang="en-AU" spc="-61">
                <a:solidFill>
                  <a:srgbClr val="FFFFFF"/>
                </a:solidFill>
                <a:latin typeface="Inter"/>
              </a:rPr>
              <a:t>Your long-term </a:t>
            </a:r>
            <a:r>
              <a:rPr sz="2800" b="1" i="0" lang="en-AU" spc="-61">
                <a:solidFill>
                  <a:srgbClr val="EA493F"/>
                </a:solidFill>
                <a:latin typeface="Inter"/>
              </a:rPr>
              <a:t>Workday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We grew out of a customer — so we understand your challenges first-hand.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Australian-owned business, creating Australian jobs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Not a Big 4 — direct access to our CEO, with a reduced escalation matrix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Dedicated local engagement manager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People Systems &amp; Transformation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Data, Analytics &amp; Business Intelligence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Business Process Management &amp; Automation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Dedicated offshore capability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D6D6D6"/>
                </a:solidFill>
                <a:latin typeface="Inter"/>
              </a:rPr>
              <a:t>We work with notable brands such as Qantas, Guzman y Gomez and Western Sydney International Airport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MIVADA'S WORKDAY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MIVADA'S WORKDAY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Mivada's Workday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services.</a:t>
            </a:r>
          </a:p>
        </p:txBody>
      </p:sp>
      <p:pic>
        <p:nvPicPr>
          <p:cNvPr id="6" name="Picture 5" descr="mic_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35" y="2057400"/>
            <a:ext cx="5502536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MIVADA'S CAPABILITY IN WORKDAY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MIVADA'S CAPABILITY IN WORKDAY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Capability in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Empowering innovation through a Workday partnership and local expertise — our consultants average 3+ years' Workday experience, across successfully completed implementations and support engagements.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1272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329184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42569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6835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7731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731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6743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CUSTOM REPORTS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4859" y="333756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15755" y="329184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755" y="442569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" y="491032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" y="507492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620877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56506" y="51206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7402" y="50749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402" y="62087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 · PAYROLL, T&amp;A, HRIS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5188" y="512064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46084" y="507492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084" y="620877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HOW WE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HOW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Our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methodology.</a:t>
            </a:r>
          </a:p>
        </p:txBody>
      </p:sp>
      <p:pic>
        <p:nvPicPr>
          <p:cNvPr id="6" name="Picture 5" descr="mic_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277" y="2057400"/>
            <a:ext cx="604925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INDICATIVE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INDICATIVE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Draft implementation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plan.</a:t>
            </a:r>
          </a:p>
        </p:txBody>
      </p:sp>
      <p:pic>
        <p:nvPicPr>
          <p:cNvPr id="6" name="Picture 5" descr="mic6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40280"/>
            <a:ext cx="10424160" cy="38272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HOW WE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HOW WE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Governance.</a:t>
            </a:r>
          </a:p>
        </p:txBody>
      </p:sp>
      <p:pic>
        <p:nvPicPr>
          <p:cNvPr id="6" name="Picture 5" descr="mic_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99803"/>
            <a:ext cx="5074920" cy="3567154"/>
          </a:xfrm>
          <a:prstGeom prst="rect">
            <a:avLst/>
          </a:prstGeom>
        </p:spPr>
      </p:pic>
      <p:pic>
        <p:nvPicPr>
          <p:cNvPr id="7" name="Picture 6" descr="mic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2461532"/>
            <a:ext cx="5074920" cy="3443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ROLES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ROLES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RACI &amp; data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migration.</a:t>
            </a:r>
          </a:p>
        </p:txBody>
      </p:sp>
      <p:pic>
        <p:nvPicPr>
          <p:cNvPr id="6" name="Picture 5" descr="mic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39" y="2057400"/>
            <a:ext cx="3846489" cy="4251959"/>
          </a:xfrm>
          <a:prstGeom prst="rect">
            <a:avLst/>
          </a:prstGeom>
        </p:spPr>
      </p:pic>
      <p:pic>
        <p:nvPicPr>
          <p:cNvPr id="7" name="Picture 6" descr="mic_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787" y="2057400"/>
            <a:ext cx="415747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UNDERSTANDING YOUR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UNDERSTANDING YOUR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What you need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this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Payroll compliance confidence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Connected HR &amp; payroll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Rostering that enforces rules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A single, reliable user experience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Frontline manager visibility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Funding &amp; cost visibility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REAL-WORLD 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REAL-WORLD SUCCESS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en-AU" spc="-65">
                <a:solidFill>
                  <a:srgbClr val="111111"/>
                </a:solidFill>
                <a:latin typeface="Inter"/>
              </a:rPr>
              <a:t>Proven Workday </a:t>
            </a:r>
            <a:r>
              <a:rPr sz="3000" b="1" i="0" lang="en-AU" spc="-65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385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How Mivada enables high-performance Workday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6974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00400"/>
            <a:ext cx="3218688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partnered with GYG to stabilise and optimise their Workday platform post–go-live across modules, reporting, security and compliance. Through Agile delivery we onboarded 150+ franchisees, delivered new reporting and a redesigned security model, strengthened audit readiness and improved performance across HCM, Absence and Learning — enabling scalable, compliant global operations.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2544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45152" y="269748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20040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has supported Qantas since 2014, taking over Workday support in 2017 and rapidly becoming a strategic partner across HR, Payroll, Digital, Automation, Data and Analytics. By scaling integrations, modernising architectures and embedding automation and analytics, Mivada evolved from post–go-live support to Qantas' long-term enterprise partner.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27264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19872" y="269748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20040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partnered with WSI to deliver a card-management system, then expanded into a strategic role supporting WSI's Workday program. By resolving functional and integration issues and assuming full AMS ownership, Mivada stabilised HR, Payroll, Finance and Procurement — becoming WSI's trusted long-term partner.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OVER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Questions?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