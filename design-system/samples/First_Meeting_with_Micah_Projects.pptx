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21" r:id="rId5"/>
    <p:sldMasterId id="2147483679" r:id="rId6"/>
  </p:sldMasterIdLst>
  <p:notesMasterIdLst>
    <p:notesMasterId r:id="rId18"/>
  </p:notesMasterIdLst>
  <p:sldIdLst>
    <p:sldId id="256" r:id="rId7"/>
    <p:sldId id="4632" r:id="rId8"/>
    <p:sldId id="4643" r:id="rId9"/>
    <p:sldId id="4580" r:id="rId10"/>
    <p:sldId id="4647" r:id="rId11"/>
    <p:sldId id="4645" r:id="rId12"/>
    <p:sldId id="4646" r:id="rId13"/>
    <p:sldId id="4648" r:id="rId14"/>
    <p:sldId id="4644" r:id="rId15"/>
    <p:sldId id="4639" r:id="rId16"/>
    <p:sldId id="3885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148484-1EE7-0345-97ED-1CEDE1CF27AD}">
          <p14:sldIdLst>
            <p14:sldId id="256"/>
            <p14:sldId id="4632"/>
            <p14:sldId id="4643"/>
            <p14:sldId id="4580"/>
            <p14:sldId id="4647"/>
            <p14:sldId id="4645"/>
            <p14:sldId id="4646"/>
            <p14:sldId id="4648"/>
            <p14:sldId id="4644"/>
            <p14:sldId id="4639"/>
            <p14:sldId id="3885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F3EFFF"/>
    <a:srgbClr val="D00000"/>
    <a:srgbClr val="C40000"/>
    <a:srgbClr val="CD0000"/>
    <a:srgbClr val="E5E6F2"/>
    <a:srgbClr val="D13D34"/>
    <a:srgbClr val="CC4948"/>
    <a:srgbClr val="EDBE2E"/>
    <a:srgbClr val="FDE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F2A3A2-8728-F740-9E62-B56F4AB68607}" v="20" dt="2026-03-03T02:33:47.626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AB98B-4597-F44A-AD3A-FE13B2442EB7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6E9AA-B54C-8A44-B7B3-5CDA661C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1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6E9AA-B54C-8A44-B7B3-5CDA661CF3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26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6E9AA-B54C-8A44-B7B3-5CDA661CF3F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1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83350-4005-C5B2-5D57-03BB1769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37930-B94B-6613-6C3F-7B3E0ADAE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C82A7-ED56-ABEB-5983-9EC4D0106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Daniel &amp; what we are doing with 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54D04-9D1F-74DE-0279-0C4D42F29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6E9AA-B54C-8A44-B7B3-5CDA661CF3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6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6E9AA-B54C-8A44-B7B3-5CDA661CF3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61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6E9AA-B54C-8A44-B7B3-5CDA661CF3F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97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8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4" Type="http://schemas.openxmlformats.org/officeDocument/2006/relationships/image" Target="../media/image8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42975119-9EC3-DEB5-6A26-C5BAC6AEE948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4790432" y="0"/>
            <a:ext cx="7401568" cy="6857999"/>
          </a:xfrm>
          <a:custGeom>
            <a:avLst/>
            <a:gdLst>
              <a:gd name="connsiteX0" fmla="*/ 12919992 w 14803138"/>
              <a:gd name="connsiteY0" fmla="*/ 0 h 13716000"/>
              <a:gd name="connsiteX1" fmla="*/ 14803138 w 14803138"/>
              <a:gd name="connsiteY1" fmla="*/ 0 h 13716000"/>
              <a:gd name="connsiteX2" fmla="*/ 14803138 w 14803138"/>
              <a:gd name="connsiteY2" fmla="*/ 12406968 h 13716000"/>
              <a:gd name="connsiteX3" fmla="*/ 14707564 w 14803138"/>
              <a:gd name="connsiteY3" fmla="*/ 12521945 h 13716000"/>
              <a:gd name="connsiteX4" fmla="*/ 12366010 w 14803138"/>
              <a:gd name="connsiteY4" fmla="*/ 13706639 h 13716000"/>
              <a:gd name="connsiteX5" fmla="*/ 12150230 w 14803138"/>
              <a:gd name="connsiteY5" fmla="*/ 13716000 h 13716000"/>
              <a:gd name="connsiteX6" fmla="*/ 11966434 w 14803138"/>
              <a:gd name="connsiteY6" fmla="*/ 13716000 h 13716000"/>
              <a:gd name="connsiteX7" fmla="*/ 11751028 w 14803138"/>
              <a:gd name="connsiteY7" fmla="*/ 13706639 h 13716000"/>
              <a:gd name="connsiteX8" fmla="*/ 11145198 w 14803138"/>
              <a:gd name="connsiteY8" fmla="*/ 13599830 h 13716000"/>
              <a:gd name="connsiteX9" fmla="*/ 10035814 w 14803138"/>
              <a:gd name="connsiteY9" fmla="*/ 13081968 h 13716000"/>
              <a:gd name="connsiteX10" fmla="*/ 8544978 w 14803138"/>
              <a:gd name="connsiteY10" fmla="*/ 10501072 h 13716000"/>
              <a:gd name="connsiteX11" fmla="*/ 9106178 w 14803138"/>
              <a:gd name="connsiteY11" fmla="*/ 7582272 h 13716000"/>
              <a:gd name="connsiteX12" fmla="*/ 7513674 w 14803138"/>
              <a:gd name="connsiteY12" fmla="*/ 10341830 h 13716000"/>
              <a:gd name="connsiteX13" fmla="*/ 5793478 w 14803138"/>
              <a:gd name="connsiteY13" fmla="*/ 12894890 h 13716000"/>
              <a:gd name="connsiteX14" fmla="*/ 3876021 w 14803138"/>
              <a:gd name="connsiteY14" fmla="*/ 13702305 h 13716000"/>
              <a:gd name="connsiteX15" fmla="*/ 3685914 w 14803138"/>
              <a:gd name="connsiteY15" fmla="*/ 13716000 h 13716000"/>
              <a:gd name="connsiteX16" fmla="*/ 3400676 w 14803138"/>
              <a:gd name="connsiteY16" fmla="*/ 13716000 h 13716000"/>
              <a:gd name="connsiteX17" fmla="*/ 3299937 w 14803138"/>
              <a:gd name="connsiteY17" fmla="*/ 13712248 h 13716000"/>
              <a:gd name="connsiteX18" fmla="*/ 2914284 w 14803138"/>
              <a:gd name="connsiteY18" fmla="*/ 13665857 h 13716000"/>
              <a:gd name="connsiteX19" fmla="*/ 1763420 w 14803138"/>
              <a:gd name="connsiteY19" fmla="*/ 13247684 h 13716000"/>
              <a:gd name="connsiteX20" fmla="*/ 824836 w 14803138"/>
              <a:gd name="connsiteY20" fmla="*/ 12459886 h 13716000"/>
              <a:gd name="connsiteX21" fmla="*/ 53798 w 14803138"/>
              <a:gd name="connsiteY21" fmla="*/ 9580572 h 13716000"/>
              <a:gd name="connsiteX22" fmla="*/ 1403928 w 14803138"/>
              <a:gd name="connsiteY22" fmla="*/ 6814541 h 13716000"/>
              <a:gd name="connsiteX23" fmla="*/ 3060684 w 14803138"/>
              <a:gd name="connsiteY23" fmla="*/ 3946879 h 13716000"/>
              <a:gd name="connsiteX24" fmla="*/ 4780066 w 14803138"/>
              <a:gd name="connsiteY24" fmla="*/ 1393818 h 13716000"/>
              <a:gd name="connsiteX25" fmla="*/ 7659260 w 14803138"/>
              <a:gd name="connsiteY25" fmla="*/ 622204 h 13716000"/>
              <a:gd name="connsiteX26" fmla="*/ 8810124 w 14803138"/>
              <a:gd name="connsiteY26" fmla="*/ 1041025 h 13716000"/>
              <a:gd name="connsiteX27" fmla="*/ 9748708 w 14803138"/>
              <a:gd name="connsiteY27" fmla="*/ 1828175 h 13716000"/>
              <a:gd name="connsiteX28" fmla="*/ 10369280 w 14803138"/>
              <a:gd name="connsiteY28" fmla="*/ 2923454 h 13716000"/>
              <a:gd name="connsiteX29" fmla="*/ 10991478 w 14803138"/>
              <a:gd name="connsiteY29" fmla="*/ 1369220 h 13716000"/>
              <a:gd name="connsiteX30" fmla="*/ 12816214 w 14803138"/>
              <a:gd name="connsiteY30" fmla="*/ 29798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4803138" h="13716000">
                <a:moveTo>
                  <a:pt x="12919992" y="0"/>
                </a:moveTo>
                <a:lnTo>
                  <a:pt x="14803138" y="0"/>
                </a:lnTo>
                <a:lnTo>
                  <a:pt x="14803138" y="12406968"/>
                </a:lnTo>
                <a:lnTo>
                  <a:pt x="14707564" y="12521945"/>
                </a:lnTo>
                <a:cubicBezTo>
                  <a:pt x="14111990" y="13199630"/>
                  <a:pt x="13274806" y="13627341"/>
                  <a:pt x="12366010" y="13706639"/>
                </a:cubicBezTo>
                <a:lnTo>
                  <a:pt x="12150230" y="13716000"/>
                </a:lnTo>
                <a:lnTo>
                  <a:pt x="11966434" y="13716000"/>
                </a:lnTo>
                <a:lnTo>
                  <a:pt x="11751028" y="13706639"/>
                </a:lnTo>
                <a:cubicBezTo>
                  <a:pt x="11546780" y="13688838"/>
                  <a:pt x="11344058" y="13653235"/>
                  <a:pt x="11145198" y="13599830"/>
                </a:cubicBezTo>
                <a:cubicBezTo>
                  <a:pt x="10747478" y="13493668"/>
                  <a:pt x="10372534" y="13318242"/>
                  <a:pt x="10035814" y="13081968"/>
                </a:cubicBezTo>
                <a:cubicBezTo>
                  <a:pt x="9181816" y="12484484"/>
                  <a:pt x="8636070" y="11539386"/>
                  <a:pt x="8544978" y="10501072"/>
                </a:cubicBezTo>
                <a:cubicBezTo>
                  <a:pt x="8499430" y="9869280"/>
                  <a:pt x="8727164" y="8997977"/>
                  <a:pt x="9106178" y="7582272"/>
                </a:cubicBezTo>
                <a:lnTo>
                  <a:pt x="7513674" y="10341830"/>
                </a:lnTo>
                <a:cubicBezTo>
                  <a:pt x="6745889" y="11671441"/>
                  <a:pt x="6284730" y="12469596"/>
                  <a:pt x="5793478" y="12894890"/>
                </a:cubicBezTo>
                <a:cubicBezTo>
                  <a:pt x="5244378" y="13355504"/>
                  <a:pt x="4574567" y="13632846"/>
                  <a:pt x="3876021" y="13702305"/>
                </a:cubicBezTo>
                <a:lnTo>
                  <a:pt x="3685914" y="13716000"/>
                </a:lnTo>
                <a:lnTo>
                  <a:pt x="3400676" y="13716000"/>
                </a:lnTo>
                <a:lnTo>
                  <a:pt x="3299937" y="13712248"/>
                </a:lnTo>
                <a:cubicBezTo>
                  <a:pt x="3171323" y="13703928"/>
                  <a:pt x="3042587" y="13688513"/>
                  <a:pt x="2914284" y="13665857"/>
                </a:cubicBezTo>
                <a:cubicBezTo>
                  <a:pt x="2509246" y="13594651"/>
                  <a:pt x="2119660" y="13453534"/>
                  <a:pt x="1763420" y="13247684"/>
                </a:cubicBezTo>
                <a:cubicBezTo>
                  <a:pt x="1406368" y="13041834"/>
                  <a:pt x="1089169" y="12775134"/>
                  <a:pt x="824836" y="12459886"/>
                </a:cubicBezTo>
                <a:cubicBezTo>
                  <a:pt x="154651" y="11661083"/>
                  <a:pt x="-127575" y="10607234"/>
                  <a:pt x="53798" y="9580572"/>
                </a:cubicBezTo>
                <a:cubicBezTo>
                  <a:pt x="176611" y="8942307"/>
                  <a:pt x="636143" y="8144152"/>
                  <a:pt x="1403928" y="6814541"/>
                </a:cubicBezTo>
                <a:lnTo>
                  <a:pt x="3060684" y="3946879"/>
                </a:lnTo>
                <a:cubicBezTo>
                  <a:pt x="3828469" y="2617268"/>
                  <a:pt x="4288814" y="1819113"/>
                  <a:pt x="4780066" y="1393818"/>
                </a:cubicBezTo>
                <a:cubicBezTo>
                  <a:pt x="5578758" y="723834"/>
                  <a:pt x="6632836" y="440952"/>
                  <a:pt x="7659260" y="622204"/>
                </a:cubicBezTo>
                <a:cubicBezTo>
                  <a:pt x="8064298" y="693410"/>
                  <a:pt x="8453886" y="835822"/>
                  <a:pt x="8810124" y="1041025"/>
                </a:cubicBezTo>
                <a:cubicBezTo>
                  <a:pt x="9166362" y="1246875"/>
                  <a:pt x="9484376" y="1512927"/>
                  <a:pt x="9748708" y="1828175"/>
                </a:cubicBezTo>
                <a:cubicBezTo>
                  <a:pt x="10024428" y="2156371"/>
                  <a:pt x="10230202" y="2528584"/>
                  <a:pt x="10369280" y="2923454"/>
                </a:cubicBezTo>
                <a:cubicBezTo>
                  <a:pt x="10574240" y="2226282"/>
                  <a:pt x="10758054" y="1714246"/>
                  <a:pt x="10991478" y="1369220"/>
                </a:cubicBezTo>
                <a:cubicBezTo>
                  <a:pt x="11439828" y="728851"/>
                  <a:pt x="12083986" y="261804"/>
                  <a:pt x="12816214" y="29798"/>
                </a:cubicBezTo>
                <a:close/>
              </a:path>
            </a:pathLst>
          </a:custGeom>
        </p:spPr>
        <p:txBody>
          <a:bodyPr wrap="square" lIns="91439" tIns="45719" rIns="91439" bIns="45719">
            <a:noAutofit/>
          </a:bodyPr>
          <a:lstStyle>
            <a:lvl1pPr>
              <a:defRPr sz="1600"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pic>
        <p:nvPicPr>
          <p:cNvPr id="9" name="Mivada_Logo_White_RGB_L.png" descr="Mivada_Logo_White_RGB_L.png">
            <a:extLst>
              <a:ext uri="{FF2B5EF4-FFF2-40B4-BE49-F238E27FC236}">
                <a16:creationId xmlns:a16="http://schemas.microsoft.com/office/drawing/2014/main" id="{990D0F04-B0EF-DE2E-F868-157CB91E29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2628" y="544082"/>
            <a:ext cx="2736000" cy="41504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022E124-E739-5F30-E7B6-B7C95BFD7F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0880" y="1081305"/>
            <a:ext cx="4955540" cy="16557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02C498-C2BA-E2D6-FEDB-8A7BEE6DB2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0308D1C-6F00-702D-2FAA-E0D8CC77328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94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754F154-679C-FFBC-F435-EF090AE21BF9}"/>
              </a:ext>
            </a:extLst>
          </p:cNvPr>
          <p:cNvGrpSpPr/>
          <p:nvPr userDrawn="1"/>
        </p:nvGrpSpPr>
        <p:grpSpPr>
          <a:xfrm>
            <a:off x="4589092" y="-167298"/>
            <a:ext cx="7278360" cy="7284671"/>
            <a:chOff x="4394313" y="41680"/>
            <a:chExt cx="8067067" cy="807406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93850FE-08C2-DA7A-5BB3-D6CDB49C7B15}"/>
                </a:ext>
              </a:extLst>
            </p:cNvPr>
            <p:cNvGrpSpPr/>
            <p:nvPr userDrawn="1"/>
          </p:nvGrpSpPr>
          <p:grpSpPr>
            <a:xfrm>
              <a:off x="4394313" y="1683950"/>
              <a:ext cx="8067067" cy="4782527"/>
              <a:chOff x="4394313" y="1683950"/>
              <a:chExt cx="8067067" cy="4782527"/>
            </a:xfrm>
          </p:grpSpPr>
          <p:sp>
            <p:nvSpPr>
              <p:cNvPr id="5" name="Rounded Rectangle">
                <a:extLst>
                  <a:ext uri="{FF2B5EF4-FFF2-40B4-BE49-F238E27FC236}">
                    <a16:creationId xmlns:a16="http://schemas.microsoft.com/office/drawing/2014/main" id="{CD89EE42-65F3-474F-752D-B57B1857A43B}"/>
                  </a:ext>
                </a:extLst>
              </p:cNvPr>
              <p:cNvSpPr/>
              <p:nvPr userDrawn="1"/>
            </p:nvSpPr>
            <p:spPr>
              <a:xfrm rot="15660000">
                <a:off x="9303890" y="632695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4" name="Rounded Rectangle">
                <a:extLst>
                  <a:ext uri="{FF2B5EF4-FFF2-40B4-BE49-F238E27FC236}">
                    <a16:creationId xmlns:a16="http://schemas.microsoft.com/office/drawing/2014/main" id="{E354A95F-23B4-B93E-A0B9-14146340FE67}"/>
                  </a:ext>
                </a:extLst>
              </p:cNvPr>
              <p:cNvSpPr/>
              <p:nvPr userDrawn="1"/>
            </p:nvSpPr>
            <p:spPr>
              <a:xfrm rot="15660000">
                <a:off x="5445568" y="3308987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B40A9DC-ACFE-BCEA-6411-C7A140078300}"/>
                </a:ext>
              </a:extLst>
            </p:cNvPr>
            <p:cNvGrpSpPr/>
            <p:nvPr userDrawn="1"/>
          </p:nvGrpSpPr>
          <p:grpSpPr>
            <a:xfrm rot="7200000">
              <a:off x="4390596" y="1683950"/>
              <a:ext cx="8067067" cy="4782527"/>
              <a:chOff x="4394313" y="1683950"/>
              <a:chExt cx="8067067" cy="4782527"/>
            </a:xfrm>
          </p:grpSpPr>
          <p:sp>
            <p:nvSpPr>
              <p:cNvPr id="17" name="Rounded Rectangle">
                <a:extLst>
                  <a:ext uri="{FF2B5EF4-FFF2-40B4-BE49-F238E27FC236}">
                    <a16:creationId xmlns:a16="http://schemas.microsoft.com/office/drawing/2014/main" id="{A45E776A-48AF-9D53-FCCB-C0E3A987F52E}"/>
                  </a:ext>
                </a:extLst>
              </p:cNvPr>
              <p:cNvSpPr/>
              <p:nvPr userDrawn="1"/>
            </p:nvSpPr>
            <p:spPr>
              <a:xfrm rot="15660000">
                <a:off x="9303890" y="632695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" name="Rounded Rectangle">
                <a:extLst>
                  <a:ext uri="{FF2B5EF4-FFF2-40B4-BE49-F238E27FC236}">
                    <a16:creationId xmlns:a16="http://schemas.microsoft.com/office/drawing/2014/main" id="{6DBB19EC-40B4-FBC7-00B4-956920572D95}"/>
                  </a:ext>
                </a:extLst>
              </p:cNvPr>
              <p:cNvSpPr/>
              <p:nvPr userDrawn="1"/>
            </p:nvSpPr>
            <p:spPr>
              <a:xfrm rot="15660000">
                <a:off x="5445568" y="3308987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671F726-FBEA-8655-2C85-9DD7258F1FD3}"/>
                </a:ext>
              </a:extLst>
            </p:cNvPr>
            <p:cNvGrpSpPr/>
            <p:nvPr userDrawn="1"/>
          </p:nvGrpSpPr>
          <p:grpSpPr>
            <a:xfrm rot="14400000">
              <a:off x="4387772" y="1690945"/>
              <a:ext cx="8067067" cy="4782527"/>
              <a:chOff x="4394313" y="1683950"/>
              <a:chExt cx="8067067" cy="4782527"/>
            </a:xfrm>
          </p:grpSpPr>
          <p:sp>
            <p:nvSpPr>
              <p:cNvPr id="20" name="Rounded Rectangle">
                <a:extLst>
                  <a:ext uri="{FF2B5EF4-FFF2-40B4-BE49-F238E27FC236}">
                    <a16:creationId xmlns:a16="http://schemas.microsoft.com/office/drawing/2014/main" id="{D8197E5A-50EF-4A2D-4B9B-BF65051831DF}"/>
                  </a:ext>
                </a:extLst>
              </p:cNvPr>
              <p:cNvSpPr/>
              <p:nvPr userDrawn="1"/>
            </p:nvSpPr>
            <p:spPr>
              <a:xfrm rot="15660000">
                <a:off x="9303890" y="632695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" name="Rounded Rectangle">
                <a:extLst>
                  <a:ext uri="{FF2B5EF4-FFF2-40B4-BE49-F238E27FC236}">
                    <a16:creationId xmlns:a16="http://schemas.microsoft.com/office/drawing/2014/main" id="{37DAC493-DA59-9FD2-64B3-EFDC0AB99FA8}"/>
                  </a:ext>
                </a:extLst>
              </p:cNvPr>
              <p:cNvSpPr/>
              <p:nvPr userDrawn="1"/>
            </p:nvSpPr>
            <p:spPr>
              <a:xfrm rot="15660000">
                <a:off x="5445568" y="3308987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pic>
        <p:nvPicPr>
          <p:cNvPr id="9" name="Mivada_Logo_White_RGB_L.png" descr="Mivada_Logo_White_RGB_L.png">
            <a:extLst>
              <a:ext uri="{FF2B5EF4-FFF2-40B4-BE49-F238E27FC236}">
                <a16:creationId xmlns:a16="http://schemas.microsoft.com/office/drawing/2014/main" id="{990D0F04-B0EF-DE2E-F868-157CB91E29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2628" y="544082"/>
            <a:ext cx="2736000" cy="41504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022E124-E739-5F30-E7B6-B7C95BFD7F0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90880" y="1081305"/>
            <a:ext cx="4955540" cy="16557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02C498-C2BA-E2D6-FEDB-8A7BEE6DB2E9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0308D1C-6F00-702D-2FAA-E0D8CC773283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40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">
            <a:extLst>
              <a:ext uri="{FF2B5EF4-FFF2-40B4-BE49-F238E27FC236}">
                <a16:creationId xmlns:a16="http://schemas.microsoft.com/office/drawing/2014/main" id="{A1618278-E674-CCA1-A44E-B5B5083A58F6}"/>
              </a:ext>
            </a:extLst>
          </p:cNvPr>
          <p:cNvSpPr/>
          <p:nvPr userDrawn="1"/>
        </p:nvSpPr>
        <p:spPr>
          <a:xfrm rot="1800000">
            <a:off x="4831614" y="1217909"/>
            <a:ext cx="2130934" cy="4258097"/>
          </a:xfrm>
          <a:prstGeom prst="roundRect">
            <a:avLst>
              <a:gd name="adj" fmla="val 50000"/>
            </a:avLst>
          </a:prstGeom>
          <a:solidFill>
            <a:srgbClr val="FF9D8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64BF4747-DE9B-093A-1656-5A722E6936D1}"/>
              </a:ext>
            </a:extLst>
          </p:cNvPr>
          <p:cNvSpPr/>
          <p:nvPr userDrawn="1"/>
        </p:nvSpPr>
        <p:spPr>
          <a:xfrm rot="900000">
            <a:off x="7133205" y="1101714"/>
            <a:ext cx="2130933" cy="4258096"/>
          </a:xfrm>
          <a:prstGeom prst="roundRect">
            <a:avLst>
              <a:gd name="adj" fmla="val 50000"/>
            </a:avLst>
          </a:prstGeom>
          <a:solidFill>
            <a:srgbClr val="E83D2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6" name="jose-puma-MdpWvFtfI-Q-unsplash.jpeg" descr="jose-puma-MdpWvFtfI-Q-unsplash.jpeg">
            <a:extLst>
              <a:ext uri="{FF2B5EF4-FFF2-40B4-BE49-F238E27FC236}">
                <a16:creationId xmlns:a16="http://schemas.microsoft.com/office/drawing/2014/main" id="{4EB6EF7D-B5C7-6CB7-08EF-0DFF6D736D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1333" t="12916" r="39476" b="41"/>
          <a:stretch>
            <a:fillRect/>
          </a:stretch>
        </p:blipFill>
        <p:spPr>
          <a:xfrm>
            <a:off x="9351937" y="1059119"/>
            <a:ext cx="2130925" cy="42581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800" y="0"/>
                </a:moveTo>
                <a:cubicBezTo>
                  <a:pt x="9540" y="0"/>
                  <a:pt x="8288" y="110"/>
                  <a:pt x="7104" y="326"/>
                </a:cubicBezTo>
                <a:cubicBezTo>
                  <a:pt x="4105" y="872"/>
                  <a:pt x="1742" y="2054"/>
                  <a:pt x="650" y="3556"/>
                </a:cubicBezTo>
                <a:cubicBezTo>
                  <a:pt x="-1" y="4497"/>
                  <a:pt x="0" y="5909"/>
                  <a:pt x="0" y="8262"/>
                </a:cubicBezTo>
                <a:lnTo>
                  <a:pt x="0" y="13338"/>
                </a:lnTo>
                <a:cubicBezTo>
                  <a:pt x="0" y="15691"/>
                  <a:pt x="-1" y="17102"/>
                  <a:pt x="650" y="18043"/>
                </a:cubicBezTo>
                <a:cubicBezTo>
                  <a:pt x="1742" y="19544"/>
                  <a:pt x="4105" y="20728"/>
                  <a:pt x="7104" y="21274"/>
                </a:cubicBezTo>
                <a:cubicBezTo>
                  <a:pt x="8288" y="21490"/>
                  <a:pt x="9540" y="21600"/>
                  <a:pt x="10800" y="21600"/>
                </a:cubicBezTo>
                <a:cubicBezTo>
                  <a:pt x="12060" y="21600"/>
                  <a:pt x="13310" y="21490"/>
                  <a:pt x="14494" y="21274"/>
                </a:cubicBezTo>
                <a:cubicBezTo>
                  <a:pt x="17493" y="20728"/>
                  <a:pt x="19856" y="19544"/>
                  <a:pt x="20948" y="18043"/>
                </a:cubicBezTo>
                <a:cubicBezTo>
                  <a:pt x="21599" y="17102"/>
                  <a:pt x="21598" y="15691"/>
                  <a:pt x="21598" y="13338"/>
                </a:cubicBezTo>
                <a:lnTo>
                  <a:pt x="21598" y="8262"/>
                </a:lnTo>
                <a:cubicBezTo>
                  <a:pt x="21598" y="5909"/>
                  <a:pt x="21599" y="4497"/>
                  <a:pt x="20948" y="3556"/>
                </a:cubicBezTo>
                <a:cubicBezTo>
                  <a:pt x="19856" y="2054"/>
                  <a:pt x="17493" y="872"/>
                  <a:pt x="14494" y="326"/>
                </a:cubicBezTo>
                <a:cubicBezTo>
                  <a:pt x="13310" y="110"/>
                  <a:pt x="12060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0F9A64E5-98AD-1759-6088-887888EAA9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51903" y="1053350"/>
            <a:ext cx="2130704" cy="4263383"/>
          </a:xfrm>
          <a:custGeom>
            <a:avLst/>
            <a:gdLst>
              <a:gd name="connsiteX0" fmla="*/ 1929406 w 3859212"/>
              <a:gd name="connsiteY0" fmla="*/ 0 h 7722000"/>
              <a:gd name="connsiteX1" fmla="*/ 3849250 w 3859212"/>
              <a:gd name="connsiteY1" fmla="*/ 1732495 h 7722000"/>
              <a:gd name="connsiteX2" fmla="*/ 3859212 w 3859212"/>
              <a:gd name="connsiteY2" fmla="*/ 1929767 h 7722000"/>
              <a:gd name="connsiteX3" fmla="*/ 3859212 w 3859212"/>
              <a:gd name="connsiteY3" fmla="*/ 5792195 h 7722000"/>
              <a:gd name="connsiteX4" fmla="*/ 2126718 w 3859212"/>
              <a:gd name="connsiteY4" fmla="*/ 7712038 h 7722000"/>
              <a:gd name="connsiteX5" fmla="*/ 1929426 w 3859212"/>
              <a:gd name="connsiteY5" fmla="*/ 7722000 h 7722000"/>
              <a:gd name="connsiteX6" fmla="*/ 1929406 w 3859212"/>
              <a:gd name="connsiteY6" fmla="*/ 7722000 h 7722000"/>
              <a:gd name="connsiteX7" fmla="*/ 9566 w 3859212"/>
              <a:gd name="connsiteY7" fmla="*/ 5989505 h 7722000"/>
              <a:gd name="connsiteX8" fmla="*/ 0 w 3859212"/>
              <a:gd name="connsiteY8" fmla="*/ 5800076 h 7722000"/>
              <a:gd name="connsiteX9" fmla="*/ 0 w 3859212"/>
              <a:gd name="connsiteY9" fmla="*/ 1921925 h 7722000"/>
              <a:gd name="connsiteX10" fmla="*/ 9566 w 3859212"/>
              <a:gd name="connsiteY10" fmla="*/ 1732495 h 7722000"/>
              <a:gd name="connsiteX11" fmla="*/ 1929406 w 3859212"/>
              <a:gd name="connsiteY11" fmla="*/ 0 h 77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59212" h="7722000">
                <a:moveTo>
                  <a:pt x="1929406" y="0"/>
                </a:moveTo>
                <a:cubicBezTo>
                  <a:pt x="2928598" y="0"/>
                  <a:pt x="3750426" y="759379"/>
                  <a:pt x="3849250" y="1732495"/>
                </a:cubicBezTo>
                <a:lnTo>
                  <a:pt x="3859212" y="1929767"/>
                </a:lnTo>
                <a:lnTo>
                  <a:pt x="3859212" y="5792195"/>
                </a:lnTo>
                <a:cubicBezTo>
                  <a:pt x="3859212" y="6791384"/>
                  <a:pt x="3099834" y="7613212"/>
                  <a:pt x="2126718" y="7712038"/>
                </a:cubicBezTo>
                <a:lnTo>
                  <a:pt x="1929426" y="7722000"/>
                </a:lnTo>
                <a:lnTo>
                  <a:pt x="1929406" y="7722000"/>
                </a:lnTo>
                <a:cubicBezTo>
                  <a:pt x="930218" y="7722000"/>
                  <a:pt x="108390" y="6962621"/>
                  <a:pt x="9566" y="5989505"/>
                </a:cubicBezTo>
                <a:lnTo>
                  <a:pt x="0" y="5800076"/>
                </a:lnTo>
                <a:lnTo>
                  <a:pt x="0" y="1921925"/>
                </a:lnTo>
                <a:lnTo>
                  <a:pt x="9566" y="1732495"/>
                </a:lnTo>
                <a:cubicBezTo>
                  <a:pt x="108390" y="759379"/>
                  <a:pt x="930218" y="0"/>
                  <a:pt x="19294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A06F0-7ACC-295A-7A6D-F18A0758C6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0880" y="647272"/>
            <a:ext cx="4955540" cy="2089795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pic>
        <p:nvPicPr>
          <p:cNvPr id="9" name="Mivada_Logo_White_RGB_L.png" descr="Mivada_Logo_White_RGB_L.png">
            <a:extLst>
              <a:ext uri="{FF2B5EF4-FFF2-40B4-BE49-F238E27FC236}">
                <a16:creationId xmlns:a16="http://schemas.microsoft.com/office/drawing/2014/main" id="{990D0F04-B0EF-DE2E-F868-157CB91E29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7692" y="5950194"/>
            <a:ext cx="2624093" cy="39806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CC388ED0-4610-2232-DC05-E7D466A097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78688E8-C1BC-203D-0ED6-E02085D6BE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23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">
            <a:extLst>
              <a:ext uri="{FF2B5EF4-FFF2-40B4-BE49-F238E27FC236}">
                <a16:creationId xmlns:a16="http://schemas.microsoft.com/office/drawing/2014/main" id="{A1618278-E674-CCA1-A44E-B5B5083A58F6}"/>
              </a:ext>
            </a:extLst>
          </p:cNvPr>
          <p:cNvSpPr/>
          <p:nvPr userDrawn="1"/>
        </p:nvSpPr>
        <p:spPr>
          <a:xfrm rot="1800000">
            <a:off x="4831614" y="1217909"/>
            <a:ext cx="2130934" cy="4258097"/>
          </a:xfrm>
          <a:prstGeom prst="roundRect">
            <a:avLst>
              <a:gd name="adj" fmla="val 50000"/>
            </a:avLst>
          </a:prstGeom>
          <a:solidFill>
            <a:srgbClr val="FFE4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64BF4747-DE9B-093A-1656-5A722E6936D1}"/>
              </a:ext>
            </a:extLst>
          </p:cNvPr>
          <p:cNvSpPr/>
          <p:nvPr userDrawn="1"/>
        </p:nvSpPr>
        <p:spPr>
          <a:xfrm rot="900000">
            <a:off x="7133205" y="1101714"/>
            <a:ext cx="2130933" cy="42580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A06F0-7ACC-295A-7A6D-F18A0758C6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0880" y="647272"/>
            <a:ext cx="4955540" cy="2089795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pic>
        <p:nvPicPr>
          <p:cNvPr id="3" name="brennan-martinez-jNUU8pKkkL8-unsplash.jpeg" descr="brennan-martinez-jNUU8pKkkL8-unsplash.jpeg">
            <a:extLst>
              <a:ext uri="{FF2B5EF4-FFF2-40B4-BE49-F238E27FC236}">
                <a16:creationId xmlns:a16="http://schemas.microsoft.com/office/drawing/2014/main" id="{EE7325F0-11E0-551F-D598-FFDC06E154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650" t="16474" r="18650"/>
          <a:stretch>
            <a:fillRect/>
          </a:stretch>
        </p:blipFill>
        <p:spPr>
          <a:xfrm>
            <a:off x="9351648" y="1057901"/>
            <a:ext cx="2129014" cy="42542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800" y="0"/>
                </a:moveTo>
                <a:cubicBezTo>
                  <a:pt x="9540" y="0"/>
                  <a:pt x="8288" y="110"/>
                  <a:pt x="7104" y="326"/>
                </a:cubicBezTo>
                <a:cubicBezTo>
                  <a:pt x="4105" y="872"/>
                  <a:pt x="1742" y="2054"/>
                  <a:pt x="650" y="3556"/>
                </a:cubicBezTo>
                <a:cubicBezTo>
                  <a:pt x="-1" y="4497"/>
                  <a:pt x="0" y="5909"/>
                  <a:pt x="0" y="8262"/>
                </a:cubicBezTo>
                <a:lnTo>
                  <a:pt x="0" y="13338"/>
                </a:lnTo>
                <a:cubicBezTo>
                  <a:pt x="0" y="15691"/>
                  <a:pt x="-1" y="17102"/>
                  <a:pt x="650" y="18043"/>
                </a:cubicBezTo>
                <a:cubicBezTo>
                  <a:pt x="1742" y="19544"/>
                  <a:pt x="4105" y="20728"/>
                  <a:pt x="7104" y="21274"/>
                </a:cubicBezTo>
                <a:cubicBezTo>
                  <a:pt x="8288" y="21490"/>
                  <a:pt x="9540" y="21600"/>
                  <a:pt x="10800" y="21600"/>
                </a:cubicBezTo>
                <a:cubicBezTo>
                  <a:pt x="12060" y="21600"/>
                  <a:pt x="13310" y="21490"/>
                  <a:pt x="14494" y="21274"/>
                </a:cubicBezTo>
                <a:cubicBezTo>
                  <a:pt x="17493" y="20728"/>
                  <a:pt x="19856" y="19544"/>
                  <a:pt x="20948" y="18043"/>
                </a:cubicBezTo>
                <a:cubicBezTo>
                  <a:pt x="21599" y="17102"/>
                  <a:pt x="21598" y="15691"/>
                  <a:pt x="21598" y="13338"/>
                </a:cubicBezTo>
                <a:lnTo>
                  <a:pt x="21598" y="8262"/>
                </a:lnTo>
                <a:cubicBezTo>
                  <a:pt x="21598" y="5909"/>
                  <a:pt x="21599" y="4497"/>
                  <a:pt x="20948" y="3556"/>
                </a:cubicBezTo>
                <a:cubicBezTo>
                  <a:pt x="19856" y="2054"/>
                  <a:pt x="17493" y="872"/>
                  <a:pt x="14494" y="326"/>
                </a:cubicBezTo>
                <a:cubicBezTo>
                  <a:pt x="13310" y="110"/>
                  <a:pt x="12060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0A7262E0-10C5-908B-C52F-4B8EA017869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51903" y="1053350"/>
            <a:ext cx="2130704" cy="4263383"/>
          </a:xfrm>
          <a:custGeom>
            <a:avLst/>
            <a:gdLst>
              <a:gd name="connsiteX0" fmla="*/ 1929406 w 3859212"/>
              <a:gd name="connsiteY0" fmla="*/ 0 h 7722000"/>
              <a:gd name="connsiteX1" fmla="*/ 3849250 w 3859212"/>
              <a:gd name="connsiteY1" fmla="*/ 1732495 h 7722000"/>
              <a:gd name="connsiteX2" fmla="*/ 3859212 w 3859212"/>
              <a:gd name="connsiteY2" fmla="*/ 1929767 h 7722000"/>
              <a:gd name="connsiteX3" fmla="*/ 3859212 w 3859212"/>
              <a:gd name="connsiteY3" fmla="*/ 5792195 h 7722000"/>
              <a:gd name="connsiteX4" fmla="*/ 2126718 w 3859212"/>
              <a:gd name="connsiteY4" fmla="*/ 7712038 h 7722000"/>
              <a:gd name="connsiteX5" fmla="*/ 1929426 w 3859212"/>
              <a:gd name="connsiteY5" fmla="*/ 7722000 h 7722000"/>
              <a:gd name="connsiteX6" fmla="*/ 1929406 w 3859212"/>
              <a:gd name="connsiteY6" fmla="*/ 7722000 h 7722000"/>
              <a:gd name="connsiteX7" fmla="*/ 9566 w 3859212"/>
              <a:gd name="connsiteY7" fmla="*/ 5989505 h 7722000"/>
              <a:gd name="connsiteX8" fmla="*/ 0 w 3859212"/>
              <a:gd name="connsiteY8" fmla="*/ 5800076 h 7722000"/>
              <a:gd name="connsiteX9" fmla="*/ 0 w 3859212"/>
              <a:gd name="connsiteY9" fmla="*/ 1921925 h 7722000"/>
              <a:gd name="connsiteX10" fmla="*/ 9566 w 3859212"/>
              <a:gd name="connsiteY10" fmla="*/ 1732495 h 7722000"/>
              <a:gd name="connsiteX11" fmla="*/ 1929406 w 3859212"/>
              <a:gd name="connsiteY11" fmla="*/ 0 h 77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59212" h="7722000">
                <a:moveTo>
                  <a:pt x="1929406" y="0"/>
                </a:moveTo>
                <a:cubicBezTo>
                  <a:pt x="2928598" y="0"/>
                  <a:pt x="3750426" y="759379"/>
                  <a:pt x="3849250" y="1732495"/>
                </a:cubicBezTo>
                <a:lnTo>
                  <a:pt x="3859212" y="1929767"/>
                </a:lnTo>
                <a:lnTo>
                  <a:pt x="3859212" y="5792195"/>
                </a:lnTo>
                <a:cubicBezTo>
                  <a:pt x="3859212" y="6791384"/>
                  <a:pt x="3099834" y="7613212"/>
                  <a:pt x="2126718" y="7712038"/>
                </a:cubicBezTo>
                <a:lnTo>
                  <a:pt x="1929426" y="7722000"/>
                </a:lnTo>
                <a:lnTo>
                  <a:pt x="1929406" y="7722000"/>
                </a:lnTo>
                <a:cubicBezTo>
                  <a:pt x="930218" y="7722000"/>
                  <a:pt x="108390" y="6962621"/>
                  <a:pt x="9566" y="5989505"/>
                </a:cubicBezTo>
                <a:lnTo>
                  <a:pt x="0" y="5800076"/>
                </a:lnTo>
                <a:lnTo>
                  <a:pt x="0" y="1921925"/>
                </a:lnTo>
                <a:lnTo>
                  <a:pt x="9566" y="1732495"/>
                </a:lnTo>
                <a:cubicBezTo>
                  <a:pt x="108390" y="759379"/>
                  <a:pt x="930218" y="0"/>
                  <a:pt x="19294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13" name="Mivada_Logo_White_RGB_L.png" descr="Mivada_Logo_White_RGB_L.png">
            <a:extLst>
              <a:ext uri="{FF2B5EF4-FFF2-40B4-BE49-F238E27FC236}">
                <a16:creationId xmlns:a16="http://schemas.microsoft.com/office/drawing/2014/main" id="{612AE1D9-9EF2-105E-8B13-44017E2E48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7692" y="5950194"/>
            <a:ext cx="2624093" cy="398067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5BB2E20-A886-2325-02BB-D36F9F6332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8B51B1-056C-08AB-3C02-698496FB0B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98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">
            <a:extLst>
              <a:ext uri="{FF2B5EF4-FFF2-40B4-BE49-F238E27FC236}">
                <a16:creationId xmlns:a16="http://schemas.microsoft.com/office/drawing/2014/main" id="{A1618278-E674-CCA1-A44E-B5B5083A58F6}"/>
              </a:ext>
            </a:extLst>
          </p:cNvPr>
          <p:cNvSpPr/>
          <p:nvPr userDrawn="1"/>
        </p:nvSpPr>
        <p:spPr>
          <a:xfrm rot="1800000">
            <a:off x="4831614" y="1217909"/>
            <a:ext cx="2130934" cy="4258097"/>
          </a:xfrm>
          <a:prstGeom prst="roundRect">
            <a:avLst>
              <a:gd name="adj" fmla="val 50000"/>
            </a:avLst>
          </a:prstGeom>
          <a:solidFill>
            <a:srgbClr val="96DD4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64BF4747-DE9B-093A-1656-5A722E6936D1}"/>
              </a:ext>
            </a:extLst>
          </p:cNvPr>
          <p:cNvSpPr/>
          <p:nvPr userDrawn="1"/>
        </p:nvSpPr>
        <p:spPr>
          <a:xfrm rot="900000">
            <a:off x="7133205" y="1101714"/>
            <a:ext cx="2130933" cy="42580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A06F0-7ACC-295A-7A6D-F18A0758C6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0880" y="647272"/>
            <a:ext cx="4955540" cy="2089795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pic>
        <p:nvPicPr>
          <p:cNvPr id="13" name="Mivada_Logo_White_RGB_L.png" descr="Mivada_Logo_White_RGB_L.png">
            <a:extLst>
              <a:ext uri="{FF2B5EF4-FFF2-40B4-BE49-F238E27FC236}">
                <a16:creationId xmlns:a16="http://schemas.microsoft.com/office/drawing/2014/main" id="{612AE1D9-9EF2-105E-8B13-44017E2E48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27692" y="5950194"/>
            <a:ext cx="2624093" cy="39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hoto-1538448728514-b19826b97c9c.jpeg" descr="photo-1538448728514-b19826b97c9c.jpeg">
            <a:extLst>
              <a:ext uri="{FF2B5EF4-FFF2-40B4-BE49-F238E27FC236}">
                <a16:creationId xmlns:a16="http://schemas.microsoft.com/office/drawing/2014/main" id="{AAF5A900-90A8-607C-58E7-C5755B62AE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080" r="21853"/>
          <a:stretch>
            <a:fillRect/>
          </a:stretch>
        </p:blipFill>
        <p:spPr>
          <a:xfrm>
            <a:off x="9349703" y="1057901"/>
            <a:ext cx="2129014" cy="42542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800" y="0"/>
                </a:moveTo>
                <a:cubicBezTo>
                  <a:pt x="9540" y="0"/>
                  <a:pt x="8288" y="110"/>
                  <a:pt x="7104" y="326"/>
                </a:cubicBezTo>
                <a:cubicBezTo>
                  <a:pt x="4105" y="872"/>
                  <a:pt x="1742" y="2054"/>
                  <a:pt x="650" y="3556"/>
                </a:cubicBezTo>
                <a:cubicBezTo>
                  <a:pt x="-1" y="4497"/>
                  <a:pt x="0" y="5909"/>
                  <a:pt x="0" y="8262"/>
                </a:cubicBezTo>
                <a:lnTo>
                  <a:pt x="0" y="13338"/>
                </a:lnTo>
                <a:cubicBezTo>
                  <a:pt x="0" y="15691"/>
                  <a:pt x="-1" y="17102"/>
                  <a:pt x="650" y="18043"/>
                </a:cubicBezTo>
                <a:cubicBezTo>
                  <a:pt x="1742" y="19544"/>
                  <a:pt x="4105" y="20728"/>
                  <a:pt x="7104" y="21274"/>
                </a:cubicBezTo>
                <a:cubicBezTo>
                  <a:pt x="8288" y="21490"/>
                  <a:pt x="9540" y="21600"/>
                  <a:pt x="10800" y="21600"/>
                </a:cubicBezTo>
                <a:cubicBezTo>
                  <a:pt x="12060" y="21600"/>
                  <a:pt x="13310" y="21490"/>
                  <a:pt x="14494" y="21274"/>
                </a:cubicBezTo>
                <a:cubicBezTo>
                  <a:pt x="17493" y="20728"/>
                  <a:pt x="19856" y="19544"/>
                  <a:pt x="20948" y="18043"/>
                </a:cubicBezTo>
                <a:cubicBezTo>
                  <a:pt x="21599" y="17102"/>
                  <a:pt x="21598" y="15691"/>
                  <a:pt x="21598" y="13338"/>
                </a:cubicBezTo>
                <a:lnTo>
                  <a:pt x="21598" y="8262"/>
                </a:lnTo>
                <a:cubicBezTo>
                  <a:pt x="21598" y="5909"/>
                  <a:pt x="21599" y="4497"/>
                  <a:pt x="20948" y="3556"/>
                </a:cubicBezTo>
                <a:cubicBezTo>
                  <a:pt x="19856" y="2054"/>
                  <a:pt x="17493" y="872"/>
                  <a:pt x="14494" y="326"/>
                </a:cubicBezTo>
                <a:cubicBezTo>
                  <a:pt x="13310" y="110"/>
                  <a:pt x="12060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25A16C7-B9F4-F9AF-B57D-A3C621FDF26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51903" y="1053350"/>
            <a:ext cx="2130704" cy="4263383"/>
          </a:xfrm>
          <a:custGeom>
            <a:avLst/>
            <a:gdLst>
              <a:gd name="connsiteX0" fmla="*/ 1929406 w 3859212"/>
              <a:gd name="connsiteY0" fmla="*/ 0 h 7722000"/>
              <a:gd name="connsiteX1" fmla="*/ 3849250 w 3859212"/>
              <a:gd name="connsiteY1" fmla="*/ 1732495 h 7722000"/>
              <a:gd name="connsiteX2" fmla="*/ 3859212 w 3859212"/>
              <a:gd name="connsiteY2" fmla="*/ 1929767 h 7722000"/>
              <a:gd name="connsiteX3" fmla="*/ 3859212 w 3859212"/>
              <a:gd name="connsiteY3" fmla="*/ 5792195 h 7722000"/>
              <a:gd name="connsiteX4" fmla="*/ 2126718 w 3859212"/>
              <a:gd name="connsiteY4" fmla="*/ 7712038 h 7722000"/>
              <a:gd name="connsiteX5" fmla="*/ 1929426 w 3859212"/>
              <a:gd name="connsiteY5" fmla="*/ 7722000 h 7722000"/>
              <a:gd name="connsiteX6" fmla="*/ 1929406 w 3859212"/>
              <a:gd name="connsiteY6" fmla="*/ 7722000 h 7722000"/>
              <a:gd name="connsiteX7" fmla="*/ 9566 w 3859212"/>
              <a:gd name="connsiteY7" fmla="*/ 5989505 h 7722000"/>
              <a:gd name="connsiteX8" fmla="*/ 0 w 3859212"/>
              <a:gd name="connsiteY8" fmla="*/ 5800076 h 7722000"/>
              <a:gd name="connsiteX9" fmla="*/ 0 w 3859212"/>
              <a:gd name="connsiteY9" fmla="*/ 1921925 h 7722000"/>
              <a:gd name="connsiteX10" fmla="*/ 9566 w 3859212"/>
              <a:gd name="connsiteY10" fmla="*/ 1732495 h 7722000"/>
              <a:gd name="connsiteX11" fmla="*/ 1929406 w 3859212"/>
              <a:gd name="connsiteY11" fmla="*/ 0 h 77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59212" h="7722000">
                <a:moveTo>
                  <a:pt x="1929406" y="0"/>
                </a:moveTo>
                <a:cubicBezTo>
                  <a:pt x="2928598" y="0"/>
                  <a:pt x="3750426" y="759379"/>
                  <a:pt x="3849250" y="1732495"/>
                </a:cubicBezTo>
                <a:lnTo>
                  <a:pt x="3859212" y="1929767"/>
                </a:lnTo>
                <a:lnTo>
                  <a:pt x="3859212" y="5792195"/>
                </a:lnTo>
                <a:cubicBezTo>
                  <a:pt x="3859212" y="6791384"/>
                  <a:pt x="3099834" y="7613212"/>
                  <a:pt x="2126718" y="7712038"/>
                </a:cubicBezTo>
                <a:lnTo>
                  <a:pt x="1929426" y="7722000"/>
                </a:lnTo>
                <a:lnTo>
                  <a:pt x="1929406" y="7722000"/>
                </a:lnTo>
                <a:cubicBezTo>
                  <a:pt x="930218" y="7722000"/>
                  <a:pt x="108390" y="6962621"/>
                  <a:pt x="9566" y="5989505"/>
                </a:cubicBezTo>
                <a:lnTo>
                  <a:pt x="0" y="5800076"/>
                </a:lnTo>
                <a:lnTo>
                  <a:pt x="0" y="1921925"/>
                </a:lnTo>
                <a:lnTo>
                  <a:pt x="9566" y="1732495"/>
                </a:lnTo>
                <a:cubicBezTo>
                  <a:pt x="108390" y="759379"/>
                  <a:pt x="930218" y="0"/>
                  <a:pt x="19294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ED06B52-1D30-F517-27D4-4ECBE44CCD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AC9E3A3-B6E6-0DC2-2A1F-6510A316ED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67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">
            <a:extLst>
              <a:ext uri="{FF2B5EF4-FFF2-40B4-BE49-F238E27FC236}">
                <a16:creationId xmlns:a16="http://schemas.microsoft.com/office/drawing/2014/main" id="{A1618278-E674-CCA1-A44E-B5B5083A58F6}"/>
              </a:ext>
            </a:extLst>
          </p:cNvPr>
          <p:cNvSpPr/>
          <p:nvPr userDrawn="1"/>
        </p:nvSpPr>
        <p:spPr>
          <a:xfrm rot="1800000">
            <a:off x="4831614" y="1217909"/>
            <a:ext cx="2130934" cy="425809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64BF4747-DE9B-093A-1656-5A722E6936D1}"/>
              </a:ext>
            </a:extLst>
          </p:cNvPr>
          <p:cNvSpPr/>
          <p:nvPr userDrawn="1"/>
        </p:nvSpPr>
        <p:spPr>
          <a:xfrm rot="900000">
            <a:off x="7133205" y="1101714"/>
            <a:ext cx="2130933" cy="42580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A06F0-7ACC-295A-7A6D-F18A0758C6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0880" y="647272"/>
            <a:ext cx="4955540" cy="2089795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pic>
        <p:nvPicPr>
          <p:cNvPr id="13" name="Mivada_Logo_White_RGB_L.png" descr="Mivada_Logo_White_RGB_L.png">
            <a:extLst>
              <a:ext uri="{FF2B5EF4-FFF2-40B4-BE49-F238E27FC236}">
                <a16:creationId xmlns:a16="http://schemas.microsoft.com/office/drawing/2014/main" id="{612AE1D9-9EF2-105E-8B13-44017E2E48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27692" y="5950194"/>
            <a:ext cx="2624093" cy="39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hoto-1538448728514-b19826b97c9c.jpeg" descr="photo-1538448728514-b19826b97c9c.jpeg">
            <a:extLst>
              <a:ext uri="{FF2B5EF4-FFF2-40B4-BE49-F238E27FC236}">
                <a16:creationId xmlns:a16="http://schemas.microsoft.com/office/drawing/2014/main" id="{AAF5A900-90A8-607C-58E7-C5755B62AE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080" r="21853"/>
          <a:stretch>
            <a:fillRect/>
          </a:stretch>
        </p:blipFill>
        <p:spPr>
          <a:xfrm>
            <a:off x="9349703" y="1057901"/>
            <a:ext cx="2129014" cy="42542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800" y="0"/>
                </a:moveTo>
                <a:cubicBezTo>
                  <a:pt x="9540" y="0"/>
                  <a:pt x="8288" y="110"/>
                  <a:pt x="7104" y="326"/>
                </a:cubicBezTo>
                <a:cubicBezTo>
                  <a:pt x="4105" y="872"/>
                  <a:pt x="1742" y="2054"/>
                  <a:pt x="650" y="3556"/>
                </a:cubicBezTo>
                <a:cubicBezTo>
                  <a:pt x="-1" y="4497"/>
                  <a:pt x="0" y="5909"/>
                  <a:pt x="0" y="8262"/>
                </a:cubicBezTo>
                <a:lnTo>
                  <a:pt x="0" y="13338"/>
                </a:lnTo>
                <a:cubicBezTo>
                  <a:pt x="0" y="15691"/>
                  <a:pt x="-1" y="17102"/>
                  <a:pt x="650" y="18043"/>
                </a:cubicBezTo>
                <a:cubicBezTo>
                  <a:pt x="1742" y="19544"/>
                  <a:pt x="4105" y="20728"/>
                  <a:pt x="7104" y="21274"/>
                </a:cubicBezTo>
                <a:cubicBezTo>
                  <a:pt x="8288" y="21490"/>
                  <a:pt x="9540" y="21600"/>
                  <a:pt x="10800" y="21600"/>
                </a:cubicBezTo>
                <a:cubicBezTo>
                  <a:pt x="12060" y="21600"/>
                  <a:pt x="13310" y="21490"/>
                  <a:pt x="14494" y="21274"/>
                </a:cubicBezTo>
                <a:cubicBezTo>
                  <a:pt x="17493" y="20728"/>
                  <a:pt x="19856" y="19544"/>
                  <a:pt x="20948" y="18043"/>
                </a:cubicBezTo>
                <a:cubicBezTo>
                  <a:pt x="21599" y="17102"/>
                  <a:pt x="21598" y="15691"/>
                  <a:pt x="21598" y="13338"/>
                </a:cubicBezTo>
                <a:lnTo>
                  <a:pt x="21598" y="8262"/>
                </a:lnTo>
                <a:cubicBezTo>
                  <a:pt x="21598" y="5909"/>
                  <a:pt x="21599" y="4497"/>
                  <a:pt x="20948" y="3556"/>
                </a:cubicBezTo>
                <a:cubicBezTo>
                  <a:pt x="19856" y="2054"/>
                  <a:pt x="17493" y="872"/>
                  <a:pt x="14494" y="326"/>
                </a:cubicBezTo>
                <a:cubicBezTo>
                  <a:pt x="13310" y="110"/>
                  <a:pt x="12060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25A16C7-B9F4-F9AF-B57D-A3C621FDF26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51903" y="1053350"/>
            <a:ext cx="2130704" cy="4263383"/>
          </a:xfrm>
          <a:custGeom>
            <a:avLst/>
            <a:gdLst>
              <a:gd name="connsiteX0" fmla="*/ 1929406 w 3859212"/>
              <a:gd name="connsiteY0" fmla="*/ 0 h 7722000"/>
              <a:gd name="connsiteX1" fmla="*/ 3849250 w 3859212"/>
              <a:gd name="connsiteY1" fmla="*/ 1732495 h 7722000"/>
              <a:gd name="connsiteX2" fmla="*/ 3859212 w 3859212"/>
              <a:gd name="connsiteY2" fmla="*/ 1929767 h 7722000"/>
              <a:gd name="connsiteX3" fmla="*/ 3859212 w 3859212"/>
              <a:gd name="connsiteY3" fmla="*/ 5792195 h 7722000"/>
              <a:gd name="connsiteX4" fmla="*/ 2126718 w 3859212"/>
              <a:gd name="connsiteY4" fmla="*/ 7712038 h 7722000"/>
              <a:gd name="connsiteX5" fmla="*/ 1929426 w 3859212"/>
              <a:gd name="connsiteY5" fmla="*/ 7722000 h 7722000"/>
              <a:gd name="connsiteX6" fmla="*/ 1929406 w 3859212"/>
              <a:gd name="connsiteY6" fmla="*/ 7722000 h 7722000"/>
              <a:gd name="connsiteX7" fmla="*/ 9566 w 3859212"/>
              <a:gd name="connsiteY7" fmla="*/ 5989505 h 7722000"/>
              <a:gd name="connsiteX8" fmla="*/ 0 w 3859212"/>
              <a:gd name="connsiteY8" fmla="*/ 5800076 h 7722000"/>
              <a:gd name="connsiteX9" fmla="*/ 0 w 3859212"/>
              <a:gd name="connsiteY9" fmla="*/ 1921925 h 7722000"/>
              <a:gd name="connsiteX10" fmla="*/ 9566 w 3859212"/>
              <a:gd name="connsiteY10" fmla="*/ 1732495 h 7722000"/>
              <a:gd name="connsiteX11" fmla="*/ 1929406 w 3859212"/>
              <a:gd name="connsiteY11" fmla="*/ 0 h 77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59212" h="7722000">
                <a:moveTo>
                  <a:pt x="1929406" y="0"/>
                </a:moveTo>
                <a:cubicBezTo>
                  <a:pt x="2928598" y="0"/>
                  <a:pt x="3750426" y="759379"/>
                  <a:pt x="3849250" y="1732495"/>
                </a:cubicBezTo>
                <a:lnTo>
                  <a:pt x="3859212" y="1929767"/>
                </a:lnTo>
                <a:lnTo>
                  <a:pt x="3859212" y="5792195"/>
                </a:lnTo>
                <a:cubicBezTo>
                  <a:pt x="3859212" y="6791384"/>
                  <a:pt x="3099834" y="7613212"/>
                  <a:pt x="2126718" y="7712038"/>
                </a:cubicBezTo>
                <a:lnTo>
                  <a:pt x="1929426" y="7722000"/>
                </a:lnTo>
                <a:lnTo>
                  <a:pt x="1929406" y="7722000"/>
                </a:lnTo>
                <a:cubicBezTo>
                  <a:pt x="930218" y="7722000"/>
                  <a:pt x="108390" y="6962621"/>
                  <a:pt x="9566" y="5989505"/>
                </a:cubicBezTo>
                <a:lnTo>
                  <a:pt x="0" y="5800076"/>
                </a:lnTo>
                <a:lnTo>
                  <a:pt x="0" y="1921925"/>
                </a:lnTo>
                <a:lnTo>
                  <a:pt x="9566" y="1732495"/>
                </a:lnTo>
                <a:cubicBezTo>
                  <a:pt x="108390" y="759379"/>
                  <a:pt x="930218" y="0"/>
                  <a:pt x="19294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C07F8-05A9-8F6F-A6EC-36F42B4C25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0418C0-5506-6410-3C58-F4FD720436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26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F2F40E67-416E-C019-B108-21EC8A8FBA35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4790432" y="0"/>
            <a:ext cx="7401568" cy="6857999"/>
          </a:xfrm>
          <a:custGeom>
            <a:avLst/>
            <a:gdLst>
              <a:gd name="connsiteX0" fmla="*/ 12919992 w 14803138"/>
              <a:gd name="connsiteY0" fmla="*/ 0 h 13716000"/>
              <a:gd name="connsiteX1" fmla="*/ 14803138 w 14803138"/>
              <a:gd name="connsiteY1" fmla="*/ 0 h 13716000"/>
              <a:gd name="connsiteX2" fmla="*/ 14803138 w 14803138"/>
              <a:gd name="connsiteY2" fmla="*/ 12406968 h 13716000"/>
              <a:gd name="connsiteX3" fmla="*/ 14707564 w 14803138"/>
              <a:gd name="connsiteY3" fmla="*/ 12521945 h 13716000"/>
              <a:gd name="connsiteX4" fmla="*/ 12366010 w 14803138"/>
              <a:gd name="connsiteY4" fmla="*/ 13706639 h 13716000"/>
              <a:gd name="connsiteX5" fmla="*/ 12150230 w 14803138"/>
              <a:gd name="connsiteY5" fmla="*/ 13716000 h 13716000"/>
              <a:gd name="connsiteX6" fmla="*/ 11966434 w 14803138"/>
              <a:gd name="connsiteY6" fmla="*/ 13716000 h 13716000"/>
              <a:gd name="connsiteX7" fmla="*/ 11751028 w 14803138"/>
              <a:gd name="connsiteY7" fmla="*/ 13706639 h 13716000"/>
              <a:gd name="connsiteX8" fmla="*/ 11145198 w 14803138"/>
              <a:gd name="connsiteY8" fmla="*/ 13599830 h 13716000"/>
              <a:gd name="connsiteX9" fmla="*/ 10035814 w 14803138"/>
              <a:gd name="connsiteY9" fmla="*/ 13081968 h 13716000"/>
              <a:gd name="connsiteX10" fmla="*/ 8544978 w 14803138"/>
              <a:gd name="connsiteY10" fmla="*/ 10501072 h 13716000"/>
              <a:gd name="connsiteX11" fmla="*/ 9106178 w 14803138"/>
              <a:gd name="connsiteY11" fmla="*/ 7582272 h 13716000"/>
              <a:gd name="connsiteX12" fmla="*/ 7513674 w 14803138"/>
              <a:gd name="connsiteY12" fmla="*/ 10341830 h 13716000"/>
              <a:gd name="connsiteX13" fmla="*/ 5793478 w 14803138"/>
              <a:gd name="connsiteY13" fmla="*/ 12894890 h 13716000"/>
              <a:gd name="connsiteX14" fmla="*/ 3876021 w 14803138"/>
              <a:gd name="connsiteY14" fmla="*/ 13702305 h 13716000"/>
              <a:gd name="connsiteX15" fmla="*/ 3685914 w 14803138"/>
              <a:gd name="connsiteY15" fmla="*/ 13716000 h 13716000"/>
              <a:gd name="connsiteX16" fmla="*/ 3400676 w 14803138"/>
              <a:gd name="connsiteY16" fmla="*/ 13716000 h 13716000"/>
              <a:gd name="connsiteX17" fmla="*/ 3299937 w 14803138"/>
              <a:gd name="connsiteY17" fmla="*/ 13712248 h 13716000"/>
              <a:gd name="connsiteX18" fmla="*/ 2914284 w 14803138"/>
              <a:gd name="connsiteY18" fmla="*/ 13665857 h 13716000"/>
              <a:gd name="connsiteX19" fmla="*/ 1763420 w 14803138"/>
              <a:gd name="connsiteY19" fmla="*/ 13247684 h 13716000"/>
              <a:gd name="connsiteX20" fmla="*/ 824836 w 14803138"/>
              <a:gd name="connsiteY20" fmla="*/ 12459886 h 13716000"/>
              <a:gd name="connsiteX21" fmla="*/ 53798 w 14803138"/>
              <a:gd name="connsiteY21" fmla="*/ 9580572 h 13716000"/>
              <a:gd name="connsiteX22" fmla="*/ 1403928 w 14803138"/>
              <a:gd name="connsiteY22" fmla="*/ 6814541 h 13716000"/>
              <a:gd name="connsiteX23" fmla="*/ 3060684 w 14803138"/>
              <a:gd name="connsiteY23" fmla="*/ 3946879 h 13716000"/>
              <a:gd name="connsiteX24" fmla="*/ 4780066 w 14803138"/>
              <a:gd name="connsiteY24" fmla="*/ 1393818 h 13716000"/>
              <a:gd name="connsiteX25" fmla="*/ 7659260 w 14803138"/>
              <a:gd name="connsiteY25" fmla="*/ 622204 h 13716000"/>
              <a:gd name="connsiteX26" fmla="*/ 8810124 w 14803138"/>
              <a:gd name="connsiteY26" fmla="*/ 1041025 h 13716000"/>
              <a:gd name="connsiteX27" fmla="*/ 9748708 w 14803138"/>
              <a:gd name="connsiteY27" fmla="*/ 1828175 h 13716000"/>
              <a:gd name="connsiteX28" fmla="*/ 10369280 w 14803138"/>
              <a:gd name="connsiteY28" fmla="*/ 2923454 h 13716000"/>
              <a:gd name="connsiteX29" fmla="*/ 10991478 w 14803138"/>
              <a:gd name="connsiteY29" fmla="*/ 1369220 h 13716000"/>
              <a:gd name="connsiteX30" fmla="*/ 12816214 w 14803138"/>
              <a:gd name="connsiteY30" fmla="*/ 29798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4803138" h="13716000">
                <a:moveTo>
                  <a:pt x="12919992" y="0"/>
                </a:moveTo>
                <a:lnTo>
                  <a:pt x="14803138" y="0"/>
                </a:lnTo>
                <a:lnTo>
                  <a:pt x="14803138" y="12406968"/>
                </a:lnTo>
                <a:lnTo>
                  <a:pt x="14707564" y="12521945"/>
                </a:lnTo>
                <a:cubicBezTo>
                  <a:pt x="14111990" y="13199630"/>
                  <a:pt x="13274806" y="13627341"/>
                  <a:pt x="12366010" y="13706639"/>
                </a:cubicBezTo>
                <a:lnTo>
                  <a:pt x="12150230" y="13716000"/>
                </a:lnTo>
                <a:lnTo>
                  <a:pt x="11966434" y="13716000"/>
                </a:lnTo>
                <a:lnTo>
                  <a:pt x="11751028" y="13706639"/>
                </a:lnTo>
                <a:cubicBezTo>
                  <a:pt x="11546780" y="13688838"/>
                  <a:pt x="11344058" y="13653235"/>
                  <a:pt x="11145198" y="13599830"/>
                </a:cubicBezTo>
                <a:cubicBezTo>
                  <a:pt x="10747478" y="13493668"/>
                  <a:pt x="10372534" y="13318242"/>
                  <a:pt x="10035814" y="13081968"/>
                </a:cubicBezTo>
                <a:cubicBezTo>
                  <a:pt x="9181816" y="12484484"/>
                  <a:pt x="8636070" y="11539386"/>
                  <a:pt x="8544978" y="10501072"/>
                </a:cubicBezTo>
                <a:cubicBezTo>
                  <a:pt x="8499430" y="9869280"/>
                  <a:pt x="8727164" y="8997977"/>
                  <a:pt x="9106178" y="7582272"/>
                </a:cubicBezTo>
                <a:lnTo>
                  <a:pt x="7513674" y="10341830"/>
                </a:lnTo>
                <a:cubicBezTo>
                  <a:pt x="6745889" y="11671441"/>
                  <a:pt x="6284730" y="12469596"/>
                  <a:pt x="5793478" y="12894890"/>
                </a:cubicBezTo>
                <a:cubicBezTo>
                  <a:pt x="5244378" y="13355504"/>
                  <a:pt x="4574567" y="13632846"/>
                  <a:pt x="3876021" y="13702305"/>
                </a:cubicBezTo>
                <a:lnTo>
                  <a:pt x="3685914" y="13716000"/>
                </a:lnTo>
                <a:lnTo>
                  <a:pt x="3400676" y="13716000"/>
                </a:lnTo>
                <a:lnTo>
                  <a:pt x="3299937" y="13712248"/>
                </a:lnTo>
                <a:cubicBezTo>
                  <a:pt x="3171323" y="13703928"/>
                  <a:pt x="3042587" y="13688513"/>
                  <a:pt x="2914284" y="13665857"/>
                </a:cubicBezTo>
                <a:cubicBezTo>
                  <a:pt x="2509246" y="13594651"/>
                  <a:pt x="2119660" y="13453534"/>
                  <a:pt x="1763420" y="13247684"/>
                </a:cubicBezTo>
                <a:cubicBezTo>
                  <a:pt x="1406368" y="13041834"/>
                  <a:pt x="1089169" y="12775134"/>
                  <a:pt x="824836" y="12459886"/>
                </a:cubicBezTo>
                <a:cubicBezTo>
                  <a:pt x="154651" y="11661083"/>
                  <a:pt x="-127575" y="10607234"/>
                  <a:pt x="53798" y="9580572"/>
                </a:cubicBezTo>
                <a:cubicBezTo>
                  <a:pt x="176611" y="8942307"/>
                  <a:pt x="636143" y="8144152"/>
                  <a:pt x="1403928" y="6814541"/>
                </a:cubicBezTo>
                <a:lnTo>
                  <a:pt x="3060684" y="3946879"/>
                </a:lnTo>
                <a:cubicBezTo>
                  <a:pt x="3828469" y="2617268"/>
                  <a:pt x="4288814" y="1819113"/>
                  <a:pt x="4780066" y="1393818"/>
                </a:cubicBezTo>
                <a:cubicBezTo>
                  <a:pt x="5578758" y="723834"/>
                  <a:pt x="6632836" y="440952"/>
                  <a:pt x="7659260" y="622204"/>
                </a:cubicBezTo>
                <a:cubicBezTo>
                  <a:pt x="8064298" y="693410"/>
                  <a:pt x="8453886" y="835822"/>
                  <a:pt x="8810124" y="1041025"/>
                </a:cubicBezTo>
                <a:cubicBezTo>
                  <a:pt x="9166362" y="1246875"/>
                  <a:pt x="9484376" y="1512927"/>
                  <a:pt x="9748708" y="1828175"/>
                </a:cubicBezTo>
                <a:cubicBezTo>
                  <a:pt x="10024428" y="2156371"/>
                  <a:pt x="10230202" y="2528584"/>
                  <a:pt x="10369280" y="2923454"/>
                </a:cubicBezTo>
                <a:cubicBezTo>
                  <a:pt x="10574240" y="2226282"/>
                  <a:pt x="10758054" y="1714246"/>
                  <a:pt x="10991478" y="1369220"/>
                </a:cubicBezTo>
                <a:cubicBezTo>
                  <a:pt x="11439828" y="728851"/>
                  <a:pt x="12083986" y="261804"/>
                  <a:pt x="12816214" y="29798"/>
                </a:cubicBezTo>
                <a:close/>
              </a:path>
            </a:pathLst>
          </a:custGeom>
        </p:spPr>
        <p:txBody>
          <a:bodyPr wrap="square" lIns="91439" tIns="45719" rIns="91439" bIns="45719">
            <a:noAutofit/>
          </a:bodyPr>
          <a:lstStyle>
            <a:lvl1pPr>
              <a:defRPr sz="1600"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#01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Section Divider with Image</a:t>
            </a:r>
            <a:endParaRPr lang="en-US"/>
          </a:p>
        </p:txBody>
      </p:sp>
      <p:pic>
        <p:nvPicPr>
          <p:cNvPr id="2" name="Picture 1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359ECDE-B944-8F86-6159-9B4962F36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112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">
            <a:extLst>
              <a:ext uri="{FF2B5EF4-FFF2-40B4-BE49-F238E27FC236}">
                <a16:creationId xmlns:a16="http://schemas.microsoft.com/office/drawing/2014/main" id="{CAF3DA0D-574B-D48D-CA72-CCB54921538B}"/>
              </a:ext>
            </a:extLst>
          </p:cNvPr>
          <p:cNvSpPr/>
          <p:nvPr userDrawn="1"/>
        </p:nvSpPr>
        <p:spPr>
          <a:xfrm rot="1500000">
            <a:off x="8012180" y="123004"/>
            <a:ext cx="3452605" cy="6899102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#01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Divider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5244524-AFCF-CA23-996E-5DEAA18BC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362814"/>
            <a:ext cx="578427" cy="5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46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>
            <a:extLst>
              <a:ext uri="{FF2B5EF4-FFF2-40B4-BE49-F238E27FC236}">
                <a16:creationId xmlns:a16="http://schemas.microsoft.com/office/drawing/2014/main" id="{4C44FAD8-04C3-2512-0B5C-B04D795E874E}"/>
              </a:ext>
            </a:extLst>
          </p:cNvPr>
          <p:cNvSpPr/>
          <p:nvPr userDrawn="1"/>
        </p:nvSpPr>
        <p:spPr>
          <a:xfrm rot="5400000">
            <a:off x="3946622" y="2354197"/>
            <a:ext cx="3004308" cy="6003301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D92B14F5-1323-CABF-F8E7-1D98E5581004}"/>
              </a:ext>
            </a:extLst>
          </p:cNvPr>
          <p:cNvSpPr/>
          <p:nvPr userDrawn="1"/>
        </p:nvSpPr>
        <p:spPr>
          <a:xfrm rot="-900000">
            <a:off x="7230329" y="197903"/>
            <a:ext cx="3367358" cy="6728759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#02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Divider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5244524-AFCF-CA23-996E-5DEAA18BC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362814"/>
            <a:ext cx="578427" cy="5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0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">
            <a:extLst>
              <a:ext uri="{FF2B5EF4-FFF2-40B4-BE49-F238E27FC236}">
                <a16:creationId xmlns:a16="http://schemas.microsoft.com/office/drawing/2014/main" id="{632B9E85-E38E-FA9F-B1B8-B5EDDA6B3E4C}"/>
              </a:ext>
            </a:extLst>
          </p:cNvPr>
          <p:cNvSpPr/>
          <p:nvPr userDrawn="1"/>
        </p:nvSpPr>
        <p:spPr>
          <a:xfrm rot="21000000">
            <a:off x="6403116" y="1401850"/>
            <a:ext cx="2748182" cy="5491502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FB30C935-DDBA-44B6-3162-1D76CAF67277}"/>
              </a:ext>
            </a:extLst>
          </p:cNvPr>
          <p:cNvSpPr/>
          <p:nvPr userDrawn="1"/>
        </p:nvSpPr>
        <p:spPr>
          <a:xfrm rot="1440000">
            <a:off x="3539133" y="913402"/>
            <a:ext cx="3050187" cy="6094978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Rounded Rectangle">
            <a:extLst>
              <a:ext uri="{FF2B5EF4-FFF2-40B4-BE49-F238E27FC236}">
                <a16:creationId xmlns:a16="http://schemas.microsoft.com/office/drawing/2014/main" id="{D60A485F-4B48-9572-1597-816E6CE6B345}"/>
              </a:ext>
            </a:extLst>
          </p:cNvPr>
          <p:cNvSpPr/>
          <p:nvPr userDrawn="1"/>
        </p:nvSpPr>
        <p:spPr>
          <a:xfrm rot="19748941">
            <a:off x="8902930" y="1830202"/>
            <a:ext cx="2613673" cy="5222721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#03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Divider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5244524-AFCF-CA23-996E-5DEAA18BC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362814"/>
            <a:ext cx="578427" cy="5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04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">
            <a:extLst>
              <a:ext uri="{FF2B5EF4-FFF2-40B4-BE49-F238E27FC236}">
                <a16:creationId xmlns:a16="http://schemas.microsoft.com/office/drawing/2014/main" id="{CFE5104B-E5C4-A6B7-DE0E-3EE87905386E}"/>
              </a:ext>
            </a:extLst>
          </p:cNvPr>
          <p:cNvSpPr/>
          <p:nvPr userDrawn="1"/>
        </p:nvSpPr>
        <p:spPr>
          <a:xfrm rot="2633855">
            <a:off x="1922704" y="2384177"/>
            <a:ext cx="2415601" cy="4826930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Rounded Rectangle">
            <a:extLst>
              <a:ext uri="{FF2B5EF4-FFF2-40B4-BE49-F238E27FC236}">
                <a16:creationId xmlns:a16="http://schemas.microsoft.com/office/drawing/2014/main" id="{1F0EA71A-72A2-1B4F-F117-7C7C9769053E}"/>
              </a:ext>
            </a:extLst>
          </p:cNvPr>
          <p:cNvSpPr/>
          <p:nvPr userDrawn="1"/>
        </p:nvSpPr>
        <p:spPr>
          <a:xfrm rot="1806914">
            <a:off x="4727618" y="1771398"/>
            <a:ext cx="2644286" cy="5283895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C982C38D-C3A2-F707-4206-AE65423272CE}"/>
              </a:ext>
            </a:extLst>
          </p:cNvPr>
          <p:cNvSpPr/>
          <p:nvPr userDrawn="1"/>
        </p:nvSpPr>
        <p:spPr>
          <a:xfrm rot="889585">
            <a:off x="7238880" y="1125660"/>
            <a:ext cx="2903677" cy="5802218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27F505BE-BC5F-08E2-4ECD-D67F29A0240C}"/>
              </a:ext>
            </a:extLst>
          </p:cNvPr>
          <p:cNvSpPr/>
          <p:nvPr userDrawn="1"/>
        </p:nvSpPr>
        <p:spPr>
          <a:xfrm rot="5400000">
            <a:off x="9917340" y="2550609"/>
            <a:ext cx="2888165" cy="5771222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#04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Divider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5244524-AFCF-CA23-996E-5DEAA18BC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362814"/>
            <a:ext cx="578427" cy="5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2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>
            <a:extLst>
              <a:ext uri="{FF2B5EF4-FFF2-40B4-BE49-F238E27FC236}">
                <a16:creationId xmlns:a16="http://schemas.microsoft.com/office/drawing/2014/main" id="{3044D211-A940-1767-3AEB-149B6050B440}"/>
              </a:ext>
            </a:extLst>
          </p:cNvPr>
          <p:cNvSpPr/>
          <p:nvPr userDrawn="1"/>
        </p:nvSpPr>
        <p:spPr>
          <a:xfrm rot="2633855">
            <a:off x="-111497" y="2452831"/>
            <a:ext cx="2376968" cy="4749732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B4FB66D5-50FA-CE5B-E29B-6187EBDB69BB}"/>
              </a:ext>
            </a:extLst>
          </p:cNvPr>
          <p:cNvSpPr/>
          <p:nvPr userDrawn="1"/>
        </p:nvSpPr>
        <p:spPr>
          <a:xfrm rot="1806914">
            <a:off x="2655748" y="1951111"/>
            <a:ext cx="2546666" cy="5088828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9FB506E7-5370-F2D7-0F0B-26C60CCFC903}"/>
              </a:ext>
            </a:extLst>
          </p:cNvPr>
          <p:cNvSpPr/>
          <p:nvPr userDrawn="1"/>
        </p:nvSpPr>
        <p:spPr>
          <a:xfrm rot="889585">
            <a:off x="5015620" y="1157694"/>
            <a:ext cx="2886238" cy="5767371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5" name="Rounded Rectangle">
            <a:extLst>
              <a:ext uri="{FF2B5EF4-FFF2-40B4-BE49-F238E27FC236}">
                <a16:creationId xmlns:a16="http://schemas.microsoft.com/office/drawing/2014/main" id="{D4CF7AC9-D816-F7CB-F4DA-EF16B16B3DEE}"/>
              </a:ext>
            </a:extLst>
          </p:cNvPr>
          <p:cNvSpPr/>
          <p:nvPr userDrawn="1"/>
        </p:nvSpPr>
        <p:spPr>
          <a:xfrm rot="20529313">
            <a:off x="7779838" y="1883190"/>
            <a:ext cx="2546666" cy="5088828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Divider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5244524-AFCF-CA23-996E-5DEAA18BC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362814"/>
            <a:ext cx="578427" cy="500016"/>
          </a:xfrm>
          <a:prstGeom prst="rect">
            <a:avLst/>
          </a:prstGeom>
        </p:spPr>
      </p:pic>
      <p:sp>
        <p:nvSpPr>
          <p:cNvPr id="16" name="Rounded Rectangle">
            <a:extLst>
              <a:ext uri="{FF2B5EF4-FFF2-40B4-BE49-F238E27FC236}">
                <a16:creationId xmlns:a16="http://schemas.microsoft.com/office/drawing/2014/main" id="{9AEE9D86-5610-44D1-E2FF-4C654337ED6D}"/>
              </a:ext>
            </a:extLst>
          </p:cNvPr>
          <p:cNvSpPr/>
          <p:nvPr userDrawn="1"/>
        </p:nvSpPr>
        <p:spPr>
          <a:xfrm rot="19603547">
            <a:off x="10073139" y="2486400"/>
            <a:ext cx="2312569" cy="4621049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1019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">
            <a:extLst>
              <a:ext uri="{FF2B5EF4-FFF2-40B4-BE49-F238E27FC236}">
                <a16:creationId xmlns:a16="http://schemas.microsoft.com/office/drawing/2014/main" id="{F2C33E1F-C07D-E887-FA39-39774611E890}"/>
              </a:ext>
            </a:extLst>
          </p:cNvPr>
          <p:cNvSpPr/>
          <p:nvPr userDrawn="1"/>
        </p:nvSpPr>
        <p:spPr>
          <a:xfrm rot="1686860">
            <a:off x="8446513" y="982719"/>
            <a:ext cx="3038156" cy="60709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42855-6258-9BF6-2DF4-C70C8C0BA5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#05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909C26-0E30-9E04-8AF9-687CA33C6E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Purple</a:t>
            </a:r>
            <a:endParaRPr lang="en-US"/>
          </a:p>
        </p:txBody>
      </p:sp>
      <p:pic>
        <p:nvPicPr>
          <p:cNvPr id="14" name="Picture 1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47BB8D08-FA36-2FB8-B4C1-9C1D898745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F4828D-66A0-0643-AAA6-5157BD047049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603442-0B6C-3421-E21F-1628275F2810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563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Purple">
    <p:bg>
      <p:bgPr>
        <a:solidFill>
          <a:srgbClr val="E8B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">
            <a:extLst>
              <a:ext uri="{FF2B5EF4-FFF2-40B4-BE49-F238E27FC236}">
                <a16:creationId xmlns:a16="http://schemas.microsoft.com/office/drawing/2014/main" id="{F2C33E1F-C07D-E887-FA39-39774611E890}"/>
              </a:ext>
            </a:extLst>
          </p:cNvPr>
          <p:cNvSpPr/>
          <p:nvPr userDrawn="1"/>
        </p:nvSpPr>
        <p:spPr>
          <a:xfrm rot="5400000">
            <a:off x="5217337" y="1682362"/>
            <a:ext cx="3458750" cy="6911381"/>
          </a:xfrm>
          <a:prstGeom prst="roundRect">
            <a:avLst>
              <a:gd name="adj" fmla="val 50000"/>
            </a:avLst>
          </a:prstGeom>
          <a:solidFill>
            <a:srgbClr val="FFE4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462E8-EDC8-E746-3770-33D6808CCD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#05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D23BF5-7906-C788-ECE0-BC4F15CAFB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Gold</a:t>
            </a:r>
            <a:endParaRPr lang="en-US"/>
          </a:p>
        </p:txBody>
      </p:sp>
      <p:pic>
        <p:nvPicPr>
          <p:cNvPr id="14" name="Picture 1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6C6B7A97-9486-14DA-0F33-D8E194A8DC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DD5CFC-66FA-878D-68B6-E4715EA4EB20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2B537-8323-1668-E3F4-CC800676374D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853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Purple"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0539D53-1BDE-085A-5952-86287CAA6EE9}"/>
              </a:ext>
            </a:extLst>
          </p:cNvPr>
          <p:cNvGrpSpPr/>
          <p:nvPr userDrawn="1"/>
        </p:nvGrpSpPr>
        <p:grpSpPr>
          <a:xfrm>
            <a:off x="5520528" y="1330858"/>
            <a:ext cx="5629195" cy="5592071"/>
            <a:chOff x="4919028" y="864126"/>
            <a:chExt cx="6099026" cy="6058804"/>
          </a:xfrm>
        </p:grpSpPr>
        <p:sp>
          <p:nvSpPr>
            <p:cNvPr id="7" name="Rounded Rectangle">
              <a:extLst>
                <a:ext uri="{FF2B5EF4-FFF2-40B4-BE49-F238E27FC236}">
                  <a16:creationId xmlns:a16="http://schemas.microsoft.com/office/drawing/2014/main" id="{F2C33E1F-C07D-E887-FA39-39774611E890}"/>
                </a:ext>
              </a:extLst>
            </p:cNvPr>
            <p:cNvSpPr/>
            <p:nvPr userDrawn="1"/>
          </p:nvSpPr>
          <p:spPr>
            <a:xfrm rot="900000">
              <a:off x="4919028" y="919629"/>
              <a:ext cx="3004308" cy="6003301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" name="Rounded Rectangle">
              <a:extLst>
                <a:ext uri="{FF2B5EF4-FFF2-40B4-BE49-F238E27FC236}">
                  <a16:creationId xmlns:a16="http://schemas.microsoft.com/office/drawing/2014/main" id="{6292733B-BF51-2B3F-1C29-411FB5205880}"/>
                </a:ext>
              </a:extLst>
            </p:cNvPr>
            <p:cNvSpPr/>
            <p:nvPr userDrawn="1"/>
          </p:nvSpPr>
          <p:spPr>
            <a:xfrm>
              <a:off x="8013746" y="864126"/>
              <a:ext cx="3004308" cy="6003301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B4AF9C57-191E-757D-D0B5-D67C3F3965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#05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7A14B12-8567-A65A-D10B-800BD7EA21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Red</a:t>
            </a:r>
            <a:endParaRPr lang="en-US"/>
          </a:p>
        </p:txBody>
      </p:sp>
      <p:pic>
        <p:nvPicPr>
          <p:cNvPr id="15" name="Picture 14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C809B034-3491-4B79-D173-B2E717C0B4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B49795-4AC3-76AB-5F71-15BABDAF65A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B0669-4F5C-C51C-88FF-62CEB5EDA388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02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Purple">
    <p:bg>
      <p:bgPr>
        <a:solidFill>
          <a:srgbClr val="355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10F0FD2-E62C-066D-E93C-EA6CFF1BDA5C}"/>
              </a:ext>
            </a:extLst>
          </p:cNvPr>
          <p:cNvGrpSpPr/>
          <p:nvPr userDrawn="1"/>
        </p:nvGrpSpPr>
        <p:grpSpPr>
          <a:xfrm>
            <a:off x="2422796" y="1160331"/>
            <a:ext cx="8262586" cy="5762599"/>
            <a:chOff x="2077671" y="919629"/>
            <a:chExt cx="8607711" cy="6003301"/>
          </a:xfrm>
        </p:grpSpPr>
        <p:sp>
          <p:nvSpPr>
            <p:cNvPr id="7" name="Rounded Rectangle">
              <a:extLst>
                <a:ext uri="{FF2B5EF4-FFF2-40B4-BE49-F238E27FC236}">
                  <a16:creationId xmlns:a16="http://schemas.microsoft.com/office/drawing/2014/main" id="{F2C33E1F-C07D-E887-FA39-39774611E890}"/>
                </a:ext>
              </a:extLst>
            </p:cNvPr>
            <p:cNvSpPr/>
            <p:nvPr userDrawn="1"/>
          </p:nvSpPr>
          <p:spPr>
            <a:xfrm rot="-900000">
              <a:off x="7681074" y="919629"/>
              <a:ext cx="3004308" cy="6003301"/>
            </a:xfrm>
            <a:prstGeom prst="roundRect">
              <a:avLst>
                <a:gd name="adj" fmla="val 50000"/>
              </a:avLst>
            </a:prstGeom>
            <a:solidFill>
              <a:srgbClr val="96DD4F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" name="Rounded Rectangle">
              <a:extLst>
                <a:ext uri="{FF2B5EF4-FFF2-40B4-BE49-F238E27FC236}">
                  <a16:creationId xmlns:a16="http://schemas.microsoft.com/office/drawing/2014/main" id="{6292733B-BF51-2B3F-1C29-411FB5205880}"/>
                </a:ext>
              </a:extLst>
            </p:cNvPr>
            <p:cNvSpPr/>
            <p:nvPr userDrawn="1"/>
          </p:nvSpPr>
          <p:spPr>
            <a:xfrm rot="5400000">
              <a:off x="3577168" y="2363623"/>
              <a:ext cx="3004308" cy="6003301"/>
            </a:xfrm>
            <a:prstGeom prst="roundRect">
              <a:avLst>
                <a:gd name="adj" fmla="val 50000"/>
              </a:avLst>
            </a:prstGeom>
            <a:solidFill>
              <a:srgbClr val="96DD4F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E55A7FA4-A2A0-2607-107C-6EEE51515B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#05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AE3DD9D-45A5-EA3D-C4A7-69C8785ED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Green</a:t>
            </a:r>
            <a:endParaRPr lang="en-US"/>
          </a:p>
        </p:txBody>
      </p:sp>
      <p:pic>
        <p:nvPicPr>
          <p:cNvPr id="17" name="Picture 16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206B7E5D-FF40-1698-57A8-FCD7994097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B598C7-F093-2A84-7E0A-6D2FB85BB577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9522A-6062-BEC4-A8E2-83F03100F74F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073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n Colour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>
            <a:extLst>
              <a:ext uri="{FF2B5EF4-FFF2-40B4-BE49-F238E27FC236}">
                <a16:creationId xmlns:a16="http://schemas.microsoft.com/office/drawing/2014/main" id="{3AA9B302-A80A-9A4A-3631-6C155FE09F67}"/>
              </a:ext>
            </a:extLst>
          </p:cNvPr>
          <p:cNvSpPr/>
          <p:nvPr userDrawn="1"/>
        </p:nvSpPr>
        <p:spPr>
          <a:xfrm rot="16200000">
            <a:off x="3490104" y="-1778181"/>
            <a:ext cx="5211791" cy="10414361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  <a:alpha val="4029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18229" y="5233401"/>
            <a:ext cx="4955540" cy="35584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Attribution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96997" y="2084968"/>
            <a:ext cx="7598004" cy="2826978"/>
          </a:xfr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“Cool quote or testimonial”</a:t>
            </a:r>
            <a:endParaRPr lang="en-US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A077F315-4BD8-DA9C-A8C6-8CC56910C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444913" y="461340"/>
            <a:ext cx="1302173" cy="1302173"/>
          </a:xfrm>
          <a:custGeom>
            <a:avLst/>
            <a:gdLst>
              <a:gd name="connsiteX0" fmla="*/ 716035 w 2574925"/>
              <a:gd name="connsiteY0" fmla="*/ 0 h 2574925"/>
              <a:gd name="connsiteX1" fmla="*/ 1858890 w 2574925"/>
              <a:gd name="connsiteY1" fmla="*/ 0 h 2574925"/>
              <a:gd name="connsiteX2" fmla="*/ 2574925 w 2574925"/>
              <a:gd name="connsiteY2" fmla="*/ 716035 h 2574925"/>
              <a:gd name="connsiteX3" fmla="*/ 2574925 w 2574925"/>
              <a:gd name="connsiteY3" fmla="*/ 1858890 h 2574925"/>
              <a:gd name="connsiteX4" fmla="*/ 1858890 w 2574925"/>
              <a:gd name="connsiteY4" fmla="*/ 2574925 h 2574925"/>
              <a:gd name="connsiteX5" fmla="*/ 716035 w 2574925"/>
              <a:gd name="connsiteY5" fmla="*/ 2574925 h 2574925"/>
              <a:gd name="connsiteX6" fmla="*/ 0 w 2574925"/>
              <a:gd name="connsiteY6" fmla="*/ 1858890 h 2574925"/>
              <a:gd name="connsiteX7" fmla="*/ 0 w 2574925"/>
              <a:gd name="connsiteY7" fmla="*/ 716035 h 2574925"/>
              <a:gd name="connsiteX8" fmla="*/ 716035 w 2574925"/>
              <a:gd name="connsiteY8" fmla="*/ 0 h 257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4925" h="2574925">
                <a:moveTo>
                  <a:pt x="716035" y="0"/>
                </a:moveTo>
                <a:lnTo>
                  <a:pt x="1858890" y="0"/>
                </a:lnTo>
                <a:cubicBezTo>
                  <a:pt x="2254345" y="0"/>
                  <a:pt x="2574925" y="320580"/>
                  <a:pt x="2574925" y="716035"/>
                </a:cubicBezTo>
                <a:lnTo>
                  <a:pt x="2574925" y="1858890"/>
                </a:lnTo>
                <a:cubicBezTo>
                  <a:pt x="2574925" y="2254345"/>
                  <a:pt x="2254345" y="2574925"/>
                  <a:pt x="1858890" y="2574925"/>
                </a:cubicBezTo>
                <a:lnTo>
                  <a:pt x="716035" y="2574925"/>
                </a:lnTo>
                <a:cubicBezTo>
                  <a:pt x="320580" y="2574925"/>
                  <a:pt x="0" y="2254345"/>
                  <a:pt x="0" y="1858890"/>
                </a:cubicBezTo>
                <a:lnTo>
                  <a:pt x="0" y="716035"/>
                </a:lnTo>
                <a:cubicBezTo>
                  <a:pt x="0" y="320580"/>
                  <a:pt x="320580" y="0"/>
                  <a:pt x="7160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7" name="Picture 6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C1057F22-1652-D25B-6162-780F0ABD07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522E47-70E6-EA66-ADA4-A7655593F524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F65DF-5D7C-491C-D389-958FA8CF34C2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0194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F7AECC0-F21B-48B4-4FE5-9C0906436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DAAF48C4-ACBB-99B2-6B25-DF05FA0FF4F5}"/>
              </a:ext>
            </a:extLst>
          </p:cNvPr>
          <p:cNvSpPr/>
          <p:nvPr userDrawn="1"/>
        </p:nvSpPr>
        <p:spPr>
          <a:xfrm rot="16200000">
            <a:off x="3490104" y="-1778181"/>
            <a:ext cx="5211791" cy="10414361"/>
          </a:xfrm>
          <a:prstGeom prst="roundRect">
            <a:avLst>
              <a:gd name="adj" fmla="val 50000"/>
            </a:avLst>
          </a:prstGeom>
          <a:solidFill>
            <a:schemeClr val="tx1">
              <a:alpha val="7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37982C-E817-E1A3-9A64-AA1D66D2C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96997" y="2084968"/>
            <a:ext cx="7598004" cy="2826978"/>
          </a:xfr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“Cool quote or testimonial”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3792C-0157-C737-91B0-9BDA97142611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86AE7-5CB3-D32A-D8A2-526498817DAE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649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on Colour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">
            <a:extLst>
              <a:ext uri="{FF2B5EF4-FFF2-40B4-BE49-F238E27FC236}">
                <a16:creationId xmlns:a16="http://schemas.microsoft.com/office/drawing/2014/main" id="{48FE1B77-D2E0-1DF3-6FF5-535DFBE1386B}"/>
              </a:ext>
            </a:extLst>
          </p:cNvPr>
          <p:cNvSpPr/>
          <p:nvPr userDrawn="1"/>
        </p:nvSpPr>
        <p:spPr>
          <a:xfrm rot="16200000">
            <a:off x="3490104" y="-1778181"/>
            <a:ext cx="5211791" cy="10414361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  <a:alpha val="4029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18229" y="5233401"/>
            <a:ext cx="4955540" cy="35584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err="1"/>
              <a:t>www.mivada.com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96997" y="2084968"/>
            <a:ext cx="7598004" cy="2826978"/>
          </a:xfr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32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507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42975119-9EC3-DEB5-6A26-C5BAC6AEE948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4790432" y="0"/>
            <a:ext cx="7401568" cy="6857999"/>
          </a:xfrm>
          <a:custGeom>
            <a:avLst/>
            <a:gdLst>
              <a:gd name="connsiteX0" fmla="*/ 12919992 w 14803138"/>
              <a:gd name="connsiteY0" fmla="*/ 0 h 13716000"/>
              <a:gd name="connsiteX1" fmla="*/ 14803138 w 14803138"/>
              <a:gd name="connsiteY1" fmla="*/ 0 h 13716000"/>
              <a:gd name="connsiteX2" fmla="*/ 14803138 w 14803138"/>
              <a:gd name="connsiteY2" fmla="*/ 12406968 h 13716000"/>
              <a:gd name="connsiteX3" fmla="*/ 14707564 w 14803138"/>
              <a:gd name="connsiteY3" fmla="*/ 12521945 h 13716000"/>
              <a:gd name="connsiteX4" fmla="*/ 12366010 w 14803138"/>
              <a:gd name="connsiteY4" fmla="*/ 13706639 h 13716000"/>
              <a:gd name="connsiteX5" fmla="*/ 12150230 w 14803138"/>
              <a:gd name="connsiteY5" fmla="*/ 13716000 h 13716000"/>
              <a:gd name="connsiteX6" fmla="*/ 11966434 w 14803138"/>
              <a:gd name="connsiteY6" fmla="*/ 13716000 h 13716000"/>
              <a:gd name="connsiteX7" fmla="*/ 11751028 w 14803138"/>
              <a:gd name="connsiteY7" fmla="*/ 13706639 h 13716000"/>
              <a:gd name="connsiteX8" fmla="*/ 11145198 w 14803138"/>
              <a:gd name="connsiteY8" fmla="*/ 13599830 h 13716000"/>
              <a:gd name="connsiteX9" fmla="*/ 10035814 w 14803138"/>
              <a:gd name="connsiteY9" fmla="*/ 13081968 h 13716000"/>
              <a:gd name="connsiteX10" fmla="*/ 8544978 w 14803138"/>
              <a:gd name="connsiteY10" fmla="*/ 10501072 h 13716000"/>
              <a:gd name="connsiteX11" fmla="*/ 9106178 w 14803138"/>
              <a:gd name="connsiteY11" fmla="*/ 7582272 h 13716000"/>
              <a:gd name="connsiteX12" fmla="*/ 7513674 w 14803138"/>
              <a:gd name="connsiteY12" fmla="*/ 10341830 h 13716000"/>
              <a:gd name="connsiteX13" fmla="*/ 5793478 w 14803138"/>
              <a:gd name="connsiteY13" fmla="*/ 12894890 h 13716000"/>
              <a:gd name="connsiteX14" fmla="*/ 3876021 w 14803138"/>
              <a:gd name="connsiteY14" fmla="*/ 13702305 h 13716000"/>
              <a:gd name="connsiteX15" fmla="*/ 3685914 w 14803138"/>
              <a:gd name="connsiteY15" fmla="*/ 13716000 h 13716000"/>
              <a:gd name="connsiteX16" fmla="*/ 3400676 w 14803138"/>
              <a:gd name="connsiteY16" fmla="*/ 13716000 h 13716000"/>
              <a:gd name="connsiteX17" fmla="*/ 3299937 w 14803138"/>
              <a:gd name="connsiteY17" fmla="*/ 13712248 h 13716000"/>
              <a:gd name="connsiteX18" fmla="*/ 2914284 w 14803138"/>
              <a:gd name="connsiteY18" fmla="*/ 13665857 h 13716000"/>
              <a:gd name="connsiteX19" fmla="*/ 1763420 w 14803138"/>
              <a:gd name="connsiteY19" fmla="*/ 13247684 h 13716000"/>
              <a:gd name="connsiteX20" fmla="*/ 824836 w 14803138"/>
              <a:gd name="connsiteY20" fmla="*/ 12459886 h 13716000"/>
              <a:gd name="connsiteX21" fmla="*/ 53798 w 14803138"/>
              <a:gd name="connsiteY21" fmla="*/ 9580572 h 13716000"/>
              <a:gd name="connsiteX22" fmla="*/ 1403928 w 14803138"/>
              <a:gd name="connsiteY22" fmla="*/ 6814541 h 13716000"/>
              <a:gd name="connsiteX23" fmla="*/ 3060684 w 14803138"/>
              <a:gd name="connsiteY23" fmla="*/ 3946879 h 13716000"/>
              <a:gd name="connsiteX24" fmla="*/ 4780066 w 14803138"/>
              <a:gd name="connsiteY24" fmla="*/ 1393818 h 13716000"/>
              <a:gd name="connsiteX25" fmla="*/ 7659260 w 14803138"/>
              <a:gd name="connsiteY25" fmla="*/ 622204 h 13716000"/>
              <a:gd name="connsiteX26" fmla="*/ 8810124 w 14803138"/>
              <a:gd name="connsiteY26" fmla="*/ 1041025 h 13716000"/>
              <a:gd name="connsiteX27" fmla="*/ 9748708 w 14803138"/>
              <a:gd name="connsiteY27" fmla="*/ 1828175 h 13716000"/>
              <a:gd name="connsiteX28" fmla="*/ 10369280 w 14803138"/>
              <a:gd name="connsiteY28" fmla="*/ 2923454 h 13716000"/>
              <a:gd name="connsiteX29" fmla="*/ 10991478 w 14803138"/>
              <a:gd name="connsiteY29" fmla="*/ 1369220 h 13716000"/>
              <a:gd name="connsiteX30" fmla="*/ 12816214 w 14803138"/>
              <a:gd name="connsiteY30" fmla="*/ 29798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4803138" h="13716000">
                <a:moveTo>
                  <a:pt x="12919992" y="0"/>
                </a:moveTo>
                <a:lnTo>
                  <a:pt x="14803138" y="0"/>
                </a:lnTo>
                <a:lnTo>
                  <a:pt x="14803138" y="12406968"/>
                </a:lnTo>
                <a:lnTo>
                  <a:pt x="14707564" y="12521945"/>
                </a:lnTo>
                <a:cubicBezTo>
                  <a:pt x="14111990" y="13199630"/>
                  <a:pt x="13274806" y="13627341"/>
                  <a:pt x="12366010" y="13706639"/>
                </a:cubicBezTo>
                <a:lnTo>
                  <a:pt x="12150230" y="13716000"/>
                </a:lnTo>
                <a:lnTo>
                  <a:pt x="11966434" y="13716000"/>
                </a:lnTo>
                <a:lnTo>
                  <a:pt x="11751028" y="13706639"/>
                </a:lnTo>
                <a:cubicBezTo>
                  <a:pt x="11546780" y="13688838"/>
                  <a:pt x="11344058" y="13653235"/>
                  <a:pt x="11145198" y="13599830"/>
                </a:cubicBezTo>
                <a:cubicBezTo>
                  <a:pt x="10747478" y="13493668"/>
                  <a:pt x="10372534" y="13318242"/>
                  <a:pt x="10035814" y="13081968"/>
                </a:cubicBezTo>
                <a:cubicBezTo>
                  <a:pt x="9181816" y="12484484"/>
                  <a:pt x="8636070" y="11539386"/>
                  <a:pt x="8544978" y="10501072"/>
                </a:cubicBezTo>
                <a:cubicBezTo>
                  <a:pt x="8499430" y="9869280"/>
                  <a:pt x="8727164" y="8997977"/>
                  <a:pt x="9106178" y="7582272"/>
                </a:cubicBezTo>
                <a:lnTo>
                  <a:pt x="7513674" y="10341830"/>
                </a:lnTo>
                <a:cubicBezTo>
                  <a:pt x="6745889" y="11671441"/>
                  <a:pt x="6284730" y="12469596"/>
                  <a:pt x="5793478" y="12894890"/>
                </a:cubicBezTo>
                <a:cubicBezTo>
                  <a:pt x="5244378" y="13355504"/>
                  <a:pt x="4574567" y="13632846"/>
                  <a:pt x="3876021" y="13702305"/>
                </a:cubicBezTo>
                <a:lnTo>
                  <a:pt x="3685914" y="13716000"/>
                </a:lnTo>
                <a:lnTo>
                  <a:pt x="3400676" y="13716000"/>
                </a:lnTo>
                <a:lnTo>
                  <a:pt x="3299937" y="13712248"/>
                </a:lnTo>
                <a:cubicBezTo>
                  <a:pt x="3171323" y="13703928"/>
                  <a:pt x="3042587" y="13688513"/>
                  <a:pt x="2914284" y="13665857"/>
                </a:cubicBezTo>
                <a:cubicBezTo>
                  <a:pt x="2509246" y="13594651"/>
                  <a:pt x="2119660" y="13453534"/>
                  <a:pt x="1763420" y="13247684"/>
                </a:cubicBezTo>
                <a:cubicBezTo>
                  <a:pt x="1406368" y="13041834"/>
                  <a:pt x="1089169" y="12775134"/>
                  <a:pt x="824836" y="12459886"/>
                </a:cubicBezTo>
                <a:cubicBezTo>
                  <a:pt x="154651" y="11661083"/>
                  <a:pt x="-127575" y="10607234"/>
                  <a:pt x="53798" y="9580572"/>
                </a:cubicBezTo>
                <a:cubicBezTo>
                  <a:pt x="176611" y="8942307"/>
                  <a:pt x="636143" y="8144152"/>
                  <a:pt x="1403928" y="6814541"/>
                </a:cubicBezTo>
                <a:lnTo>
                  <a:pt x="3060684" y="3946879"/>
                </a:lnTo>
                <a:cubicBezTo>
                  <a:pt x="3828469" y="2617268"/>
                  <a:pt x="4288814" y="1819113"/>
                  <a:pt x="4780066" y="1393818"/>
                </a:cubicBezTo>
                <a:cubicBezTo>
                  <a:pt x="5578758" y="723834"/>
                  <a:pt x="6632836" y="440952"/>
                  <a:pt x="7659260" y="622204"/>
                </a:cubicBezTo>
                <a:cubicBezTo>
                  <a:pt x="8064298" y="693410"/>
                  <a:pt x="8453886" y="835822"/>
                  <a:pt x="8810124" y="1041025"/>
                </a:cubicBezTo>
                <a:cubicBezTo>
                  <a:pt x="9166362" y="1246875"/>
                  <a:pt x="9484376" y="1512927"/>
                  <a:pt x="9748708" y="1828175"/>
                </a:cubicBezTo>
                <a:cubicBezTo>
                  <a:pt x="10024428" y="2156371"/>
                  <a:pt x="10230202" y="2528584"/>
                  <a:pt x="10369280" y="2923454"/>
                </a:cubicBezTo>
                <a:cubicBezTo>
                  <a:pt x="10574240" y="2226282"/>
                  <a:pt x="10758054" y="1714246"/>
                  <a:pt x="10991478" y="1369220"/>
                </a:cubicBezTo>
                <a:cubicBezTo>
                  <a:pt x="11439828" y="728851"/>
                  <a:pt x="12083986" y="261804"/>
                  <a:pt x="12816214" y="29798"/>
                </a:cubicBezTo>
                <a:close/>
              </a:path>
            </a:pathLst>
          </a:custGeom>
        </p:spPr>
        <p:txBody>
          <a:bodyPr wrap="square" lIns="91439" tIns="45719" rIns="91439" bIns="45719">
            <a:no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pic>
        <p:nvPicPr>
          <p:cNvPr id="9" name="Mivada_Logo_White_RGB_L.png" descr="Mivada_Logo_White_RGB_L.png">
            <a:extLst>
              <a:ext uri="{FF2B5EF4-FFF2-40B4-BE49-F238E27FC236}">
                <a16:creationId xmlns:a16="http://schemas.microsoft.com/office/drawing/2014/main" id="{990D0F04-B0EF-DE2E-F868-157CB91E29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2628" y="544082"/>
            <a:ext cx="2736000" cy="41504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022E124-E739-5F30-E7B6-B7C95BFD7F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0880" y="1081305"/>
            <a:ext cx="4955540" cy="16557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02C498-C2BA-E2D6-FEDB-8A7BEE6DB2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0308D1C-6F00-702D-2FAA-E0D8CC77328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20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754F154-679C-FFBC-F435-EF090AE21BF9}"/>
              </a:ext>
            </a:extLst>
          </p:cNvPr>
          <p:cNvGrpSpPr/>
          <p:nvPr userDrawn="1"/>
        </p:nvGrpSpPr>
        <p:grpSpPr>
          <a:xfrm>
            <a:off x="4589092" y="-167298"/>
            <a:ext cx="7278360" cy="7284671"/>
            <a:chOff x="4394313" y="41680"/>
            <a:chExt cx="8067067" cy="807406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93850FE-08C2-DA7A-5BB3-D6CDB49C7B15}"/>
                </a:ext>
              </a:extLst>
            </p:cNvPr>
            <p:cNvGrpSpPr/>
            <p:nvPr userDrawn="1"/>
          </p:nvGrpSpPr>
          <p:grpSpPr>
            <a:xfrm>
              <a:off x="4394313" y="1683950"/>
              <a:ext cx="8067067" cy="4782527"/>
              <a:chOff x="4394313" y="1683950"/>
              <a:chExt cx="8067067" cy="4782527"/>
            </a:xfrm>
          </p:grpSpPr>
          <p:sp>
            <p:nvSpPr>
              <p:cNvPr id="5" name="Rounded Rectangle">
                <a:extLst>
                  <a:ext uri="{FF2B5EF4-FFF2-40B4-BE49-F238E27FC236}">
                    <a16:creationId xmlns:a16="http://schemas.microsoft.com/office/drawing/2014/main" id="{CD89EE42-65F3-474F-752D-B57B1857A43B}"/>
                  </a:ext>
                </a:extLst>
              </p:cNvPr>
              <p:cNvSpPr/>
              <p:nvPr userDrawn="1"/>
            </p:nvSpPr>
            <p:spPr>
              <a:xfrm rot="15660000">
                <a:off x="9303890" y="632695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4" name="Rounded Rectangle">
                <a:extLst>
                  <a:ext uri="{FF2B5EF4-FFF2-40B4-BE49-F238E27FC236}">
                    <a16:creationId xmlns:a16="http://schemas.microsoft.com/office/drawing/2014/main" id="{E354A95F-23B4-B93E-A0B9-14146340FE67}"/>
                  </a:ext>
                </a:extLst>
              </p:cNvPr>
              <p:cNvSpPr/>
              <p:nvPr userDrawn="1"/>
            </p:nvSpPr>
            <p:spPr>
              <a:xfrm rot="15660000">
                <a:off x="5445568" y="3308987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B40A9DC-ACFE-BCEA-6411-C7A140078300}"/>
                </a:ext>
              </a:extLst>
            </p:cNvPr>
            <p:cNvGrpSpPr/>
            <p:nvPr userDrawn="1"/>
          </p:nvGrpSpPr>
          <p:grpSpPr>
            <a:xfrm rot="7200000">
              <a:off x="4390596" y="1683950"/>
              <a:ext cx="8067067" cy="4782527"/>
              <a:chOff x="4394313" y="1683950"/>
              <a:chExt cx="8067067" cy="4782527"/>
            </a:xfrm>
          </p:grpSpPr>
          <p:sp>
            <p:nvSpPr>
              <p:cNvPr id="17" name="Rounded Rectangle">
                <a:extLst>
                  <a:ext uri="{FF2B5EF4-FFF2-40B4-BE49-F238E27FC236}">
                    <a16:creationId xmlns:a16="http://schemas.microsoft.com/office/drawing/2014/main" id="{A45E776A-48AF-9D53-FCCB-C0E3A987F52E}"/>
                  </a:ext>
                </a:extLst>
              </p:cNvPr>
              <p:cNvSpPr/>
              <p:nvPr userDrawn="1"/>
            </p:nvSpPr>
            <p:spPr>
              <a:xfrm rot="15660000">
                <a:off x="9303890" y="632695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" name="Rounded Rectangle">
                <a:extLst>
                  <a:ext uri="{FF2B5EF4-FFF2-40B4-BE49-F238E27FC236}">
                    <a16:creationId xmlns:a16="http://schemas.microsoft.com/office/drawing/2014/main" id="{6DBB19EC-40B4-FBC7-00B4-956920572D95}"/>
                  </a:ext>
                </a:extLst>
              </p:cNvPr>
              <p:cNvSpPr/>
              <p:nvPr userDrawn="1"/>
            </p:nvSpPr>
            <p:spPr>
              <a:xfrm rot="15660000">
                <a:off x="5445568" y="3308987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671F726-FBEA-8655-2C85-9DD7258F1FD3}"/>
                </a:ext>
              </a:extLst>
            </p:cNvPr>
            <p:cNvGrpSpPr/>
            <p:nvPr userDrawn="1"/>
          </p:nvGrpSpPr>
          <p:grpSpPr>
            <a:xfrm rot="14400000">
              <a:off x="4387772" y="1690945"/>
              <a:ext cx="8067067" cy="4782527"/>
              <a:chOff x="4394313" y="1683950"/>
              <a:chExt cx="8067067" cy="4782527"/>
            </a:xfrm>
          </p:grpSpPr>
          <p:sp>
            <p:nvSpPr>
              <p:cNvPr id="20" name="Rounded Rectangle">
                <a:extLst>
                  <a:ext uri="{FF2B5EF4-FFF2-40B4-BE49-F238E27FC236}">
                    <a16:creationId xmlns:a16="http://schemas.microsoft.com/office/drawing/2014/main" id="{D8197E5A-50EF-4A2D-4B9B-BF65051831DF}"/>
                  </a:ext>
                </a:extLst>
              </p:cNvPr>
              <p:cNvSpPr/>
              <p:nvPr userDrawn="1"/>
            </p:nvSpPr>
            <p:spPr>
              <a:xfrm rot="15660000">
                <a:off x="9303890" y="632695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" name="Rounded Rectangle">
                <a:extLst>
                  <a:ext uri="{FF2B5EF4-FFF2-40B4-BE49-F238E27FC236}">
                    <a16:creationId xmlns:a16="http://schemas.microsoft.com/office/drawing/2014/main" id="{37DAC493-DA59-9FD2-64B3-EFDC0AB99FA8}"/>
                  </a:ext>
                </a:extLst>
              </p:cNvPr>
              <p:cNvSpPr/>
              <p:nvPr userDrawn="1"/>
            </p:nvSpPr>
            <p:spPr>
              <a:xfrm rot="15660000">
                <a:off x="5445568" y="3308987"/>
                <a:ext cx="2106235" cy="4208745"/>
              </a:xfrm>
              <a:prstGeom prst="roundRect">
                <a:avLst>
                  <a:gd name="adj" fmla="val 50000"/>
                </a:avLst>
              </a:prstGeom>
              <a:solidFill>
                <a:srgbClr val="D00000">
                  <a:alpha val="49705"/>
                </a:srgb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pic>
        <p:nvPicPr>
          <p:cNvPr id="9" name="Mivada_Logo_White_RGB_L.png" descr="Mivada_Logo_White_RGB_L.png">
            <a:extLst>
              <a:ext uri="{FF2B5EF4-FFF2-40B4-BE49-F238E27FC236}">
                <a16:creationId xmlns:a16="http://schemas.microsoft.com/office/drawing/2014/main" id="{990D0F04-B0EF-DE2E-F868-157CB91E29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2628" y="544082"/>
            <a:ext cx="2736000" cy="41504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022E124-E739-5F30-E7B6-B7C95BFD7F0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90880" y="1081305"/>
            <a:ext cx="4955540" cy="16557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02C498-C2BA-E2D6-FEDB-8A7BEE6DB2E9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0308D1C-6F00-702D-2FAA-E0D8CC773283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89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">
            <a:extLst>
              <a:ext uri="{FF2B5EF4-FFF2-40B4-BE49-F238E27FC236}">
                <a16:creationId xmlns:a16="http://schemas.microsoft.com/office/drawing/2014/main" id="{A1618278-E674-CCA1-A44E-B5B5083A58F6}"/>
              </a:ext>
            </a:extLst>
          </p:cNvPr>
          <p:cNvSpPr/>
          <p:nvPr userDrawn="1"/>
        </p:nvSpPr>
        <p:spPr>
          <a:xfrm rot="1800000">
            <a:off x="4831614" y="1217909"/>
            <a:ext cx="2130934" cy="4258097"/>
          </a:xfrm>
          <a:prstGeom prst="roundRect">
            <a:avLst>
              <a:gd name="adj" fmla="val 50000"/>
            </a:avLst>
          </a:prstGeom>
          <a:solidFill>
            <a:srgbClr val="FF9D8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64BF4747-DE9B-093A-1656-5A722E6936D1}"/>
              </a:ext>
            </a:extLst>
          </p:cNvPr>
          <p:cNvSpPr/>
          <p:nvPr userDrawn="1"/>
        </p:nvSpPr>
        <p:spPr>
          <a:xfrm rot="900000">
            <a:off x="7133205" y="1101714"/>
            <a:ext cx="2130933" cy="4258096"/>
          </a:xfrm>
          <a:prstGeom prst="roundRect">
            <a:avLst>
              <a:gd name="adj" fmla="val 50000"/>
            </a:avLst>
          </a:prstGeom>
          <a:solidFill>
            <a:srgbClr val="E83D2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6" name="jose-puma-MdpWvFtfI-Q-unsplash.jpeg" descr="jose-puma-MdpWvFtfI-Q-unsplash.jpeg">
            <a:extLst>
              <a:ext uri="{FF2B5EF4-FFF2-40B4-BE49-F238E27FC236}">
                <a16:creationId xmlns:a16="http://schemas.microsoft.com/office/drawing/2014/main" id="{4EB6EF7D-B5C7-6CB7-08EF-0DFF6D736D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1333" t="12916" r="39476" b="41"/>
          <a:stretch>
            <a:fillRect/>
          </a:stretch>
        </p:blipFill>
        <p:spPr>
          <a:xfrm>
            <a:off x="9351937" y="1059119"/>
            <a:ext cx="2130925" cy="42581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800" y="0"/>
                </a:moveTo>
                <a:cubicBezTo>
                  <a:pt x="9540" y="0"/>
                  <a:pt x="8288" y="110"/>
                  <a:pt x="7104" y="326"/>
                </a:cubicBezTo>
                <a:cubicBezTo>
                  <a:pt x="4105" y="872"/>
                  <a:pt x="1742" y="2054"/>
                  <a:pt x="650" y="3556"/>
                </a:cubicBezTo>
                <a:cubicBezTo>
                  <a:pt x="-1" y="4497"/>
                  <a:pt x="0" y="5909"/>
                  <a:pt x="0" y="8262"/>
                </a:cubicBezTo>
                <a:lnTo>
                  <a:pt x="0" y="13338"/>
                </a:lnTo>
                <a:cubicBezTo>
                  <a:pt x="0" y="15691"/>
                  <a:pt x="-1" y="17102"/>
                  <a:pt x="650" y="18043"/>
                </a:cubicBezTo>
                <a:cubicBezTo>
                  <a:pt x="1742" y="19544"/>
                  <a:pt x="4105" y="20728"/>
                  <a:pt x="7104" y="21274"/>
                </a:cubicBezTo>
                <a:cubicBezTo>
                  <a:pt x="8288" y="21490"/>
                  <a:pt x="9540" y="21600"/>
                  <a:pt x="10800" y="21600"/>
                </a:cubicBezTo>
                <a:cubicBezTo>
                  <a:pt x="12060" y="21600"/>
                  <a:pt x="13310" y="21490"/>
                  <a:pt x="14494" y="21274"/>
                </a:cubicBezTo>
                <a:cubicBezTo>
                  <a:pt x="17493" y="20728"/>
                  <a:pt x="19856" y="19544"/>
                  <a:pt x="20948" y="18043"/>
                </a:cubicBezTo>
                <a:cubicBezTo>
                  <a:pt x="21599" y="17102"/>
                  <a:pt x="21598" y="15691"/>
                  <a:pt x="21598" y="13338"/>
                </a:cubicBezTo>
                <a:lnTo>
                  <a:pt x="21598" y="8262"/>
                </a:lnTo>
                <a:cubicBezTo>
                  <a:pt x="21598" y="5909"/>
                  <a:pt x="21599" y="4497"/>
                  <a:pt x="20948" y="3556"/>
                </a:cubicBezTo>
                <a:cubicBezTo>
                  <a:pt x="19856" y="2054"/>
                  <a:pt x="17493" y="872"/>
                  <a:pt x="14494" y="326"/>
                </a:cubicBezTo>
                <a:cubicBezTo>
                  <a:pt x="13310" y="110"/>
                  <a:pt x="12060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0F9A64E5-98AD-1759-6088-887888EAA9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51903" y="1053350"/>
            <a:ext cx="2130704" cy="4263383"/>
          </a:xfrm>
          <a:custGeom>
            <a:avLst/>
            <a:gdLst>
              <a:gd name="connsiteX0" fmla="*/ 1929406 w 3859212"/>
              <a:gd name="connsiteY0" fmla="*/ 0 h 7722000"/>
              <a:gd name="connsiteX1" fmla="*/ 3849250 w 3859212"/>
              <a:gd name="connsiteY1" fmla="*/ 1732495 h 7722000"/>
              <a:gd name="connsiteX2" fmla="*/ 3859212 w 3859212"/>
              <a:gd name="connsiteY2" fmla="*/ 1929767 h 7722000"/>
              <a:gd name="connsiteX3" fmla="*/ 3859212 w 3859212"/>
              <a:gd name="connsiteY3" fmla="*/ 5792195 h 7722000"/>
              <a:gd name="connsiteX4" fmla="*/ 2126718 w 3859212"/>
              <a:gd name="connsiteY4" fmla="*/ 7712038 h 7722000"/>
              <a:gd name="connsiteX5" fmla="*/ 1929426 w 3859212"/>
              <a:gd name="connsiteY5" fmla="*/ 7722000 h 7722000"/>
              <a:gd name="connsiteX6" fmla="*/ 1929406 w 3859212"/>
              <a:gd name="connsiteY6" fmla="*/ 7722000 h 7722000"/>
              <a:gd name="connsiteX7" fmla="*/ 9566 w 3859212"/>
              <a:gd name="connsiteY7" fmla="*/ 5989505 h 7722000"/>
              <a:gd name="connsiteX8" fmla="*/ 0 w 3859212"/>
              <a:gd name="connsiteY8" fmla="*/ 5800076 h 7722000"/>
              <a:gd name="connsiteX9" fmla="*/ 0 w 3859212"/>
              <a:gd name="connsiteY9" fmla="*/ 1921925 h 7722000"/>
              <a:gd name="connsiteX10" fmla="*/ 9566 w 3859212"/>
              <a:gd name="connsiteY10" fmla="*/ 1732495 h 7722000"/>
              <a:gd name="connsiteX11" fmla="*/ 1929406 w 3859212"/>
              <a:gd name="connsiteY11" fmla="*/ 0 h 77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59212" h="7722000">
                <a:moveTo>
                  <a:pt x="1929406" y="0"/>
                </a:moveTo>
                <a:cubicBezTo>
                  <a:pt x="2928598" y="0"/>
                  <a:pt x="3750426" y="759379"/>
                  <a:pt x="3849250" y="1732495"/>
                </a:cubicBezTo>
                <a:lnTo>
                  <a:pt x="3859212" y="1929767"/>
                </a:lnTo>
                <a:lnTo>
                  <a:pt x="3859212" y="5792195"/>
                </a:lnTo>
                <a:cubicBezTo>
                  <a:pt x="3859212" y="6791384"/>
                  <a:pt x="3099834" y="7613212"/>
                  <a:pt x="2126718" y="7712038"/>
                </a:cubicBezTo>
                <a:lnTo>
                  <a:pt x="1929426" y="7722000"/>
                </a:lnTo>
                <a:lnTo>
                  <a:pt x="1929406" y="7722000"/>
                </a:lnTo>
                <a:cubicBezTo>
                  <a:pt x="930218" y="7722000"/>
                  <a:pt x="108390" y="6962621"/>
                  <a:pt x="9566" y="5989505"/>
                </a:cubicBezTo>
                <a:lnTo>
                  <a:pt x="0" y="5800076"/>
                </a:lnTo>
                <a:lnTo>
                  <a:pt x="0" y="1921925"/>
                </a:lnTo>
                <a:lnTo>
                  <a:pt x="9566" y="1732495"/>
                </a:lnTo>
                <a:cubicBezTo>
                  <a:pt x="108390" y="759379"/>
                  <a:pt x="930218" y="0"/>
                  <a:pt x="19294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A06F0-7ACC-295A-7A6D-F18A0758C6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0880" y="647272"/>
            <a:ext cx="4955540" cy="2089795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pic>
        <p:nvPicPr>
          <p:cNvPr id="9" name="Mivada_Logo_White_RGB_L.png" descr="Mivada_Logo_White_RGB_L.png">
            <a:extLst>
              <a:ext uri="{FF2B5EF4-FFF2-40B4-BE49-F238E27FC236}">
                <a16:creationId xmlns:a16="http://schemas.microsoft.com/office/drawing/2014/main" id="{990D0F04-B0EF-DE2E-F868-157CB91E29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7692" y="5950194"/>
            <a:ext cx="2624093" cy="39806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CC388ED0-4610-2232-DC05-E7D466A097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78688E8-C1BC-203D-0ED6-E02085D6BE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9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">
            <a:extLst>
              <a:ext uri="{FF2B5EF4-FFF2-40B4-BE49-F238E27FC236}">
                <a16:creationId xmlns:a16="http://schemas.microsoft.com/office/drawing/2014/main" id="{A1618278-E674-CCA1-A44E-B5B5083A58F6}"/>
              </a:ext>
            </a:extLst>
          </p:cNvPr>
          <p:cNvSpPr/>
          <p:nvPr userDrawn="1"/>
        </p:nvSpPr>
        <p:spPr>
          <a:xfrm rot="1800000">
            <a:off x="4831614" y="1217909"/>
            <a:ext cx="2130934" cy="4258097"/>
          </a:xfrm>
          <a:prstGeom prst="roundRect">
            <a:avLst>
              <a:gd name="adj" fmla="val 50000"/>
            </a:avLst>
          </a:prstGeom>
          <a:solidFill>
            <a:srgbClr val="FFE4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64BF4747-DE9B-093A-1656-5A722E6936D1}"/>
              </a:ext>
            </a:extLst>
          </p:cNvPr>
          <p:cNvSpPr/>
          <p:nvPr userDrawn="1"/>
        </p:nvSpPr>
        <p:spPr>
          <a:xfrm rot="900000">
            <a:off x="7133205" y="1101714"/>
            <a:ext cx="2130933" cy="42580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A06F0-7ACC-295A-7A6D-F18A0758C6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0880" y="647272"/>
            <a:ext cx="4955540" cy="2089795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pic>
        <p:nvPicPr>
          <p:cNvPr id="3" name="brennan-martinez-jNUU8pKkkL8-unsplash.jpeg" descr="brennan-martinez-jNUU8pKkkL8-unsplash.jpeg">
            <a:extLst>
              <a:ext uri="{FF2B5EF4-FFF2-40B4-BE49-F238E27FC236}">
                <a16:creationId xmlns:a16="http://schemas.microsoft.com/office/drawing/2014/main" id="{EE7325F0-11E0-551F-D598-FFDC06E154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650" t="16474" r="18650"/>
          <a:stretch>
            <a:fillRect/>
          </a:stretch>
        </p:blipFill>
        <p:spPr>
          <a:xfrm>
            <a:off x="9351648" y="1057901"/>
            <a:ext cx="2129014" cy="42542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800" y="0"/>
                </a:moveTo>
                <a:cubicBezTo>
                  <a:pt x="9540" y="0"/>
                  <a:pt x="8288" y="110"/>
                  <a:pt x="7104" y="326"/>
                </a:cubicBezTo>
                <a:cubicBezTo>
                  <a:pt x="4105" y="872"/>
                  <a:pt x="1742" y="2054"/>
                  <a:pt x="650" y="3556"/>
                </a:cubicBezTo>
                <a:cubicBezTo>
                  <a:pt x="-1" y="4497"/>
                  <a:pt x="0" y="5909"/>
                  <a:pt x="0" y="8262"/>
                </a:cubicBezTo>
                <a:lnTo>
                  <a:pt x="0" y="13338"/>
                </a:lnTo>
                <a:cubicBezTo>
                  <a:pt x="0" y="15691"/>
                  <a:pt x="-1" y="17102"/>
                  <a:pt x="650" y="18043"/>
                </a:cubicBezTo>
                <a:cubicBezTo>
                  <a:pt x="1742" y="19544"/>
                  <a:pt x="4105" y="20728"/>
                  <a:pt x="7104" y="21274"/>
                </a:cubicBezTo>
                <a:cubicBezTo>
                  <a:pt x="8288" y="21490"/>
                  <a:pt x="9540" y="21600"/>
                  <a:pt x="10800" y="21600"/>
                </a:cubicBezTo>
                <a:cubicBezTo>
                  <a:pt x="12060" y="21600"/>
                  <a:pt x="13310" y="21490"/>
                  <a:pt x="14494" y="21274"/>
                </a:cubicBezTo>
                <a:cubicBezTo>
                  <a:pt x="17493" y="20728"/>
                  <a:pt x="19856" y="19544"/>
                  <a:pt x="20948" y="18043"/>
                </a:cubicBezTo>
                <a:cubicBezTo>
                  <a:pt x="21599" y="17102"/>
                  <a:pt x="21598" y="15691"/>
                  <a:pt x="21598" y="13338"/>
                </a:cubicBezTo>
                <a:lnTo>
                  <a:pt x="21598" y="8262"/>
                </a:lnTo>
                <a:cubicBezTo>
                  <a:pt x="21598" y="5909"/>
                  <a:pt x="21599" y="4497"/>
                  <a:pt x="20948" y="3556"/>
                </a:cubicBezTo>
                <a:cubicBezTo>
                  <a:pt x="19856" y="2054"/>
                  <a:pt x="17493" y="872"/>
                  <a:pt x="14494" y="326"/>
                </a:cubicBezTo>
                <a:cubicBezTo>
                  <a:pt x="13310" y="110"/>
                  <a:pt x="12060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0A7262E0-10C5-908B-C52F-4B8EA017869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51903" y="1053350"/>
            <a:ext cx="2130704" cy="4263383"/>
          </a:xfrm>
          <a:custGeom>
            <a:avLst/>
            <a:gdLst>
              <a:gd name="connsiteX0" fmla="*/ 1929406 w 3859212"/>
              <a:gd name="connsiteY0" fmla="*/ 0 h 7722000"/>
              <a:gd name="connsiteX1" fmla="*/ 3849250 w 3859212"/>
              <a:gd name="connsiteY1" fmla="*/ 1732495 h 7722000"/>
              <a:gd name="connsiteX2" fmla="*/ 3859212 w 3859212"/>
              <a:gd name="connsiteY2" fmla="*/ 1929767 h 7722000"/>
              <a:gd name="connsiteX3" fmla="*/ 3859212 w 3859212"/>
              <a:gd name="connsiteY3" fmla="*/ 5792195 h 7722000"/>
              <a:gd name="connsiteX4" fmla="*/ 2126718 w 3859212"/>
              <a:gd name="connsiteY4" fmla="*/ 7712038 h 7722000"/>
              <a:gd name="connsiteX5" fmla="*/ 1929426 w 3859212"/>
              <a:gd name="connsiteY5" fmla="*/ 7722000 h 7722000"/>
              <a:gd name="connsiteX6" fmla="*/ 1929406 w 3859212"/>
              <a:gd name="connsiteY6" fmla="*/ 7722000 h 7722000"/>
              <a:gd name="connsiteX7" fmla="*/ 9566 w 3859212"/>
              <a:gd name="connsiteY7" fmla="*/ 5989505 h 7722000"/>
              <a:gd name="connsiteX8" fmla="*/ 0 w 3859212"/>
              <a:gd name="connsiteY8" fmla="*/ 5800076 h 7722000"/>
              <a:gd name="connsiteX9" fmla="*/ 0 w 3859212"/>
              <a:gd name="connsiteY9" fmla="*/ 1921925 h 7722000"/>
              <a:gd name="connsiteX10" fmla="*/ 9566 w 3859212"/>
              <a:gd name="connsiteY10" fmla="*/ 1732495 h 7722000"/>
              <a:gd name="connsiteX11" fmla="*/ 1929406 w 3859212"/>
              <a:gd name="connsiteY11" fmla="*/ 0 h 77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59212" h="7722000">
                <a:moveTo>
                  <a:pt x="1929406" y="0"/>
                </a:moveTo>
                <a:cubicBezTo>
                  <a:pt x="2928598" y="0"/>
                  <a:pt x="3750426" y="759379"/>
                  <a:pt x="3849250" y="1732495"/>
                </a:cubicBezTo>
                <a:lnTo>
                  <a:pt x="3859212" y="1929767"/>
                </a:lnTo>
                <a:lnTo>
                  <a:pt x="3859212" y="5792195"/>
                </a:lnTo>
                <a:cubicBezTo>
                  <a:pt x="3859212" y="6791384"/>
                  <a:pt x="3099834" y="7613212"/>
                  <a:pt x="2126718" y="7712038"/>
                </a:cubicBezTo>
                <a:lnTo>
                  <a:pt x="1929426" y="7722000"/>
                </a:lnTo>
                <a:lnTo>
                  <a:pt x="1929406" y="7722000"/>
                </a:lnTo>
                <a:cubicBezTo>
                  <a:pt x="930218" y="7722000"/>
                  <a:pt x="108390" y="6962621"/>
                  <a:pt x="9566" y="5989505"/>
                </a:cubicBezTo>
                <a:lnTo>
                  <a:pt x="0" y="5800076"/>
                </a:lnTo>
                <a:lnTo>
                  <a:pt x="0" y="1921925"/>
                </a:lnTo>
                <a:lnTo>
                  <a:pt x="9566" y="1732495"/>
                </a:lnTo>
                <a:cubicBezTo>
                  <a:pt x="108390" y="759379"/>
                  <a:pt x="930218" y="0"/>
                  <a:pt x="19294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Mivada_Logo_White_RGB_L.png" descr="Mivada_Logo_White_RGB_L.png">
            <a:extLst>
              <a:ext uri="{FF2B5EF4-FFF2-40B4-BE49-F238E27FC236}">
                <a16:creationId xmlns:a16="http://schemas.microsoft.com/office/drawing/2014/main" id="{612AE1D9-9EF2-105E-8B13-44017E2E48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7692" y="5950194"/>
            <a:ext cx="2624093" cy="398067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5BB2E20-A886-2325-02BB-D36F9F6332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8B51B1-056C-08AB-3C02-698496FB0B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09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">
            <a:extLst>
              <a:ext uri="{FF2B5EF4-FFF2-40B4-BE49-F238E27FC236}">
                <a16:creationId xmlns:a16="http://schemas.microsoft.com/office/drawing/2014/main" id="{A1618278-E674-CCA1-A44E-B5B5083A58F6}"/>
              </a:ext>
            </a:extLst>
          </p:cNvPr>
          <p:cNvSpPr/>
          <p:nvPr userDrawn="1"/>
        </p:nvSpPr>
        <p:spPr>
          <a:xfrm rot="1800000">
            <a:off x="4831614" y="1217909"/>
            <a:ext cx="2130934" cy="4258097"/>
          </a:xfrm>
          <a:prstGeom prst="roundRect">
            <a:avLst>
              <a:gd name="adj" fmla="val 50000"/>
            </a:avLst>
          </a:prstGeom>
          <a:solidFill>
            <a:srgbClr val="96DD4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64BF4747-DE9B-093A-1656-5A722E6936D1}"/>
              </a:ext>
            </a:extLst>
          </p:cNvPr>
          <p:cNvSpPr/>
          <p:nvPr userDrawn="1"/>
        </p:nvSpPr>
        <p:spPr>
          <a:xfrm rot="900000">
            <a:off x="7133205" y="1101714"/>
            <a:ext cx="2130933" cy="42580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A06F0-7ACC-295A-7A6D-F18A0758C6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0880" y="647272"/>
            <a:ext cx="4955540" cy="2089795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pic>
        <p:nvPicPr>
          <p:cNvPr id="13" name="Mivada_Logo_White_RGB_L.png" descr="Mivada_Logo_White_RGB_L.png">
            <a:extLst>
              <a:ext uri="{FF2B5EF4-FFF2-40B4-BE49-F238E27FC236}">
                <a16:creationId xmlns:a16="http://schemas.microsoft.com/office/drawing/2014/main" id="{612AE1D9-9EF2-105E-8B13-44017E2E48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27692" y="5950194"/>
            <a:ext cx="2624093" cy="39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hoto-1538448728514-b19826b97c9c.jpeg" descr="photo-1538448728514-b19826b97c9c.jpeg">
            <a:extLst>
              <a:ext uri="{FF2B5EF4-FFF2-40B4-BE49-F238E27FC236}">
                <a16:creationId xmlns:a16="http://schemas.microsoft.com/office/drawing/2014/main" id="{AAF5A900-90A8-607C-58E7-C5755B62AE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080" r="21853"/>
          <a:stretch>
            <a:fillRect/>
          </a:stretch>
        </p:blipFill>
        <p:spPr>
          <a:xfrm>
            <a:off x="9349703" y="1057901"/>
            <a:ext cx="2129014" cy="42542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800" y="0"/>
                </a:moveTo>
                <a:cubicBezTo>
                  <a:pt x="9540" y="0"/>
                  <a:pt x="8288" y="110"/>
                  <a:pt x="7104" y="326"/>
                </a:cubicBezTo>
                <a:cubicBezTo>
                  <a:pt x="4105" y="872"/>
                  <a:pt x="1742" y="2054"/>
                  <a:pt x="650" y="3556"/>
                </a:cubicBezTo>
                <a:cubicBezTo>
                  <a:pt x="-1" y="4497"/>
                  <a:pt x="0" y="5909"/>
                  <a:pt x="0" y="8262"/>
                </a:cubicBezTo>
                <a:lnTo>
                  <a:pt x="0" y="13338"/>
                </a:lnTo>
                <a:cubicBezTo>
                  <a:pt x="0" y="15691"/>
                  <a:pt x="-1" y="17102"/>
                  <a:pt x="650" y="18043"/>
                </a:cubicBezTo>
                <a:cubicBezTo>
                  <a:pt x="1742" y="19544"/>
                  <a:pt x="4105" y="20728"/>
                  <a:pt x="7104" y="21274"/>
                </a:cubicBezTo>
                <a:cubicBezTo>
                  <a:pt x="8288" y="21490"/>
                  <a:pt x="9540" y="21600"/>
                  <a:pt x="10800" y="21600"/>
                </a:cubicBezTo>
                <a:cubicBezTo>
                  <a:pt x="12060" y="21600"/>
                  <a:pt x="13310" y="21490"/>
                  <a:pt x="14494" y="21274"/>
                </a:cubicBezTo>
                <a:cubicBezTo>
                  <a:pt x="17493" y="20728"/>
                  <a:pt x="19856" y="19544"/>
                  <a:pt x="20948" y="18043"/>
                </a:cubicBezTo>
                <a:cubicBezTo>
                  <a:pt x="21599" y="17102"/>
                  <a:pt x="21598" y="15691"/>
                  <a:pt x="21598" y="13338"/>
                </a:cubicBezTo>
                <a:lnTo>
                  <a:pt x="21598" y="8262"/>
                </a:lnTo>
                <a:cubicBezTo>
                  <a:pt x="21598" y="5909"/>
                  <a:pt x="21599" y="4497"/>
                  <a:pt x="20948" y="3556"/>
                </a:cubicBezTo>
                <a:cubicBezTo>
                  <a:pt x="19856" y="2054"/>
                  <a:pt x="17493" y="872"/>
                  <a:pt x="14494" y="326"/>
                </a:cubicBezTo>
                <a:cubicBezTo>
                  <a:pt x="13310" y="110"/>
                  <a:pt x="12060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25A16C7-B9F4-F9AF-B57D-A3C621FDF26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51903" y="1053350"/>
            <a:ext cx="2130704" cy="4263383"/>
          </a:xfrm>
          <a:custGeom>
            <a:avLst/>
            <a:gdLst>
              <a:gd name="connsiteX0" fmla="*/ 1929406 w 3859212"/>
              <a:gd name="connsiteY0" fmla="*/ 0 h 7722000"/>
              <a:gd name="connsiteX1" fmla="*/ 3849250 w 3859212"/>
              <a:gd name="connsiteY1" fmla="*/ 1732495 h 7722000"/>
              <a:gd name="connsiteX2" fmla="*/ 3859212 w 3859212"/>
              <a:gd name="connsiteY2" fmla="*/ 1929767 h 7722000"/>
              <a:gd name="connsiteX3" fmla="*/ 3859212 w 3859212"/>
              <a:gd name="connsiteY3" fmla="*/ 5792195 h 7722000"/>
              <a:gd name="connsiteX4" fmla="*/ 2126718 w 3859212"/>
              <a:gd name="connsiteY4" fmla="*/ 7712038 h 7722000"/>
              <a:gd name="connsiteX5" fmla="*/ 1929426 w 3859212"/>
              <a:gd name="connsiteY5" fmla="*/ 7722000 h 7722000"/>
              <a:gd name="connsiteX6" fmla="*/ 1929406 w 3859212"/>
              <a:gd name="connsiteY6" fmla="*/ 7722000 h 7722000"/>
              <a:gd name="connsiteX7" fmla="*/ 9566 w 3859212"/>
              <a:gd name="connsiteY7" fmla="*/ 5989505 h 7722000"/>
              <a:gd name="connsiteX8" fmla="*/ 0 w 3859212"/>
              <a:gd name="connsiteY8" fmla="*/ 5800076 h 7722000"/>
              <a:gd name="connsiteX9" fmla="*/ 0 w 3859212"/>
              <a:gd name="connsiteY9" fmla="*/ 1921925 h 7722000"/>
              <a:gd name="connsiteX10" fmla="*/ 9566 w 3859212"/>
              <a:gd name="connsiteY10" fmla="*/ 1732495 h 7722000"/>
              <a:gd name="connsiteX11" fmla="*/ 1929406 w 3859212"/>
              <a:gd name="connsiteY11" fmla="*/ 0 h 77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59212" h="7722000">
                <a:moveTo>
                  <a:pt x="1929406" y="0"/>
                </a:moveTo>
                <a:cubicBezTo>
                  <a:pt x="2928598" y="0"/>
                  <a:pt x="3750426" y="759379"/>
                  <a:pt x="3849250" y="1732495"/>
                </a:cubicBezTo>
                <a:lnTo>
                  <a:pt x="3859212" y="1929767"/>
                </a:lnTo>
                <a:lnTo>
                  <a:pt x="3859212" y="5792195"/>
                </a:lnTo>
                <a:cubicBezTo>
                  <a:pt x="3859212" y="6791384"/>
                  <a:pt x="3099834" y="7613212"/>
                  <a:pt x="2126718" y="7712038"/>
                </a:cubicBezTo>
                <a:lnTo>
                  <a:pt x="1929426" y="7722000"/>
                </a:lnTo>
                <a:lnTo>
                  <a:pt x="1929406" y="7722000"/>
                </a:lnTo>
                <a:cubicBezTo>
                  <a:pt x="930218" y="7722000"/>
                  <a:pt x="108390" y="6962621"/>
                  <a:pt x="9566" y="5989505"/>
                </a:cubicBezTo>
                <a:lnTo>
                  <a:pt x="0" y="5800076"/>
                </a:lnTo>
                <a:lnTo>
                  <a:pt x="0" y="1921925"/>
                </a:lnTo>
                <a:lnTo>
                  <a:pt x="9566" y="1732495"/>
                </a:lnTo>
                <a:cubicBezTo>
                  <a:pt x="108390" y="759379"/>
                  <a:pt x="930218" y="0"/>
                  <a:pt x="19294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ED06B52-1D30-F517-27D4-4ECBE44CCD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AC9E3A3-B6E6-0DC2-2A1F-6510A316ED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">
            <a:extLst>
              <a:ext uri="{FF2B5EF4-FFF2-40B4-BE49-F238E27FC236}">
                <a16:creationId xmlns:a16="http://schemas.microsoft.com/office/drawing/2014/main" id="{A1618278-E674-CCA1-A44E-B5B5083A58F6}"/>
              </a:ext>
            </a:extLst>
          </p:cNvPr>
          <p:cNvSpPr/>
          <p:nvPr userDrawn="1"/>
        </p:nvSpPr>
        <p:spPr>
          <a:xfrm rot="1800000">
            <a:off x="4831614" y="1217909"/>
            <a:ext cx="2130934" cy="425809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64BF4747-DE9B-093A-1656-5A722E6936D1}"/>
              </a:ext>
            </a:extLst>
          </p:cNvPr>
          <p:cNvSpPr/>
          <p:nvPr userDrawn="1"/>
        </p:nvSpPr>
        <p:spPr>
          <a:xfrm rot="900000">
            <a:off x="7133205" y="1101714"/>
            <a:ext cx="2130933" cy="42580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A06F0-7ACC-295A-7A6D-F18A0758C6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0880" y="647272"/>
            <a:ext cx="4955540" cy="2089795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pic>
        <p:nvPicPr>
          <p:cNvPr id="13" name="Mivada_Logo_White_RGB_L.png" descr="Mivada_Logo_White_RGB_L.png">
            <a:extLst>
              <a:ext uri="{FF2B5EF4-FFF2-40B4-BE49-F238E27FC236}">
                <a16:creationId xmlns:a16="http://schemas.microsoft.com/office/drawing/2014/main" id="{612AE1D9-9EF2-105E-8B13-44017E2E48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27692" y="5950194"/>
            <a:ext cx="2624093" cy="39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hoto-1538448728514-b19826b97c9c.jpeg" descr="photo-1538448728514-b19826b97c9c.jpeg">
            <a:extLst>
              <a:ext uri="{FF2B5EF4-FFF2-40B4-BE49-F238E27FC236}">
                <a16:creationId xmlns:a16="http://schemas.microsoft.com/office/drawing/2014/main" id="{AAF5A900-90A8-607C-58E7-C5755B62AE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080" r="21853"/>
          <a:stretch>
            <a:fillRect/>
          </a:stretch>
        </p:blipFill>
        <p:spPr>
          <a:xfrm>
            <a:off x="9349703" y="1057901"/>
            <a:ext cx="2129014" cy="42542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800" y="0"/>
                </a:moveTo>
                <a:cubicBezTo>
                  <a:pt x="9540" y="0"/>
                  <a:pt x="8288" y="110"/>
                  <a:pt x="7104" y="326"/>
                </a:cubicBezTo>
                <a:cubicBezTo>
                  <a:pt x="4105" y="872"/>
                  <a:pt x="1742" y="2054"/>
                  <a:pt x="650" y="3556"/>
                </a:cubicBezTo>
                <a:cubicBezTo>
                  <a:pt x="-1" y="4497"/>
                  <a:pt x="0" y="5909"/>
                  <a:pt x="0" y="8262"/>
                </a:cubicBezTo>
                <a:lnTo>
                  <a:pt x="0" y="13338"/>
                </a:lnTo>
                <a:cubicBezTo>
                  <a:pt x="0" y="15691"/>
                  <a:pt x="-1" y="17102"/>
                  <a:pt x="650" y="18043"/>
                </a:cubicBezTo>
                <a:cubicBezTo>
                  <a:pt x="1742" y="19544"/>
                  <a:pt x="4105" y="20728"/>
                  <a:pt x="7104" y="21274"/>
                </a:cubicBezTo>
                <a:cubicBezTo>
                  <a:pt x="8288" y="21490"/>
                  <a:pt x="9540" y="21600"/>
                  <a:pt x="10800" y="21600"/>
                </a:cubicBezTo>
                <a:cubicBezTo>
                  <a:pt x="12060" y="21600"/>
                  <a:pt x="13310" y="21490"/>
                  <a:pt x="14494" y="21274"/>
                </a:cubicBezTo>
                <a:cubicBezTo>
                  <a:pt x="17493" y="20728"/>
                  <a:pt x="19856" y="19544"/>
                  <a:pt x="20948" y="18043"/>
                </a:cubicBezTo>
                <a:cubicBezTo>
                  <a:pt x="21599" y="17102"/>
                  <a:pt x="21598" y="15691"/>
                  <a:pt x="21598" y="13338"/>
                </a:cubicBezTo>
                <a:lnTo>
                  <a:pt x="21598" y="8262"/>
                </a:lnTo>
                <a:cubicBezTo>
                  <a:pt x="21598" y="5909"/>
                  <a:pt x="21599" y="4497"/>
                  <a:pt x="20948" y="3556"/>
                </a:cubicBezTo>
                <a:cubicBezTo>
                  <a:pt x="19856" y="2054"/>
                  <a:pt x="17493" y="872"/>
                  <a:pt x="14494" y="326"/>
                </a:cubicBezTo>
                <a:cubicBezTo>
                  <a:pt x="13310" y="110"/>
                  <a:pt x="12060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25A16C7-B9F4-F9AF-B57D-A3C621FDF26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51903" y="1053350"/>
            <a:ext cx="2130704" cy="4263383"/>
          </a:xfrm>
          <a:custGeom>
            <a:avLst/>
            <a:gdLst>
              <a:gd name="connsiteX0" fmla="*/ 1929406 w 3859212"/>
              <a:gd name="connsiteY0" fmla="*/ 0 h 7722000"/>
              <a:gd name="connsiteX1" fmla="*/ 3849250 w 3859212"/>
              <a:gd name="connsiteY1" fmla="*/ 1732495 h 7722000"/>
              <a:gd name="connsiteX2" fmla="*/ 3859212 w 3859212"/>
              <a:gd name="connsiteY2" fmla="*/ 1929767 h 7722000"/>
              <a:gd name="connsiteX3" fmla="*/ 3859212 w 3859212"/>
              <a:gd name="connsiteY3" fmla="*/ 5792195 h 7722000"/>
              <a:gd name="connsiteX4" fmla="*/ 2126718 w 3859212"/>
              <a:gd name="connsiteY4" fmla="*/ 7712038 h 7722000"/>
              <a:gd name="connsiteX5" fmla="*/ 1929426 w 3859212"/>
              <a:gd name="connsiteY5" fmla="*/ 7722000 h 7722000"/>
              <a:gd name="connsiteX6" fmla="*/ 1929406 w 3859212"/>
              <a:gd name="connsiteY6" fmla="*/ 7722000 h 7722000"/>
              <a:gd name="connsiteX7" fmla="*/ 9566 w 3859212"/>
              <a:gd name="connsiteY7" fmla="*/ 5989505 h 7722000"/>
              <a:gd name="connsiteX8" fmla="*/ 0 w 3859212"/>
              <a:gd name="connsiteY8" fmla="*/ 5800076 h 7722000"/>
              <a:gd name="connsiteX9" fmla="*/ 0 w 3859212"/>
              <a:gd name="connsiteY9" fmla="*/ 1921925 h 7722000"/>
              <a:gd name="connsiteX10" fmla="*/ 9566 w 3859212"/>
              <a:gd name="connsiteY10" fmla="*/ 1732495 h 7722000"/>
              <a:gd name="connsiteX11" fmla="*/ 1929406 w 3859212"/>
              <a:gd name="connsiteY11" fmla="*/ 0 h 77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59212" h="7722000">
                <a:moveTo>
                  <a:pt x="1929406" y="0"/>
                </a:moveTo>
                <a:cubicBezTo>
                  <a:pt x="2928598" y="0"/>
                  <a:pt x="3750426" y="759379"/>
                  <a:pt x="3849250" y="1732495"/>
                </a:cubicBezTo>
                <a:lnTo>
                  <a:pt x="3859212" y="1929767"/>
                </a:lnTo>
                <a:lnTo>
                  <a:pt x="3859212" y="5792195"/>
                </a:lnTo>
                <a:cubicBezTo>
                  <a:pt x="3859212" y="6791384"/>
                  <a:pt x="3099834" y="7613212"/>
                  <a:pt x="2126718" y="7712038"/>
                </a:cubicBezTo>
                <a:lnTo>
                  <a:pt x="1929426" y="7722000"/>
                </a:lnTo>
                <a:lnTo>
                  <a:pt x="1929406" y="7722000"/>
                </a:lnTo>
                <a:cubicBezTo>
                  <a:pt x="930218" y="7722000"/>
                  <a:pt x="108390" y="6962621"/>
                  <a:pt x="9566" y="5989505"/>
                </a:cubicBezTo>
                <a:lnTo>
                  <a:pt x="0" y="5800076"/>
                </a:lnTo>
                <a:lnTo>
                  <a:pt x="0" y="1921925"/>
                </a:lnTo>
                <a:lnTo>
                  <a:pt x="9566" y="1732495"/>
                </a:lnTo>
                <a:cubicBezTo>
                  <a:pt x="108390" y="759379"/>
                  <a:pt x="930218" y="0"/>
                  <a:pt x="19294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C07F8-05A9-8F6F-A6EC-36F42B4C25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880" y="2829142"/>
            <a:ext cx="4955540" cy="129179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Subtitle, Author or Date go here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0418C0-5506-6410-3C58-F4FD720436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0563" y="5044932"/>
            <a:ext cx="3898529" cy="1350963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81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F2F40E67-416E-C019-B108-21EC8A8FBA35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4790432" y="0"/>
            <a:ext cx="7401568" cy="6857999"/>
          </a:xfrm>
          <a:custGeom>
            <a:avLst/>
            <a:gdLst>
              <a:gd name="connsiteX0" fmla="*/ 12919992 w 14803138"/>
              <a:gd name="connsiteY0" fmla="*/ 0 h 13716000"/>
              <a:gd name="connsiteX1" fmla="*/ 14803138 w 14803138"/>
              <a:gd name="connsiteY1" fmla="*/ 0 h 13716000"/>
              <a:gd name="connsiteX2" fmla="*/ 14803138 w 14803138"/>
              <a:gd name="connsiteY2" fmla="*/ 12406968 h 13716000"/>
              <a:gd name="connsiteX3" fmla="*/ 14707564 w 14803138"/>
              <a:gd name="connsiteY3" fmla="*/ 12521945 h 13716000"/>
              <a:gd name="connsiteX4" fmla="*/ 12366010 w 14803138"/>
              <a:gd name="connsiteY4" fmla="*/ 13706639 h 13716000"/>
              <a:gd name="connsiteX5" fmla="*/ 12150230 w 14803138"/>
              <a:gd name="connsiteY5" fmla="*/ 13716000 h 13716000"/>
              <a:gd name="connsiteX6" fmla="*/ 11966434 w 14803138"/>
              <a:gd name="connsiteY6" fmla="*/ 13716000 h 13716000"/>
              <a:gd name="connsiteX7" fmla="*/ 11751028 w 14803138"/>
              <a:gd name="connsiteY7" fmla="*/ 13706639 h 13716000"/>
              <a:gd name="connsiteX8" fmla="*/ 11145198 w 14803138"/>
              <a:gd name="connsiteY8" fmla="*/ 13599830 h 13716000"/>
              <a:gd name="connsiteX9" fmla="*/ 10035814 w 14803138"/>
              <a:gd name="connsiteY9" fmla="*/ 13081968 h 13716000"/>
              <a:gd name="connsiteX10" fmla="*/ 8544978 w 14803138"/>
              <a:gd name="connsiteY10" fmla="*/ 10501072 h 13716000"/>
              <a:gd name="connsiteX11" fmla="*/ 9106178 w 14803138"/>
              <a:gd name="connsiteY11" fmla="*/ 7582272 h 13716000"/>
              <a:gd name="connsiteX12" fmla="*/ 7513674 w 14803138"/>
              <a:gd name="connsiteY12" fmla="*/ 10341830 h 13716000"/>
              <a:gd name="connsiteX13" fmla="*/ 5793478 w 14803138"/>
              <a:gd name="connsiteY13" fmla="*/ 12894890 h 13716000"/>
              <a:gd name="connsiteX14" fmla="*/ 3876021 w 14803138"/>
              <a:gd name="connsiteY14" fmla="*/ 13702305 h 13716000"/>
              <a:gd name="connsiteX15" fmla="*/ 3685914 w 14803138"/>
              <a:gd name="connsiteY15" fmla="*/ 13716000 h 13716000"/>
              <a:gd name="connsiteX16" fmla="*/ 3400676 w 14803138"/>
              <a:gd name="connsiteY16" fmla="*/ 13716000 h 13716000"/>
              <a:gd name="connsiteX17" fmla="*/ 3299937 w 14803138"/>
              <a:gd name="connsiteY17" fmla="*/ 13712248 h 13716000"/>
              <a:gd name="connsiteX18" fmla="*/ 2914284 w 14803138"/>
              <a:gd name="connsiteY18" fmla="*/ 13665857 h 13716000"/>
              <a:gd name="connsiteX19" fmla="*/ 1763420 w 14803138"/>
              <a:gd name="connsiteY19" fmla="*/ 13247684 h 13716000"/>
              <a:gd name="connsiteX20" fmla="*/ 824836 w 14803138"/>
              <a:gd name="connsiteY20" fmla="*/ 12459886 h 13716000"/>
              <a:gd name="connsiteX21" fmla="*/ 53798 w 14803138"/>
              <a:gd name="connsiteY21" fmla="*/ 9580572 h 13716000"/>
              <a:gd name="connsiteX22" fmla="*/ 1403928 w 14803138"/>
              <a:gd name="connsiteY22" fmla="*/ 6814541 h 13716000"/>
              <a:gd name="connsiteX23" fmla="*/ 3060684 w 14803138"/>
              <a:gd name="connsiteY23" fmla="*/ 3946879 h 13716000"/>
              <a:gd name="connsiteX24" fmla="*/ 4780066 w 14803138"/>
              <a:gd name="connsiteY24" fmla="*/ 1393818 h 13716000"/>
              <a:gd name="connsiteX25" fmla="*/ 7659260 w 14803138"/>
              <a:gd name="connsiteY25" fmla="*/ 622204 h 13716000"/>
              <a:gd name="connsiteX26" fmla="*/ 8810124 w 14803138"/>
              <a:gd name="connsiteY26" fmla="*/ 1041025 h 13716000"/>
              <a:gd name="connsiteX27" fmla="*/ 9748708 w 14803138"/>
              <a:gd name="connsiteY27" fmla="*/ 1828175 h 13716000"/>
              <a:gd name="connsiteX28" fmla="*/ 10369280 w 14803138"/>
              <a:gd name="connsiteY28" fmla="*/ 2923454 h 13716000"/>
              <a:gd name="connsiteX29" fmla="*/ 10991478 w 14803138"/>
              <a:gd name="connsiteY29" fmla="*/ 1369220 h 13716000"/>
              <a:gd name="connsiteX30" fmla="*/ 12816214 w 14803138"/>
              <a:gd name="connsiteY30" fmla="*/ 29798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4803138" h="13716000">
                <a:moveTo>
                  <a:pt x="12919992" y="0"/>
                </a:moveTo>
                <a:lnTo>
                  <a:pt x="14803138" y="0"/>
                </a:lnTo>
                <a:lnTo>
                  <a:pt x="14803138" y="12406968"/>
                </a:lnTo>
                <a:lnTo>
                  <a:pt x="14707564" y="12521945"/>
                </a:lnTo>
                <a:cubicBezTo>
                  <a:pt x="14111990" y="13199630"/>
                  <a:pt x="13274806" y="13627341"/>
                  <a:pt x="12366010" y="13706639"/>
                </a:cubicBezTo>
                <a:lnTo>
                  <a:pt x="12150230" y="13716000"/>
                </a:lnTo>
                <a:lnTo>
                  <a:pt x="11966434" y="13716000"/>
                </a:lnTo>
                <a:lnTo>
                  <a:pt x="11751028" y="13706639"/>
                </a:lnTo>
                <a:cubicBezTo>
                  <a:pt x="11546780" y="13688838"/>
                  <a:pt x="11344058" y="13653235"/>
                  <a:pt x="11145198" y="13599830"/>
                </a:cubicBezTo>
                <a:cubicBezTo>
                  <a:pt x="10747478" y="13493668"/>
                  <a:pt x="10372534" y="13318242"/>
                  <a:pt x="10035814" y="13081968"/>
                </a:cubicBezTo>
                <a:cubicBezTo>
                  <a:pt x="9181816" y="12484484"/>
                  <a:pt x="8636070" y="11539386"/>
                  <a:pt x="8544978" y="10501072"/>
                </a:cubicBezTo>
                <a:cubicBezTo>
                  <a:pt x="8499430" y="9869280"/>
                  <a:pt x="8727164" y="8997977"/>
                  <a:pt x="9106178" y="7582272"/>
                </a:cubicBezTo>
                <a:lnTo>
                  <a:pt x="7513674" y="10341830"/>
                </a:lnTo>
                <a:cubicBezTo>
                  <a:pt x="6745889" y="11671441"/>
                  <a:pt x="6284730" y="12469596"/>
                  <a:pt x="5793478" y="12894890"/>
                </a:cubicBezTo>
                <a:cubicBezTo>
                  <a:pt x="5244378" y="13355504"/>
                  <a:pt x="4574567" y="13632846"/>
                  <a:pt x="3876021" y="13702305"/>
                </a:cubicBezTo>
                <a:lnTo>
                  <a:pt x="3685914" y="13716000"/>
                </a:lnTo>
                <a:lnTo>
                  <a:pt x="3400676" y="13716000"/>
                </a:lnTo>
                <a:lnTo>
                  <a:pt x="3299937" y="13712248"/>
                </a:lnTo>
                <a:cubicBezTo>
                  <a:pt x="3171323" y="13703928"/>
                  <a:pt x="3042587" y="13688513"/>
                  <a:pt x="2914284" y="13665857"/>
                </a:cubicBezTo>
                <a:cubicBezTo>
                  <a:pt x="2509246" y="13594651"/>
                  <a:pt x="2119660" y="13453534"/>
                  <a:pt x="1763420" y="13247684"/>
                </a:cubicBezTo>
                <a:cubicBezTo>
                  <a:pt x="1406368" y="13041834"/>
                  <a:pt x="1089169" y="12775134"/>
                  <a:pt x="824836" y="12459886"/>
                </a:cubicBezTo>
                <a:cubicBezTo>
                  <a:pt x="154651" y="11661083"/>
                  <a:pt x="-127575" y="10607234"/>
                  <a:pt x="53798" y="9580572"/>
                </a:cubicBezTo>
                <a:cubicBezTo>
                  <a:pt x="176611" y="8942307"/>
                  <a:pt x="636143" y="8144152"/>
                  <a:pt x="1403928" y="6814541"/>
                </a:cubicBezTo>
                <a:lnTo>
                  <a:pt x="3060684" y="3946879"/>
                </a:lnTo>
                <a:cubicBezTo>
                  <a:pt x="3828469" y="2617268"/>
                  <a:pt x="4288814" y="1819113"/>
                  <a:pt x="4780066" y="1393818"/>
                </a:cubicBezTo>
                <a:cubicBezTo>
                  <a:pt x="5578758" y="723834"/>
                  <a:pt x="6632836" y="440952"/>
                  <a:pt x="7659260" y="622204"/>
                </a:cubicBezTo>
                <a:cubicBezTo>
                  <a:pt x="8064298" y="693410"/>
                  <a:pt x="8453886" y="835822"/>
                  <a:pt x="8810124" y="1041025"/>
                </a:cubicBezTo>
                <a:cubicBezTo>
                  <a:pt x="9166362" y="1246875"/>
                  <a:pt x="9484376" y="1512927"/>
                  <a:pt x="9748708" y="1828175"/>
                </a:cubicBezTo>
                <a:cubicBezTo>
                  <a:pt x="10024428" y="2156371"/>
                  <a:pt x="10230202" y="2528584"/>
                  <a:pt x="10369280" y="2923454"/>
                </a:cubicBezTo>
                <a:cubicBezTo>
                  <a:pt x="10574240" y="2226282"/>
                  <a:pt x="10758054" y="1714246"/>
                  <a:pt x="10991478" y="1369220"/>
                </a:cubicBezTo>
                <a:cubicBezTo>
                  <a:pt x="11439828" y="728851"/>
                  <a:pt x="12083986" y="261804"/>
                  <a:pt x="12816214" y="29798"/>
                </a:cubicBezTo>
                <a:close/>
              </a:path>
            </a:pathLst>
          </a:custGeom>
        </p:spPr>
        <p:txBody>
          <a:bodyPr wrap="square" lIns="91439" tIns="45719" rIns="91439" bIns="45719">
            <a:no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#01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Section Divider with Image</a:t>
            </a:r>
            <a:endParaRPr lang="en-US"/>
          </a:p>
        </p:txBody>
      </p:sp>
      <p:pic>
        <p:nvPicPr>
          <p:cNvPr id="2" name="Picture 1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359ECDE-B944-8F86-6159-9B4962F36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0271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">
            <a:extLst>
              <a:ext uri="{FF2B5EF4-FFF2-40B4-BE49-F238E27FC236}">
                <a16:creationId xmlns:a16="http://schemas.microsoft.com/office/drawing/2014/main" id="{CAF3DA0D-574B-D48D-CA72-CCB54921538B}"/>
              </a:ext>
            </a:extLst>
          </p:cNvPr>
          <p:cNvSpPr/>
          <p:nvPr userDrawn="1"/>
        </p:nvSpPr>
        <p:spPr>
          <a:xfrm rot="1500000">
            <a:off x="8012180" y="123004"/>
            <a:ext cx="3452605" cy="6899102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#01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Divider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5244524-AFCF-CA23-996E-5DEAA18BC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362814"/>
            <a:ext cx="578427" cy="5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043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>
            <a:extLst>
              <a:ext uri="{FF2B5EF4-FFF2-40B4-BE49-F238E27FC236}">
                <a16:creationId xmlns:a16="http://schemas.microsoft.com/office/drawing/2014/main" id="{4C44FAD8-04C3-2512-0B5C-B04D795E874E}"/>
              </a:ext>
            </a:extLst>
          </p:cNvPr>
          <p:cNvSpPr/>
          <p:nvPr userDrawn="1"/>
        </p:nvSpPr>
        <p:spPr>
          <a:xfrm rot="5400000">
            <a:off x="3946622" y="2354197"/>
            <a:ext cx="3004308" cy="6003301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D92B14F5-1323-CABF-F8E7-1D98E5581004}"/>
              </a:ext>
            </a:extLst>
          </p:cNvPr>
          <p:cNvSpPr/>
          <p:nvPr userDrawn="1"/>
        </p:nvSpPr>
        <p:spPr>
          <a:xfrm rot="-900000">
            <a:off x="7230329" y="197903"/>
            <a:ext cx="3367358" cy="6728759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#02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Divider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5244524-AFCF-CA23-996E-5DEAA18BC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362814"/>
            <a:ext cx="578427" cy="5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072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">
            <a:extLst>
              <a:ext uri="{FF2B5EF4-FFF2-40B4-BE49-F238E27FC236}">
                <a16:creationId xmlns:a16="http://schemas.microsoft.com/office/drawing/2014/main" id="{632B9E85-E38E-FA9F-B1B8-B5EDDA6B3E4C}"/>
              </a:ext>
            </a:extLst>
          </p:cNvPr>
          <p:cNvSpPr/>
          <p:nvPr userDrawn="1"/>
        </p:nvSpPr>
        <p:spPr>
          <a:xfrm rot="21000000">
            <a:off x="6403116" y="1401850"/>
            <a:ext cx="2748182" cy="5491502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FB30C935-DDBA-44B6-3162-1D76CAF67277}"/>
              </a:ext>
            </a:extLst>
          </p:cNvPr>
          <p:cNvSpPr/>
          <p:nvPr userDrawn="1"/>
        </p:nvSpPr>
        <p:spPr>
          <a:xfrm rot="1440000">
            <a:off x="3539133" y="913402"/>
            <a:ext cx="3050187" cy="6094978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Rounded Rectangle">
            <a:extLst>
              <a:ext uri="{FF2B5EF4-FFF2-40B4-BE49-F238E27FC236}">
                <a16:creationId xmlns:a16="http://schemas.microsoft.com/office/drawing/2014/main" id="{D60A485F-4B48-9572-1597-816E6CE6B345}"/>
              </a:ext>
            </a:extLst>
          </p:cNvPr>
          <p:cNvSpPr/>
          <p:nvPr userDrawn="1"/>
        </p:nvSpPr>
        <p:spPr>
          <a:xfrm rot="19748941">
            <a:off x="8902930" y="1830202"/>
            <a:ext cx="2613673" cy="5222721"/>
          </a:xfrm>
          <a:prstGeom prst="roundRect">
            <a:avLst>
              <a:gd name="adj" fmla="val 50000"/>
            </a:avLst>
          </a:prstGeom>
          <a:solidFill>
            <a:srgbClr val="D00000">
              <a:alpha val="5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#03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Divider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5244524-AFCF-CA23-996E-5DEAA18BC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362814"/>
            <a:ext cx="578427" cy="5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315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">
            <a:extLst>
              <a:ext uri="{FF2B5EF4-FFF2-40B4-BE49-F238E27FC236}">
                <a16:creationId xmlns:a16="http://schemas.microsoft.com/office/drawing/2014/main" id="{CFE5104B-E5C4-A6B7-DE0E-3EE87905386E}"/>
              </a:ext>
            </a:extLst>
          </p:cNvPr>
          <p:cNvSpPr/>
          <p:nvPr userDrawn="1"/>
        </p:nvSpPr>
        <p:spPr>
          <a:xfrm rot="2633855">
            <a:off x="1922704" y="2384177"/>
            <a:ext cx="2415601" cy="4826930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Rounded Rectangle">
            <a:extLst>
              <a:ext uri="{FF2B5EF4-FFF2-40B4-BE49-F238E27FC236}">
                <a16:creationId xmlns:a16="http://schemas.microsoft.com/office/drawing/2014/main" id="{1F0EA71A-72A2-1B4F-F117-7C7C9769053E}"/>
              </a:ext>
            </a:extLst>
          </p:cNvPr>
          <p:cNvSpPr/>
          <p:nvPr userDrawn="1"/>
        </p:nvSpPr>
        <p:spPr>
          <a:xfrm rot="1806914">
            <a:off x="4727618" y="1771398"/>
            <a:ext cx="2644286" cy="5283895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C982C38D-C3A2-F707-4206-AE65423272CE}"/>
              </a:ext>
            </a:extLst>
          </p:cNvPr>
          <p:cNvSpPr/>
          <p:nvPr userDrawn="1"/>
        </p:nvSpPr>
        <p:spPr>
          <a:xfrm rot="889585">
            <a:off x="7238880" y="1125660"/>
            <a:ext cx="2903677" cy="5802218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27F505BE-BC5F-08E2-4ECD-D67F29A0240C}"/>
              </a:ext>
            </a:extLst>
          </p:cNvPr>
          <p:cNvSpPr/>
          <p:nvPr userDrawn="1"/>
        </p:nvSpPr>
        <p:spPr>
          <a:xfrm rot="5400000">
            <a:off x="9917340" y="2550609"/>
            <a:ext cx="2888165" cy="5771222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#04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Divider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5244524-AFCF-CA23-996E-5DEAA18BC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362814"/>
            <a:ext cx="578427" cy="5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353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with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>
            <a:extLst>
              <a:ext uri="{FF2B5EF4-FFF2-40B4-BE49-F238E27FC236}">
                <a16:creationId xmlns:a16="http://schemas.microsoft.com/office/drawing/2014/main" id="{3044D211-A940-1767-3AEB-149B6050B440}"/>
              </a:ext>
            </a:extLst>
          </p:cNvPr>
          <p:cNvSpPr/>
          <p:nvPr userDrawn="1"/>
        </p:nvSpPr>
        <p:spPr>
          <a:xfrm rot="2633855">
            <a:off x="-111497" y="2452831"/>
            <a:ext cx="2376968" cy="4749732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B4FB66D5-50FA-CE5B-E29B-6187EBDB69BB}"/>
              </a:ext>
            </a:extLst>
          </p:cNvPr>
          <p:cNvSpPr/>
          <p:nvPr userDrawn="1"/>
        </p:nvSpPr>
        <p:spPr>
          <a:xfrm rot="1806914">
            <a:off x="2655748" y="1951111"/>
            <a:ext cx="2546666" cy="5088828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9FB506E7-5370-F2D7-0F0B-26C60CCFC903}"/>
              </a:ext>
            </a:extLst>
          </p:cNvPr>
          <p:cNvSpPr/>
          <p:nvPr userDrawn="1"/>
        </p:nvSpPr>
        <p:spPr>
          <a:xfrm rot="889585">
            <a:off x="5015620" y="1157694"/>
            <a:ext cx="2886238" cy="5767371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5" name="Rounded Rectangle">
            <a:extLst>
              <a:ext uri="{FF2B5EF4-FFF2-40B4-BE49-F238E27FC236}">
                <a16:creationId xmlns:a16="http://schemas.microsoft.com/office/drawing/2014/main" id="{D4CF7AC9-D816-F7CB-F4DA-EF16B16B3DEE}"/>
              </a:ext>
            </a:extLst>
          </p:cNvPr>
          <p:cNvSpPr/>
          <p:nvPr userDrawn="1"/>
        </p:nvSpPr>
        <p:spPr>
          <a:xfrm rot="20529313">
            <a:off x="7779838" y="1883190"/>
            <a:ext cx="2546666" cy="5088828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Divider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09737-9760-AB00-1514-A76F1892484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8822F-A02D-FBC6-2F0B-0764625CF39B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55244524-AFCF-CA23-996E-5DEAA18BC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362814"/>
            <a:ext cx="578427" cy="500016"/>
          </a:xfrm>
          <a:prstGeom prst="rect">
            <a:avLst/>
          </a:prstGeom>
        </p:spPr>
      </p:pic>
      <p:sp>
        <p:nvSpPr>
          <p:cNvPr id="16" name="Rounded Rectangle">
            <a:extLst>
              <a:ext uri="{FF2B5EF4-FFF2-40B4-BE49-F238E27FC236}">
                <a16:creationId xmlns:a16="http://schemas.microsoft.com/office/drawing/2014/main" id="{9AEE9D86-5610-44D1-E2FF-4C654337ED6D}"/>
              </a:ext>
            </a:extLst>
          </p:cNvPr>
          <p:cNvSpPr/>
          <p:nvPr userDrawn="1"/>
        </p:nvSpPr>
        <p:spPr>
          <a:xfrm rot="19603547">
            <a:off x="10073139" y="2486400"/>
            <a:ext cx="2312569" cy="4621049"/>
          </a:xfrm>
          <a:prstGeom prst="roundRect">
            <a:avLst>
              <a:gd name="adj" fmla="val 50000"/>
            </a:avLst>
          </a:prstGeom>
          <a:solidFill>
            <a:srgbClr val="D00000">
              <a:alpha val="4999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8553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">
            <a:extLst>
              <a:ext uri="{FF2B5EF4-FFF2-40B4-BE49-F238E27FC236}">
                <a16:creationId xmlns:a16="http://schemas.microsoft.com/office/drawing/2014/main" id="{F2C33E1F-C07D-E887-FA39-39774611E890}"/>
              </a:ext>
            </a:extLst>
          </p:cNvPr>
          <p:cNvSpPr/>
          <p:nvPr userDrawn="1"/>
        </p:nvSpPr>
        <p:spPr>
          <a:xfrm rot="1686860">
            <a:off x="8446513" y="982719"/>
            <a:ext cx="3038156" cy="60709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42855-6258-9BF6-2DF4-C70C8C0BA5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#05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909C26-0E30-9E04-8AF9-687CA33C6E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Purple</a:t>
            </a:r>
            <a:endParaRPr lang="en-US"/>
          </a:p>
        </p:txBody>
      </p:sp>
      <p:pic>
        <p:nvPicPr>
          <p:cNvPr id="14" name="Picture 1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47BB8D08-FA36-2FB8-B4C1-9C1D898745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F4828D-66A0-0643-AAA6-5157BD047049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603442-0B6C-3421-E21F-1628275F2810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2393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Purple">
    <p:bg>
      <p:bgPr>
        <a:solidFill>
          <a:srgbClr val="E8B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">
            <a:extLst>
              <a:ext uri="{FF2B5EF4-FFF2-40B4-BE49-F238E27FC236}">
                <a16:creationId xmlns:a16="http://schemas.microsoft.com/office/drawing/2014/main" id="{F2C33E1F-C07D-E887-FA39-39774611E890}"/>
              </a:ext>
            </a:extLst>
          </p:cNvPr>
          <p:cNvSpPr/>
          <p:nvPr userDrawn="1"/>
        </p:nvSpPr>
        <p:spPr>
          <a:xfrm rot="5400000">
            <a:off x="5217337" y="1682362"/>
            <a:ext cx="3458750" cy="6911381"/>
          </a:xfrm>
          <a:prstGeom prst="roundRect">
            <a:avLst>
              <a:gd name="adj" fmla="val 50000"/>
            </a:avLst>
          </a:prstGeom>
          <a:solidFill>
            <a:srgbClr val="FFE4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462E8-EDC8-E746-3770-33D6808CCD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#05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D23BF5-7906-C788-ECE0-BC4F15CAFB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Gold</a:t>
            </a:r>
            <a:endParaRPr lang="en-US"/>
          </a:p>
        </p:txBody>
      </p:sp>
      <p:pic>
        <p:nvPicPr>
          <p:cNvPr id="14" name="Picture 13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6C6B7A97-9486-14DA-0F33-D8E194A8DC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DD5CFC-66FA-878D-68B6-E4715EA4EB20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2B537-8323-1668-E3F4-CC800676374D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3884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Purple"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0539D53-1BDE-085A-5952-86287CAA6EE9}"/>
              </a:ext>
            </a:extLst>
          </p:cNvPr>
          <p:cNvGrpSpPr/>
          <p:nvPr userDrawn="1"/>
        </p:nvGrpSpPr>
        <p:grpSpPr>
          <a:xfrm>
            <a:off x="5520528" y="1330858"/>
            <a:ext cx="5629195" cy="5592071"/>
            <a:chOff x="4919028" y="864126"/>
            <a:chExt cx="6099026" cy="6058804"/>
          </a:xfrm>
        </p:grpSpPr>
        <p:sp>
          <p:nvSpPr>
            <p:cNvPr id="7" name="Rounded Rectangle">
              <a:extLst>
                <a:ext uri="{FF2B5EF4-FFF2-40B4-BE49-F238E27FC236}">
                  <a16:creationId xmlns:a16="http://schemas.microsoft.com/office/drawing/2014/main" id="{F2C33E1F-C07D-E887-FA39-39774611E890}"/>
                </a:ext>
              </a:extLst>
            </p:cNvPr>
            <p:cNvSpPr/>
            <p:nvPr userDrawn="1"/>
          </p:nvSpPr>
          <p:spPr>
            <a:xfrm rot="900000">
              <a:off x="4919028" y="919629"/>
              <a:ext cx="3004308" cy="6003301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" name="Rounded Rectangle">
              <a:extLst>
                <a:ext uri="{FF2B5EF4-FFF2-40B4-BE49-F238E27FC236}">
                  <a16:creationId xmlns:a16="http://schemas.microsoft.com/office/drawing/2014/main" id="{6292733B-BF51-2B3F-1C29-411FB5205880}"/>
                </a:ext>
              </a:extLst>
            </p:cNvPr>
            <p:cNvSpPr/>
            <p:nvPr userDrawn="1"/>
          </p:nvSpPr>
          <p:spPr>
            <a:xfrm>
              <a:off x="8013746" y="864126"/>
              <a:ext cx="3004308" cy="6003301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B4AF9C57-191E-757D-D0B5-D67C3F3965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#05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7A14B12-8567-A65A-D10B-800BD7EA21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Red</a:t>
            </a:r>
            <a:endParaRPr lang="en-US"/>
          </a:p>
        </p:txBody>
      </p:sp>
      <p:pic>
        <p:nvPicPr>
          <p:cNvPr id="15" name="Picture 14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C809B034-3491-4B79-D173-B2E717C0B4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B49795-4AC3-76AB-5F71-15BABDAF65AB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B0669-4F5C-C51C-88FF-62CEB5EDA388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0131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Purple">
    <p:bg>
      <p:bgPr>
        <a:solidFill>
          <a:srgbClr val="355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10F0FD2-E62C-066D-E93C-EA6CFF1BDA5C}"/>
              </a:ext>
            </a:extLst>
          </p:cNvPr>
          <p:cNvGrpSpPr/>
          <p:nvPr userDrawn="1"/>
        </p:nvGrpSpPr>
        <p:grpSpPr>
          <a:xfrm>
            <a:off x="2422796" y="1160331"/>
            <a:ext cx="8262586" cy="5762599"/>
            <a:chOff x="2077671" y="919629"/>
            <a:chExt cx="8607711" cy="6003301"/>
          </a:xfrm>
        </p:grpSpPr>
        <p:sp>
          <p:nvSpPr>
            <p:cNvPr id="7" name="Rounded Rectangle">
              <a:extLst>
                <a:ext uri="{FF2B5EF4-FFF2-40B4-BE49-F238E27FC236}">
                  <a16:creationId xmlns:a16="http://schemas.microsoft.com/office/drawing/2014/main" id="{F2C33E1F-C07D-E887-FA39-39774611E890}"/>
                </a:ext>
              </a:extLst>
            </p:cNvPr>
            <p:cNvSpPr/>
            <p:nvPr userDrawn="1"/>
          </p:nvSpPr>
          <p:spPr>
            <a:xfrm rot="-900000">
              <a:off x="7681074" y="919629"/>
              <a:ext cx="3004308" cy="6003301"/>
            </a:xfrm>
            <a:prstGeom prst="roundRect">
              <a:avLst>
                <a:gd name="adj" fmla="val 50000"/>
              </a:avLst>
            </a:prstGeom>
            <a:solidFill>
              <a:srgbClr val="96DD4F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" name="Rounded Rectangle">
              <a:extLst>
                <a:ext uri="{FF2B5EF4-FFF2-40B4-BE49-F238E27FC236}">
                  <a16:creationId xmlns:a16="http://schemas.microsoft.com/office/drawing/2014/main" id="{6292733B-BF51-2B3F-1C29-411FB5205880}"/>
                </a:ext>
              </a:extLst>
            </p:cNvPr>
            <p:cNvSpPr/>
            <p:nvPr userDrawn="1"/>
          </p:nvSpPr>
          <p:spPr>
            <a:xfrm rot="5400000">
              <a:off x="3577168" y="2363623"/>
              <a:ext cx="3004308" cy="6003301"/>
            </a:xfrm>
            <a:prstGeom prst="roundRect">
              <a:avLst>
                <a:gd name="adj" fmla="val 50000"/>
              </a:avLst>
            </a:prstGeom>
            <a:solidFill>
              <a:srgbClr val="96DD4F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E55A7FA4-A2A0-2607-107C-6EEE51515B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039" y="548279"/>
            <a:ext cx="4955540" cy="35584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#05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AE3DD9D-45A5-EA3D-C4A7-69C8785ED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039" y="904126"/>
            <a:ext cx="4955540" cy="1832941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Simple Section Green</a:t>
            </a:r>
            <a:endParaRPr lang="en-US"/>
          </a:p>
        </p:txBody>
      </p:sp>
      <p:pic>
        <p:nvPicPr>
          <p:cNvPr id="17" name="Picture 16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206B7E5D-FF40-1698-57A8-FCD7994097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B598C7-F093-2A84-7E0A-6D2FB85BB577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9522A-6062-BEC4-A8E2-83F03100F74F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3045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n Colour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>
            <a:extLst>
              <a:ext uri="{FF2B5EF4-FFF2-40B4-BE49-F238E27FC236}">
                <a16:creationId xmlns:a16="http://schemas.microsoft.com/office/drawing/2014/main" id="{3AA9B302-A80A-9A4A-3631-6C155FE09F67}"/>
              </a:ext>
            </a:extLst>
          </p:cNvPr>
          <p:cNvSpPr/>
          <p:nvPr userDrawn="1"/>
        </p:nvSpPr>
        <p:spPr>
          <a:xfrm rot="16200000">
            <a:off x="3490104" y="-1778181"/>
            <a:ext cx="5211791" cy="10414361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  <a:alpha val="4029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18229" y="5233401"/>
            <a:ext cx="4955540" cy="35584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Attribution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96997" y="2084968"/>
            <a:ext cx="7598004" cy="2826978"/>
          </a:xfr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“Cool quote or testimonial”</a:t>
            </a:r>
            <a:endParaRPr lang="en-US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A077F315-4BD8-DA9C-A8C6-8CC56910C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444913" y="461340"/>
            <a:ext cx="1302173" cy="1302173"/>
          </a:xfrm>
          <a:custGeom>
            <a:avLst/>
            <a:gdLst>
              <a:gd name="connsiteX0" fmla="*/ 716035 w 2574925"/>
              <a:gd name="connsiteY0" fmla="*/ 0 h 2574925"/>
              <a:gd name="connsiteX1" fmla="*/ 1858890 w 2574925"/>
              <a:gd name="connsiteY1" fmla="*/ 0 h 2574925"/>
              <a:gd name="connsiteX2" fmla="*/ 2574925 w 2574925"/>
              <a:gd name="connsiteY2" fmla="*/ 716035 h 2574925"/>
              <a:gd name="connsiteX3" fmla="*/ 2574925 w 2574925"/>
              <a:gd name="connsiteY3" fmla="*/ 1858890 h 2574925"/>
              <a:gd name="connsiteX4" fmla="*/ 1858890 w 2574925"/>
              <a:gd name="connsiteY4" fmla="*/ 2574925 h 2574925"/>
              <a:gd name="connsiteX5" fmla="*/ 716035 w 2574925"/>
              <a:gd name="connsiteY5" fmla="*/ 2574925 h 2574925"/>
              <a:gd name="connsiteX6" fmla="*/ 0 w 2574925"/>
              <a:gd name="connsiteY6" fmla="*/ 1858890 h 2574925"/>
              <a:gd name="connsiteX7" fmla="*/ 0 w 2574925"/>
              <a:gd name="connsiteY7" fmla="*/ 716035 h 2574925"/>
              <a:gd name="connsiteX8" fmla="*/ 716035 w 2574925"/>
              <a:gd name="connsiteY8" fmla="*/ 0 h 257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4925" h="2574925">
                <a:moveTo>
                  <a:pt x="716035" y="0"/>
                </a:moveTo>
                <a:lnTo>
                  <a:pt x="1858890" y="0"/>
                </a:lnTo>
                <a:cubicBezTo>
                  <a:pt x="2254345" y="0"/>
                  <a:pt x="2574925" y="320580"/>
                  <a:pt x="2574925" y="716035"/>
                </a:cubicBezTo>
                <a:lnTo>
                  <a:pt x="2574925" y="1858890"/>
                </a:lnTo>
                <a:cubicBezTo>
                  <a:pt x="2574925" y="2254345"/>
                  <a:pt x="2254345" y="2574925"/>
                  <a:pt x="1858890" y="2574925"/>
                </a:cubicBezTo>
                <a:lnTo>
                  <a:pt x="716035" y="2574925"/>
                </a:lnTo>
                <a:cubicBezTo>
                  <a:pt x="320580" y="2574925"/>
                  <a:pt x="0" y="2254345"/>
                  <a:pt x="0" y="1858890"/>
                </a:cubicBezTo>
                <a:lnTo>
                  <a:pt x="0" y="716035"/>
                </a:lnTo>
                <a:cubicBezTo>
                  <a:pt x="0" y="320580"/>
                  <a:pt x="320580" y="0"/>
                  <a:pt x="7160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7" name="Picture 6" descr="A white logo with black background&#10;&#10;Description automatically generated">
            <a:extLst>
              <a:ext uri="{FF2B5EF4-FFF2-40B4-BE49-F238E27FC236}">
                <a16:creationId xmlns:a16="http://schemas.microsoft.com/office/drawing/2014/main" id="{C1057F22-1652-D25B-6162-780F0ABD07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49723" y="262146"/>
            <a:ext cx="578427" cy="5000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522E47-70E6-EA66-ADA4-A7655593F524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F65DF-5D7C-491C-D389-958FA8CF34C2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8503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F7AECC0-F21B-48B4-4FE5-9C0906436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DAAF48C4-ACBB-99B2-6B25-DF05FA0FF4F5}"/>
              </a:ext>
            </a:extLst>
          </p:cNvPr>
          <p:cNvSpPr/>
          <p:nvPr userDrawn="1"/>
        </p:nvSpPr>
        <p:spPr>
          <a:xfrm rot="16200000">
            <a:off x="3490104" y="-1778181"/>
            <a:ext cx="5211791" cy="10414361"/>
          </a:xfrm>
          <a:prstGeom prst="roundRect">
            <a:avLst>
              <a:gd name="adj" fmla="val 50000"/>
            </a:avLst>
          </a:prstGeom>
          <a:solidFill>
            <a:schemeClr val="tx1">
              <a:alpha val="7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37982C-E817-E1A3-9A64-AA1D66D2C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96997" y="2084968"/>
            <a:ext cx="7598004" cy="2826978"/>
          </a:xfr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“Cool quote or testimonial”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3792C-0157-C737-91B0-9BDA97142611}"/>
              </a:ext>
            </a:extLst>
          </p:cNvPr>
          <p:cNvSpPr txBox="1"/>
          <p:nvPr userDrawn="1"/>
        </p:nvSpPr>
        <p:spPr>
          <a:xfrm>
            <a:off x="475147" y="6554399"/>
            <a:ext cx="1500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86AE7-5CB3-D32A-D8A2-526498817DAE}"/>
              </a:ext>
            </a:extLst>
          </p:cNvPr>
          <p:cNvSpPr txBox="1"/>
          <p:nvPr userDrawn="1"/>
        </p:nvSpPr>
        <p:spPr>
          <a:xfrm>
            <a:off x="11516839" y="6562093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5190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on Colour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">
            <a:extLst>
              <a:ext uri="{FF2B5EF4-FFF2-40B4-BE49-F238E27FC236}">
                <a16:creationId xmlns:a16="http://schemas.microsoft.com/office/drawing/2014/main" id="{48FE1B77-D2E0-1DF3-6FF5-535DFBE1386B}"/>
              </a:ext>
            </a:extLst>
          </p:cNvPr>
          <p:cNvSpPr/>
          <p:nvPr userDrawn="1"/>
        </p:nvSpPr>
        <p:spPr>
          <a:xfrm rot="16200000">
            <a:off x="3490104" y="-1778181"/>
            <a:ext cx="5211791" cy="10414361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  <a:alpha val="4029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DDFC8BD-6813-B369-1FFA-15E1E5479E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18229" y="5233401"/>
            <a:ext cx="4955540" cy="35584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err="1"/>
              <a:t>www.mivada.com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4932F4-1CD2-99DC-6DDB-E2953F2F32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96997" y="2084968"/>
            <a:ext cx="7598004" cy="2826978"/>
          </a:xfr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205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Large Image">
    <p:bg>
      <p:bgPr>
        <a:gradFill>
          <a:gsLst>
            <a:gs pos="60000">
              <a:srgbClr val="EA5454"/>
            </a:gs>
            <a:gs pos="0">
              <a:srgbClr val="EA8546"/>
            </a:gs>
            <a:gs pos="100000">
              <a:srgbClr val="EA545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135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>
  <p:cSld name="Title_Only">
    <p:bg>
      <p:bgPr>
        <a:solidFill>
          <a:srgbClr val="FFFFFF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/>
          <p:nvPr/>
        </p:nvSpPr>
        <p:spPr>
          <a:xfrm>
            <a:off x="0" y="-2"/>
            <a:ext cx="12192000" cy="1191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716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7"/>
          <p:cNvSpPr txBox="1"/>
          <p:nvPr/>
        </p:nvSpPr>
        <p:spPr>
          <a:xfrm>
            <a:off x="5401074" y="6580906"/>
            <a:ext cx="1397867" cy="21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1A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4B1AB"/>
                </a:solidFill>
                <a:latin typeface="Calibri"/>
                <a:ea typeface="Calibri"/>
                <a:cs typeface="Calibri"/>
                <a:sym typeface="Calibri"/>
              </a:rPr>
              <a:t>Confidential and Proprietary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7"/>
          <p:cNvSpPr txBox="1">
            <a:spLocks noGrp="1"/>
          </p:cNvSpPr>
          <p:nvPr>
            <p:ph type="sldNum" idx="12"/>
          </p:nvPr>
        </p:nvSpPr>
        <p:spPr>
          <a:xfrm>
            <a:off x="11733738" y="6616906"/>
            <a:ext cx="128563" cy="139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27" descr="Picture 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80095" y="345610"/>
            <a:ext cx="576943" cy="50001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7"/>
          <p:cNvSpPr txBox="1">
            <a:spLocks noGrp="1"/>
          </p:cNvSpPr>
          <p:nvPr>
            <p:ph type="title"/>
          </p:nvPr>
        </p:nvSpPr>
        <p:spPr>
          <a:xfrm>
            <a:off x="334960" y="234000"/>
            <a:ext cx="10440001" cy="72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2800"/>
              <a:buFont typeface="Georgia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body" idx="1"/>
          </p:nvPr>
        </p:nvSpPr>
        <p:spPr>
          <a:xfrm>
            <a:off x="334961" y="6524625"/>
            <a:ext cx="484293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4B1AB"/>
              </a:buClr>
              <a:buSzPts val="800"/>
              <a:buFont typeface="Calibri"/>
              <a:buNone/>
              <a:defRPr sz="800">
                <a:solidFill>
                  <a:srgbClr val="F4B1A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4B1AB"/>
              </a:buClr>
              <a:buSzPts val="800"/>
              <a:buFont typeface="Calibri"/>
              <a:buNone/>
              <a:defRPr sz="800">
                <a:solidFill>
                  <a:srgbClr val="F4B1AB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4B1AB"/>
              </a:buClr>
              <a:buSzPts val="800"/>
              <a:buFont typeface="Calibri"/>
              <a:buNone/>
              <a:defRPr sz="800">
                <a:solidFill>
                  <a:srgbClr val="F4B1AB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4B1AB"/>
              </a:buClr>
              <a:buSzPts val="800"/>
              <a:buFont typeface="Calibri"/>
              <a:buNone/>
              <a:defRPr sz="800">
                <a:solidFill>
                  <a:srgbClr val="F4B1AB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4B1AB"/>
              </a:buClr>
              <a:buSzPts val="800"/>
              <a:buFont typeface="Calibri"/>
              <a:buNone/>
              <a:defRPr sz="800">
                <a:solidFill>
                  <a:srgbClr val="F4B1AB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162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162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162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162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36441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0E21E4F-87DD-06B7-8AAC-432E05919E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571631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E21E4F-87DD-06B7-8AAC-432E05919E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BA838D-A12C-B13D-2FFB-01461C1BB3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0" y="234000"/>
            <a:ext cx="10440000" cy="720000"/>
          </a:xfrm>
        </p:spPr>
        <p:txBody>
          <a:bodyPr vert="horz"/>
          <a:lstStyle/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1E7FC-9E05-67B2-2C67-FA96882D13F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4963" y="1196975"/>
            <a:ext cx="5760000" cy="53276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321054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Sub-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D5E9872-08FE-FF07-24BF-064621FCDD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925986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5E9872-08FE-FF07-24BF-064621FCDD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A607D8B-98FA-4227-2685-CD5D75F06C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1" y="234000"/>
            <a:ext cx="10440000" cy="720000"/>
          </a:xfrm>
        </p:spPr>
        <p:txBody>
          <a:bodyPr vert="horz"/>
          <a:lstStyle/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A4535-A80D-E715-F79B-9ED87FE68D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2" y="1195767"/>
            <a:ext cx="5760000" cy="396496"/>
          </a:xfrm>
        </p:spPr>
        <p:txBody>
          <a:bodyPr lIns="0" anchor="ctr"/>
          <a:lstStyle>
            <a:lvl1pPr marL="0" indent="0">
              <a:buFontTx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sub-title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12142A-4D7D-D98C-7618-16DAFE11FB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2" y="6524625"/>
            <a:ext cx="4842932" cy="333375"/>
          </a:xfrm>
        </p:spPr>
        <p:txBody>
          <a:bodyPr lIns="0" tIns="36000" rIns="36000" bIns="36000"/>
          <a:lstStyle>
            <a:lvl1pPr marL="0" indent="0" algn="l" defTabSz="914400" rtl="0" eaLnBrk="1" latinLnBrk="0" hangingPunct="1">
              <a:buFontTx/>
              <a:buNone/>
              <a:defRPr lang="en-US" sz="800" kern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footer notes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DAE4C2-8E47-D2C0-172C-5EE393C1E8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1592263"/>
            <a:ext cx="5760000" cy="4932362"/>
          </a:xfrm>
        </p:spPr>
        <p:txBody>
          <a:bodyPr/>
          <a:lstStyle>
            <a:lvl1pPr marL="228600" indent="-228600"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/>
            </a:lvl1pPr>
            <a:lvl2pPr marL="685800" indent="-228600"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600"/>
            </a:lvl2pPr>
            <a:lvl3pPr marL="1143000" indent="-228600"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400"/>
            </a:lvl3pPr>
            <a:lvl4pPr marL="1371600" indent="0">
              <a:buNone/>
              <a:defRPr/>
            </a:lvl4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026874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9C4A3E-945B-52FC-4476-02FACF0A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4C591B0-0134-5FF1-ECBF-8F4610D5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941" y="1371609"/>
            <a:ext cx="10515600" cy="4725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7DD9FB-E7D4-41BB-3434-588689FA9850}"/>
              </a:ext>
            </a:extLst>
          </p:cNvPr>
          <p:cNvCxnSpPr>
            <a:cxnSpLocks/>
          </p:cNvCxnSpPr>
          <p:nvPr userDrawn="1"/>
        </p:nvCxnSpPr>
        <p:spPr>
          <a:xfrm>
            <a:off x="574766" y="962008"/>
            <a:ext cx="11160034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84DEA5-19B1-842A-57B6-6BD0816D07C7}"/>
              </a:ext>
            </a:extLst>
          </p:cNvPr>
          <p:cNvCxnSpPr>
            <a:cxnSpLocks/>
          </p:cNvCxnSpPr>
          <p:nvPr userDrawn="1"/>
        </p:nvCxnSpPr>
        <p:spPr>
          <a:xfrm>
            <a:off x="574766" y="6545051"/>
            <a:ext cx="11160034" cy="0"/>
          </a:xfrm>
          <a:prstGeom prst="line">
            <a:avLst/>
          </a:prstGeom>
          <a:ln w="127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3" name="Picture 12" descr="A picture containing font, graphics, graphic design, design&#10;&#10;Description automatically generated">
            <a:extLst>
              <a:ext uri="{FF2B5EF4-FFF2-40B4-BE49-F238E27FC236}">
                <a16:creationId xmlns:a16="http://schemas.microsoft.com/office/drawing/2014/main" id="{6FA67720-A393-91CF-7784-522272F1D2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208" y="262146"/>
            <a:ext cx="576942" cy="5000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CB9F39-2BC6-05DA-2632-55B8C6EE82E5}"/>
              </a:ext>
            </a:extLst>
          </p:cNvPr>
          <p:cNvSpPr txBox="1"/>
          <p:nvPr userDrawn="1"/>
        </p:nvSpPr>
        <p:spPr>
          <a:xfrm>
            <a:off x="475147" y="6554399"/>
            <a:ext cx="1947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12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12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22128-4368-E457-9E73-C094397621F5}"/>
              </a:ext>
            </a:extLst>
          </p:cNvPr>
          <p:cNvSpPr txBox="1"/>
          <p:nvPr userDrawn="1"/>
        </p:nvSpPr>
        <p:spPr>
          <a:xfrm>
            <a:off x="11401259" y="6577482"/>
            <a:ext cx="4226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6157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0E21E4F-87DD-06B7-8AAC-432E05919E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571631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E21E4F-87DD-06B7-8AAC-432E05919E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BA838D-A12C-B13D-2FFB-01461C1BB3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0" y="234000"/>
            <a:ext cx="10440000" cy="720000"/>
          </a:xfrm>
        </p:spPr>
        <p:txBody>
          <a:bodyPr vert="horz"/>
          <a:lstStyle/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1E7FC-9E05-67B2-2C67-FA96882D13F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4963" y="1196975"/>
            <a:ext cx="5760000" cy="53276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476124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-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D5E9872-08FE-FF07-24BF-064621FCDD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925986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5E9872-08FE-FF07-24BF-064621FCDD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A607D8B-98FA-4227-2685-CD5D75F06C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1" y="234000"/>
            <a:ext cx="10440000" cy="720000"/>
          </a:xfrm>
        </p:spPr>
        <p:txBody>
          <a:bodyPr vert="horz"/>
          <a:lstStyle/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A4535-A80D-E715-F79B-9ED87FE68D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2" y="1195767"/>
            <a:ext cx="5760000" cy="396496"/>
          </a:xfrm>
        </p:spPr>
        <p:txBody>
          <a:bodyPr lIns="0" anchor="ctr"/>
          <a:lstStyle>
            <a:lvl1pPr marL="0" indent="0">
              <a:buFontTx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sub-title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12142A-4D7D-D98C-7618-16DAFE11FB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2" y="6524625"/>
            <a:ext cx="4842932" cy="333375"/>
          </a:xfrm>
        </p:spPr>
        <p:txBody>
          <a:bodyPr lIns="0" tIns="36000" rIns="36000" bIns="36000"/>
          <a:lstStyle>
            <a:lvl1pPr marL="0" indent="0" algn="l" defTabSz="914400" rtl="0" eaLnBrk="1" latinLnBrk="0" hangingPunct="1">
              <a:buFontTx/>
              <a:buNone/>
              <a:defRPr lang="en-US" sz="800" kern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footer notes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DAE4C2-8E47-D2C0-172C-5EE393C1E8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1592263"/>
            <a:ext cx="5760000" cy="4932362"/>
          </a:xfrm>
        </p:spPr>
        <p:txBody>
          <a:bodyPr/>
          <a:lstStyle>
            <a:lvl1pPr marL="228600" indent="-228600"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/>
            </a:lvl1pPr>
            <a:lvl2pPr marL="685800" indent="-228600"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600"/>
            </a:lvl2pPr>
            <a:lvl3pPr marL="1143000" indent="-228600"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400"/>
            </a:lvl3pPr>
            <a:lvl4pPr marL="1371600" indent="0">
              <a:buNone/>
              <a:defRPr/>
            </a:lvl4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392275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E08A-4D44-3EFF-2020-3BC10072D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50FD70C-0AAE-2F0A-5E6B-BCC280080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2" y="6524625"/>
            <a:ext cx="4842932" cy="333375"/>
          </a:xfrm>
        </p:spPr>
        <p:txBody>
          <a:bodyPr lIns="0" tIns="36000" rIns="36000" bIns="36000"/>
          <a:lstStyle>
            <a:lvl1pPr marL="0" indent="0" algn="l" defTabSz="914400" rtl="0" eaLnBrk="1" latinLnBrk="0" hangingPunct="1">
              <a:buFontTx/>
              <a:buNone/>
              <a:defRPr lang="en-US" sz="800" kern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footer notes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013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mall-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229A10-0C90-EE88-2581-51567972A425}"/>
              </a:ext>
            </a:extLst>
          </p:cNvPr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AU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F8D7674-5645-02DA-4F82-599754F59D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7038" y="6562725"/>
            <a:ext cx="720000" cy="10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457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>
  <p:cSld name="Title_Only">
    <p:bg>
      <p:bgPr>
        <a:solidFill>
          <a:srgbClr val="FFFFFF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/>
          <p:nvPr/>
        </p:nvSpPr>
        <p:spPr>
          <a:xfrm>
            <a:off x="0" y="-2"/>
            <a:ext cx="12192000" cy="1191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716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7"/>
          <p:cNvSpPr txBox="1"/>
          <p:nvPr/>
        </p:nvSpPr>
        <p:spPr>
          <a:xfrm>
            <a:off x="5401074" y="6580906"/>
            <a:ext cx="1397867" cy="21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1A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4B1AB"/>
                </a:solidFill>
                <a:latin typeface="Calibri"/>
                <a:ea typeface="Calibri"/>
                <a:cs typeface="Calibri"/>
                <a:sym typeface="Calibri"/>
              </a:rPr>
              <a:t>Confidential and Proprietary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7"/>
          <p:cNvSpPr txBox="1">
            <a:spLocks noGrp="1"/>
          </p:cNvSpPr>
          <p:nvPr>
            <p:ph type="sldNum" idx="12"/>
          </p:nvPr>
        </p:nvSpPr>
        <p:spPr>
          <a:xfrm>
            <a:off x="11733738" y="6616906"/>
            <a:ext cx="128563" cy="139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898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EE898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27" descr="Picture 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80095" y="345610"/>
            <a:ext cx="576943" cy="50001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7"/>
          <p:cNvSpPr txBox="1">
            <a:spLocks noGrp="1"/>
          </p:cNvSpPr>
          <p:nvPr>
            <p:ph type="title"/>
          </p:nvPr>
        </p:nvSpPr>
        <p:spPr>
          <a:xfrm>
            <a:off x="334960" y="234000"/>
            <a:ext cx="10440001" cy="72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2800"/>
              <a:buFont typeface="Georgia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62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body" idx="1"/>
          </p:nvPr>
        </p:nvSpPr>
        <p:spPr>
          <a:xfrm>
            <a:off x="334961" y="6524625"/>
            <a:ext cx="484293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4B1AB"/>
              </a:buClr>
              <a:buSzPts val="800"/>
              <a:buFont typeface="Calibri"/>
              <a:buNone/>
              <a:defRPr sz="800">
                <a:solidFill>
                  <a:srgbClr val="F4B1A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4B1AB"/>
              </a:buClr>
              <a:buSzPts val="800"/>
              <a:buFont typeface="Calibri"/>
              <a:buNone/>
              <a:defRPr sz="800">
                <a:solidFill>
                  <a:srgbClr val="F4B1AB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4B1AB"/>
              </a:buClr>
              <a:buSzPts val="800"/>
              <a:buFont typeface="Calibri"/>
              <a:buNone/>
              <a:defRPr sz="800">
                <a:solidFill>
                  <a:srgbClr val="F4B1AB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4B1AB"/>
              </a:buClr>
              <a:buSzPts val="800"/>
              <a:buFont typeface="Calibri"/>
              <a:buNone/>
              <a:defRPr sz="800">
                <a:solidFill>
                  <a:srgbClr val="F4B1AB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4B1AB"/>
              </a:buClr>
              <a:buSzPts val="800"/>
              <a:buFont typeface="Calibri"/>
              <a:buNone/>
              <a:defRPr sz="800">
                <a:solidFill>
                  <a:srgbClr val="F4B1AB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162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162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162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162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288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26" Type="http://schemas.openxmlformats.org/officeDocument/2006/relationships/tags" Target="../tags/tag3.xml"/><Relationship Id="rId3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41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2.xml"/><Relationship Id="rId27" Type="http://schemas.openxmlformats.org/officeDocument/2006/relationships/oleObject" Target="../embeddings/oleObject1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3.png"/><Relationship Id="rId3" Type="http://schemas.openxmlformats.org/officeDocument/2006/relationships/slideLayout" Target="../slideLayouts/slideLayout47.xml"/><Relationship Id="rId7" Type="http://schemas.openxmlformats.org/officeDocument/2006/relationships/tags" Target="../tags/tag6.xml"/><Relationship Id="rId12" Type="http://schemas.openxmlformats.org/officeDocument/2006/relationships/image" Target="../media/image11.sv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3.xml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49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AD28117-E152-124A-61DF-4D8CA4A29F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6746545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7772400" imgH="10058400" progId="TCLayout.ActiveDocument.1">
                  <p:embed/>
                </p:oleObj>
              </mc:Choice>
              <mc:Fallback>
                <p:oleObj name="think-cell Slide" r:id="rId2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D28117-E152-124A-61DF-4D8CA4A29F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CF6C8-303E-EFA3-8666-0A117755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11" y="273486"/>
            <a:ext cx="10515600" cy="5167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3AE8D-4034-E238-6810-885DF31B7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941" y="1741830"/>
            <a:ext cx="10515600" cy="4774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E8113-B395-8175-425C-BAA982D5A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5448" y="6516358"/>
            <a:ext cx="490464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4">
                    <a:lumMod val="60000"/>
                    <a:lumOff val="4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fld id="{B83B6D1E-E1E8-454B-BFDB-F4B222169C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E06F3-1DF8-3E0F-C628-48AC4CCC0256}"/>
              </a:ext>
            </a:extLst>
          </p:cNvPr>
          <p:cNvSpPr txBox="1"/>
          <p:nvPr userDrawn="1"/>
        </p:nvSpPr>
        <p:spPr>
          <a:xfrm>
            <a:off x="1803748" y="-325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4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7" r:id="rId2"/>
    <p:sldLayoutId id="2147483660" r:id="rId3"/>
    <p:sldLayoutId id="2147483661" r:id="rId4"/>
    <p:sldLayoutId id="2147483662" r:id="rId5"/>
    <p:sldLayoutId id="2147483663" r:id="rId6"/>
    <p:sldLayoutId id="2147483651" r:id="rId7"/>
    <p:sldLayoutId id="2147483709" r:id="rId8"/>
    <p:sldLayoutId id="2147483704" r:id="rId9"/>
    <p:sldLayoutId id="2147483708" r:id="rId10"/>
    <p:sldLayoutId id="2147483706" r:id="rId11"/>
    <p:sldLayoutId id="2147483707" r:id="rId12"/>
    <p:sldLayoutId id="2147483666" r:id="rId13"/>
    <p:sldLayoutId id="2147483667" r:id="rId14"/>
    <p:sldLayoutId id="2147483668" r:id="rId15"/>
    <p:sldLayoutId id="2147483669" r:id="rId16"/>
    <p:sldLayoutId id="2147483665" r:id="rId17"/>
    <p:sldLayoutId id="2147483655" r:id="rId18"/>
    <p:sldLayoutId id="2147483672" r:id="rId19"/>
    <p:sldLayoutId id="2147483677" r:id="rId2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AD28117-E152-124A-61DF-4D8CA4A29F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6746545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7772400" imgH="10058400" progId="TCLayout.ActiveDocument.1">
                  <p:embed/>
                </p:oleObj>
              </mc:Choice>
              <mc:Fallback>
                <p:oleObj name="think-cell Slide" r:id="rId27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D28117-E152-124A-61DF-4D8CA4A29F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CF6C8-303E-EFA3-8666-0A117755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11" y="273486"/>
            <a:ext cx="10515600" cy="5167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3AE8D-4034-E238-6810-885DF31B7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941" y="1741830"/>
            <a:ext cx="10515600" cy="4774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E8113-B395-8175-425C-BAA982D5A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5448" y="6516358"/>
            <a:ext cx="490464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4">
                    <a:lumMod val="60000"/>
                    <a:lumOff val="4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fld id="{B83B6D1E-E1E8-454B-BFDB-F4B222169C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E06F3-1DF8-3E0F-C628-48AC4CCC0256}"/>
              </a:ext>
            </a:extLst>
          </p:cNvPr>
          <p:cNvSpPr txBox="1"/>
          <p:nvPr userDrawn="1"/>
        </p:nvSpPr>
        <p:spPr>
          <a:xfrm>
            <a:off x="1803748" y="-325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2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B5507269-285A-BAB3-4F41-F38A5C0B6E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3383632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507269-285A-BAB3-4F41-F38A5C0B6E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63D4827-67EE-4804-3A60-754641ADE70F}"/>
              </a:ext>
            </a:extLst>
          </p:cNvPr>
          <p:cNvSpPr/>
          <p:nvPr userDrawn="1"/>
        </p:nvSpPr>
        <p:spPr>
          <a:xfrm>
            <a:off x="0" y="-1"/>
            <a:ext cx="12192000" cy="11912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AU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CF6C8-303E-EFA3-8666-0A117755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1" y="234000"/>
            <a:ext cx="10440000" cy="720000"/>
          </a:xfrm>
          <a:prstGeom prst="rect">
            <a:avLst/>
          </a:prstGeom>
        </p:spPr>
        <p:txBody>
          <a:bodyPr vert="horz" lIns="0" tIns="0" rIns="36000" bIns="0" rtlCol="0" anchor="ctr">
            <a:noAutofit/>
          </a:bodyPr>
          <a:lstStyle/>
          <a:p>
            <a:r>
              <a:rPr lang="en-GB"/>
              <a:t>Click to edit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3AE8D-4034-E238-6810-885DF31B7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191237"/>
            <a:ext cx="11522074" cy="5312041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E06F3-1DF8-3E0F-C628-48AC4CCC0256}"/>
              </a:ext>
            </a:extLst>
          </p:cNvPr>
          <p:cNvSpPr txBox="1"/>
          <p:nvPr userDrawn="1"/>
        </p:nvSpPr>
        <p:spPr>
          <a:xfrm>
            <a:off x="1803748" y="-325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C6A8A-C63B-1CBC-F468-381B348283CA}"/>
              </a:ext>
            </a:extLst>
          </p:cNvPr>
          <p:cNvSpPr txBox="1"/>
          <p:nvPr userDrawn="1"/>
        </p:nvSpPr>
        <p:spPr>
          <a:xfrm>
            <a:off x="5345634" y="6524625"/>
            <a:ext cx="1500732" cy="324264"/>
          </a:xfrm>
          <a:prstGeom prst="rect">
            <a:avLst/>
          </a:prstGeom>
          <a:noFill/>
        </p:spPr>
        <p:txBody>
          <a:bodyPr wrap="none" tIns="36000" bIns="36000" rtlCol="0" anchor="ctr">
            <a:noAutofit/>
          </a:bodyPr>
          <a:lstStyle/>
          <a:p>
            <a:r>
              <a:rPr lang="en-US" sz="90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Confidential and </a:t>
            </a:r>
            <a:r>
              <a:rPr lang="en-AU" sz="900" b="0" i="0" u="none" strike="noStrike" kern="12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+mn-cs"/>
              </a:rPr>
              <a:t>Proprietary</a:t>
            </a:r>
            <a:endParaRPr lang="en-US" sz="90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C75BC-4A72-4DAB-4F30-708751E7B876}"/>
              </a:ext>
            </a:extLst>
          </p:cNvPr>
          <p:cNvSpPr txBox="1"/>
          <p:nvPr userDrawn="1"/>
        </p:nvSpPr>
        <p:spPr>
          <a:xfrm>
            <a:off x="10304585" y="6524625"/>
            <a:ext cx="1557716" cy="324264"/>
          </a:xfrm>
          <a:prstGeom prst="rect">
            <a:avLst/>
          </a:prstGeom>
          <a:noFill/>
        </p:spPr>
        <p:txBody>
          <a:bodyPr wrap="square" tIns="36000" rIns="0" bIns="36000" rtlCol="0" anchor="ctr">
            <a:noAutofit/>
          </a:bodyPr>
          <a:lstStyle/>
          <a:p>
            <a:pPr algn="r"/>
            <a:fld id="{ACFDA4C1-27A0-F748-8617-7025F24BD85F}" type="slidenum">
              <a:rPr lang="en-US" sz="9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en-US" sz="9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 descr="A picture containing font, graphics, graphic design, design&#10;&#10;Description automatically generated">
            <a:extLst>
              <a:ext uri="{FF2B5EF4-FFF2-40B4-BE49-F238E27FC236}">
                <a16:creationId xmlns:a16="http://schemas.microsoft.com/office/drawing/2014/main" id="{B6874DE3-2CC4-C211-0ADB-5C5036E703CF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280095" y="345610"/>
            <a:ext cx="576942" cy="5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36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1" r:id="rId2"/>
    <p:sldLayoutId id="2147483713" r:id="rId3"/>
    <p:sldLayoutId id="2147483710" r:id="rId4"/>
    <p:sldLayoutId id="2147483720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Tx/>
        <a:buBlip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Inter" panose="020B05020300000000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</a:buBlip>
        <a:defRPr sz="1600" kern="1200">
          <a:solidFill>
            <a:schemeClr val="tx1"/>
          </a:solidFill>
          <a:latin typeface="+mn-lt"/>
          <a:ea typeface="Inter" panose="020B05020300000000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</a:buBlip>
        <a:defRPr sz="1400" kern="1200">
          <a:solidFill>
            <a:schemeClr val="tx1"/>
          </a:solidFill>
          <a:latin typeface="+mn-lt"/>
          <a:ea typeface="Inter" panose="020B05020300000000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60000"/>
        <a:buFontTx/>
        <a:buBlip>
          <a:blip r:embed="rId13"/>
        </a:buBlip>
        <a:defRPr sz="1600" kern="1200">
          <a:solidFill>
            <a:schemeClr val="tx1"/>
          </a:solidFill>
          <a:latin typeface="+mn-lt"/>
          <a:ea typeface="Inter" panose="020B05020300000000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60000"/>
        <a:buFontTx/>
        <a:buBlip>
          <a:blip r:embed="rId13"/>
        </a:buBlip>
        <a:defRPr sz="1400" kern="1200">
          <a:solidFill>
            <a:schemeClr val="tx1"/>
          </a:solidFill>
          <a:latin typeface="+mn-lt"/>
          <a:ea typeface="Inter" panose="020B05020300000000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210" userDrawn="1">
          <p15:clr>
            <a:srgbClr val="F26B43"/>
          </p15:clr>
        </p15:guide>
        <p15:guide id="6" orient="horz" pos="4110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2409" userDrawn="1">
          <p15:clr>
            <a:srgbClr val="F26B43"/>
          </p15:clr>
        </p15:guide>
        <p15:guide id="9" orient="horz" pos="75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8.png"/><Relationship Id="rId3" Type="http://schemas.openxmlformats.org/officeDocument/2006/relationships/image" Target="../media/image16.png"/><Relationship Id="rId21" Type="http://schemas.openxmlformats.org/officeDocument/2006/relationships/image" Target="../media/image34.jpeg"/><Relationship Id="rId34" Type="http://schemas.openxmlformats.org/officeDocument/2006/relationships/image" Target="../media/image46.jpe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7.svg"/><Relationship Id="rId33" Type="http://schemas.openxmlformats.org/officeDocument/2006/relationships/image" Target="../media/image45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9.jpeg"/><Relationship Id="rId20" Type="http://schemas.openxmlformats.org/officeDocument/2006/relationships/image" Target="../media/image33.png"/><Relationship Id="rId29" Type="http://schemas.openxmlformats.org/officeDocument/2006/relationships/image" Target="../media/image41.svg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10.png"/><Relationship Id="rId32" Type="http://schemas.openxmlformats.org/officeDocument/2006/relationships/image" Target="../media/image4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0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4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jpeg"/><Relationship Id="rId27" Type="http://schemas.openxmlformats.org/officeDocument/2006/relationships/image" Target="../media/image39.sv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8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10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9.png"/><Relationship Id="rId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87D3B1-EF9D-7FF1-9E4A-ECFBAF7FD7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Implementation Discussion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0409C0D-A297-70B0-65A9-A5DC66B2EC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Micah Projects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3ADBC-F612-CB3C-86F5-73B156075CB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March 2026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CC871123-9AAD-F6FB-E311-CFF91A0DEB46}"/>
              </a:ext>
            </a:extLst>
          </p:cNvPr>
          <p:cNvPicPr>
            <a:picLocks noGrp="1" noChangeAspect="1"/>
          </p:cNvPicPr>
          <p:nvPr>
            <p:ph type="pic" idx="23"/>
          </p:nvPr>
        </p:nvPicPr>
        <p:blipFill>
          <a:blip r:embed="rId3"/>
          <a:srcRect t="3672" b="3672"/>
          <a:stretch/>
        </p:blipFill>
        <p:spPr/>
      </p:pic>
    </p:spTree>
    <p:extLst>
      <p:ext uri="{BB962C8B-B14F-4D97-AF65-F5344CB8AC3E}">
        <p14:creationId xmlns:p14="http://schemas.microsoft.com/office/powerpoint/2010/main" val="36241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4DC0A-DA15-FBE3-9ED9-77EA874B7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3B658190-6847-8D49-2FAD-F994BD080148}"/>
              </a:ext>
            </a:extLst>
          </p:cNvPr>
          <p:cNvSpPr/>
          <p:nvPr/>
        </p:nvSpPr>
        <p:spPr>
          <a:xfrm>
            <a:off x="5424411" y="1459419"/>
            <a:ext cx="6563845" cy="372069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EF906-D3B2-AD40-2B22-BD7C8C12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/>
              <a:t>Why Mivada</a:t>
            </a:r>
            <a:br>
              <a:rPr lang="en-US" sz="2400"/>
            </a:br>
            <a:r>
              <a:rPr lang="en-US" sz="2000" i="1">
                <a:solidFill>
                  <a:schemeClr val="tx2"/>
                </a:solidFill>
              </a:rPr>
              <a:t>Your Long-Term Partner in Workday Implementations and Managed Services, we grew out of a customer and hence we understand your challenges…</a:t>
            </a:r>
          </a:p>
        </p:txBody>
      </p:sp>
      <p:pic>
        <p:nvPicPr>
          <p:cNvPr id="10" name="Google Shape;676;p21" descr="Picture 4">
            <a:extLst>
              <a:ext uri="{FF2B5EF4-FFF2-40B4-BE49-F238E27FC236}">
                <a16:creationId xmlns:a16="http://schemas.microsoft.com/office/drawing/2014/main" id="{FEE4FC26-8C4B-BE04-B3C7-7842BBA826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00326" y="2343005"/>
            <a:ext cx="950683" cy="194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678;p21" descr="Content Placeholder 10">
            <a:extLst>
              <a:ext uri="{FF2B5EF4-FFF2-40B4-BE49-F238E27FC236}">
                <a16:creationId xmlns:a16="http://schemas.microsoft.com/office/drawing/2014/main" id="{2B731D82-B998-ED89-F330-18EC3C324C39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4343" b="28785"/>
          <a:stretch/>
        </p:blipFill>
        <p:spPr>
          <a:xfrm>
            <a:off x="7494210" y="3264248"/>
            <a:ext cx="1019300" cy="484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679;p21" descr="Picture 2">
            <a:extLst>
              <a:ext uri="{FF2B5EF4-FFF2-40B4-BE49-F238E27FC236}">
                <a16:creationId xmlns:a16="http://schemas.microsoft.com/office/drawing/2014/main" id="{AFE6077D-F9A3-937D-3EC4-49433D683B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00140" y="3571095"/>
            <a:ext cx="466033" cy="484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80;p21" descr="Picture 4">
            <a:extLst>
              <a:ext uri="{FF2B5EF4-FFF2-40B4-BE49-F238E27FC236}">
                <a16:creationId xmlns:a16="http://schemas.microsoft.com/office/drawing/2014/main" id="{DA4F40F5-F9CD-F870-5DB2-6AB5F9664E5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59053" y="2047124"/>
            <a:ext cx="542425" cy="519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681;p21" descr="Picture 6">
            <a:extLst>
              <a:ext uri="{FF2B5EF4-FFF2-40B4-BE49-F238E27FC236}">
                <a16:creationId xmlns:a16="http://schemas.microsoft.com/office/drawing/2014/main" id="{E0AB5239-83E9-C1AA-5886-A73DFA1C240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73962" y="4768373"/>
            <a:ext cx="899151" cy="308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682;p21" descr="Picture 8">
            <a:extLst>
              <a:ext uri="{FF2B5EF4-FFF2-40B4-BE49-F238E27FC236}">
                <a16:creationId xmlns:a16="http://schemas.microsoft.com/office/drawing/2014/main" id="{43AFF8CE-A98C-43DC-0454-EC17B5819FE1}"/>
              </a:ext>
            </a:extLst>
          </p:cNvPr>
          <p:cNvPicPr preferRelativeResize="0"/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t="11277" b="13062"/>
          <a:stretch>
            <a:fillRect/>
          </a:stretch>
        </p:blipFill>
        <p:spPr>
          <a:xfrm>
            <a:off x="9556960" y="3656947"/>
            <a:ext cx="1096541" cy="40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684;p21" descr="Picture 2">
            <a:extLst>
              <a:ext uri="{FF2B5EF4-FFF2-40B4-BE49-F238E27FC236}">
                <a16:creationId xmlns:a16="http://schemas.microsoft.com/office/drawing/2014/main" id="{655D3F83-D6DD-FD8D-FE40-78E4095644BC}"/>
              </a:ext>
            </a:extLst>
          </p:cNvPr>
          <p:cNvPicPr preferRelativeResize="0"/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10897512" y="4447620"/>
            <a:ext cx="987861" cy="499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686;p21" descr="Picture 4">
            <a:extLst>
              <a:ext uri="{FF2B5EF4-FFF2-40B4-BE49-F238E27FC236}">
                <a16:creationId xmlns:a16="http://schemas.microsoft.com/office/drawing/2014/main" id="{5F28D0CA-63FF-25E9-CA08-AE8090CC3943}"/>
              </a:ext>
            </a:extLst>
          </p:cNvPr>
          <p:cNvPicPr preferRelativeResize="0"/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10897512" y="4061407"/>
            <a:ext cx="824043" cy="194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4" descr="Rio Tinto logo">
            <a:extLst>
              <a:ext uri="{FF2B5EF4-FFF2-40B4-BE49-F238E27FC236}">
                <a16:creationId xmlns:a16="http://schemas.microsoft.com/office/drawing/2014/main" id="{88DAE398-A2F7-DE74-16BE-863CEFC151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0" t="19566" r="4242" b="27059"/>
          <a:stretch>
            <a:fillRect/>
          </a:stretch>
        </p:blipFill>
        <p:spPr bwMode="auto">
          <a:xfrm>
            <a:off x="5582017" y="3906739"/>
            <a:ext cx="941883" cy="42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Member login">
            <a:extLst>
              <a:ext uri="{FF2B5EF4-FFF2-40B4-BE49-F238E27FC236}">
                <a16:creationId xmlns:a16="http://schemas.microsoft.com/office/drawing/2014/main" id="{F7315A71-D1D1-CB27-678A-B1D4B4BB4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15" y="4019051"/>
            <a:ext cx="990163" cy="36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Articles tagged with 'catering' | Dnata">
            <a:extLst>
              <a:ext uri="{FF2B5EF4-FFF2-40B4-BE49-F238E27FC236}">
                <a16:creationId xmlns:a16="http://schemas.microsoft.com/office/drawing/2014/main" id="{D1D49F00-9A41-26D3-3C33-335E6ED48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665" y="4506137"/>
            <a:ext cx="1099699" cy="524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National Australia Bank brand resources: accessing high ...">
            <a:extLst>
              <a:ext uri="{FF2B5EF4-FFF2-40B4-BE49-F238E27FC236}">
                <a16:creationId xmlns:a16="http://schemas.microsoft.com/office/drawing/2014/main" id="{2CF8C70D-A23A-4056-499B-0E709A383B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66" y="3074168"/>
            <a:ext cx="941883" cy="768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Seven West Media | Logopedia | Fandom">
            <a:extLst>
              <a:ext uri="{FF2B5EF4-FFF2-40B4-BE49-F238E27FC236}">
                <a16:creationId xmlns:a16="http://schemas.microsoft.com/office/drawing/2014/main" id="{B49E7D27-67A3-E6C0-F477-23FB8E7FD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3251" y="4506137"/>
            <a:ext cx="1271635" cy="49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Canva's Logo gets a New Re-definition">
            <a:extLst>
              <a:ext uri="{FF2B5EF4-FFF2-40B4-BE49-F238E27FC236}">
                <a16:creationId xmlns:a16="http://schemas.microsoft.com/office/drawing/2014/main" id="{3214A6C3-E1AF-7D92-119B-BACB41BA73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6" t="21623" r="14676" b="22364"/>
          <a:stretch>
            <a:fillRect/>
          </a:stretch>
        </p:blipFill>
        <p:spPr bwMode="auto">
          <a:xfrm>
            <a:off x="9824586" y="3011093"/>
            <a:ext cx="919236" cy="40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2" descr="Anglicare Aged Care &amp; Community Services | Sydney &amp; Surrounds | Anglicare">
            <a:extLst>
              <a:ext uri="{FF2B5EF4-FFF2-40B4-BE49-F238E27FC236}">
                <a16:creationId xmlns:a16="http://schemas.microsoft.com/office/drawing/2014/main" id="{D5BD0CCA-7304-6795-F43F-AF966F3AE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894" y="2683306"/>
            <a:ext cx="559535" cy="64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logo with blue and green lines&#10;&#10;AI-generated content may be incorrect.">
            <a:extLst>
              <a:ext uri="{FF2B5EF4-FFF2-40B4-BE49-F238E27FC236}">
                <a16:creationId xmlns:a16="http://schemas.microsoft.com/office/drawing/2014/main" id="{7E1AF67B-9EBD-E66D-486D-040170DB935E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747" t="13319" r="4612" b="12915"/>
          <a:stretch>
            <a:fillRect/>
          </a:stretch>
        </p:blipFill>
        <p:spPr>
          <a:xfrm>
            <a:off x="8869180" y="2412468"/>
            <a:ext cx="1073631" cy="507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D0D080-02D3-205A-5A5F-EBAAF48AAE6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06741" y="2703922"/>
            <a:ext cx="604359" cy="285642"/>
          </a:xfrm>
          <a:prstGeom prst="rect">
            <a:avLst/>
          </a:prstGeom>
        </p:spPr>
      </p:pic>
      <p:pic>
        <p:nvPicPr>
          <p:cNvPr id="26" name="Picture 6" descr="Dedicated - Free miscellaneous icons">
            <a:extLst>
              <a:ext uri="{FF2B5EF4-FFF2-40B4-BE49-F238E27FC236}">
                <a16:creationId xmlns:a16="http://schemas.microsoft.com/office/drawing/2014/main" id="{AD02DACB-3E3F-0C64-FBF6-5C61BDADD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00" y="4662090"/>
            <a:ext cx="597588" cy="59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Businessman, client, man, manager ...">
            <a:extLst>
              <a:ext uri="{FF2B5EF4-FFF2-40B4-BE49-F238E27FC236}">
                <a16:creationId xmlns:a16="http://schemas.microsoft.com/office/drawing/2014/main" id="{87D0A45D-B3F2-7BAE-CE54-D52F39AED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00" y="3808863"/>
            <a:ext cx="597588" cy="59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Glowing Yellow Light Bulb Royalty Free ...">
            <a:extLst>
              <a:ext uri="{FF2B5EF4-FFF2-40B4-BE49-F238E27FC236}">
                <a16:creationId xmlns:a16="http://schemas.microsoft.com/office/drawing/2014/main" id="{F4E372BE-0FCA-A104-804E-1FDBCCC42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13"/>
          <a:stretch>
            <a:fillRect/>
          </a:stretch>
        </p:blipFill>
        <p:spPr bwMode="auto">
          <a:xfrm>
            <a:off x="507684" y="3005039"/>
            <a:ext cx="486620" cy="54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Kennards Self Storage">
            <a:extLst>
              <a:ext uri="{FF2B5EF4-FFF2-40B4-BE49-F238E27FC236}">
                <a16:creationId xmlns:a16="http://schemas.microsoft.com/office/drawing/2014/main" id="{8F279B63-3FA5-56E5-A9DF-350C58275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372" y="4745182"/>
            <a:ext cx="968406" cy="295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ADCDDBB-86A2-E748-00F9-99ED207994F4}"/>
              </a:ext>
            </a:extLst>
          </p:cNvPr>
          <p:cNvSpPr txBox="1"/>
          <p:nvPr/>
        </p:nvSpPr>
        <p:spPr>
          <a:xfrm>
            <a:off x="1105659" y="1553087"/>
            <a:ext cx="36435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Australian Owned Business creating Australian jobs</a:t>
            </a:r>
            <a:endParaRPr kumimoji="0" lang="en-AU" sz="1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1D0A2F-1DD1-0E98-D107-341EEA8015DB}"/>
              </a:ext>
            </a:extLst>
          </p:cNvPr>
          <p:cNvSpPr txBox="1"/>
          <p:nvPr/>
        </p:nvSpPr>
        <p:spPr>
          <a:xfrm>
            <a:off x="1413405" y="3127601"/>
            <a:ext cx="30280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Are Not a Big 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83F3F7-2428-2B3C-5D2F-F400F2204A10}"/>
              </a:ext>
            </a:extLst>
          </p:cNvPr>
          <p:cNvSpPr txBox="1"/>
          <p:nvPr/>
        </p:nvSpPr>
        <p:spPr>
          <a:xfrm>
            <a:off x="1086745" y="3914858"/>
            <a:ext cx="4050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Dedicated Local Engagement Manager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599623-888B-2839-01BF-CD1F6A9A614F}"/>
              </a:ext>
            </a:extLst>
          </p:cNvPr>
          <p:cNvSpPr txBox="1"/>
          <p:nvPr/>
        </p:nvSpPr>
        <p:spPr>
          <a:xfrm>
            <a:off x="1108045" y="4702114"/>
            <a:ext cx="36387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 Access to Our CEO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AU" sz="12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(Reduced Escalation Matrix)</a:t>
            </a:r>
            <a:endParaRPr kumimoji="0" lang="en-AU" sz="1800" b="1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ounded Rectangle 61">
            <a:extLst>
              <a:ext uri="{FF2B5EF4-FFF2-40B4-BE49-F238E27FC236}">
                <a16:creationId xmlns:a16="http://schemas.microsoft.com/office/drawing/2014/main" id="{3DD92558-EFF2-01D1-7699-1055B17C90DB}"/>
              </a:ext>
            </a:extLst>
          </p:cNvPr>
          <p:cNvSpPr/>
          <p:nvPr/>
        </p:nvSpPr>
        <p:spPr>
          <a:xfrm>
            <a:off x="894183" y="5652787"/>
            <a:ext cx="2988000" cy="618229"/>
          </a:xfrm>
          <a:prstGeom prst="roundRect">
            <a:avLst>
              <a:gd name="adj" fmla="val 50000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396000" tIns="72000" rIns="72000" bIns="72000" rtlCol="0" anchor="ctr"/>
          <a:lstStyle/>
          <a:p>
            <a:pPr marL="355600" marR="0" lvl="0" indent="-355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/>
            </a:pPr>
            <a:r>
              <a:rPr kumimoji="0" lang="en-AU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People Systems and Transformation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DAC165-055A-1014-0409-A685CEF6BE80}"/>
              </a:ext>
            </a:extLst>
          </p:cNvPr>
          <p:cNvGrpSpPr/>
          <p:nvPr/>
        </p:nvGrpSpPr>
        <p:grpSpPr>
          <a:xfrm>
            <a:off x="1028788" y="5666793"/>
            <a:ext cx="602481" cy="604229"/>
            <a:chOff x="5932862" y="4562722"/>
            <a:chExt cx="914400" cy="914400"/>
          </a:xfrm>
          <a:solidFill>
            <a:schemeClr val="bg1"/>
          </a:solidFill>
        </p:grpSpPr>
        <p:pic>
          <p:nvPicPr>
            <p:cNvPr id="43" name="Graphic 42" descr="Head with gears with solid fill">
              <a:extLst>
                <a:ext uri="{FF2B5EF4-FFF2-40B4-BE49-F238E27FC236}">
                  <a16:creationId xmlns:a16="http://schemas.microsoft.com/office/drawing/2014/main" id="{94D15C15-6602-BC25-5404-EEF60A8B3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020824" y="4809162"/>
              <a:ext cx="337932" cy="337932"/>
            </a:xfrm>
            <a:prstGeom prst="rect">
              <a:avLst/>
            </a:prstGeom>
          </p:spPr>
        </p:pic>
        <p:pic>
          <p:nvPicPr>
            <p:cNvPr id="45" name="Graphic 44" descr="Computer with solid fill">
              <a:extLst>
                <a:ext uri="{FF2B5EF4-FFF2-40B4-BE49-F238E27FC236}">
                  <a16:creationId xmlns:a16="http://schemas.microsoft.com/office/drawing/2014/main" id="{9AAD6EDE-6A2A-4BFB-831B-7737F7D86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932862" y="4562722"/>
              <a:ext cx="914400" cy="914400"/>
            </a:xfrm>
            <a:prstGeom prst="rect">
              <a:avLst/>
            </a:prstGeom>
          </p:spPr>
        </p:pic>
      </p:grp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B6F201E5-11F7-1712-ED6D-1C87FC520D22}"/>
              </a:ext>
            </a:extLst>
          </p:cNvPr>
          <p:cNvSpPr/>
          <p:nvPr/>
        </p:nvSpPr>
        <p:spPr>
          <a:xfrm>
            <a:off x="8012644" y="5649935"/>
            <a:ext cx="2988000" cy="618229"/>
          </a:xfrm>
          <a:prstGeom prst="roundRect">
            <a:avLst>
              <a:gd name="adj" fmla="val 50000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576000" tIns="72000" rIns="72000" bIns="72000" rtlCol="0" anchor="ctr"/>
          <a:lstStyle/>
          <a:p>
            <a:pPr marL="274638" marR="0" lvl="0" indent="-952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Data, Analytics and Business Intelligence</a:t>
            </a:r>
          </a:p>
        </p:txBody>
      </p:sp>
      <p:pic>
        <p:nvPicPr>
          <p:cNvPr id="58" name="Graphic 57" descr="Presentation with bar chart with solid fill">
            <a:extLst>
              <a:ext uri="{FF2B5EF4-FFF2-40B4-BE49-F238E27FC236}">
                <a16:creationId xmlns:a16="http://schemas.microsoft.com/office/drawing/2014/main" id="{2C899D91-7127-6DDF-380A-AD8B5020ABD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226221" y="5708533"/>
            <a:ext cx="586213" cy="587913"/>
          </a:xfrm>
          <a:prstGeom prst="rect">
            <a:avLst/>
          </a:prstGeom>
        </p:spPr>
      </p:pic>
      <p:sp>
        <p:nvSpPr>
          <p:cNvPr id="62" name="Google Shape;532;p15">
            <a:extLst>
              <a:ext uri="{FF2B5EF4-FFF2-40B4-BE49-F238E27FC236}">
                <a16:creationId xmlns:a16="http://schemas.microsoft.com/office/drawing/2014/main" id="{05103FFD-EBDA-F4B3-B6FD-9B7FC0BDEA24}"/>
              </a:ext>
            </a:extLst>
          </p:cNvPr>
          <p:cNvSpPr/>
          <p:nvPr/>
        </p:nvSpPr>
        <p:spPr>
          <a:xfrm>
            <a:off x="4542345" y="5628740"/>
            <a:ext cx="2988000" cy="618231"/>
          </a:xfrm>
          <a:prstGeom prst="roundRect">
            <a:avLst>
              <a:gd name="adj" fmla="val 50000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spcFirstLastPara="1" wrap="square" lIns="45700" tIns="45700" rIns="45700" bIns="45700" anchor="ctr" anchorCtr="0">
            <a:noAutofit/>
          </a:bodyPr>
          <a:lstStyle/>
          <a:p>
            <a:pPr marL="53975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Business Process Management and Automation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pic>
        <p:nvPicPr>
          <p:cNvPr id="6144" name="Google Shape;534;p15" descr="Graphic 33">
            <a:extLst>
              <a:ext uri="{FF2B5EF4-FFF2-40B4-BE49-F238E27FC236}">
                <a16:creationId xmlns:a16="http://schemas.microsoft.com/office/drawing/2014/main" id="{314473BF-C1CB-052E-A286-5B52EB03C39B}"/>
              </a:ext>
            </a:extLst>
          </p:cNvPr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4682077" y="5643846"/>
            <a:ext cx="544206" cy="545784"/>
          </a:xfrm>
          <a:prstGeom prst="rect">
            <a:avLst/>
          </a:prstGeom>
          <a:noFill/>
          <a:ln>
            <a:noFill/>
          </a:ln>
        </p:spPr>
      </p:pic>
      <p:sp>
        <p:nvSpPr>
          <p:cNvPr id="6153" name="TextBox 6152">
            <a:extLst>
              <a:ext uri="{FF2B5EF4-FFF2-40B4-BE49-F238E27FC236}">
                <a16:creationId xmlns:a16="http://schemas.microsoft.com/office/drawing/2014/main" id="{241AE836-29D1-E1FF-07B9-CED7F5AA2E0E}"/>
              </a:ext>
            </a:extLst>
          </p:cNvPr>
          <p:cNvSpPr txBox="1"/>
          <p:nvPr/>
        </p:nvSpPr>
        <p:spPr>
          <a:xfrm>
            <a:off x="6148314" y="1592352"/>
            <a:ext cx="5737059" cy="369332"/>
          </a:xfrm>
          <a:prstGeom prst="rect">
            <a:avLst/>
          </a:prstGeom>
          <a:noFill/>
          <a:effectLst>
            <a:outerShdw blurRad="50800" dist="38100" dir="5400000" sx="39171" sy="39171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5454"/>
              </a:buClr>
              <a:buSzPts val="3200"/>
              <a:buFont typeface="Georgia"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srgbClr val="603FD0">
                    <a:lumMod val="50000"/>
                  </a:srgbClr>
                </a:solidFill>
                <a:effectLst/>
                <a:uLnTx/>
                <a:uFillTx/>
                <a:latin typeface="Georgia"/>
                <a:ea typeface="Georgia"/>
                <a:cs typeface="Georgia"/>
                <a:sym typeface="Georgia"/>
              </a:rPr>
              <a:t>We work with notable brands such as…</a:t>
            </a:r>
            <a:endParaRPr kumimoji="0" lang="en-US" sz="1000" b="1" i="1" u="none" strike="noStrike" kern="1200" cap="none" spc="0" normalizeH="0" baseline="0" noProof="0">
              <a:ln>
                <a:noFill/>
              </a:ln>
              <a:solidFill>
                <a:srgbClr val="603FD0">
                  <a:lumMod val="50000"/>
                </a:srgb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5E3E1-01AE-E03C-70D0-CFC76630938E}"/>
              </a:ext>
            </a:extLst>
          </p:cNvPr>
          <p:cNvSpPr txBox="1"/>
          <p:nvPr/>
        </p:nvSpPr>
        <p:spPr>
          <a:xfrm>
            <a:off x="1232964" y="2450279"/>
            <a:ext cx="3643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Dedicated Offshore Capability</a:t>
            </a:r>
            <a:endParaRPr kumimoji="0" lang="en-AU" sz="1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Australia country map border blue icon Royalty Free Vector">
            <a:extLst>
              <a:ext uri="{FF2B5EF4-FFF2-40B4-BE49-F238E27FC236}">
                <a16:creationId xmlns:a16="http://schemas.microsoft.com/office/drawing/2014/main" id="{F55DDD68-BC73-859E-8967-81F7E65588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17" t="24691" r="19234" b="31803"/>
          <a:stretch>
            <a:fillRect/>
          </a:stretch>
        </p:blipFill>
        <p:spPr bwMode="auto">
          <a:xfrm>
            <a:off x="444351" y="1572018"/>
            <a:ext cx="555455" cy="43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4,800+ India Map Icon Stock Illustrations, Royalty-Free Vector Graphics &amp;  Clip Art - iStock">
            <a:extLst>
              <a:ext uri="{FF2B5EF4-FFF2-40B4-BE49-F238E27FC236}">
                <a16:creationId xmlns:a16="http://schemas.microsoft.com/office/drawing/2014/main" id="{55B09201-E3CB-3354-B9EE-C8FC7FB382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24" t="2899" r="3198" b="2191"/>
          <a:stretch>
            <a:fillRect/>
          </a:stretch>
        </p:blipFill>
        <p:spPr bwMode="auto">
          <a:xfrm>
            <a:off x="539202" y="2249389"/>
            <a:ext cx="489586" cy="52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med | The World Leader in Sleep Health">
            <a:extLst>
              <a:ext uri="{FF2B5EF4-FFF2-40B4-BE49-F238E27FC236}">
                <a16:creationId xmlns:a16="http://schemas.microsoft.com/office/drawing/2014/main" id="{3130AD09-1929-37C8-0DDE-89DD4088D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282" y="2185325"/>
            <a:ext cx="947845" cy="42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561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EB4B-54FC-B599-92B9-D0AAE9EF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572BF44-A8ED-B3E2-276C-27800043F80A}"/>
              </a:ext>
            </a:extLst>
          </p:cNvPr>
          <p:cNvGrpSpPr/>
          <p:nvPr/>
        </p:nvGrpSpPr>
        <p:grpSpPr>
          <a:xfrm>
            <a:off x="10214757" y="6075485"/>
            <a:ext cx="1752566" cy="548515"/>
            <a:chOff x="9557451" y="5971214"/>
            <a:chExt cx="2251205" cy="704578"/>
          </a:xfrm>
        </p:grpSpPr>
        <p:pic>
          <p:nvPicPr>
            <p:cNvPr id="6" name="Picture 4" descr="CloudRock">
              <a:extLst>
                <a:ext uri="{FF2B5EF4-FFF2-40B4-BE49-F238E27FC236}">
                  <a16:creationId xmlns:a16="http://schemas.microsoft.com/office/drawing/2014/main" id="{6D16F25B-D3A0-D03C-2D65-9D7328F653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7451" y="5971214"/>
              <a:ext cx="704578" cy="7045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Workday Extend Application Development ...">
              <a:extLst>
                <a:ext uri="{FF2B5EF4-FFF2-40B4-BE49-F238E27FC236}">
                  <a16:creationId xmlns:a16="http://schemas.microsoft.com/office/drawing/2014/main" id="{2D164789-7CBF-4DAA-02B1-8BC3C0EA3F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33224" y="5971215"/>
              <a:ext cx="707722" cy="7045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6A7B28-B4FC-78F9-63B0-8DB1F58EF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112141" y="5971215"/>
              <a:ext cx="696515" cy="704577"/>
            </a:xfrm>
            <a:prstGeom prst="rect">
              <a:avLst/>
            </a:prstGeom>
          </p:spPr>
        </p:pic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346BF68A-4C05-7A4D-9EDB-D03FAD74F0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03"/>
          <a:stretch>
            <a:fillRect/>
          </a:stretch>
        </p:blipFill>
        <p:spPr bwMode="auto">
          <a:xfrm>
            <a:off x="815530" y="817686"/>
            <a:ext cx="10560941" cy="621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9F42529-B841-240C-7ED7-BE57A7816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0" y="234000"/>
            <a:ext cx="10440001" cy="720001"/>
          </a:xfrm>
        </p:spPr>
        <p:txBody>
          <a:bodyPr>
            <a:noAutofit/>
          </a:bodyPr>
          <a:lstStyle/>
          <a:p>
            <a:r>
              <a:rPr lang="en-US" sz="2400" dirty="0" err="1"/>
              <a:t>Mivada’s</a:t>
            </a:r>
            <a:r>
              <a:rPr lang="en-US" sz="2400" dirty="0"/>
              <a:t> Workday Services</a:t>
            </a: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183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EC6C-DDF5-A02D-B5F7-30EFF377C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0" y="258722"/>
            <a:ext cx="10440001" cy="801806"/>
          </a:xfrm>
        </p:spPr>
        <p:txBody>
          <a:bodyPr>
            <a:normAutofit fontScale="90000"/>
          </a:bodyPr>
          <a:lstStyle/>
          <a:p>
            <a:r>
              <a:rPr lang="en-US" sz="3100"/>
              <a:t>Mivada’s Capability in Workday</a:t>
            </a:r>
            <a:br>
              <a:rPr lang="en-US"/>
            </a:br>
            <a:r>
              <a:rPr lang="en-AU" sz="2000" i="1">
                <a:solidFill>
                  <a:schemeClr val="tx2"/>
                </a:solidFill>
              </a:rPr>
              <a:t>Empowering Innovation and Capability through Workday Partnership and Local Expertise</a:t>
            </a:r>
            <a:endParaRPr lang="en-US" sz="1800" i="1">
              <a:solidFill>
                <a:schemeClr val="tx2"/>
              </a:solidFill>
            </a:endParaRPr>
          </a:p>
        </p:txBody>
      </p:sp>
      <p:pic>
        <p:nvPicPr>
          <p:cNvPr id="4" name="Picture 4" descr="CloudRock">
            <a:extLst>
              <a:ext uri="{FF2B5EF4-FFF2-40B4-BE49-F238E27FC236}">
                <a16:creationId xmlns:a16="http://schemas.microsoft.com/office/drawing/2014/main" id="{EE7BEA17-E871-56D5-045D-0C7FF5915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970" y="4652869"/>
            <a:ext cx="1674906" cy="167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Workday Extend Application Development ...">
            <a:extLst>
              <a:ext uri="{FF2B5EF4-FFF2-40B4-BE49-F238E27FC236}">
                <a16:creationId xmlns:a16="http://schemas.microsoft.com/office/drawing/2014/main" id="{897CFFDF-F7A9-940C-BBA0-9D6D387B0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014" y="4652869"/>
            <a:ext cx="1682382" cy="1674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CCBE6E-D887-4F80-4C0F-3C435B71DE16}"/>
              </a:ext>
            </a:extLst>
          </p:cNvPr>
          <p:cNvSpPr txBox="1"/>
          <p:nvPr/>
        </p:nvSpPr>
        <p:spPr>
          <a:xfrm>
            <a:off x="4767035" y="1563826"/>
            <a:ext cx="2908300" cy="122555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716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consultants have an average of 3 years of experience with Workday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848C9F-7CCF-B790-3E50-EA705E79E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7534" y="4652869"/>
            <a:ext cx="1655740" cy="16749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C5E1E5-41DE-F9EF-B869-A569FF4CC823}"/>
              </a:ext>
            </a:extLst>
          </p:cNvPr>
          <p:cNvSpPr txBox="1"/>
          <p:nvPr/>
        </p:nvSpPr>
        <p:spPr>
          <a:xfrm>
            <a:off x="3872332" y="1494269"/>
            <a:ext cx="1123950" cy="95250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6000" b="0" i="0" u="none" strike="noStrike" kern="1200" cap="none" spc="0" normalizeH="0" baseline="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AU" sz="6000" b="0" i="0" u="none" strike="noStrike" kern="1200" cap="none" spc="0" normalizeH="0" baseline="3000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AU" sz="1800" b="0" i="0" u="none" strike="noStrike" kern="1200" cap="none" spc="0" normalizeH="0" baseline="30000" noProof="0">
              <a:ln>
                <a:noFill/>
              </a:ln>
              <a:solidFill>
                <a:srgbClr val="EA545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FA2675-3E7B-FE5E-CE34-54C4FE8003C7}"/>
              </a:ext>
            </a:extLst>
          </p:cNvPr>
          <p:cNvCxnSpPr/>
          <p:nvPr/>
        </p:nvCxnSpPr>
        <p:spPr>
          <a:xfrm>
            <a:off x="292628" y="2813050"/>
            <a:ext cx="1136173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A07F00-8C6D-AB04-2338-26E29C411150}"/>
              </a:ext>
            </a:extLst>
          </p:cNvPr>
          <p:cNvCxnSpPr>
            <a:cxnSpLocks/>
          </p:cNvCxnSpPr>
          <p:nvPr/>
        </p:nvCxnSpPr>
        <p:spPr>
          <a:xfrm flipV="1">
            <a:off x="3450167" y="1494269"/>
            <a:ext cx="0" cy="107084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A95EC66-0124-BF1A-D94E-1F71E9A367F9}"/>
              </a:ext>
            </a:extLst>
          </p:cNvPr>
          <p:cNvSpPr txBox="1"/>
          <p:nvPr/>
        </p:nvSpPr>
        <p:spPr>
          <a:xfrm>
            <a:off x="2124808" y="3257280"/>
            <a:ext cx="2959727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716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Workday Consultants with average of </a:t>
            </a: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3+</a:t>
            </a: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716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certifications per consultant.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F67443-B36D-1791-DD52-32DE6C952A11}"/>
              </a:ext>
            </a:extLst>
          </p:cNvPr>
          <p:cNvSpPr txBox="1"/>
          <p:nvPr/>
        </p:nvSpPr>
        <p:spPr>
          <a:xfrm>
            <a:off x="9074744" y="3937000"/>
            <a:ext cx="2908300" cy="539745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716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Workday Integrations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D336E-D845-33A9-63B4-1CA94C673A5F}"/>
              </a:ext>
            </a:extLst>
          </p:cNvPr>
          <p:cNvSpPr txBox="1"/>
          <p:nvPr/>
        </p:nvSpPr>
        <p:spPr>
          <a:xfrm>
            <a:off x="9217949" y="3062104"/>
            <a:ext cx="2095500" cy="95250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6000" b="0" i="0" u="none" strike="noStrike" kern="1200" cap="none" spc="0" normalizeH="0" baseline="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2000</a:t>
            </a:r>
            <a:r>
              <a:rPr kumimoji="0" lang="en-AU" sz="6000" b="0" i="0" u="none" strike="noStrike" kern="1200" cap="none" spc="0" normalizeH="0" baseline="3000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AU" sz="1800" b="0" i="0" u="none" strike="noStrike" kern="1200" cap="none" spc="0" normalizeH="0" baseline="30000" noProof="0">
              <a:ln>
                <a:noFill/>
              </a:ln>
              <a:solidFill>
                <a:srgbClr val="EA545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FE892E-2CF6-ADE2-84C3-373668291C5D}"/>
              </a:ext>
            </a:extLst>
          </p:cNvPr>
          <p:cNvSpPr txBox="1"/>
          <p:nvPr/>
        </p:nvSpPr>
        <p:spPr>
          <a:xfrm>
            <a:off x="5983070" y="3937000"/>
            <a:ext cx="2908300" cy="539748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716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Workday Custom Reports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EFAF1-EBDD-202D-F09F-F5A9FA203623}"/>
              </a:ext>
            </a:extLst>
          </p:cNvPr>
          <p:cNvSpPr txBox="1"/>
          <p:nvPr/>
        </p:nvSpPr>
        <p:spPr>
          <a:xfrm>
            <a:off x="6389470" y="3059975"/>
            <a:ext cx="2095500" cy="95250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6000" b="0" i="0" u="none" strike="noStrike" kern="1200" cap="none" spc="0" normalizeH="0" baseline="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3000</a:t>
            </a:r>
            <a:r>
              <a:rPr kumimoji="0" lang="en-AU" sz="6000" b="0" i="0" u="none" strike="noStrike" kern="1200" cap="none" spc="0" normalizeH="0" baseline="3000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AU" sz="1800" b="0" i="0" u="none" strike="noStrike" kern="1200" cap="none" spc="0" normalizeH="0" baseline="30000" noProof="0">
              <a:ln>
                <a:noFill/>
              </a:ln>
              <a:solidFill>
                <a:srgbClr val="EA545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324DDB-F8FD-8B3F-42BE-CF44A409016D}"/>
              </a:ext>
            </a:extLst>
          </p:cNvPr>
          <p:cNvSpPr txBox="1"/>
          <p:nvPr/>
        </p:nvSpPr>
        <p:spPr>
          <a:xfrm>
            <a:off x="499230" y="1602188"/>
            <a:ext cx="2908300" cy="90580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3200" b="0" i="0" u="none" strike="noStrike" kern="1200" cap="none" spc="0" normalizeH="0" baseline="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200+ </a:t>
            </a: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716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Mivada Employees across Australia, US and India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91C3FF-1482-5BB7-CBF4-A31C22E8BBE1}"/>
              </a:ext>
            </a:extLst>
          </p:cNvPr>
          <p:cNvCxnSpPr>
            <a:cxnSpLocks/>
          </p:cNvCxnSpPr>
          <p:nvPr/>
        </p:nvCxnSpPr>
        <p:spPr>
          <a:xfrm flipV="1">
            <a:off x="7787610" y="1494269"/>
            <a:ext cx="0" cy="112163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D7D0E7-DD8F-450F-92C0-93C9181D0F07}"/>
              </a:ext>
            </a:extLst>
          </p:cNvPr>
          <p:cNvCxnSpPr>
            <a:cxnSpLocks/>
          </p:cNvCxnSpPr>
          <p:nvPr/>
        </p:nvCxnSpPr>
        <p:spPr>
          <a:xfrm flipV="1">
            <a:off x="5512628" y="3045975"/>
            <a:ext cx="0" cy="32817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78DDCF-5B91-923F-0DC6-5AA4E9C14279}"/>
              </a:ext>
            </a:extLst>
          </p:cNvPr>
          <p:cNvCxnSpPr>
            <a:cxnSpLocks/>
          </p:cNvCxnSpPr>
          <p:nvPr/>
        </p:nvCxnSpPr>
        <p:spPr>
          <a:xfrm>
            <a:off x="5748867" y="4483095"/>
            <a:ext cx="5816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E7D1186-BE97-AB96-B965-2C3ADC1C854B}"/>
              </a:ext>
            </a:extLst>
          </p:cNvPr>
          <p:cNvCxnSpPr>
            <a:cxnSpLocks/>
          </p:cNvCxnSpPr>
          <p:nvPr/>
        </p:nvCxnSpPr>
        <p:spPr>
          <a:xfrm>
            <a:off x="357717" y="4483095"/>
            <a:ext cx="491867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8C12E65-BEF6-0889-E6E2-EF80B3965A64}"/>
              </a:ext>
            </a:extLst>
          </p:cNvPr>
          <p:cNvSpPr txBox="1"/>
          <p:nvPr/>
        </p:nvSpPr>
        <p:spPr>
          <a:xfrm>
            <a:off x="560920" y="3105150"/>
            <a:ext cx="1580390" cy="938788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6000" b="0" i="0" u="none" strike="noStrike" kern="1200" cap="none" spc="0" normalizeH="0" baseline="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</a:t>
            </a:r>
            <a:r>
              <a:rPr kumimoji="0" lang="en-AU" sz="6000" b="0" i="0" u="none" strike="noStrike" kern="1200" cap="none" spc="0" normalizeH="0" baseline="3000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AU" sz="6000" b="0" i="0" u="none" strike="noStrike" kern="1200" cap="none" spc="0" normalizeH="0" baseline="30000" noProof="0">
              <a:ln>
                <a:noFill/>
              </a:ln>
              <a:solidFill>
                <a:srgbClr val="07162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2C42EC-3172-704F-5DBF-8F0F1C45D417}"/>
              </a:ext>
            </a:extLst>
          </p:cNvPr>
          <p:cNvCxnSpPr>
            <a:cxnSpLocks/>
          </p:cNvCxnSpPr>
          <p:nvPr/>
        </p:nvCxnSpPr>
        <p:spPr>
          <a:xfrm flipV="1">
            <a:off x="8739717" y="3059975"/>
            <a:ext cx="0" cy="123005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61D0E8C-0400-4AFF-90B1-655BB4C9D12E}"/>
              </a:ext>
            </a:extLst>
          </p:cNvPr>
          <p:cNvSpPr txBox="1"/>
          <p:nvPr/>
        </p:nvSpPr>
        <p:spPr>
          <a:xfrm>
            <a:off x="9074744" y="1602188"/>
            <a:ext cx="2908297" cy="122555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0716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People Systems </a:t>
            </a: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716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ecosystem experience with enterprise global clients </a:t>
            </a:r>
            <a:r>
              <a:rPr kumimoji="0" lang="en-AU" sz="1400" b="0" i="1" u="none" strike="noStrike" kern="1200" cap="none" spc="0" normalizeH="0" baseline="0" noProof="0">
                <a:ln>
                  <a:noFill/>
                </a:ln>
                <a:solidFill>
                  <a:srgbClr val="0716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(Payroll, T&amp;A, HRIS)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8156E8-30D3-CA9C-4174-3136EF456347}"/>
              </a:ext>
            </a:extLst>
          </p:cNvPr>
          <p:cNvSpPr txBox="1"/>
          <p:nvPr/>
        </p:nvSpPr>
        <p:spPr>
          <a:xfrm>
            <a:off x="7899886" y="1396277"/>
            <a:ext cx="1404105" cy="95250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6000" b="0" i="0" u="none" strike="noStrike" kern="1200" cap="none" spc="0" normalizeH="0" baseline="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AU" sz="6000" b="0" i="0" u="none" strike="noStrike" kern="1200" cap="none" spc="0" normalizeH="0" baseline="3000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3200" b="0" i="0" u="none" strike="noStrike" kern="1200" cap="none" spc="0" normalizeH="0" baseline="3000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YEARS</a:t>
            </a:r>
            <a:endParaRPr kumimoji="0" lang="en-AU" sz="1200" b="0" i="0" u="none" strike="noStrike" kern="1200" cap="none" spc="0" normalizeH="0" baseline="30000" noProof="0">
              <a:ln>
                <a:noFill/>
              </a:ln>
              <a:solidFill>
                <a:srgbClr val="EA545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FBBF73-4FFB-D13D-9658-B4F83B3C0F9E}"/>
              </a:ext>
            </a:extLst>
          </p:cNvPr>
          <p:cNvSpPr txBox="1"/>
          <p:nvPr/>
        </p:nvSpPr>
        <p:spPr>
          <a:xfrm>
            <a:off x="458078" y="5506942"/>
            <a:ext cx="4840503" cy="952499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716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Successfully completed Workday implementations and support project engagements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352FB3-9274-4F46-7796-0983A18202D7}"/>
              </a:ext>
            </a:extLst>
          </p:cNvPr>
          <p:cNvSpPr txBox="1"/>
          <p:nvPr/>
        </p:nvSpPr>
        <p:spPr>
          <a:xfrm>
            <a:off x="2276190" y="4537821"/>
            <a:ext cx="2095500" cy="95250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6000" b="0" i="0" u="none" strike="noStrike" kern="1200" cap="none" spc="0" normalizeH="0" baseline="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  <a:r>
              <a:rPr kumimoji="0" lang="en-AU" sz="6000" b="0" i="0" u="none" strike="noStrike" kern="1200" cap="none" spc="0" normalizeH="0" baseline="30000" noProof="0">
                <a:ln>
                  <a:noFill/>
                </a:ln>
                <a:solidFill>
                  <a:srgbClr val="EA545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AU" sz="1800" b="0" i="0" u="none" strike="noStrike" kern="1200" cap="none" spc="0" normalizeH="0" baseline="30000" noProof="0">
              <a:ln>
                <a:noFill/>
              </a:ln>
              <a:solidFill>
                <a:srgbClr val="EA545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425DC6-818D-5909-C189-F89DDD0F8DEE}"/>
              </a:ext>
            </a:extLst>
          </p:cNvPr>
          <p:cNvSpPr/>
          <p:nvPr/>
        </p:nvSpPr>
        <p:spPr>
          <a:xfrm>
            <a:off x="216877" y="1396278"/>
            <a:ext cx="11758246" cy="5063164"/>
          </a:xfrm>
          <a:prstGeom prst="rect">
            <a:avLst/>
          </a:prstGeom>
          <a:noFill/>
          <a:ln w="12700">
            <a:solidFill>
              <a:srgbClr val="E3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7162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9901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AE8E9-5699-F757-953E-C15371D83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8772-1C23-B796-F49F-0BCD8DBF6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Methodology</a:t>
            </a:r>
          </a:p>
        </p:txBody>
      </p:sp>
      <p:pic>
        <p:nvPicPr>
          <p:cNvPr id="3" name="Picture 2" descr="A diagram of a workday launch methodology&#10;&#10;AI-generated content may be incorrect.">
            <a:extLst>
              <a:ext uri="{FF2B5EF4-FFF2-40B4-BE49-F238E27FC236}">
                <a16:creationId xmlns:a16="http://schemas.microsoft.com/office/drawing/2014/main" id="{CA463E90-1426-C849-F81F-9D07287FA7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2" b="5023"/>
          <a:stretch>
            <a:fillRect/>
          </a:stretch>
        </p:blipFill>
        <p:spPr bwMode="auto">
          <a:xfrm>
            <a:off x="1554415" y="1324083"/>
            <a:ext cx="8451893" cy="529991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64230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03C75-D4E4-AFA0-364E-BBFB61028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87C92-4F8F-E2E4-4E8C-DCF4EA9E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Draft Implementation Plan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66073-BA5B-9E23-144F-0EBB8113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35" y="2166657"/>
            <a:ext cx="9041994" cy="331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12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20DE2-CC6E-DE67-8172-4796BB36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E523-E292-784A-74DA-5AD507F9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Governance</a:t>
            </a:r>
          </a:p>
        </p:txBody>
      </p:sp>
      <p:pic>
        <p:nvPicPr>
          <p:cNvPr id="3" name="Picture 2" descr="A screen shot of a diagram&#10;&#10;AI-generated content may be incorrect.">
            <a:extLst>
              <a:ext uri="{FF2B5EF4-FFF2-40B4-BE49-F238E27FC236}">
                <a16:creationId xmlns:a16="http://schemas.microsoft.com/office/drawing/2014/main" id="{CDADC87C-9BB8-B26C-7BAC-B5BDF7D865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20" b="4758"/>
          <a:stretch>
            <a:fillRect/>
          </a:stretch>
        </p:blipFill>
        <p:spPr bwMode="auto">
          <a:xfrm>
            <a:off x="891730" y="2096394"/>
            <a:ext cx="5525137" cy="32305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A diagram of steps with red lines&#10;&#10;AI-generated content may be incorrect.">
            <a:extLst>
              <a:ext uri="{FF2B5EF4-FFF2-40B4-BE49-F238E27FC236}">
                <a16:creationId xmlns:a16="http://schemas.microsoft.com/office/drawing/2014/main" id="{88A0AF98-780E-807E-0F30-8288CB71BF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" t="8599" r="3337" b="9235"/>
          <a:stretch>
            <a:fillRect/>
          </a:stretch>
        </p:blipFill>
        <p:spPr bwMode="auto">
          <a:xfrm>
            <a:off x="6681535" y="2096394"/>
            <a:ext cx="4975044" cy="297533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52507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ED1C-3D69-4FD9-BB09-345AF302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05A7-C3A2-A5A9-B2CC-A91D493A6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RACI &amp; Data Migration </a:t>
            </a:r>
          </a:p>
        </p:txBody>
      </p:sp>
      <p:pic>
        <p:nvPicPr>
          <p:cNvPr id="3" name="Picture 2" descr="A black screen with red rectangles&#10;&#10;AI-generated content may be incorrect.">
            <a:extLst>
              <a:ext uri="{FF2B5EF4-FFF2-40B4-BE49-F238E27FC236}">
                <a16:creationId xmlns:a16="http://schemas.microsoft.com/office/drawing/2014/main" id="{B24376C4-AA2F-654E-03ED-DD565C20E4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71" b="4189"/>
          <a:stretch>
            <a:fillRect/>
          </a:stretch>
        </p:blipFill>
        <p:spPr bwMode="auto">
          <a:xfrm>
            <a:off x="630533" y="1614503"/>
            <a:ext cx="4657725" cy="44583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B402E141-C473-13DD-66F7-D74A063E27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t="7055" r="6378" b="5300"/>
          <a:stretch>
            <a:fillRect/>
          </a:stretch>
        </p:blipFill>
        <p:spPr bwMode="auto">
          <a:xfrm>
            <a:off x="6390168" y="1510672"/>
            <a:ext cx="4474617" cy="456216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4000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0D090-C3C1-6FD3-FD0D-14C57BC9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Understanding of your needs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2114E8-39CF-ACCF-C847-D3536ED7FE6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4962" y="1845564"/>
            <a:ext cx="5013215" cy="5327650"/>
          </a:xfrm>
        </p:spPr>
        <p:txBody>
          <a:bodyPr/>
          <a:lstStyle/>
          <a:p>
            <a:endParaRPr lang="en-AU" b="1" dirty="0"/>
          </a:p>
          <a:p>
            <a:r>
              <a:rPr lang="en-AU" sz="2400" b="1" dirty="0"/>
              <a:t> Payroll Compliance Confidence</a:t>
            </a:r>
            <a:r>
              <a:rPr lang="en-AU" sz="2400" dirty="0"/>
              <a:t> </a:t>
            </a:r>
            <a:br>
              <a:rPr lang="en-AU" sz="2400" dirty="0"/>
            </a:br>
            <a:endParaRPr lang="en-AU" sz="2400" dirty="0"/>
          </a:p>
          <a:p>
            <a:r>
              <a:rPr lang="en-AU" sz="2400" b="1" dirty="0"/>
              <a:t> Connected HR &amp; Payroll</a:t>
            </a:r>
            <a:br>
              <a:rPr lang="en-AU" sz="2400" b="1" dirty="0"/>
            </a:br>
            <a:endParaRPr lang="en-AU" sz="2400" b="1" dirty="0"/>
          </a:p>
          <a:p>
            <a:r>
              <a:rPr lang="en-AU" sz="2400" b="1" dirty="0"/>
              <a:t> Rostering That Enforces Rules </a:t>
            </a:r>
            <a:br>
              <a:rPr lang="en-AU" sz="2400" b="1" dirty="0"/>
            </a:br>
            <a:endParaRPr lang="en-AU" sz="2400" b="1" dirty="0"/>
          </a:p>
          <a:p>
            <a:endParaRPr lang="en-AU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493FBC3-D636-AA11-088F-2C5281474BDA}"/>
              </a:ext>
            </a:extLst>
          </p:cNvPr>
          <p:cNvSpPr txBox="1">
            <a:spLocks/>
          </p:cNvSpPr>
          <p:nvPr/>
        </p:nvSpPr>
        <p:spPr>
          <a:xfrm>
            <a:off x="6282106" y="1845564"/>
            <a:ext cx="5013215" cy="532765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 kern="1200">
                <a:solidFill>
                  <a:schemeClr val="tx1"/>
                </a:solidFill>
                <a:latin typeface="+mn-lt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600" kern="1200">
                <a:solidFill>
                  <a:schemeClr val="tx1"/>
                </a:solidFill>
                <a:latin typeface="+mn-lt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 kern="1200">
                <a:solidFill>
                  <a:schemeClr val="tx1"/>
                </a:solidFill>
                <a:latin typeface="+mn-lt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Tx/>
              <a:buBlip>
                <a:blip r:embed="rId4"/>
              </a:buBlip>
              <a:defRPr sz="1600" kern="1200">
                <a:solidFill>
                  <a:schemeClr val="tx1"/>
                </a:solidFill>
                <a:latin typeface="+mn-lt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+mn-lt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400" b="1" dirty="0"/>
          </a:p>
          <a:p>
            <a:r>
              <a:rPr lang="en-AU" sz="2400" b="1" dirty="0"/>
              <a:t> A Single, Reliable User Experience</a:t>
            </a:r>
            <a:br>
              <a:rPr lang="en-AU" sz="2400" b="1" dirty="0"/>
            </a:br>
            <a:endParaRPr lang="en-AU" sz="2400" b="1" dirty="0"/>
          </a:p>
          <a:p>
            <a:r>
              <a:rPr lang="en-AU" sz="2400" b="1" dirty="0"/>
              <a:t> Frontline Manager Visibility</a:t>
            </a:r>
            <a:br>
              <a:rPr lang="en-AU" sz="2400" b="1" dirty="0"/>
            </a:br>
            <a:endParaRPr lang="en-AU" sz="2400" b="1" dirty="0"/>
          </a:p>
          <a:p>
            <a:r>
              <a:rPr lang="en-AU" sz="2400" dirty="0"/>
              <a:t> </a:t>
            </a:r>
            <a:r>
              <a:rPr lang="en-AU" sz="2400" b="1" dirty="0"/>
              <a:t>Funding &amp; Cost Visibility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8924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4F34-F588-C9C3-1DE6-2AB0B865B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/>
              <a:t>Real-World Success Stories: How Mivada Enables High-Performance Workday Operations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EA547-3566-499C-6173-988B335D9902}"/>
              </a:ext>
            </a:extLst>
          </p:cNvPr>
          <p:cNvSpPr/>
          <p:nvPr/>
        </p:nvSpPr>
        <p:spPr>
          <a:xfrm>
            <a:off x="334960" y="1440180"/>
            <a:ext cx="9324000" cy="13716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AU" sz="1400"/>
              <a:t>Mivada partnered with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Guzman y Gomez (GYG) </a:t>
            </a:r>
            <a:r>
              <a:rPr lang="en-AU" sz="1400"/>
              <a:t>to stabilise and optimise their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Workday platform </a:t>
            </a:r>
            <a:r>
              <a:rPr lang="en-AU" sz="1400"/>
              <a:t>post–go-live across functional modules, reporting, security, and compliance. Through Agile delivery, helped them onboard 150+ franchisees into Workday deliver new reporting, and a redesigned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security model</a:t>
            </a:r>
            <a:r>
              <a:rPr lang="en-AU" sz="1400"/>
              <a:t>, Mivada strengthened audit readiness, improved performance across HCM, Absence, Learning and enabled GYG’s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scalable, compliant global operations.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F49E86-8905-18FC-106D-23A5DB7391CC}"/>
              </a:ext>
            </a:extLst>
          </p:cNvPr>
          <p:cNvSpPr/>
          <p:nvPr/>
        </p:nvSpPr>
        <p:spPr>
          <a:xfrm>
            <a:off x="2560160" y="3125470"/>
            <a:ext cx="9324000" cy="13716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AU" sz="1400"/>
              <a:t>Mivada has supported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Qantas</a:t>
            </a:r>
            <a:r>
              <a:rPr lang="en-AU" sz="1400"/>
              <a:t> since 2014, taking over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Workday support </a:t>
            </a:r>
            <a:r>
              <a:rPr lang="en-AU" sz="1400"/>
              <a:t>in 2017 and rapidly becoming a strategic partner across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HR, Payroll, Digital, Automation, Data, and Analytics</a:t>
            </a:r>
            <a:r>
              <a:rPr lang="en-AU" sz="1400"/>
              <a:t>. By scaling Workday integrations, modernising architectures, and embedding automation and analytics, Mivada evolved from post–go-live support to Qantas’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long-term enterprise partner</a:t>
            </a:r>
            <a:r>
              <a:rPr lang="en-AU" sz="1400"/>
              <a:t>.</a:t>
            </a:r>
            <a:endParaRPr kumimoji="0" lang="en-US" sz="1400" b="0" i="1" u="none" strike="noStrike" kern="1200" cap="none" spc="0" normalizeH="0" baseline="0" noProof="0">
              <a:ln>
                <a:noFill/>
              </a:ln>
              <a:solidFill>
                <a:srgbClr val="07162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B5AB2C-246D-E7CE-46BF-FB70F9BAA422}"/>
              </a:ext>
            </a:extLst>
          </p:cNvPr>
          <p:cNvSpPr/>
          <p:nvPr/>
        </p:nvSpPr>
        <p:spPr>
          <a:xfrm>
            <a:off x="354170" y="4817110"/>
            <a:ext cx="9324000" cy="13716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AU" sz="1400"/>
              <a:t>Mivada partnered with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Western Sydney International Airport (WSI)</a:t>
            </a:r>
            <a:r>
              <a:rPr lang="en-AU" sz="1400"/>
              <a:t> to deliver a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card management system</a:t>
            </a:r>
            <a:r>
              <a:rPr lang="en-AU" sz="1400"/>
              <a:t>, then expanded into a strategic role supporting WSI’s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Workday program</a:t>
            </a:r>
            <a:r>
              <a:rPr lang="en-AU" sz="1400"/>
              <a:t>. By resolving functional and integration issues and assuming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full AMS ownership</a:t>
            </a:r>
            <a:r>
              <a:rPr lang="en-AU" sz="1400"/>
              <a:t>, Mivada stabilised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HR, Payroll, Finance, and Procurement</a:t>
            </a:r>
            <a:r>
              <a:rPr lang="en-AU" sz="1400"/>
              <a:t>, becoming WSI’s </a:t>
            </a:r>
            <a:r>
              <a:rPr lang="en-AU" sz="1400" b="1" i="1">
                <a:solidFill>
                  <a:srgbClr val="EA5454">
                    <a:lumMod val="75000"/>
                  </a:srgbClr>
                </a:solidFill>
                <a:latin typeface="Calibri" panose="020F0502020204030204"/>
              </a:rPr>
              <a:t>trusted long-term partner</a:t>
            </a:r>
            <a:r>
              <a:rPr lang="en-AU" sz="1400"/>
              <a:t>.</a:t>
            </a:r>
            <a:endParaRPr kumimoji="0" lang="en-US" sz="1400" b="1" i="1" u="none" strike="noStrike" kern="1200" cap="none" spc="0" normalizeH="0" baseline="0" noProof="0">
              <a:ln>
                <a:noFill/>
              </a:ln>
              <a:solidFill>
                <a:srgbClr val="EA545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4" descr="Qantas Logo, symbol, meaning, history ...">
            <a:extLst>
              <a:ext uri="{FF2B5EF4-FFF2-40B4-BE49-F238E27FC236}">
                <a16:creationId xmlns:a16="http://schemas.microsoft.com/office/drawing/2014/main" id="{614D9578-E523-32AA-A19A-E5ADAEF75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70" y="3247211"/>
            <a:ext cx="1884365" cy="105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Western Sydney Airport Branding &amp; Brand ...">
            <a:extLst>
              <a:ext uri="{FF2B5EF4-FFF2-40B4-BE49-F238E27FC236}">
                <a16:creationId xmlns:a16="http://schemas.microsoft.com/office/drawing/2014/main" id="{BB893E7B-898B-4540-B453-85363492C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3" t="14184" r="15956" b="23579"/>
          <a:stretch>
            <a:fillRect/>
          </a:stretch>
        </p:blipFill>
        <p:spPr bwMode="auto">
          <a:xfrm>
            <a:off x="9762664" y="4954372"/>
            <a:ext cx="2121496" cy="956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80;p21" descr="Picture 4">
            <a:extLst>
              <a:ext uri="{FF2B5EF4-FFF2-40B4-BE49-F238E27FC236}">
                <a16:creationId xmlns:a16="http://schemas.microsoft.com/office/drawing/2014/main" id="{9A883F4B-0E13-3F24-BA14-6C17DFC68E5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37064" y="1554230"/>
            <a:ext cx="1075793" cy="10783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366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A71BC5B2-4DD4-76FE-1AA0-37C1343F1D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5622542-FC2B-0E14-AC98-BBB4CB8C2E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200445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203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4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theme/theme1.xml><?xml version="1.0" encoding="utf-8"?>
<a:theme xmlns:a="http://schemas.openxmlformats.org/drawingml/2006/main" name="Mivada Titles">
  <a:themeElements>
    <a:clrScheme name="Mivada Palette">
      <a:dk1>
        <a:srgbClr val="071620"/>
      </a:dk1>
      <a:lt1>
        <a:srgbClr val="FFFFFF"/>
      </a:lt1>
      <a:dk2>
        <a:srgbClr val="EA5454"/>
      </a:dk2>
      <a:lt2>
        <a:srgbClr val="F0E5E0"/>
      </a:lt2>
      <a:accent1>
        <a:srgbClr val="8C6BFC"/>
      </a:accent1>
      <a:accent2>
        <a:srgbClr val="603FD0"/>
      </a:accent2>
      <a:accent3>
        <a:srgbClr val="3B2C69"/>
      </a:accent3>
      <a:accent4>
        <a:srgbClr val="E33B2C"/>
      </a:accent4>
      <a:accent5>
        <a:srgbClr val="EDB923"/>
      </a:accent5>
      <a:accent6>
        <a:srgbClr val="55B551"/>
      </a:accent6>
      <a:hlink>
        <a:srgbClr val="071620"/>
      </a:hlink>
      <a:folHlink>
        <a:srgbClr val="FF9D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D0B6F02-5401-5C4C-9863-EEEBCB658419}" vid="{4B3F8096-BC81-1849-AE93-A2159AE7EBE5}"/>
    </a:ext>
  </a:extLst>
</a:theme>
</file>

<file path=ppt/theme/theme2.xml><?xml version="1.0" encoding="utf-8"?>
<a:theme xmlns:a="http://schemas.openxmlformats.org/drawingml/2006/main" name="1_Mivada Titles">
  <a:themeElements>
    <a:clrScheme name="Mivada Palette">
      <a:dk1>
        <a:srgbClr val="071620"/>
      </a:dk1>
      <a:lt1>
        <a:srgbClr val="FFFFFF"/>
      </a:lt1>
      <a:dk2>
        <a:srgbClr val="EA5454"/>
      </a:dk2>
      <a:lt2>
        <a:srgbClr val="F0E5E0"/>
      </a:lt2>
      <a:accent1>
        <a:srgbClr val="8C6BFC"/>
      </a:accent1>
      <a:accent2>
        <a:srgbClr val="603FD0"/>
      </a:accent2>
      <a:accent3>
        <a:srgbClr val="3B2C69"/>
      </a:accent3>
      <a:accent4>
        <a:srgbClr val="E33B2C"/>
      </a:accent4>
      <a:accent5>
        <a:srgbClr val="EDB923"/>
      </a:accent5>
      <a:accent6>
        <a:srgbClr val="55B551"/>
      </a:accent6>
      <a:hlink>
        <a:srgbClr val="071620"/>
      </a:hlink>
      <a:folHlink>
        <a:srgbClr val="FF9D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7DAB124-E04D-7A46-8997-0525A837E40F}" vid="{95545D0B-6E03-5640-A125-4E28D7924143}"/>
    </a:ext>
  </a:extLst>
</a:theme>
</file>

<file path=ppt/theme/theme3.xml><?xml version="1.0" encoding="utf-8"?>
<a:theme xmlns:a="http://schemas.openxmlformats.org/drawingml/2006/main" name="Mivada Content">
  <a:themeElements>
    <a:clrScheme name="Mivada Colours">
      <a:dk1>
        <a:srgbClr val="071620"/>
      </a:dk1>
      <a:lt1>
        <a:srgbClr val="FFFFFF"/>
      </a:lt1>
      <a:dk2>
        <a:srgbClr val="EA5454"/>
      </a:dk2>
      <a:lt2>
        <a:srgbClr val="F0E5E0"/>
      </a:lt2>
      <a:accent1>
        <a:srgbClr val="8C6BFC"/>
      </a:accent1>
      <a:accent2>
        <a:srgbClr val="603FD0"/>
      </a:accent2>
      <a:accent3>
        <a:srgbClr val="3B2C69"/>
      </a:accent3>
      <a:accent4>
        <a:srgbClr val="E33B2C"/>
      </a:accent4>
      <a:accent5>
        <a:srgbClr val="EDB923"/>
      </a:accent5>
      <a:accent6>
        <a:srgbClr val="55B551"/>
      </a:accent6>
      <a:hlink>
        <a:srgbClr val="071620"/>
      </a:hlink>
      <a:folHlink>
        <a:srgbClr val="FF9D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lIns="72000" tIns="72000" rIns="72000" bIns="72000" rtlCol="0" anchor="t"/>
      <a:lstStyle>
        <a:defPPr marL="285750" indent="-285750" algn="l">
          <a:buSzPct val="80000"/>
          <a:buFontTx/>
          <a:buBlip>
            <a:blip xmlns:r="http://schemas.openxmlformats.org/officeDocument/2006/relationships"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</a:buBlip>
          <a:defRPr sz="18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72000" tIns="72000" rIns="72000" bIns="72000" rtlCol="0">
        <a:noAutofit/>
      </a:bodyPr>
      <a:lstStyle>
        <a:defPPr marL="285750" indent="-285750" algn="l">
          <a:buSzPct val="80000"/>
          <a:buFontTx/>
          <a:buBlip>
            <a:blip xmlns:r="http://schemas.openxmlformats.org/officeDocument/2006/relationships"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</a:buBlip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D0B6F02-5401-5C4C-9863-EEEBCB658419}" vid="{072C4F19-015E-924D-9971-A606E144538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FCDEBEBFBA324295BF8866A437058A" ma:contentTypeVersion="20" ma:contentTypeDescription="Create a new document." ma:contentTypeScope="" ma:versionID="1238663166f571d2ca85b57c14399d86">
  <xsd:schema xmlns:xsd="http://www.w3.org/2001/XMLSchema" xmlns:xs="http://www.w3.org/2001/XMLSchema" xmlns:p="http://schemas.microsoft.com/office/2006/metadata/properties" xmlns:ns1="http://schemas.microsoft.com/sharepoint/v3" xmlns:ns2="43270e51-e4a7-49da-938b-a9f2b7f6253d" xmlns:ns3="47b213f2-7618-4961-bda0-cd3a4c06964b" targetNamespace="http://schemas.microsoft.com/office/2006/metadata/properties" ma:root="true" ma:fieldsID="664abf017d7bbe25600d976bd204e265" ns1:_="" ns2:_="" ns3:_="">
    <xsd:import namespace="http://schemas.microsoft.com/sharepoint/v3"/>
    <xsd:import namespace="43270e51-e4a7-49da-938b-a9f2b7f6253d"/>
    <xsd:import namespace="47b213f2-7618-4961-bda0-cd3a4c0696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DocType" minOccurs="0"/>
                <xsd:element ref="ns2:ProductFamil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70e51-e4a7-49da-938b-a9f2b7f625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0536a55-c0a6-49fe-b9a1-41f61f1132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ocType" ma:index="25" nillable="true" ma:displayName="Doc Type" ma:description="Core Classification" ma:format="Dropdown" ma:internalName="DocType">
      <xsd:simpleType>
        <xsd:restriction base="dms:Choice">
          <xsd:enumeration value="RFP"/>
          <xsd:enumeration value="Template"/>
          <xsd:enumeration value="Snippet"/>
          <xsd:enumeration value="Clause"/>
          <xsd:enumeration value="Case Study"/>
          <xsd:enumeration value="Policy"/>
          <xsd:enumeration value="Pricing Table"/>
          <xsd:enumeration value="Submission Sheet"/>
        </xsd:restriction>
      </xsd:simpleType>
    </xsd:element>
    <xsd:element name="ProductFamily" ma:index="26" nillable="true" ma:displayName="Product Family" ma:format="Dropdown" ma:internalName="ProductFamily">
      <xsd:simpleType>
        <xsd:restriction base="dms:Choice">
          <xsd:enumeration value="Workday AMS"/>
          <xsd:enumeration value="HR"/>
          <xsd:enumeration value="Finance"/>
          <xsd:enumeration value="Integration"/>
          <xsd:enumeration value="Security"/>
          <xsd:enumeration value="Payroll"/>
          <xsd:enumeration value="Data &amp; Analytics"/>
          <xsd:enumeration value="Automation"/>
          <xsd:enumeration value="Other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b213f2-7618-4961-bda0-cd3a4c06964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67b08d14-deab-4f3d-96d1-1d80bc79f140}" ma:internalName="TaxCatchAll" ma:showField="CatchAllData" ma:web="47b213f2-7618-4961-bda0-cd3a4c0696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270e51-e4a7-49da-938b-a9f2b7f6253d">
      <Terms xmlns="http://schemas.microsoft.com/office/infopath/2007/PartnerControls"/>
    </lcf76f155ced4ddcb4097134ff3c332f>
    <TaxCatchAll xmlns="47b213f2-7618-4961-bda0-cd3a4c06964b" xsi:nil="true"/>
    <_ip_UnifiedCompliancePolicyUIAction xmlns="http://schemas.microsoft.com/sharepoint/v3" xsi:nil="true"/>
    <_ip_UnifiedCompliancePolicyProperties xmlns="http://schemas.microsoft.com/sharepoint/v3" xsi:nil="true"/>
    <ProductFamily xmlns="43270e51-e4a7-49da-938b-a9f2b7f6253d" xsi:nil="true"/>
    <DocType xmlns="43270e51-e4a7-49da-938b-a9f2b7f6253d" xsi:nil="true"/>
  </documentManagement>
</p:properties>
</file>

<file path=customXml/itemProps1.xml><?xml version="1.0" encoding="utf-8"?>
<ds:datastoreItem xmlns:ds="http://schemas.openxmlformats.org/officeDocument/2006/customXml" ds:itemID="{7D3E1D2E-F78F-40FF-9130-CB47032B384E}"/>
</file>

<file path=customXml/itemProps2.xml><?xml version="1.0" encoding="utf-8"?>
<ds:datastoreItem xmlns:ds="http://schemas.openxmlformats.org/officeDocument/2006/customXml" ds:itemID="{779943D1-C6EE-4252-9D55-A7A2CD67AC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D6D963-7BF5-4F7A-843C-87CB1C3B8403}">
  <ds:schemaRefs>
    <ds:schemaRef ds:uri="47b213f2-7618-4961-bda0-cd3a4c06964b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43270e51-e4a7-49da-938b-a9f2b7f6253d"/>
    <ds:schemaRef ds:uri="http://purl.org/dc/elements/1.1/"/>
    <ds:schemaRef ds:uri="http://schemas.microsoft.com/sharepoint/v3"/>
    <ds:schemaRef ds:uri="http://www.w3.org/XML/1998/namespace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Mivada Titles</Template>
  <TotalTime>589</TotalTime>
  <Words>446</Words>
  <Application>Microsoft Macintosh PowerPoint</Application>
  <PresentationFormat>Widescreen</PresentationFormat>
  <Paragraphs>56</Paragraphs>
  <Slides>11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Georgia</vt:lpstr>
      <vt:lpstr>Inter</vt:lpstr>
      <vt:lpstr>Mivada Titles</vt:lpstr>
      <vt:lpstr>1_Mivada Titles</vt:lpstr>
      <vt:lpstr>Mivada Content</vt:lpstr>
      <vt:lpstr>think-cell Slide</vt:lpstr>
      <vt:lpstr>Implementation Discussion</vt:lpstr>
      <vt:lpstr>Why Mivada Your Long-Term Partner in Workday Implementations and Managed Services, we grew out of a customer and hence we understand your challenges…</vt:lpstr>
      <vt:lpstr>Mivada’s Workday Services</vt:lpstr>
      <vt:lpstr>Mivada’s Capability in Workday Empowering Innovation and Capability through Workday Partnership and Local Expertise</vt:lpstr>
      <vt:lpstr>Methodology</vt:lpstr>
      <vt:lpstr>Draft Implementation Plan</vt:lpstr>
      <vt:lpstr>Governance</vt:lpstr>
      <vt:lpstr>RACI &amp; Data Migration </vt:lpstr>
      <vt:lpstr>Understanding of your needs</vt:lpstr>
      <vt:lpstr>Real-World Success Stories: How Mivada Enables High-Performance Workday Operations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</dc:creator>
  <cp:lastModifiedBy>Daniel Zrno</cp:lastModifiedBy>
  <cp:revision>2</cp:revision>
  <dcterms:created xsi:type="dcterms:W3CDTF">2025-11-28T02:40:10Z</dcterms:created>
  <dcterms:modified xsi:type="dcterms:W3CDTF">2026-03-03T02:35:29Z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0x0101007EFCDEBEBFBA324295BF8866A437058A</vt:lpwstr>
  </property>
  <property fmtid="{D5CDD505-2E9C-101B-9397-08002B2CF9AE}" pid="3" name="MediaServiceImageTags">
    <vt:lpwstr/>
  </property>
</Properties>
</file>