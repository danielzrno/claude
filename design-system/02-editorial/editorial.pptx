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 OVERVIEW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42416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 lang="en-AU" spc="-220">
                <a:solidFill>
                  <a:srgbClr val="FFFFFF"/>
                </a:solidFill>
                <a:latin typeface="Inter"/>
              </a:rPr>
              <a:t>Technology,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 lang="en-AU" spc="-220">
                <a:solidFill>
                  <a:srgbClr val="FFFFFF"/>
                </a:solidFill>
                <a:latin typeface="Inter"/>
              </a:rPr>
              <a:t>human </a:t>
            </a:r>
            <a:r>
              <a:rPr sz="8800" b="1" i="0" lang="en-AU" spc="-220">
                <a:solidFill>
                  <a:srgbClr val="EA493F"/>
                </a:solidFill>
                <a:latin typeface="Inter"/>
              </a:rPr>
              <a:t>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An Australian technology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Workday · Payroll · Data &amp; AI ·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02 · 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70408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We turn enterprise platforms into measurable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human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874519"/>
            <a:ext cx="3127248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n-AU" spc="0">
                <a:solidFill>
                  <a:srgbClr val="323232"/>
                </a:solidFill>
                <a:latin typeface="Inter"/>
              </a:rPr>
              <a:t>Mivada takes Workday, payroll, data and AI and shapes them around how your people actually work — onshore in Australia, with delivery across India.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 · FORMERLY LJM INFOTECH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120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SPECIALISTS, NOT GENERALISTS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115">
                <a:solidFill>
                  <a:srgbClr val="111111"/>
                </a:solidFill>
                <a:latin typeface="Inter"/>
              </a:rPr>
              <a:t>AU +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ONSHORE LEAD · OFFSHORE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03 · 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78638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FOUR SERVICE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70432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Four practices, one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operating belief.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Workday &amp; ERP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Implementation, optimisation and managed support for Workday HCM, Financials and adjacent ERP.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PLATFORM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Payroll consulting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Compliant, accurate payroll across complex awards and multi-entity structures.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COMPLIANCE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Data &amp; AI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Lakehouse architecture, governed analytics and applied AI on your people and finance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INSIGHT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Intelligent automation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RPA, ML and process design combined to remove low-value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EFFICIENCY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04 · 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THINK HUMAN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Understand the people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before the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971800"/>
            <a:ext cx="2380411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Listen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Understand the people and the work before a line of configuration.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835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97731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Design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Shape the platform around how teams actually operate.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6743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Deliver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Implement in weeks-long increments, not multi-year programs.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04859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15755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04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Care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Stay on after go-live; measure outcomes, not tickets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05 · 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0515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9">
                <a:solidFill>
                  <a:srgbClr val="FFFFFF"/>
                </a:solidFill>
                <a:latin typeface="Inter"/>
              </a:rPr>
              <a:t>Decisions made on </a:t>
            </a:r>
            <a:r>
              <a:rPr sz="3600" b="1" i="0" lang="en-AU" spc="-79">
                <a:solidFill>
                  <a:srgbClr val="EA493F"/>
                </a:solidFill>
                <a:latin typeface="Inter"/>
              </a:rPr>
              <a:t>current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CFCFCF"/>
                </a:solidFill>
                <a:latin typeface="Inter"/>
              </a:rPr>
              <a:t>Certified consultants build the data foundation that puts a governed, real-time view of your people and finance data in front of leaders.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55080" y="123444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5080" y="1380744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EA493F"/>
                </a:solidFill>
                <a:latin typeface="Inter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344168"/>
            <a:ext cx="3450031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D6D6D6"/>
                </a:solidFill>
                <a:latin typeface="Inter"/>
              </a:rPr>
              <a:t>Designed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Lakehouse architectures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 that unify people and finance data.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2203704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2350008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EA493F"/>
                </a:solidFill>
                <a:latin typeface="Inter"/>
              </a:rPr>
              <a:t>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13432"/>
            <a:ext cx="3450031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D6D6D6"/>
                </a:solidFill>
                <a:latin typeface="Inter"/>
              </a:rPr>
              <a:t>Built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Delta Lake pipelines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 — batch and streaming — on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Databricks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3172968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319272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EA493F"/>
                </a:solidFill>
                <a:latin typeface="Inter"/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82696"/>
            <a:ext cx="3450031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D6D6D6"/>
                </a:solidFill>
                <a:latin typeface="Inter"/>
              </a:rPr>
              <a:t>Connected Databricks to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Workday, payroll and finance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4142232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4288536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EA493F"/>
                </a:solidFill>
                <a:latin typeface="Inter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51960"/>
            <a:ext cx="3450031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D6D6D6"/>
                </a:solidFill>
                <a:latin typeface="Inter"/>
              </a:rPr>
              <a:t>Delivered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governed KPI stores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 and </a:t>
            </a:r>
            <a:r>
              <a:rPr sz="1300" b="1" i="0" lang="en-AU" spc="0">
                <a:solidFill>
                  <a:srgbClr val="FFFFFF"/>
                </a:solidFill>
                <a:latin typeface="Inter"/>
              </a:rPr>
              <a:t>real-time insight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80" y="5111496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06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IN THEIR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417320"/>
            <a:ext cx="64008" cy="22860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371600"/>
            <a:ext cx="960120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en-AU" spc="-76">
                <a:solidFill>
                  <a:srgbClr val="EA493F"/>
                </a:solidFill>
                <a:latin typeface="Inter"/>
              </a:rPr>
              <a:t>“They delivered in weeks what we'd scoped for a year — and our team actually uses 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82219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24">
                <a:solidFill>
                  <a:srgbClr val="AEAEAE"/>
                </a:solidFill>
                <a:latin typeface="Inter"/>
              </a:rPr>
              <a:t>People &amp; Payroll Director · national employer (illustrative)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47274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" y="48920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40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60258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DEPLOYMENTS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6506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7402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98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CLIENT RETENTION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35188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46084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6084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TO VALUE · NOT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07 · 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THREE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Why teams choose to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stay with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Certified specialists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Workday- and Databricks-certified consultants, not generalists learning on your budget.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Onshore + offshore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Senior onshore leadership in Australia with cost-effective delivery from India.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People-first change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Adoption built in from day one, so the platform actually gets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Let's build smarter systems, with people at the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centre.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0533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18134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181344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&amp; Melbourne · Onshore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