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CAPABILITY OVERVIEW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42416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 i="0" lang="en-AU" spc="-220">
                <a:solidFill>
                  <a:srgbClr val="FFFFFF"/>
                </a:solidFill>
                <a:latin typeface="Inter"/>
              </a:rPr>
              <a:t>Technology,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 i="0" lang="en-AU" spc="-220">
                <a:solidFill>
                  <a:srgbClr val="FFFFFF"/>
                </a:solidFill>
                <a:latin typeface="Inter"/>
              </a:rPr>
              <a:t>human </a:t>
            </a:r>
            <a:r>
              <a:rPr sz="8800" b="1" i="0" lang="en-AU" spc="-220">
                <a:solidFill>
                  <a:srgbClr val="EA493F"/>
                </a:solidFill>
                <a:latin typeface="Inter"/>
              </a:rPr>
              <a:t>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An Australian technology consultancy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Workday · Payroll · Data &amp; AI · Automation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02 · 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lang="en-AU" spc="-87">
                <a:solidFill>
                  <a:srgbClr val="111111"/>
                </a:solidFill>
                <a:latin typeface="Inter"/>
              </a:rPr>
              <a:t>We turn enterprise platforms into measurable </a:t>
            </a:r>
            <a:r>
              <a:rPr sz="4000" b="1" i="0" lang="en-AU" spc="-87">
                <a:solidFill>
                  <a:srgbClr val="EA493F"/>
                </a:solidFill>
                <a:latin typeface="Inter"/>
              </a:rPr>
              <a:t>human 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3879" y="1874519"/>
            <a:ext cx="3127248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 lang="en-AU" spc="0">
                <a:solidFill>
                  <a:srgbClr val="323232"/>
                </a:solidFill>
                <a:latin typeface="Inter"/>
              </a:rPr>
              <a:t>Mivada takes Workday, payroll, data and AI and shapes them around how your people actually work — onshore in Australia, with delivery across India.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FOUNDED · FORMERLY LJM INFOTECH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120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SPECIALISTS, NOT GENERALISTS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115">
                <a:solidFill>
                  <a:srgbClr val="111111"/>
                </a:solidFill>
                <a:latin typeface="Inter"/>
              </a:rPr>
              <a:t>AU + India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ONSHORE LEAD · OFFSHORE DELIVERY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03 · 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Four practices, one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operating belief.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Workday &amp; ERP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Implementation, optimisation and managed support for Workday HCM, Financials and adjacent ERP.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PLATFORM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Payroll consulting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Compliant, accurate payroll across complex awards and multi-entity structures.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COMPLIANCE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Data &amp; AI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Lakehouse architecture, governed analytics and applied AI on your people and finance data.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Intelligent automation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RPA, ML and process design combined to remove low-value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04 · 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Understand the people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before the technology.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2380411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01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Listen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Understand the people and the work before a line of configuration.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86835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797731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02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Design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Shape the platform around how teams actually operate.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6743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03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Deliver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Implement in weeks-long increments, not multi-year programs.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04859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15755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STEP 04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Care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Stay on after go-live; measure outcomes, not tickets closed.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05 · DATA &amp;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972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en-AU" spc="-79">
                <a:solidFill>
                  <a:srgbClr val="FFFFFF"/>
                </a:solidFill>
                <a:latin typeface="Inter"/>
              </a:rPr>
              <a:t>Decisions made on </a:t>
            </a:r>
            <a:r>
              <a:rPr sz="3600" b="1" i="0" lang="en-AU" spc="-79">
                <a:solidFill>
                  <a:srgbClr val="EA493F"/>
                </a:solidFill>
                <a:latin typeface="Inter"/>
              </a:rPr>
              <a:t>current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361188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0">
                <a:solidFill>
                  <a:srgbClr val="CFCFCF"/>
                </a:solidFill>
                <a:latin typeface="Inter"/>
              </a:rPr>
              <a:t>Certified consultants build the data foundation that puts a governed, real-time view of your people and finance data in front of leaders.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355080" y="123444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355080" y="141732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2821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-7">
                <a:solidFill>
                  <a:srgbClr val="D6D6D6"/>
                </a:solidFill>
                <a:latin typeface="Inter"/>
              </a:rPr>
              <a:t>Designed </a:t>
            </a:r>
            <a:r>
              <a:rPr sz="1400" b="1" i="0" lang="en-AU" spc="-7">
                <a:solidFill>
                  <a:srgbClr val="FFFFFF"/>
                </a:solidFill>
                <a:latin typeface="Inter"/>
              </a:rPr>
              <a:t>Lakehouse architectures</a:t>
            </a:r>
            <a:r>
              <a:rPr sz="1400" b="0" i="0" lang="en-AU" spc="-7">
                <a:solidFill>
                  <a:srgbClr val="D6D6D6"/>
                </a:solidFill>
                <a:latin typeface="Inter"/>
              </a:rPr>
              <a:t> that unify people and finance data.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55080" y="233172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55080" y="251460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PIPELINES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82549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-7">
                <a:solidFill>
                  <a:srgbClr val="D6D6D6"/>
                </a:solidFill>
                <a:latin typeface="Inter"/>
              </a:rPr>
              <a:t>Built </a:t>
            </a:r>
            <a:r>
              <a:rPr sz="1400" b="1" i="0" lang="en-AU" spc="-7">
                <a:solidFill>
                  <a:srgbClr val="FFFFFF"/>
                </a:solidFill>
                <a:latin typeface="Inter"/>
              </a:rPr>
              <a:t>Delta Lake pipelines</a:t>
            </a:r>
            <a:r>
              <a:rPr sz="1400" b="0" i="0" lang="en-AU" spc="-7">
                <a:solidFill>
                  <a:srgbClr val="D6D6D6"/>
                </a:solidFill>
                <a:latin typeface="Inter"/>
              </a:rPr>
              <a:t> — batch and streaming — on </a:t>
            </a:r>
            <a:r>
              <a:rPr sz="1400" b="1" i="0" lang="en-AU" spc="-7">
                <a:solidFill>
                  <a:srgbClr val="FFFFFF"/>
                </a:solidFill>
                <a:latin typeface="Inter"/>
              </a:rPr>
              <a:t>Databricks</a:t>
            </a:r>
            <a:r>
              <a:rPr sz="1400" b="0" i="0" lang="en-AU" spc="-7">
                <a:solidFill>
                  <a:srgbClr val="D6D6D6"/>
                </a:solidFill>
                <a:latin typeface="Inter"/>
              </a:rPr>
              <a:t>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55080" y="342900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55080" y="361188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92277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-7">
                <a:solidFill>
                  <a:srgbClr val="D6D6D6"/>
                </a:solidFill>
                <a:latin typeface="Inter"/>
              </a:rPr>
              <a:t>Connected Databricks to </a:t>
            </a:r>
            <a:r>
              <a:rPr sz="1400" b="1" i="0" lang="en-AU" spc="-7">
                <a:solidFill>
                  <a:srgbClr val="FFFFFF"/>
                </a:solidFill>
                <a:latin typeface="Inter"/>
              </a:rPr>
              <a:t>Workday, payroll and finance</a:t>
            </a:r>
            <a:r>
              <a:rPr sz="1400" b="0" i="0" lang="en-AU" spc="-7">
                <a:solidFill>
                  <a:srgbClr val="D6D6D6"/>
                </a:solidFill>
                <a:latin typeface="Inter"/>
              </a:rPr>
              <a:t>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55080" y="452628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4709159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5020055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-7">
                <a:solidFill>
                  <a:srgbClr val="D6D6D6"/>
                </a:solidFill>
                <a:latin typeface="Inter"/>
              </a:rPr>
              <a:t>Delivered </a:t>
            </a:r>
            <a:r>
              <a:rPr sz="1400" b="1" i="0" lang="en-AU" spc="-7">
                <a:solidFill>
                  <a:srgbClr val="FFFFFF"/>
                </a:solidFill>
                <a:latin typeface="Inter"/>
              </a:rPr>
              <a:t>governed KPI stores</a:t>
            </a:r>
            <a:r>
              <a:rPr sz="1400" b="0" i="0" lang="en-AU" spc="-7">
                <a:solidFill>
                  <a:srgbClr val="D6D6D6"/>
                </a:solidFill>
                <a:latin typeface="Inter"/>
              </a:rPr>
              <a:t> and </a:t>
            </a:r>
            <a:r>
              <a:rPr sz="1400" b="1" i="0" lang="en-AU" spc="-7">
                <a:solidFill>
                  <a:srgbClr val="FFFFFF"/>
                </a:solidFill>
                <a:latin typeface="Inter"/>
              </a:rPr>
              <a:t>real-time insight</a:t>
            </a:r>
            <a:r>
              <a:rPr sz="1400" b="0" i="0" lang="en-AU" spc="-7">
                <a:solidFill>
                  <a:srgbClr val="D6D6D6"/>
                </a:solidFill>
                <a:latin typeface="Inter"/>
              </a:rPr>
              <a:t>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55080" y="5623559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06 ·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" y="1417320"/>
            <a:ext cx="64008" cy="22860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8" y="1371600"/>
            <a:ext cx="960120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lang="en-AU" spc="-76">
                <a:solidFill>
                  <a:srgbClr val="EA493F"/>
                </a:solidFill>
                <a:latin typeface="Inter"/>
              </a:rPr>
              <a:t>“They delivered in weeks what we'd scoped for a year — and our team actually uses it.”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8" y="3822191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24">
                <a:solidFill>
                  <a:srgbClr val="AEAEAE"/>
                </a:solidFill>
                <a:latin typeface="Inter"/>
              </a:rPr>
              <a:t>People &amp; Payroll Director · national employer (illustrative)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47274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7824" y="489204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40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602589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WORKDAY DEPLOYMENTS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56506" y="49377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667402" y="48920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98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7402" y="60258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CLIENT RETENTION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35188" y="49377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46084" y="48920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6084" y="60258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TO VALUE · NOT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07 · 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Why teams choose to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stay with 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Certified specialists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Workday- and Databricks-certified consultants, not generalists learning on your budget.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Onshore + offshore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Senior onshore leadership in Australia with cost-effective delivery from India.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People-first change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Adoption built in from day one, so the platform actually gets used.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058400" cy="2743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Let's build smarter systems, with people at the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centre.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0533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181344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181344"/>
            <a:ext cx="552297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lang="en-AU" spc="25">
                <a:solidFill>
                  <a:srgbClr val="AEAEAE"/>
                </a:solidFill>
                <a:latin typeface="Inter"/>
              </a:rPr>
              <a:t>Sydney &amp; Melbourne · Onshore AU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