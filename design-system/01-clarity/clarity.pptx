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658368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EA493F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3036" b="1" spc="-121">
                <a:solidFill>
                  <a:srgbClr val="FFFFFF"/>
                </a:solidFill>
                <a:latin typeface="Inter"/>
                <a:cs typeface="Inter"/>
                <a:ea typeface="Inter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42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CAPABILITY OVERVIEW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71216"/>
            <a:ext cx="9692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000" b="1" i="0" lang="en-AU" spc="-140">
                <a:solidFill>
                  <a:srgbClr val="111111"/>
                </a:solidFill>
                <a:latin typeface="Inter"/>
                <a:cs typeface="Inter"/>
                <a:ea typeface="Inter"/>
              </a:rPr>
              <a:t>Technology, </a:t>
            </a:r>
            <a:r>
              <a:rPr sz="7000" b="1" i="0" lang="en-AU" spc="-140">
                <a:solidFill>
                  <a:srgbClr val="EA493F"/>
                </a:solidFill>
                <a:latin typeface="Inter"/>
                <a:cs typeface="Inter"/>
                <a:ea typeface="Inter"/>
              </a:rPr>
              <a:t>human</a:t>
            </a:r>
          </a:p>
          <a:p>
            <a:pPr algn="l">
              <a:lnSpc>
                <a:spcPct val="102000"/>
              </a:lnSpc>
            </a:pPr>
            <a:r>
              <a:rPr sz="7000" b="1" i="0" lang="en-AU" spc="-140">
                <a:solidFill>
                  <a:srgbClr val="111111"/>
                </a:solidFill>
                <a:latin typeface="Inter"/>
                <a:cs typeface="Inter"/>
                <a:ea typeface="Inter"/>
              </a:rPr>
              <a:t>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56048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An Australian technology consultancy that turns enterprise platforms — Workday, payroll, data and AI — into measurable human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Capability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5669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A consultancy built</a:t>
            </a:r>
          </a:p>
          <a:p>
            <a:pPr algn="l">
              <a:lnSpc>
                <a:spcPct val="106000"/>
              </a:lnSpc>
            </a:pPr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around people, not</a:t>
            </a:r>
          </a:p>
          <a:p>
            <a:pPr algn="l">
              <a:lnSpc>
                <a:spcPct val="106000"/>
              </a:lnSpc>
            </a:pPr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0332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Senior onshore leadership with cost-effective delivery — and we stay on after go-live to measure outcomes, not tickets closed.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078992"/>
            <a:ext cx="4626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ESTABLISHED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389888"/>
            <a:ext cx="46268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lang="en-AU" spc="-88">
                <a:solidFill>
                  <a:srgbClr val="111111"/>
                </a:solidFill>
                <a:latin typeface="Inter"/>
                <a:cs typeface="Inter"/>
                <a:ea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011680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Founded as LJM Infotech; Mivada today.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03720" y="2350008"/>
            <a:ext cx="4626864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903720" y="2496312"/>
            <a:ext cx="4626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SPECIALISTS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807208"/>
            <a:ext cx="46268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lang="en-AU" spc="-88">
                <a:solidFill>
                  <a:srgbClr val="111111"/>
                </a:solidFill>
                <a:latin typeface="Inter"/>
                <a:cs typeface="Inter"/>
                <a:ea typeface="Inter"/>
              </a:rPr>
              <a:t>120+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29000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Certified consultants, not generalists.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03720" y="3767328"/>
            <a:ext cx="4626864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903720" y="3913632"/>
            <a:ext cx="4626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224528"/>
            <a:ext cx="46268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lang="en-AU" spc="-88">
                <a:solidFill>
                  <a:srgbClr val="111111"/>
                </a:solidFill>
                <a:latin typeface="Inter"/>
                <a:cs typeface="Inter"/>
                <a:ea typeface="Inter"/>
              </a:rPr>
              <a:t>AU +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846320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Onshore Australia, offshore India.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lang="en-AU" spc="-80">
                <a:solidFill>
                  <a:srgbClr val="111111"/>
                </a:solidFill>
                <a:latin typeface="Inter"/>
                <a:cs typeface="Inter"/>
                <a:ea typeface="Inter"/>
              </a:rPr>
              <a:t>Four service pillars.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95728"/>
            <a:ext cx="5291175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633472"/>
            <a:ext cx="4669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lang="en-AU" spc="50">
                <a:solidFill>
                  <a:srgbClr val="AEAEAE"/>
                </a:solidFill>
                <a:latin typeface="Inter"/>
                <a:cs typeface="Inter"/>
                <a:ea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926080"/>
            <a:ext cx="4669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lang="en-AU" spc="-18">
                <a:solidFill>
                  <a:srgbClr val="111111"/>
                </a:solidFill>
                <a:latin typeface="Inter"/>
                <a:cs typeface="Inter"/>
                <a:ea typeface="Inter"/>
              </a:rPr>
              <a:t>Workday &amp;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328416"/>
            <a:ext cx="46693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Implementation, optimisation and managed support for Workday HCM, Financials and adjacent ERP.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2151" y="2395728"/>
            <a:ext cx="5291175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633472"/>
            <a:ext cx="4669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lang="en-AU" spc="50">
                <a:solidFill>
                  <a:srgbClr val="AEAEAE"/>
                </a:solidFill>
                <a:latin typeface="Inter"/>
                <a:cs typeface="Inter"/>
                <a:ea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926080"/>
            <a:ext cx="4669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lang="en-AU" spc="-18">
                <a:solidFill>
                  <a:srgbClr val="111111"/>
                </a:solidFill>
                <a:latin typeface="Inter"/>
                <a:cs typeface="Inter"/>
                <a:ea typeface="Inter"/>
              </a:rPr>
              <a:t>Payroll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328416"/>
            <a:ext cx="46693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Compliant, accurate payroll across complex awards and multi-entity structures.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70832"/>
            <a:ext cx="5291175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608576"/>
            <a:ext cx="4669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lang="en-AU" spc="50">
                <a:solidFill>
                  <a:srgbClr val="AEAEAE"/>
                </a:solidFill>
                <a:latin typeface="Inter"/>
                <a:cs typeface="Inter"/>
                <a:ea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901184"/>
            <a:ext cx="4669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lang="en-AU" spc="-18">
                <a:solidFill>
                  <a:srgbClr val="111111"/>
                </a:solidFill>
                <a:latin typeface="Inter"/>
                <a:cs typeface="Inter"/>
                <a:ea typeface="Inter"/>
              </a:rPr>
              <a:t>Data &amp;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303520"/>
            <a:ext cx="46693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Lakehouse architecture, governed analytics and applied AI on your people and finance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2151" y="4370832"/>
            <a:ext cx="5291175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4608576"/>
            <a:ext cx="4669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lang="en-AU" spc="50">
                <a:solidFill>
                  <a:srgbClr val="AEAEAE"/>
                </a:solidFill>
                <a:latin typeface="Inter"/>
                <a:cs typeface="Inter"/>
                <a:ea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901184"/>
            <a:ext cx="4669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lang="en-AU" spc="-18">
                <a:solidFill>
                  <a:srgbClr val="111111"/>
                </a:solidFill>
                <a:latin typeface="Inter"/>
                <a:cs typeface="Inter"/>
                <a:ea typeface="Inter"/>
              </a:rPr>
              <a:t>Intelligent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303520"/>
            <a:ext cx="46693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RPA, ML and process design combined to remove low-value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HOW WE WORK — THINK HUMAN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We understand the people before the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926080"/>
            <a:ext cx="2403271" cy="25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127248"/>
            <a:ext cx="2403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86200"/>
            <a:ext cx="2403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LISTEN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24528"/>
            <a:ext cx="240327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Understand the people and the work before the technology.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2263" y="2926080"/>
            <a:ext cx="2403271" cy="25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3" y="3127248"/>
            <a:ext cx="2403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3886200"/>
            <a:ext cx="2403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263" y="4224528"/>
            <a:ext cx="240327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Shape the platform around how teams actually operate.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6159" y="2926080"/>
            <a:ext cx="2403271" cy="25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3127248"/>
            <a:ext cx="2403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3886200"/>
            <a:ext cx="2403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6159" y="4224528"/>
            <a:ext cx="240327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Implement in weeks-long increments, not multi-year programs.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0055" y="2926080"/>
            <a:ext cx="2403271" cy="25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0055" y="3127248"/>
            <a:ext cx="24032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0055" y="3886200"/>
            <a:ext cx="2403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4224528"/>
            <a:ext cx="240327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Stay on after go-live; measure outcomes, not tickets closed.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DATA &amp; AI —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So leaders decide</a:t>
            </a:r>
          </a:p>
          <a:p>
            <a:pPr algn="l">
              <a:lnSpc>
                <a:spcPct val="106000"/>
              </a:lnSpc>
            </a:pPr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on current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0040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Certified consultants design Lakehouse architectures and integrate Databricks with Workday, payroll and finance — governed, real-time, and built to be trusted.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029200"/>
            <a:ext cx="384048" cy="411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49011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lang="en-AU" spc="25">
                <a:solidFill>
                  <a:srgbClr val="323232"/>
                </a:solidFill>
                <a:latin typeface="Inter"/>
                <a:cs typeface="Inter"/>
                <a:ea typeface="Inter"/>
              </a:rPr>
              <a:t>Databricks &amp; Workday certified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024128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 lang="en-AU" spc="-14">
                <a:solidFill>
                  <a:srgbClr val="111111"/>
                </a:solidFill>
                <a:latin typeface="Inter"/>
                <a:cs typeface="Inter"/>
                <a:ea typeface="Inter"/>
              </a:rPr>
              <a:t>Lakehouse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335024"/>
            <a:ext cx="47183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Designed for governance, scale and analytics from day one.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2048255"/>
            <a:ext cx="4718304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6812280" y="2139696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 lang="en-AU" spc="-14">
                <a:solidFill>
                  <a:srgbClr val="111111"/>
                </a:solidFill>
                <a:latin typeface="Inter"/>
                <a:cs typeface="Inter"/>
                <a:ea typeface="Inter"/>
              </a:rPr>
              <a:t>Delta Lake pipelines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450591"/>
            <a:ext cx="47183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Batch and streaming, reliable and observable.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80" y="3163824"/>
            <a:ext cx="4718304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812280" y="3255264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 lang="en-AU" spc="-14">
                <a:solidFill>
                  <a:srgbClr val="111111"/>
                </a:solidFill>
                <a:latin typeface="Inter"/>
                <a:cs typeface="Inter"/>
                <a:ea typeface="Inter"/>
              </a:rPr>
              <a:t>Governed KPI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566160"/>
            <a:ext cx="47183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One trusted source for people and finance metrics.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4279392"/>
            <a:ext cx="4718304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812280" y="4370832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 lang="en-AU" spc="-14">
                <a:solidFill>
                  <a:srgbClr val="111111"/>
                </a:solidFill>
                <a:latin typeface="Inter"/>
                <a:cs typeface="Inter"/>
                <a:ea typeface="Inter"/>
              </a:rPr>
              <a:t>Real-time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681728"/>
            <a:ext cx="47183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Current data in the hands of the people deciding.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Measured where it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325922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98064"/>
            <a:ext cx="32592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 lang="en-AU" spc="-198">
                <a:solidFill>
                  <a:srgbClr val="111111"/>
                </a:solidFill>
                <a:latin typeface="Inter"/>
                <a:cs typeface="Inter"/>
                <a:ea typeface="Inter"/>
              </a:rPr>
              <a:t>40+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30752"/>
            <a:ext cx="31677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deployments delivered.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83354" y="2532888"/>
            <a:ext cx="0" cy="123444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594250" y="2487168"/>
            <a:ext cx="325922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4250" y="2798064"/>
            <a:ext cx="32592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 lang="en-AU" spc="-198">
                <a:solidFill>
                  <a:srgbClr val="111111"/>
                </a:solidFill>
                <a:latin typeface="Inter"/>
                <a:cs typeface="Inter"/>
                <a:ea typeface="Inter"/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250" y="3730752"/>
            <a:ext cx="31677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client retention rate.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8340" y="2532888"/>
            <a:ext cx="0" cy="123444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8219236" y="2487168"/>
            <a:ext cx="325922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2798064"/>
            <a:ext cx="32592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 lang="en-AU" spc="-198">
                <a:solidFill>
                  <a:srgbClr val="111111"/>
                </a:solidFill>
                <a:latin typeface="Inter"/>
                <a:cs typeface="Inter"/>
                <a:ea typeface="Inter"/>
              </a:rPr>
              <a:t>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9236" y="3730752"/>
            <a:ext cx="31677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to value — not months.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343400"/>
            <a:ext cx="10874959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58368" y="461772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 lang="en-AU" spc="-20">
                <a:solidFill>
                  <a:srgbClr val="111111"/>
                </a:solidFill>
                <a:latin typeface="Inter"/>
                <a:cs typeface="Inter"/>
                <a:ea typeface="Inter"/>
              </a:rPr>
              <a:t>“They built the platform around how our teams actually work — and stayed until it stuck.”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lang="en-AU" spc="24">
                <a:solidFill>
                  <a:srgbClr val="AEAEAE"/>
                </a:solidFill>
                <a:latin typeface="Inter"/>
                <a:cs typeface="Inter"/>
                <a:ea typeface="Inter"/>
              </a:rPr>
              <a:t>People &amp; finance lead · enterprise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 lang="en-AU" spc="-76">
                <a:solidFill>
                  <a:srgbClr val="111111"/>
                </a:solidFill>
                <a:latin typeface="Inter"/>
                <a:cs typeface="Inter"/>
                <a:ea typeface="Inter"/>
              </a:rPr>
              <a:t>Three reasons it sticks.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4203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lang="en-AU" spc="-52">
                <a:solidFill>
                  <a:srgbClr val="EA493F"/>
                </a:solidFill>
                <a:latin typeface="Inter"/>
                <a:cs typeface="Inter"/>
                <a:ea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2523744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 lang="en-AU" spc="-21">
                <a:solidFill>
                  <a:srgbClr val="111111"/>
                </a:solidFill>
                <a:latin typeface="Inter"/>
                <a:cs typeface="Inter"/>
                <a:ea typeface="Inter"/>
              </a:rPr>
              <a:t>Certified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926079"/>
            <a:ext cx="9960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4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Workday- and Databricks-certified consultants, not generalists.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3639311"/>
            <a:ext cx="10874959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58368" y="3749039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lang="en-AU" spc="-52">
                <a:solidFill>
                  <a:srgbClr val="EA493F"/>
                </a:solidFill>
                <a:latin typeface="Inter"/>
                <a:cs typeface="Inter"/>
                <a:ea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373075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 lang="en-AU" spc="-21">
                <a:solidFill>
                  <a:srgbClr val="111111"/>
                </a:solidFill>
                <a:latin typeface="Inter"/>
                <a:cs typeface="Inter"/>
                <a:ea typeface="Inter"/>
              </a:rPr>
              <a:t>Onshore + offshore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133087"/>
            <a:ext cx="9960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4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Senior onshore leadership with cost-effective India delivery.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846320"/>
            <a:ext cx="10874959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58368" y="4956048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lang="en-AU" spc="-52">
                <a:solidFill>
                  <a:srgbClr val="EA493F"/>
                </a:solidFill>
                <a:latin typeface="Inter"/>
                <a:cs typeface="Inter"/>
                <a:ea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4937760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 lang="en-AU" spc="-21">
                <a:solidFill>
                  <a:srgbClr val="111111"/>
                </a:solidFill>
                <a:latin typeface="Inter"/>
                <a:cs typeface="Inter"/>
                <a:ea typeface="Inter"/>
              </a:rPr>
              <a:t>People-first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5340096"/>
            <a:ext cx="9960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450" b="0" i="0" lang="en-AU">
                <a:solidFill>
                  <a:srgbClr val="323232"/>
                </a:solidFill>
                <a:latin typeface="Inter"/>
                <a:cs typeface="Inter"/>
                <a:ea typeface="Inter"/>
              </a:rPr>
              <a:t>Adoption built in from day one, so platforms actually get used.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AEAEAE"/>
                </a:solidFill>
                <a:latin typeface="Inter"/>
                <a:cs typeface="Inter"/>
                <a:ea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493F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2852" b="1" spc="-114">
                <a:solidFill>
                  <a:srgbClr val="FFFFFF"/>
                </a:solidFill>
                <a:latin typeface="Inter"/>
                <a:cs typeface="Inter"/>
                <a:ea typeface="Inter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22191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en-AU" spc="154">
                <a:solidFill>
                  <a:srgbClr val="EA493F"/>
                </a:solidFill>
                <a:latin typeface="Inter"/>
                <a:cs typeface="Inter"/>
                <a:ea typeface="Inter"/>
              </a:rPr>
              <a:t>LET'S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69663"/>
            <a:ext cx="6675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 i="0" lang="en-AU" spc="-72">
                <a:solidFill>
                  <a:srgbClr val="FFFFFF"/>
                </a:solidFill>
                <a:latin typeface="Inter"/>
                <a:cs typeface="Inter"/>
                <a:ea typeface="Inter"/>
              </a:rPr>
              <a:t>Let's build smarter</a:t>
            </a:r>
          </a:p>
          <a:p>
            <a:pPr algn="l">
              <a:lnSpc>
                <a:spcPct val="106000"/>
              </a:lnSpc>
            </a:pPr>
            <a:r>
              <a:rPr sz="3600" b="1" i="0" lang="en-AU" spc="-72">
                <a:solidFill>
                  <a:srgbClr val="FFFFFF"/>
                </a:solidFill>
                <a:latin typeface="Inter"/>
                <a:cs typeface="Inter"/>
                <a:ea typeface="Inter"/>
              </a:rPr>
              <a:t>systems, with people</a:t>
            </a:r>
          </a:p>
          <a:p>
            <a:pPr algn="l">
              <a:lnSpc>
                <a:spcPct val="106000"/>
              </a:lnSpc>
            </a:pPr>
            <a:r>
              <a:rPr sz="3600" b="1" i="0" lang="en-AU" spc="-72">
                <a:solidFill>
                  <a:srgbClr val="FFFFFF"/>
                </a:solidFill>
                <a:latin typeface="Inter"/>
                <a:cs typeface="Inter"/>
                <a:ea typeface="Inter"/>
              </a:rPr>
              <a:t>at the </a:t>
            </a:r>
            <a:r>
              <a:rPr sz="3600" b="1" i="0" lang="en-AU" spc="-72">
                <a:solidFill>
                  <a:srgbClr val="EA493F"/>
                </a:solidFill>
                <a:latin typeface="Inter"/>
                <a:cs typeface="Inter"/>
                <a:ea typeface="Inter"/>
              </a:rPr>
              <a:t>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37160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 lang="en-AU">
                <a:solidFill>
                  <a:srgbClr val="FFFFFF"/>
                </a:solidFill>
                <a:latin typeface="Inter"/>
                <a:cs typeface="Inter"/>
                <a:ea typeface="Inter"/>
              </a:rPr>
              <a:t>mivada.com</a:t>
            </a:r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sz="1400" b="1" i="0" lang="en-AU">
                <a:solidFill>
                  <a:srgbClr val="FFFFFF"/>
                </a:solidFill>
                <a:latin typeface="Inter"/>
                <a:cs typeface="Inter"/>
                <a:ea typeface="Inter"/>
              </a:rPr>
              <a:t>hello@mivada.com</a:t>
            </a:r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sz="1400" b="0" i="0" lang="en-AU">
                <a:solidFill>
                  <a:srgbClr val="FFFFFF"/>
                </a:solidFill>
                <a:latin typeface="Inter"/>
                <a:cs typeface="Inter"/>
                <a:ea typeface="Inter"/>
              </a:rPr>
              <a:t>Sydney &amp; Melbourne</a:t>
            </a:r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sz="1400" b="0" i="0" lang="en-AU">
                <a:solidFill>
                  <a:srgbClr val="FFFFFF"/>
                </a:solidFill>
                <a:latin typeface="Inter"/>
                <a:cs typeface="Inter"/>
                <a:ea typeface="Inter"/>
              </a:rPr>
              <a:t>Onshore AU &amp; India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55279" y="3154680"/>
            <a:ext cx="2468880" cy="0"/>
          </a:xfrm>
          <a:prstGeom prst="bentConnector3">
            <a:avLst/>
          </a:prstGeom>
          <a:ln w="12700">
            <a:solidFill>
              <a:srgbClr val="323232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955279" y="331012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lang="en-AU" spc="32">
                <a:solidFill>
                  <a:srgbClr val="AEAEAE"/>
                </a:solidFill>
                <a:latin typeface="Inter"/>
                <a:cs typeface="Inter"/>
                <a:ea typeface="Inter"/>
              </a:rPr>
              <a:t>Experience the Mivada difference. Figures illustrative.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lang="en-AU" spc="133">
                <a:solidFill>
                  <a:srgbClr val="7A7A7A"/>
                </a:solidFill>
                <a:latin typeface="Inter"/>
                <a:cs typeface="Inter"/>
                <a:ea typeface="Inter"/>
              </a:rPr>
              <a:t>MIVADA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400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 lang="en-AU" spc="133">
                <a:solidFill>
                  <a:srgbClr val="7A7A7A"/>
                </a:solidFill>
                <a:latin typeface="Inter"/>
                <a:cs typeface="Inter"/>
                <a:ea typeface="Inter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