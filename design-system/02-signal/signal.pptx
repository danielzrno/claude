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dot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" y="42062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70">
                <a:solidFill>
                  <a:srgbClr val="7E97A1"/>
                </a:solidFill>
                <a:latin typeface="JetBrains Mono"/>
                <a:ea typeface="JetBrains Mono"/>
                <a:cs typeface="JetBrains Mono"/>
              </a:rPr>
              <a:t>mivada.com  //  capability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148840"/>
            <a:ext cx="100584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6000"/>
              </a:lnSpc>
            </a:pPr>
            <a:r>
              <a:rPr sz="6700" b="1" spc="-120">
                <a:solidFill>
                  <a:srgbClr val="ECEFEC"/>
                </a:solidFill>
                <a:latin typeface="Hanken Grotesk"/>
                <a:ea typeface="Hanken Grotesk"/>
                <a:cs typeface="Hanken Grotesk"/>
              </a:rPr>
              <a:t>Technology,</a:t>
            </a:r>
          </a:p>
          <a:p>
            <a:pPr algn="l">
              <a:lnSpc>
                <a:spcPct val="96000"/>
              </a:lnSpc>
            </a:pPr>
            <a:r>
              <a:rPr sz="6700" b="1" spc="-120">
                <a:solidFill>
                  <a:srgbClr val="34E2A8"/>
                </a:solidFill>
                <a:latin typeface="Hanken Grotesk"/>
                <a:ea typeface="Hanken Grotesk"/>
                <a:cs typeface="Hanken Grotesk"/>
              </a:rPr>
              <a:t>human</a:t>
            </a:r>
            <a:r>
              <a:rPr sz="6700" b="1" spc="-120">
                <a:solidFill>
                  <a:srgbClr val="ECEFEC"/>
                </a:solidFill>
                <a:latin typeface="Hanken Grotesk"/>
                <a:ea typeface="Hanken Grotesk"/>
                <a:cs typeface="Hanken Grotesk"/>
              </a:rPr>
              <a:t> first.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617720"/>
            <a:ext cx="6949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>
                <a:solidFill>
                  <a:srgbClr val="7E97A1"/>
                </a:solidFill>
                <a:latin typeface="Hanken Grotesk"/>
                <a:ea typeface="Hanken Grotesk"/>
                <a:cs typeface="Hanken Grotesk"/>
              </a:rPr>
              <a:t>An Australian technology consultancy. We turn enterprise platforms into measurable human outcomes.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5797296"/>
            <a:ext cx="329184" cy="329184"/>
          </a:xfrm>
          <a:prstGeom prst="roundRect">
            <a:avLst>
              <a:gd name="adj" fmla="val 100000"/>
            </a:avLst>
          </a:prstGeom>
          <a:noFill/>
          <a:ln w="9525">
            <a:solidFill>
              <a:srgbClr val="34E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1248" y="5888736"/>
            <a:ext cx="146304" cy="146304"/>
          </a:xfrm>
          <a:prstGeom prst="ellipse">
            <a:avLst/>
          </a:prstGeom>
          <a:solidFill>
            <a:srgbClr val="34E2A8"/>
          </a:solidFill>
          <a:ln>
            <a:noFill/>
          </a:ln>
          <a:effectLst>
            <a:glow rad="146304">
              <a:srgbClr val="34E2A8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92847" y="5833872"/>
            <a:ext cx="365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  <a:spcBef>
                <a:spcPts val="400"/>
              </a:spcBef>
            </a:pPr>
            <a:r>
              <a:rPr sz="1100" b="0" spc="40">
                <a:solidFill>
                  <a:srgbClr val="34E2A8"/>
                </a:solidFill>
                <a:latin typeface="JetBrains Mono"/>
                <a:ea typeface="JetBrains Mono"/>
                <a:cs typeface="JetBrains Mono"/>
              </a:rPr>
              <a:t>33.87°S  151.21°E</a:t>
            </a:r>
          </a:p>
          <a:p>
            <a:pPr algn="r">
              <a:lnSpc>
                <a:spcPct val="150000"/>
              </a:lnSpc>
              <a:spcBef>
                <a:spcPts val="400"/>
              </a:spcBef>
            </a:pPr>
            <a:r>
              <a:rPr sz="1100" b="0" spc="40">
                <a:solidFill>
                  <a:srgbClr val="7E97A1"/>
                </a:solidFill>
                <a:latin typeface="JetBrains Mono"/>
                <a:ea typeface="JetBrains Mono"/>
                <a:cs typeface="JetBrains Mono"/>
              </a:rPr>
              <a:t>capability overview /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dot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841248" y="475488"/>
            <a:ext cx="10509199" cy="0"/>
          </a:xfrm>
          <a:prstGeom prst="bentConnector3">
            <a:avLst/>
          </a:prstGeom>
          <a:ln w="12700">
            <a:solidFill>
              <a:srgbClr val="2834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253167" y="2743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spc="100">
                <a:solidFill>
                  <a:srgbClr val="7E97A1"/>
                </a:solidFill>
                <a:latin typeface="JetBrains Mono"/>
                <a:ea typeface="JetBrains Mono"/>
                <a:cs typeface="JetBrains Mono"/>
              </a:rPr>
              <a:t>[01]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8686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60">
                <a:solidFill>
                  <a:srgbClr val="34E2A8"/>
                </a:solidFill>
                <a:latin typeface="JetBrains Mono"/>
                <a:ea typeface="JetBrains Mono"/>
                <a:cs typeface="JetBrains Mono"/>
              </a:rPr>
              <a:t>// 01 </a:t>
            </a:r>
            <a:r>
              <a:rPr sz="1200" b="0" spc="60">
                <a:solidFill>
                  <a:srgbClr val="7E97A1"/>
                </a:solidFill>
                <a:latin typeface="JetBrains Mono"/>
                <a:ea typeface="JetBrains Mono"/>
                <a:cs typeface="JetBrains Mono"/>
              </a:rPr>
              <a:t>— who we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298448"/>
            <a:ext cx="6583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300" b="1" spc="-20">
                <a:solidFill>
                  <a:srgbClr val="ECEFEC"/>
                </a:solidFill>
                <a:latin typeface="Hanken Grotesk"/>
                <a:ea typeface="Hanken Grotesk"/>
                <a:cs typeface="Hanken Grotesk"/>
              </a:rPr>
              <a:t>From </a:t>
            </a:r>
            <a:r>
              <a:rPr sz="3300" b="1" spc="-20">
                <a:solidFill>
                  <a:srgbClr val="34E2A8"/>
                </a:solidFill>
                <a:latin typeface="Hanken Grotesk"/>
                <a:ea typeface="Hanken Grotesk"/>
                <a:cs typeface="Hanken Grotesk"/>
              </a:rPr>
              <a:t>my village</a:t>
            </a:r>
            <a:r>
              <a:rPr sz="3300" b="1" spc="-20">
                <a:solidFill>
                  <a:srgbClr val="ECEFEC"/>
                </a:solidFill>
                <a:latin typeface="Hanken Grotesk"/>
                <a:ea typeface="Hanken Grotesk"/>
                <a:cs typeface="Hanken Grotesk"/>
              </a:rPr>
              <a:t> and wisdom.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1417320"/>
            <a:ext cx="3532327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>
                <a:solidFill>
                  <a:srgbClr val="ECEFEC"/>
                </a:solidFill>
                <a:latin typeface="Hanken Grotesk"/>
                <a:ea typeface="Hanken Grotesk"/>
                <a:cs typeface="Hanken Grotesk"/>
              </a:rPr>
              <a:t>Mivada turns enterprise platforms—Workday, payroll, data and AI—into outcomes people can measure.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3977639"/>
            <a:ext cx="3332378" cy="1993392"/>
          </a:xfrm>
          <a:prstGeom prst="roundRect">
            <a:avLst>
              <a:gd name="adj" fmla="val 6000"/>
            </a:avLst>
          </a:prstGeom>
          <a:solidFill>
            <a:srgbClr val="161E21"/>
          </a:solidFill>
          <a:ln w="12700">
            <a:solidFill>
              <a:srgbClr val="283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251959"/>
            <a:ext cx="287517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5000" b="1" spc="-100">
                <a:solidFill>
                  <a:srgbClr val="34E2A8"/>
                </a:solidFill>
                <a:latin typeface="Hanken Grotesk"/>
                <a:ea typeface="Hanken Grotesk"/>
                <a:cs typeface="Hanken Grotesk"/>
              </a:rPr>
              <a:t>2014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15568" y="5312664"/>
            <a:ext cx="2783738" cy="0"/>
          </a:xfrm>
          <a:prstGeom prst="bentConnector3">
            <a:avLst/>
          </a:prstGeom>
          <a:ln w="9525">
            <a:solidFill>
              <a:srgbClr val="2834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97280" y="5458967"/>
            <a:ext cx="287517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spc="40">
                <a:solidFill>
                  <a:srgbClr val="7E97A1"/>
                </a:solidFill>
                <a:latin typeface="JetBrains Mono"/>
                <a:ea typeface="JetBrains Mono"/>
                <a:cs typeface="JetBrains Mono"/>
              </a:rPr>
              <a:t>founded // formerly LJM Infotech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9658" y="3977639"/>
            <a:ext cx="3332378" cy="1993392"/>
          </a:xfrm>
          <a:prstGeom prst="roundRect">
            <a:avLst>
              <a:gd name="adj" fmla="val 6000"/>
            </a:avLst>
          </a:prstGeom>
          <a:solidFill>
            <a:srgbClr val="161E21"/>
          </a:solidFill>
          <a:ln w="12700">
            <a:solidFill>
              <a:srgbClr val="283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5690" y="4251959"/>
            <a:ext cx="287517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5000" b="1" spc="-100">
                <a:solidFill>
                  <a:srgbClr val="34E2A8"/>
                </a:solidFill>
                <a:latin typeface="Hanken Grotesk"/>
                <a:ea typeface="Hanken Grotesk"/>
                <a:cs typeface="Hanken Grotesk"/>
              </a:rPr>
              <a:t>120+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03978" y="5312664"/>
            <a:ext cx="2783738" cy="0"/>
          </a:xfrm>
          <a:prstGeom prst="bentConnector3">
            <a:avLst/>
          </a:prstGeom>
          <a:ln w="9525">
            <a:solidFill>
              <a:srgbClr val="2834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685690" y="5458967"/>
            <a:ext cx="287517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spc="40">
                <a:solidFill>
                  <a:srgbClr val="7E97A1"/>
                </a:solidFill>
                <a:latin typeface="JetBrains Mono"/>
                <a:ea typeface="JetBrains Mono"/>
                <a:cs typeface="JetBrains Mono"/>
              </a:rPr>
              <a:t>specialists // certified, not generalist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8068" y="3977639"/>
            <a:ext cx="3332378" cy="1993392"/>
          </a:xfrm>
          <a:prstGeom prst="roundRect">
            <a:avLst>
              <a:gd name="adj" fmla="val 6000"/>
            </a:avLst>
          </a:prstGeom>
          <a:solidFill>
            <a:srgbClr val="161E21"/>
          </a:solidFill>
          <a:ln w="12700">
            <a:solidFill>
              <a:srgbClr val="283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4100" y="4251959"/>
            <a:ext cx="287517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5000" b="1" spc="-100">
                <a:solidFill>
                  <a:srgbClr val="34E2A8"/>
                </a:solidFill>
                <a:latin typeface="Hanken Grotesk"/>
                <a:ea typeface="Hanken Grotesk"/>
                <a:cs typeface="Hanken Grotesk"/>
              </a:rPr>
              <a:t>AU·IN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292388" y="5312664"/>
            <a:ext cx="2783739" cy="0"/>
          </a:xfrm>
          <a:prstGeom prst="bentConnector3">
            <a:avLst/>
          </a:prstGeom>
          <a:ln w="9525">
            <a:solidFill>
              <a:srgbClr val="2834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274100" y="5458967"/>
            <a:ext cx="287517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spc="40">
                <a:solidFill>
                  <a:srgbClr val="7E97A1"/>
                </a:solidFill>
                <a:latin typeface="JetBrains Mono"/>
                <a:ea typeface="JetBrains Mono"/>
                <a:cs typeface="JetBrains Mono"/>
              </a:rPr>
              <a:t>onshore Australia + offshore India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dot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841248" y="475488"/>
            <a:ext cx="10509199" cy="0"/>
          </a:xfrm>
          <a:prstGeom prst="bentConnector3">
            <a:avLst/>
          </a:prstGeom>
          <a:ln w="12700">
            <a:solidFill>
              <a:srgbClr val="2834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253167" y="2743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spc="100">
                <a:solidFill>
                  <a:srgbClr val="7E97A1"/>
                </a:solidFill>
                <a:latin typeface="JetBrains Mono"/>
                <a:ea typeface="JetBrains Mono"/>
                <a:cs typeface="JetBrains Mono"/>
              </a:rPr>
              <a:t>[02]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8686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60">
                <a:solidFill>
                  <a:srgbClr val="34E2A8"/>
                </a:solidFill>
                <a:latin typeface="JetBrains Mono"/>
                <a:ea typeface="JetBrains Mono"/>
                <a:cs typeface="JetBrains Mono"/>
              </a:rPr>
              <a:t>// 02 </a:t>
            </a:r>
            <a:r>
              <a:rPr sz="1200" b="0" spc="60">
                <a:solidFill>
                  <a:srgbClr val="7E97A1"/>
                </a:solidFill>
                <a:latin typeface="JetBrains Mono"/>
                <a:ea typeface="JetBrains Mono"/>
                <a:cs typeface="JetBrains Mono"/>
              </a:rPr>
              <a:t>— what we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298448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300" b="1" spc="-20">
                <a:solidFill>
                  <a:srgbClr val="ECEFEC"/>
                </a:solidFill>
                <a:latin typeface="Hanken Grotesk"/>
                <a:ea typeface="Hanken Grotesk"/>
                <a:cs typeface="Hanken Grotesk"/>
              </a:rPr>
              <a:t>Four practices, one operating model.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2331720"/>
            <a:ext cx="5126583" cy="1783080"/>
          </a:xfrm>
          <a:prstGeom prst="roundRect">
            <a:avLst>
              <a:gd name="adj" fmla="val 6000"/>
            </a:avLst>
          </a:prstGeom>
          <a:solidFill>
            <a:srgbClr val="161E21"/>
          </a:solidFill>
          <a:ln w="12700">
            <a:solidFill>
              <a:srgbClr val="283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" y="2624327"/>
            <a:ext cx="41148" cy="1197864"/>
          </a:xfrm>
          <a:prstGeom prst="rect">
            <a:avLst/>
          </a:prstGeom>
          <a:solidFill>
            <a:srgbClr val="34E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606039"/>
            <a:ext cx="45779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spc="60">
                <a:solidFill>
                  <a:srgbClr val="7E97A1"/>
                </a:solidFill>
                <a:latin typeface="JetBrains Mono"/>
                <a:ea typeface="JetBrains Mono"/>
                <a:cs typeface="JetBrains Mono"/>
              </a:rPr>
              <a:t>[01]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2898648"/>
            <a:ext cx="457794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spc="-20">
                <a:solidFill>
                  <a:srgbClr val="ECEFEC"/>
                </a:solidFill>
                <a:latin typeface="Hanken Grotesk"/>
                <a:ea typeface="Hanken Grotesk"/>
                <a:cs typeface="Hanken Grotesk"/>
              </a:rPr>
              <a:t>Workday &amp; ERP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3355848"/>
            <a:ext cx="4559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7E97A1"/>
                </a:solidFill>
                <a:latin typeface="Hanken Grotesk"/>
                <a:ea typeface="Hanken Grotesk"/>
                <a:cs typeface="Hanken Grotesk"/>
              </a:rPr>
              <a:t>Implementation, optimisation and managed support for Workday HCM, Financials and adjacent ERP.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3863" y="2331720"/>
            <a:ext cx="5126583" cy="1783080"/>
          </a:xfrm>
          <a:prstGeom prst="roundRect">
            <a:avLst>
              <a:gd name="adj" fmla="val 6000"/>
            </a:avLst>
          </a:prstGeom>
          <a:solidFill>
            <a:srgbClr val="161E21"/>
          </a:solidFill>
          <a:ln w="12700">
            <a:solidFill>
              <a:srgbClr val="283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23863" y="2624327"/>
            <a:ext cx="41148" cy="1197864"/>
          </a:xfrm>
          <a:prstGeom prst="rect">
            <a:avLst/>
          </a:prstGeom>
          <a:solidFill>
            <a:srgbClr val="34E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3047" y="2606039"/>
            <a:ext cx="45779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spc="60">
                <a:solidFill>
                  <a:srgbClr val="7E97A1"/>
                </a:solidFill>
                <a:latin typeface="JetBrains Mono"/>
                <a:ea typeface="JetBrains Mono"/>
                <a:cs typeface="JetBrains Mono"/>
              </a:rPr>
              <a:t>[02]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3047" y="2898648"/>
            <a:ext cx="457794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spc="-20">
                <a:solidFill>
                  <a:srgbClr val="ECEFEC"/>
                </a:solidFill>
                <a:latin typeface="Hanken Grotesk"/>
                <a:ea typeface="Hanken Grotesk"/>
                <a:cs typeface="Hanken Grotesk"/>
              </a:rPr>
              <a:t>Payroll consulting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047" y="3355848"/>
            <a:ext cx="4559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7E97A1"/>
                </a:solidFill>
                <a:latin typeface="Hanken Grotesk"/>
                <a:ea typeface="Hanken Grotesk"/>
                <a:cs typeface="Hanken Grotesk"/>
              </a:rPr>
              <a:t>Compliant, accurate payroll across complex awards and multi-entity structures.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370831"/>
            <a:ext cx="5126583" cy="1783080"/>
          </a:xfrm>
          <a:prstGeom prst="roundRect">
            <a:avLst>
              <a:gd name="adj" fmla="val 6000"/>
            </a:avLst>
          </a:prstGeom>
          <a:solidFill>
            <a:srgbClr val="161E21"/>
          </a:solidFill>
          <a:ln w="12700">
            <a:solidFill>
              <a:srgbClr val="283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1248" y="4663440"/>
            <a:ext cx="41148" cy="1197864"/>
          </a:xfrm>
          <a:prstGeom prst="rect">
            <a:avLst/>
          </a:prstGeom>
          <a:solidFill>
            <a:srgbClr val="34E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70432" y="4645151"/>
            <a:ext cx="45779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spc="60">
                <a:solidFill>
                  <a:srgbClr val="7E97A1"/>
                </a:solidFill>
                <a:latin typeface="JetBrains Mono"/>
                <a:ea typeface="JetBrains Mono"/>
                <a:cs typeface="JetBrains Mono"/>
              </a:rPr>
              <a:t>[03]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4937759"/>
            <a:ext cx="457794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spc="-20">
                <a:solidFill>
                  <a:srgbClr val="ECEFEC"/>
                </a:solidFill>
                <a:latin typeface="Hanken Grotesk"/>
                <a:ea typeface="Hanken Grotesk"/>
                <a:cs typeface="Hanken Grotesk"/>
              </a:rPr>
              <a:t>Data &amp;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5394959"/>
            <a:ext cx="4559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7E97A1"/>
                </a:solidFill>
                <a:latin typeface="Hanken Grotesk"/>
                <a:ea typeface="Hanken Grotesk"/>
                <a:cs typeface="Hanken Grotesk"/>
              </a:rPr>
              <a:t>Lakehouse architecture, governed analytics and applied AI on your people and finance data.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3863" y="4370831"/>
            <a:ext cx="5126583" cy="1783080"/>
          </a:xfrm>
          <a:prstGeom prst="roundRect">
            <a:avLst>
              <a:gd name="adj" fmla="val 6000"/>
            </a:avLst>
          </a:prstGeom>
          <a:solidFill>
            <a:srgbClr val="161E21"/>
          </a:solidFill>
          <a:ln w="12700">
            <a:solidFill>
              <a:srgbClr val="283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23863" y="4663440"/>
            <a:ext cx="41148" cy="1197864"/>
          </a:xfrm>
          <a:prstGeom prst="rect">
            <a:avLst/>
          </a:prstGeom>
          <a:solidFill>
            <a:srgbClr val="34E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047" y="4645151"/>
            <a:ext cx="45779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spc="60">
                <a:solidFill>
                  <a:srgbClr val="7E97A1"/>
                </a:solidFill>
                <a:latin typeface="JetBrains Mono"/>
                <a:ea typeface="JetBrains Mono"/>
                <a:cs typeface="JetBrains Mono"/>
              </a:rPr>
              <a:t>[04]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53047" y="4937759"/>
            <a:ext cx="457794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spc="-20">
                <a:solidFill>
                  <a:srgbClr val="ECEFEC"/>
                </a:solidFill>
                <a:latin typeface="Hanken Grotesk"/>
                <a:ea typeface="Hanken Grotesk"/>
                <a:cs typeface="Hanken Grotesk"/>
              </a:rPr>
              <a:t>Intelligent automation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53047" y="5394959"/>
            <a:ext cx="4559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7E97A1"/>
                </a:solidFill>
                <a:latin typeface="Hanken Grotesk"/>
                <a:ea typeface="Hanken Grotesk"/>
                <a:cs typeface="Hanken Grotesk"/>
              </a:rPr>
              <a:t>RPA, ML and process design combined to remove low-value work.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dot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841248" y="475488"/>
            <a:ext cx="10509199" cy="0"/>
          </a:xfrm>
          <a:prstGeom prst="bentConnector3">
            <a:avLst/>
          </a:prstGeom>
          <a:ln w="12700">
            <a:solidFill>
              <a:srgbClr val="2834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253167" y="2743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spc="100">
                <a:solidFill>
                  <a:srgbClr val="7E97A1"/>
                </a:solidFill>
                <a:latin typeface="JetBrains Mono"/>
                <a:ea typeface="JetBrains Mono"/>
                <a:cs typeface="JetBrains Mono"/>
              </a:rPr>
              <a:t>[03]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8686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60">
                <a:solidFill>
                  <a:srgbClr val="34E2A8"/>
                </a:solidFill>
                <a:latin typeface="JetBrains Mono"/>
                <a:ea typeface="JetBrains Mono"/>
                <a:cs typeface="JetBrains Mono"/>
              </a:rPr>
              <a:t>// 03 </a:t>
            </a:r>
            <a:r>
              <a:rPr sz="1200" b="0" spc="60">
                <a:solidFill>
                  <a:srgbClr val="7E97A1"/>
                </a:solidFill>
                <a:latin typeface="JetBrains Mono"/>
                <a:ea typeface="JetBrains Mono"/>
                <a:cs typeface="JetBrains Mono"/>
              </a:rPr>
              <a:t>— how we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298448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300" b="1" spc="-20">
                <a:solidFill>
                  <a:srgbClr val="ECEFEC"/>
                </a:solidFill>
                <a:latin typeface="Hanken Grotesk"/>
                <a:ea typeface="Hanken Grotesk"/>
                <a:cs typeface="Hanken Grotesk"/>
              </a:rPr>
              <a:t>Think human first.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32688" y="3931920"/>
            <a:ext cx="10326319" cy="0"/>
          </a:xfrm>
          <a:prstGeom prst="bentConnector3">
            <a:avLst/>
          </a:prstGeom>
          <a:ln w="12700">
            <a:solidFill>
              <a:srgbClr val="2834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41248" y="3218687"/>
            <a:ext cx="23529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60">
                <a:solidFill>
                  <a:srgbClr val="7E97A1"/>
                </a:solidFill>
                <a:latin typeface="JetBrains Mono"/>
                <a:ea typeface="JetBrains Mono"/>
                <a:cs typeface="JetBrains Mono"/>
              </a:rPr>
              <a:t>01</a:t>
            </a:r>
            <a:r>
              <a:rPr sz="1300" b="1" spc="60">
                <a:solidFill>
                  <a:srgbClr val="34E2A8"/>
                </a:solidFill>
                <a:latin typeface="JetBrains Mono"/>
                <a:ea typeface="JetBrains Mono"/>
                <a:cs typeface="JetBrains Mono"/>
              </a:rPr>
              <a:t>  →</a:t>
            </a:r>
          </a:p>
        </p:txBody>
      </p:sp>
      <p:sp>
        <p:nvSpPr>
          <p:cNvPr id="10" name="Oval 9"/>
          <p:cNvSpPr/>
          <p:nvPr/>
        </p:nvSpPr>
        <p:spPr>
          <a:xfrm>
            <a:off x="763524" y="3854196"/>
            <a:ext cx="155448" cy="155448"/>
          </a:xfrm>
          <a:prstGeom prst="ellipse">
            <a:avLst/>
          </a:prstGeom>
          <a:solidFill>
            <a:srgbClr val="0E1416"/>
          </a:solidFill>
          <a:ln w="25400">
            <a:solidFill>
              <a:srgbClr val="34E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4206240"/>
            <a:ext cx="22158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spc="-20">
                <a:solidFill>
                  <a:srgbClr val="ECEFEC"/>
                </a:solidFill>
                <a:latin typeface="Hanken Grotesk"/>
                <a:ea typeface="Hanken Grotesk"/>
                <a:cs typeface="Hanken Grotesk"/>
              </a:rPr>
              <a:t>Listen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4700016"/>
            <a:ext cx="21700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</a:pPr>
            <a:r>
              <a:rPr sz="1300" b="0">
                <a:solidFill>
                  <a:srgbClr val="7E97A1"/>
                </a:solidFill>
                <a:latin typeface="Hanken Grotesk"/>
                <a:ea typeface="Hanken Grotesk"/>
                <a:cs typeface="Hanken Grotesk"/>
              </a:rPr>
              <a:t>Understand the people and the work before the technology.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8547" y="3218687"/>
            <a:ext cx="23529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60">
                <a:solidFill>
                  <a:srgbClr val="7E97A1"/>
                </a:solidFill>
                <a:latin typeface="JetBrains Mono"/>
                <a:ea typeface="JetBrains Mono"/>
                <a:cs typeface="JetBrains Mono"/>
              </a:rPr>
              <a:t>02</a:t>
            </a:r>
            <a:r>
              <a:rPr sz="1300" b="1" spc="60">
                <a:solidFill>
                  <a:srgbClr val="34E2A8"/>
                </a:solidFill>
                <a:latin typeface="JetBrains Mono"/>
                <a:ea typeface="JetBrains Mono"/>
                <a:cs typeface="JetBrains Mono"/>
              </a:rPr>
              <a:t>  →</a:t>
            </a:r>
          </a:p>
        </p:txBody>
      </p:sp>
      <p:sp>
        <p:nvSpPr>
          <p:cNvPr id="14" name="Oval 13"/>
          <p:cNvSpPr/>
          <p:nvPr/>
        </p:nvSpPr>
        <p:spPr>
          <a:xfrm>
            <a:off x="3390823" y="3854196"/>
            <a:ext cx="155448" cy="155448"/>
          </a:xfrm>
          <a:prstGeom prst="ellipse">
            <a:avLst/>
          </a:prstGeom>
          <a:solidFill>
            <a:srgbClr val="0E1416"/>
          </a:solidFill>
          <a:ln w="25400">
            <a:solidFill>
              <a:srgbClr val="34E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68547" y="4206240"/>
            <a:ext cx="22158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spc="-20">
                <a:solidFill>
                  <a:srgbClr val="ECEFEC"/>
                </a:solidFill>
                <a:latin typeface="Hanken Grotesk"/>
                <a:ea typeface="Hanken Grotesk"/>
                <a:cs typeface="Hanken Grotesk"/>
              </a:rPr>
              <a:t>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68547" y="4700016"/>
            <a:ext cx="21700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</a:pPr>
            <a:r>
              <a:rPr sz="1300" b="0">
                <a:solidFill>
                  <a:srgbClr val="7E97A1"/>
                </a:solidFill>
                <a:latin typeface="Hanken Grotesk"/>
                <a:ea typeface="Hanken Grotesk"/>
                <a:cs typeface="Hanken Grotesk"/>
              </a:rPr>
              <a:t>Shape the platform around how teams actually operate.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5847" y="3218687"/>
            <a:ext cx="23529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60">
                <a:solidFill>
                  <a:srgbClr val="7E97A1"/>
                </a:solidFill>
                <a:latin typeface="JetBrains Mono"/>
                <a:ea typeface="JetBrains Mono"/>
                <a:cs typeface="JetBrains Mono"/>
              </a:rPr>
              <a:t>03</a:t>
            </a:r>
            <a:r>
              <a:rPr sz="1300" b="1" spc="60">
                <a:solidFill>
                  <a:srgbClr val="34E2A8"/>
                </a:solidFill>
                <a:latin typeface="JetBrains Mono"/>
                <a:ea typeface="JetBrains Mono"/>
                <a:cs typeface="JetBrains Mono"/>
              </a:rPr>
              <a:t>  →</a:t>
            </a:r>
          </a:p>
        </p:txBody>
      </p:sp>
      <p:sp>
        <p:nvSpPr>
          <p:cNvPr id="18" name="Oval 17"/>
          <p:cNvSpPr/>
          <p:nvPr/>
        </p:nvSpPr>
        <p:spPr>
          <a:xfrm>
            <a:off x="6018123" y="3854196"/>
            <a:ext cx="155448" cy="155448"/>
          </a:xfrm>
          <a:prstGeom prst="ellipse">
            <a:avLst/>
          </a:prstGeom>
          <a:solidFill>
            <a:srgbClr val="0E1416"/>
          </a:solidFill>
          <a:ln w="25400">
            <a:solidFill>
              <a:srgbClr val="34E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5847" y="4206240"/>
            <a:ext cx="22158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spc="-20">
                <a:solidFill>
                  <a:srgbClr val="ECEFEC"/>
                </a:solidFill>
                <a:latin typeface="Hanken Grotesk"/>
                <a:ea typeface="Hanken Grotesk"/>
                <a:cs typeface="Hanken Grotesk"/>
              </a:rPr>
              <a:t>Deliver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5847" y="4700016"/>
            <a:ext cx="21700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</a:pPr>
            <a:r>
              <a:rPr sz="1300" b="0">
                <a:solidFill>
                  <a:srgbClr val="7E97A1"/>
                </a:solidFill>
                <a:latin typeface="Hanken Grotesk"/>
                <a:ea typeface="Hanken Grotesk"/>
                <a:cs typeface="Hanken Grotesk"/>
              </a:rPr>
              <a:t>Implement in weeks-long increments, not multi-year programs.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23147" y="3218687"/>
            <a:ext cx="23529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60">
                <a:solidFill>
                  <a:srgbClr val="7E97A1"/>
                </a:solidFill>
                <a:latin typeface="JetBrains Mono"/>
                <a:ea typeface="JetBrains Mono"/>
                <a:cs typeface="JetBrains Mono"/>
              </a:rPr>
              <a:t>04</a:t>
            </a:r>
            <a:r>
              <a:rPr sz="1300" b="1" spc="60">
                <a:solidFill>
                  <a:srgbClr val="34E2A8"/>
                </a:solidFill>
                <a:latin typeface="JetBrains Mono"/>
                <a:ea typeface="JetBrains Mono"/>
                <a:cs typeface="JetBrains Mono"/>
              </a:rPr>
              <a:t/>
            </a:r>
          </a:p>
        </p:txBody>
      </p:sp>
      <p:sp>
        <p:nvSpPr>
          <p:cNvPr id="22" name="Oval 21"/>
          <p:cNvSpPr/>
          <p:nvPr/>
        </p:nvSpPr>
        <p:spPr>
          <a:xfrm>
            <a:off x="8645423" y="3854196"/>
            <a:ext cx="155448" cy="155448"/>
          </a:xfrm>
          <a:prstGeom prst="ellipse">
            <a:avLst/>
          </a:prstGeom>
          <a:solidFill>
            <a:srgbClr val="0E1416"/>
          </a:solidFill>
          <a:ln w="25400">
            <a:solidFill>
              <a:srgbClr val="34E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23147" y="4206240"/>
            <a:ext cx="22158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spc="-20">
                <a:solidFill>
                  <a:srgbClr val="ECEFEC"/>
                </a:solidFill>
                <a:latin typeface="Hanken Grotesk"/>
                <a:ea typeface="Hanken Grotesk"/>
                <a:cs typeface="Hanken Grotesk"/>
              </a:rPr>
              <a:t>Care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23147" y="4700016"/>
            <a:ext cx="21700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</a:pPr>
            <a:r>
              <a:rPr sz="1300" b="0">
                <a:solidFill>
                  <a:srgbClr val="7E97A1"/>
                </a:solidFill>
                <a:latin typeface="Hanken Grotesk"/>
                <a:ea typeface="Hanken Grotesk"/>
                <a:cs typeface="Hanken Grotesk"/>
              </a:rPr>
              <a:t>Stay on after go-live; measure outcomes, not tickets closed.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dotgrid_m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841248" y="475488"/>
            <a:ext cx="10509199" cy="0"/>
          </a:xfrm>
          <a:prstGeom prst="bentConnector3">
            <a:avLst/>
          </a:prstGeom>
          <a:ln w="12700">
            <a:solidFill>
              <a:srgbClr val="2834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253167" y="2743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spc="100">
                <a:solidFill>
                  <a:srgbClr val="7E97A1"/>
                </a:solidFill>
                <a:latin typeface="JetBrains Mono"/>
                <a:ea typeface="JetBrains Mono"/>
                <a:cs typeface="JetBrains Mono"/>
              </a:rPr>
              <a:t>[04]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1887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60">
                <a:solidFill>
                  <a:srgbClr val="34E2A8"/>
                </a:solidFill>
                <a:latin typeface="JetBrains Mono"/>
                <a:ea typeface="JetBrains Mono"/>
                <a:cs typeface="JetBrains Mono"/>
              </a:rPr>
              <a:t>// 04 </a:t>
            </a:r>
            <a:r>
              <a:rPr sz="1200" b="0" spc="60">
                <a:solidFill>
                  <a:srgbClr val="7E97A1"/>
                </a:solidFill>
                <a:latin typeface="JetBrains Mono"/>
                <a:ea typeface="JetBrains Mono"/>
                <a:cs typeface="JetBrains Mono"/>
              </a:rPr>
              <a:t>— data &amp;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627632"/>
            <a:ext cx="3383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 spc="-20">
                <a:solidFill>
                  <a:srgbClr val="ECEFEC"/>
                </a:solidFill>
                <a:latin typeface="Hanken Grotesk"/>
                <a:ea typeface="Hanken Grotesk"/>
                <a:cs typeface="Hanken Grotesk"/>
              </a:rPr>
              <a:t>Governed data, in real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127248"/>
            <a:ext cx="3200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6000"/>
              </a:lnSpc>
            </a:pPr>
            <a:r>
              <a:rPr sz="1500" b="0">
                <a:solidFill>
                  <a:srgbClr val="7E97A1"/>
                </a:solidFill>
                <a:latin typeface="Hanken Grotesk"/>
                <a:ea typeface="Hanken Grotesk"/>
                <a:cs typeface="Hanken Grotesk"/>
              </a:rPr>
              <a:t>Certified consultants integrate Databricks with Workday, payroll and finance—so leaders decide on current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2692908"/>
            <a:ext cx="1431721" cy="1874519"/>
          </a:xfrm>
          <a:prstGeom prst="roundRect">
            <a:avLst>
              <a:gd name="adj" fmla="val 6000"/>
            </a:avLst>
          </a:prstGeom>
          <a:solidFill>
            <a:srgbClr val="131B1E"/>
          </a:solidFill>
          <a:ln w="12700">
            <a:solidFill>
              <a:srgbClr val="283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90872" y="2875788"/>
            <a:ext cx="11391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40">
                <a:solidFill>
                  <a:srgbClr val="34E2A8"/>
                </a:solidFill>
                <a:latin typeface="JetBrains Mono"/>
                <a:ea typeface="JetBrains Mono"/>
                <a:cs typeface="JetBrains Mono"/>
              </a:rPr>
              <a:t>[01]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0872" y="3223260"/>
            <a:ext cx="115740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 spc="-30">
                <a:solidFill>
                  <a:srgbClr val="ECEFEC"/>
                </a:solidFill>
                <a:latin typeface="Hanken Grotesk"/>
                <a:ea typeface="Hanken Grotesk"/>
                <a:cs typeface="Hanken Grotesk"/>
              </a:rPr>
              <a:t>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0872" y="4000500"/>
            <a:ext cx="115740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spc="20">
                <a:solidFill>
                  <a:srgbClr val="7E97A1"/>
                </a:solidFill>
                <a:latin typeface="JetBrains Mono"/>
                <a:ea typeface="JetBrains Mono"/>
                <a:cs typeface="JetBrains Mono"/>
              </a:rPr>
              <a:t>Workday · payroll · finance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58001" y="344728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spc="60">
                <a:solidFill>
                  <a:srgbClr val="34E2A8"/>
                </a:solidFill>
                <a:latin typeface="JetBrains Mono"/>
                <a:ea typeface="JetBrains Mono"/>
                <a:cs typeface="JetBrains Mono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3761" y="2692908"/>
            <a:ext cx="1431721" cy="1874519"/>
          </a:xfrm>
          <a:prstGeom prst="roundRect">
            <a:avLst>
              <a:gd name="adj" fmla="val 6000"/>
            </a:avLst>
          </a:prstGeom>
          <a:solidFill>
            <a:srgbClr val="131B1E"/>
          </a:solidFill>
          <a:ln w="12700">
            <a:solidFill>
              <a:srgbClr val="283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8353" y="2875788"/>
            <a:ext cx="11391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40">
                <a:solidFill>
                  <a:srgbClr val="34E2A8"/>
                </a:solidFill>
                <a:latin typeface="JetBrains Mono"/>
                <a:ea typeface="JetBrains Mono"/>
                <a:cs typeface="JetBrains Mono"/>
              </a:rPr>
              <a:t>[02]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8353" y="3223260"/>
            <a:ext cx="115740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 spc="-30">
                <a:solidFill>
                  <a:srgbClr val="ECEFEC"/>
                </a:solidFill>
                <a:latin typeface="Hanken Grotesk"/>
                <a:ea typeface="Hanken Grotesk"/>
                <a:cs typeface="Hanken Grotesk"/>
              </a:rPr>
              <a:t>Delta Lake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8353" y="4000500"/>
            <a:ext cx="115740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spc="20">
                <a:solidFill>
                  <a:srgbClr val="7E97A1"/>
                </a:solidFill>
                <a:latin typeface="JetBrains Mono"/>
                <a:ea typeface="JetBrains Mono"/>
                <a:cs typeface="JetBrains Mono"/>
              </a:rPr>
              <a:t>batch + streaming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55483" y="344728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spc="60">
                <a:solidFill>
                  <a:srgbClr val="34E2A8"/>
                </a:solidFill>
                <a:latin typeface="JetBrains Mono"/>
                <a:ea typeface="JetBrains Mono"/>
                <a:cs typeface="JetBrains Mono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21243" y="2692908"/>
            <a:ext cx="1431721" cy="1874519"/>
          </a:xfrm>
          <a:prstGeom prst="roundRect">
            <a:avLst>
              <a:gd name="adj" fmla="val 6000"/>
            </a:avLst>
          </a:prstGeom>
          <a:solidFill>
            <a:srgbClr val="131B1E"/>
          </a:solidFill>
          <a:ln w="12700">
            <a:solidFill>
              <a:srgbClr val="283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5835" y="2875788"/>
            <a:ext cx="11391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40">
                <a:solidFill>
                  <a:srgbClr val="34E2A8"/>
                </a:solidFill>
                <a:latin typeface="JetBrains Mono"/>
                <a:ea typeface="JetBrains Mono"/>
                <a:cs typeface="JetBrains Mono"/>
              </a:rPr>
              <a:t>[03]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5835" y="3223260"/>
            <a:ext cx="115740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 spc="-30">
                <a:solidFill>
                  <a:srgbClr val="ECEFEC"/>
                </a:solidFill>
                <a:latin typeface="Hanken Grotesk"/>
                <a:ea typeface="Hanken Grotesk"/>
                <a:cs typeface="Hanken Grotesk"/>
              </a:rPr>
              <a:t>Governed KPI store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5835" y="4000500"/>
            <a:ext cx="115740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spc="20">
                <a:solidFill>
                  <a:srgbClr val="7E97A1"/>
                </a:solidFill>
                <a:latin typeface="JetBrains Mono"/>
                <a:ea typeface="JetBrains Mono"/>
                <a:cs typeface="JetBrains Mono"/>
              </a:rPr>
              <a:t>one trusted definition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2965" y="344728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spc="60">
                <a:solidFill>
                  <a:srgbClr val="34E2A8"/>
                </a:solidFill>
                <a:latin typeface="JetBrains Mono"/>
                <a:ea typeface="JetBrains Mono"/>
                <a:cs typeface="JetBrains Mono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18725" y="2692908"/>
            <a:ext cx="1431721" cy="1874519"/>
          </a:xfrm>
          <a:prstGeom prst="roundRect">
            <a:avLst>
              <a:gd name="adj" fmla="val 6000"/>
            </a:avLst>
          </a:prstGeom>
          <a:solidFill>
            <a:srgbClr val="131B1E"/>
          </a:solidFill>
          <a:ln w="12700">
            <a:solidFill>
              <a:srgbClr val="283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83317" y="2875788"/>
            <a:ext cx="11391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40">
                <a:solidFill>
                  <a:srgbClr val="34E2A8"/>
                </a:solidFill>
                <a:latin typeface="JetBrains Mono"/>
                <a:ea typeface="JetBrains Mono"/>
                <a:cs typeface="JetBrains Mono"/>
              </a:rPr>
              <a:t>[04]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83317" y="3223260"/>
            <a:ext cx="115740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 spc="-30">
                <a:solidFill>
                  <a:srgbClr val="ECEFEC"/>
                </a:solidFill>
                <a:latin typeface="Hanken Grotesk"/>
                <a:ea typeface="Hanken Grotesk"/>
                <a:cs typeface="Hanken Grotesk"/>
              </a:rPr>
              <a:t>Real-time insight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83317" y="4000500"/>
            <a:ext cx="115740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spc="20">
                <a:solidFill>
                  <a:srgbClr val="7E97A1"/>
                </a:solidFill>
                <a:latin typeface="JetBrains Mono"/>
                <a:ea typeface="JetBrains Mono"/>
                <a:cs typeface="JetBrains Mono"/>
              </a:rPr>
              <a:t>decide on current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dot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841248" y="475488"/>
            <a:ext cx="10509199" cy="0"/>
          </a:xfrm>
          <a:prstGeom prst="bentConnector3">
            <a:avLst/>
          </a:prstGeom>
          <a:ln w="12700">
            <a:solidFill>
              <a:srgbClr val="2834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253167" y="2743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spc="100">
                <a:solidFill>
                  <a:srgbClr val="7E97A1"/>
                </a:solidFill>
                <a:latin typeface="JetBrains Mono"/>
                <a:ea typeface="JetBrains Mono"/>
                <a:cs typeface="JetBrains Mono"/>
              </a:rPr>
              <a:t>[05]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8686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60">
                <a:solidFill>
                  <a:srgbClr val="34E2A8"/>
                </a:solidFill>
                <a:latin typeface="JetBrains Mono"/>
                <a:ea typeface="JetBrains Mono"/>
                <a:cs typeface="JetBrains Mono"/>
              </a:rPr>
              <a:t>// 05 </a:t>
            </a:r>
            <a:r>
              <a:rPr sz="1200" b="0" spc="60">
                <a:solidFill>
                  <a:srgbClr val="7E97A1"/>
                </a:solidFill>
                <a:latin typeface="JetBrains Mono"/>
                <a:ea typeface="JetBrains Mono"/>
                <a:cs typeface="JetBrains Mono"/>
              </a:rPr>
              <a:t>— outcomes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298448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300" b="1" spc="-20">
                <a:solidFill>
                  <a:srgbClr val="ECEFEC"/>
                </a:solidFill>
                <a:latin typeface="Hanken Grotesk"/>
                <a:ea typeface="Hanken Grotesk"/>
                <a:cs typeface="Hanken Grotesk"/>
              </a:rPr>
              <a:t>Measured, not promised.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240280"/>
            <a:ext cx="3274466" cy="11887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86000"/>
              </a:lnSpc>
            </a:pPr>
            <a:r>
              <a:rPr sz="8400" b="1" spc="-200">
                <a:solidFill>
                  <a:srgbClr val="34E2A8"/>
                </a:solidFill>
                <a:latin typeface="Hanken Grotesk"/>
                <a:ea typeface="Hanken Grotesk"/>
                <a:cs typeface="Hanken Grotesk"/>
              </a:rPr>
              <a:t>40+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429000"/>
            <a:ext cx="31373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40">
                <a:solidFill>
                  <a:srgbClr val="7E97A1"/>
                </a:solidFill>
                <a:latin typeface="JetBrains Mono"/>
                <a:ea typeface="JetBrains Mono"/>
                <a:cs typeface="JetBrains Mono"/>
              </a:rPr>
              <a:t>Workday deployments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4314" y="2240280"/>
            <a:ext cx="3274466" cy="11887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86000"/>
              </a:lnSpc>
            </a:pPr>
            <a:r>
              <a:rPr sz="8400" b="1" spc="-200">
                <a:solidFill>
                  <a:srgbClr val="34E2A8"/>
                </a:solidFill>
                <a:latin typeface="Hanken Grotesk"/>
                <a:ea typeface="Hanken Grotesk"/>
                <a:cs typeface="Hanken Grotesk"/>
              </a:rPr>
              <a:t>98%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4314" y="3429000"/>
            <a:ext cx="31373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40">
                <a:solidFill>
                  <a:srgbClr val="7E97A1"/>
                </a:solidFill>
                <a:latin typeface="JetBrains Mono"/>
                <a:ea typeface="JetBrains Mono"/>
                <a:cs typeface="JetBrains Mono"/>
              </a:rPr>
              <a:t>client retention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47380" y="2240280"/>
            <a:ext cx="3274466" cy="11887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86000"/>
              </a:lnSpc>
            </a:pPr>
            <a:r>
              <a:rPr sz="6400" b="1" spc="-200">
                <a:solidFill>
                  <a:srgbClr val="34E2A8"/>
                </a:solidFill>
                <a:latin typeface="Hanken Grotesk"/>
                <a:ea typeface="Hanken Grotesk"/>
                <a:cs typeface="Hanken Grotesk"/>
              </a:rPr>
              <a:t>weeks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47380" y="3429000"/>
            <a:ext cx="31373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40">
                <a:solidFill>
                  <a:srgbClr val="7E97A1"/>
                </a:solidFill>
                <a:latin typeface="JetBrains Mono"/>
                <a:ea typeface="JetBrains Mono"/>
                <a:cs typeface="JetBrains Mono"/>
              </a:rPr>
              <a:t>to value, not months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41248" y="4434840"/>
            <a:ext cx="10509199" cy="0"/>
          </a:xfrm>
          <a:prstGeom prst="bentConnector3">
            <a:avLst/>
          </a:prstGeom>
          <a:ln w="12700">
            <a:solidFill>
              <a:srgbClr val="2834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41248" y="4526279"/>
            <a:ext cx="822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70000"/>
              </a:lnSpc>
            </a:pPr>
            <a:r>
              <a:rPr sz="5600" b="1">
                <a:solidFill>
                  <a:srgbClr val="28343A"/>
                </a:solidFill>
                <a:latin typeface="Hanken Grotesk"/>
                <a:ea typeface="Hanken Grotesk"/>
                <a:cs typeface="Hanken Grotesk"/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09928" y="4745736"/>
            <a:ext cx="8503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300" b="1" spc="-20">
                <a:solidFill>
                  <a:srgbClr val="ECEFEC"/>
                </a:solidFill>
                <a:latin typeface="Hanken Grotesk"/>
                <a:ea typeface="Hanken Grotesk"/>
                <a:cs typeface="Hanken Grotesk"/>
              </a:rPr>
              <a:t>They stayed after go-live and measured what changed—our team actually uses the platform.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9928" y="5733288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40">
                <a:solidFill>
                  <a:srgbClr val="7E97A1"/>
                </a:solidFill>
                <a:latin typeface="JetBrains Mono"/>
                <a:ea typeface="JetBrains Mono"/>
                <a:cs typeface="JetBrains Mono"/>
              </a:rPr>
              <a:t>— Programme lead, enterprise client  //  illustrative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dot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841248" y="475488"/>
            <a:ext cx="10509199" cy="0"/>
          </a:xfrm>
          <a:prstGeom prst="bentConnector3">
            <a:avLst/>
          </a:prstGeom>
          <a:ln w="12700">
            <a:solidFill>
              <a:srgbClr val="2834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253167" y="2743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spc="100">
                <a:solidFill>
                  <a:srgbClr val="7E97A1"/>
                </a:solidFill>
                <a:latin typeface="JetBrains Mono"/>
                <a:ea typeface="JetBrains Mono"/>
                <a:cs typeface="JetBrains Mono"/>
              </a:rPr>
              <a:t>[06]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8686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60">
                <a:solidFill>
                  <a:srgbClr val="34E2A8"/>
                </a:solidFill>
                <a:latin typeface="JetBrains Mono"/>
                <a:ea typeface="JetBrains Mono"/>
                <a:cs typeface="JetBrains Mono"/>
              </a:rPr>
              <a:t>// 06 </a:t>
            </a:r>
            <a:r>
              <a:rPr sz="1200" b="0" spc="60">
                <a:solidFill>
                  <a:srgbClr val="7E97A1"/>
                </a:solidFill>
                <a:latin typeface="JetBrains Mono"/>
                <a:ea typeface="JetBrains Mono"/>
                <a:cs typeface="JetBrains Mono"/>
              </a:rPr>
              <a:t>— why mivada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298448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300" b="1" spc="-20">
                <a:solidFill>
                  <a:srgbClr val="ECEFEC"/>
                </a:solidFill>
                <a:latin typeface="Hanken Grotesk"/>
                <a:ea typeface="Hanken Grotesk"/>
                <a:cs typeface="Hanken Grotesk"/>
              </a:rPr>
              <a:t>Three reasons teams stay.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2542032"/>
            <a:ext cx="10509199" cy="0"/>
          </a:xfrm>
          <a:prstGeom prst="bentConnector3">
            <a:avLst/>
          </a:prstGeom>
          <a:ln w="12700">
            <a:solidFill>
              <a:srgbClr val="2834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41248" y="2834639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spc="60">
                <a:solidFill>
                  <a:srgbClr val="34E2A8"/>
                </a:solidFill>
                <a:latin typeface="JetBrains Mono"/>
                <a:ea typeface="JetBrains Mono"/>
                <a:cs typeface="JetBrains Mono"/>
              </a:rPr>
              <a:t>[01]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01368" y="2761487"/>
            <a:ext cx="8961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spc="-30">
                <a:solidFill>
                  <a:srgbClr val="ECEFEC"/>
                </a:solidFill>
                <a:latin typeface="Hanken Grotesk"/>
                <a:ea typeface="Hanken Grotesk"/>
                <a:cs typeface="Hanken Grotesk"/>
              </a:rPr>
              <a:t>Certified specialists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01368" y="3218687"/>
            <a:ext cx="8961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7E97A1"/>
                </a:solidFill>
                <a:latin typeface="Hanken Grotesk"/>
                <a:ea typeface="Hanken Grotesk"/>
                <a:cs typeface="Hanken Grotesk"/>
              </a:rPr>
              <a:t>Workday- and Databricks-certified consultants, not generalists.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41248" y="3730752"/>
            <a:ext cx="10509199" cy="0"/>
          </a:xfrm>
          <a:prstGeom prst="bentConnector3">
            <a:avLst/>
          </a:prstGeom>
          <a:ln w="12700">
            <a:solidFill>
              <a:srgbClr val="2834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41248" y="402336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spc="60">
                <a:solidFill>
                  <a:srgbClr val="34E2A8"/>
                </a:solidFill>
                <a:latin typeface="JetBrains Mono"/>
                <a:ea typeface="JetBrains Mono"/>
                <a:cs typeface="JetBrains Mono"/>
              </a:rPr>
              <a:t>[02]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1368" y="3950208"/>
            <a:ext cx="8961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spc="-30">
                <a:solidFill>
                  <a:srgbClr val="ECEFEC"/>
                </a:solidFill>
                <a:latin typeface="Hanken Grotesk"/>
                <a:ea typeface="Hanken Grotesk"/>
                <a:cs typeface="Hanken Grotesk"/>
              </a:rPr>
              <a:t>Onshore + offshore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01368" y="4407408"/>
            <a:ext cx="8961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7E97A1"/>
                </a:solidFill>
                <a:latin typeface="Hanken Grotesk"/>
                <a:ea typeface="Hanken Grotesk"/>
                <a:cs typeface="Hanken Grotesk"/>
              </a:rPr>
              <a:t>Senior onshore leadership with cost-effective India delivery.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41248" y="4919472"/>
            <a:ext cx="10509199" cy="0"/>
          </a:xfrm>
          <a:prstGeom prst="bentConnector3">
            <a:avLst/>
          </a:prstGeom>
          <a:ln w="12700">
            <a:solidFill>
              <a:srgbClr val="2834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41248" y="521208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spc="60">
                <a:solidFill>
                  <a:srgbClr val="34E2A8"/>
                </a:solidFill>
                <a:latin typeface="JetBrains Mono"/>
                <a:ea typeface="JetBrains Mono"/>
                <a:cs typeface="JetBrains Mono"/>
              </a:rPr>
              <a:t>[03]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01368" y="5138928"/>
            <a:ext cx="8961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spc="-30">
                <a:solidFill>
                  <a:srgbClr val="ECEFEC"/>
                </a:solidFill>
                <a:latin typeface="Hanken Grotesk"/>
                <a:ea typeface="Hanken Grotesk"/>
                <a:cs typeface="Hanken Grotesk"/>
              </a:rPr>
              <a:t>People-first change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01368" y="5596128"/>
            <a:ext cx="8961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7E97A1"/>
                </a:solidFill>
                <a:latin typeface="Hanken Grotesk"/>
                <a:ea typeface="Hanken Grotesk"/>
                <a:cs typeface="Hanken Grotesk"/>
              </a:rPr>
              <a:t>Adoption built in from day one, so platforms actually get used.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41248" y="6108192"/>
            <a:ext cx="10509199" cy="0"/>
          </a:xfrm>
          <a:prstGeom prst="bentConnector3">
            <a:avLst/>
          </a:prstGeom>
          <a:ln w="12700">
            <a:solidFill>
              <a:srgbClr val="2834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dot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" y="42062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70">
                <a:solidFill>
                  <a:srgbClr val="7E97A1"/>
                </a:solidFill>
                <a:latin typeface="JetBrains Mono"/>
                <a:ea typeface="JetBrains Mono"/>
                <a:cs typeface="JetBrains Mono"/>
              </a:rPr>
              <a:t>mivada.com  //  let's talk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10312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 spc="-100">
                <a:solidFill>
                  <a:srgbClr val="ECEFEC"/>
                </a:solidFill>
                <a:latin typeface="Hanken Grotesk"/>
                <a:ea typeface="Hanken Grotesk"/>
                <a:cs typeface="Hanken Grotesk"/>
              </a:rPr>
              <a:t>Let's build smarter systems, with people at the </a:t>
            </a:r>
            <a:r>
              <a:rPr sz="5000" b="1" spc="-100">
                <a:solidFill>
                  <a:srgbClr val="34E2A8"/>
                </a:solidFill>
                <a:latin typeface="Hanken Grotesk"/>
                <a:ea typeface="Hanken Grotesk"/>
                <a:cs typeface="Hanken Grotesk"/>
              </a:rPr>
              <a:t>centre.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1605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30">
                <a:solidFill>
                  <a:srgbClr val="34E2A8"/>
                </a:solidFill>
                <a:latin typeface="JetBrains Mono"/>
                <a:ea typeface="JetBrains Mono"/>
                <a:cs typeface="JetBrains Mono"/>
              </a:rPr>
              <a:t>hello@mivada.com</a:t>
            </a:r>
            <a:r>
              <a:rPr sz="1500" b="0" spc="30">
                <a:solidFill>
                  <a:srgbClr val="ECEFEC"/>
                </a:solidFill>
                <a:latin typeface="JetBrains Mono"/>
                <a:ea typeface="JetBrains Mono"/>
                <a:cs typeface="JetBrains Mono"/>
              </a:rPr>
              <a:t>  →  let's talk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70916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spc="50">
                <a:solidFill>
                  <a:srgbClr val="7E97A1"/>
                </a:solidFill>
                <a:latin typeface="JetBrains Mono"/>
                <a:ea typeface="JetBrains Mono"/>
                <a:cs typeface="JetBrains Mono"/>
              </a:rPr>
              <a:t>Sydney &amp; Melbourne  //  onshore AU &amp; India  //  mivada.com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5797296"/>
            <a:ext cx="329184" cy="329184"/>
          </a:xfrm>
          <a:prstGeom prst="roundRect">
            <a:avLst>
              <a:gd name="adj" fmla="val 100000"/>
            </a:avLst>
          </a:prstGeom>
          <a:noFill/>
          <a:ln w="9525">
            <a:solidFill>
              <a:srgbClr val="34E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5888736"/>
            <a:ext cx="146304" cy="146304"/>
          </a:xfrm>
          <a:prstGeom prst="ellipse">
            <a:avLst/>
          </a:prstGeom>
          <a:solidFill>
            <a:srgbClr val="34E2A8"/>
          </a:solidFill>
          <a:ln>
            <a:noFill/>
          </a:ln>
          <a:effectLst>
            <a:glow rad="146304">
              <a:srgbClr val="34E2A8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92847" y="5833872"/>
            <a:ext cx="365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  <a:spcBef>
                <a:spcPts val="400"/>
              </a:spcBef>
            </a:pPr>
            <a:r>
              <a:rPr sz="1100" b="0" spc="40">
                <a:solidFill>
                  <a:srgbClr val="34E2A8"/>
                </a:solidFill>
                <a:latin typeface="JetBrains Mono"/>
                <a:ea typeface="JetBrains Mono"/>
                <a:cs typeface="JetBrains Mono"/>
              </a:rPr>
              <a:t>// end</a:t>
            </a:r>
          </a:p>
          <a:p>
            <a:pPr algn="r">
              <a:lnSpc>
                <a:spcPct val="150000"/>
              </a:lnSpc>
              <a:spcBef>
                <a:spcPts val="400"/>
              </a:spcBef>
            </a:pPr>
            <a:r>
              <a:rPr sz="1100" b="0" spc="40">
                <a:solidFill>
                  <a:srgbClr val="7E97A1"/>
                </a:solidFill>
                <a:latin typeface="JetBrains Mono"/>
                <a:ea typeface="JetBrains Mono"/>
                <a:cs typeface="JetBrains Mono"/>
              </a:rPr>
              <a:t>figures illustrative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