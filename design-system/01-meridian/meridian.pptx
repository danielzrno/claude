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84124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lang="en-AU" spc="420">
                <a:solidFill>
                  <a:srgbClr val="FBFAF7"/>
                </a:solidFill>
                <a:latin typeface="Archivo"/>
              </a:rPr>
              <a:t>MIVADA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3246120"/>
            <a:ext cx="8412480" cy="2651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7400" b="0" i="0">
                <a:solidFill>
                  <a:srgbClr val="FBFAF7"/>
                </a:solidFill>
                <a:latin typeface="Fraunces"/>
              </a:rPr>
              <a:t>Technology,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7400" b="0" i="0">
                <a:solidFill>
                  <a:srgbClr val="FBFAF7"/>
                </a:solidFill>
                <a:latin typeface="Fraunces"/>
              </a:rPr>
              <a:t>human </a:t>
            </a:r>
            <a:r>
              <a:rPr sz="7400" b="0" i="1">
                <a:solidFill>
                  <a:srgbClr val="5BB5A4"/>
                </a:solidFill>
                <a:latin typeface="Fraunces"/>
              </a:rPr>
              <a:t>first.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59436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 i="0" lang="en-AU" spc="60">
                <a:solidFill>
                  <a:srgbClr val="8794A2"/>
                </a:solidFill>
                <a:latin typeface="Archivo"/>
              </a:rPr>
              <a:t>Capability overview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50447" y="914400"/>
            <a:ext cx="9525" cy="5029200"/>
          </a:xfrm>
          <a:prstGeom prst="rect">
            <a:avLst/>
          </a:prstGeom>
          <a:solidFill>
            <a:srgbClr val="A8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87407" y="629107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000" b="0" i="0" lang="en-AU" spc="160">
                <a:solidFill>
                  <a:srgbClr val="8794A2"/>
                </a:solidFill>
                <a:latin typeface="Archivo"/>
              </a:rPr>
              <a:t>01 —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841248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000" b="0">
                <a:solidFill>
                  <a:srgbClr val="14283A"/>
                </a:solidFill>
                <a:latin typeface="Fraunces"/>
              </a:rPr>
              <a:t>01</a:t>
            </a:r>
            <a:r>
              <a:rPr sz="1100" b="1" spc="160">
                <a:solidFill>
                  <a:srgbClr val="5A6675"/>
                </a:solidFill>
                <a:latin typeface="Archivo"/>
              </a:rPr>
              <a:t>   WHO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636776"/>
            <a:ext cx="603504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</a:pPr>
            <a:r>
              <a:rPr sz="3400" b="1" i="0">
                <a:solidFill>
                  <a:srgbClr val="14283A"/>
                </a:solidFill>
                <a:latin typeface="Fraunces"/>
              </a:rPr>
              <a:t>We turn enterprise platforms into measurable </a:t>
            </a:r>
            <a:r>
              <a:rPr sz="3400" b="0" i="1">
                <a:solidFill>
                  <a:srgbClr val="18786A"/>
                </a:solidFill>
                <a:latin typeface="Fraunces"/>
              </a:rPr>
              <a:t>human</a:t>
            </a:r>
            <a:r>
              <a:rPr sz="3400" b="1" i="0">
                <a:solidFill>
                  <a:srgbClr val="14283A"/>
                </a:solidFill>
                <a:latin typeface="Fraunces"/>
              </a:rPr>
              <a:t> outcomes.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557016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900" b="0" i="0" lang="en-AU">
                <a:solidFill>
                  <a:srgbClr val="14283A"/>
                </a:solidFill>
                <a:latin typeface="Fraunces"/>
              </a:rPr>
              <a:t>Mivada is an Australian technology consultancy — Workday, payroll, data and AI — built around the people who use the systems we deliver.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120" y="1303020"/>
            <a:ext cx="3532327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4000" b="0" i="0">
                <a:solidFill>
                  <a:srgbClr val="14283A"/>
                </a:solidFill>
                <a:latin typeface="Fraunces"/>
              </a:rPr>
              <a:t>2014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sz="1050" b="1" spc="160">
                <a:solidFill>
                  <a:srgbClr val="5A6675"/>
                </a:solidFill>
                <a:latin typeface="Archivo"/>
              </a:rPr>
              <a:t>FOUNDED · FORMERLY LJM INFOTECH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2555748"/>
            <a:ext cx="3532327" cy="9525"/>
          </a:xfrm>
          <a:prstGeom prst="rect">
            <a:avLst/>
          </a:prstGeom>
          <a:solidFill>
            <a:srgbClr val="C8C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2720340"/>
            <a:ext cx="3532327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4000" b="0" i="0">
                <a:solidFill>
                  <a:srgbClr val="14283A"/>
                </a:solidFill>
                <a:latin typeface="Fraunces"/>
              </a:rPr>
              <a:t>120+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sz="1050" b="1" spc="160">
                <a:solidFill>
                  <a:srgbClr val="5A6675"/>
                </a:solidFill>
                <a:latin typeface="Archivo"/>
              </a:rPr>
              <a:t>SPECIALISTS, NOT GENERALISTS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818120" y="3973068"/>
            <a:ext cx="3532327" cy="9525"/>
          </a:xfrm>
          <a:prstGeom prst="rect">
            <a:avLst/>
          </a:prstGeom>
          <a:solidFill>
            <a:srgbClr val="C8C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4137660"/>
            <a:ext cx="3532327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4000" b="0" i="0">
                <a:solidFill>
                  <a:srgbClr val="14283A"/>
                </a:solidFill>
                <a:latin typeface="Fraunces"/>
              </a:rPr>
              <a:t>AU + India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sz="1050" b="1" spc="160">
                <a:solidFill>
                  <a:srgbClr val="5A6675"/>
                </a:solidFill>
                <a:latin typeface="Archivo"/>
              </a:rPr>
              <a:t>ONSHORE LEADERSHIP · OFFSHORE DELIVERY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87407" y="629107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000" b="0" i="0" lang="en-AU" spc="160">
                <a:solidFill>
                  <a:srgbClr val="5A6675"/>
                </a:solidFill>
                <a:latin typeface="Archivo"/>
              </a:rPr>
              <a:t>02 —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841248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000" b="0">
                <a:solidFill>
                  <a:srgbClr val="14283A"/>
                </a:solidFill>
                <a:latin typeface="Fraunces"/>
              </a:rPr>
              <a:t>02</a:t>
            </a:r>
            <a:r>
              <a:rPr sz="1100" b="1" spc="160">
                <a:solidFill>
                  <a:srgbClr val="5A6675"/>
                </a:solidFill>
                <a:latin typeface="Archivo"/>
              </a:rPr>
              <a:t>   WHAT WE DO · FOUR SERVICE PILLARS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5847" y="2148840"/>
            <a:ext cx="9525" cy="3657600"/>
          </a:xfrm>
          <a:prstGeom prst="rect">
            <a:avLst/>
          </a:prstGeom>
          <a:solidFill>
            <a:srgbClr val="C8C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3977640"/>
            <a:ext cx="10509199" cy="9525"/>
          </a:xfrm>
          <a:prstGeom prst="rect">
            <a:avLst/>
          </a:prstGeom>
          <a:solidFill>
            <a:srgbClr val="C8C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240280"/>
            <a:ext cx="4797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0" i="0" lang="en-AU">
                <a:solidFill>
                  <a:srgbClr val="A87C3D"/>
                </a:solidFill>
                <a:latin typeface="Fraunce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606040"/>
            <a:ext cx="479739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00" b="1" i="0" lang="en-AU">
                <a:solidFill>
                  <a:srgbClr val="14283A"/>
                </a:solidFill>
                <a:latin typeface="Fraunces"/>
              </a:rPr>
              <a:t>Workday &amp; ERP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172968"/>
            <a:ext cx="47973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250" b="0" i="0" lang="en-AU">
                <a:solidFill>
                  <a:srgbClr val="5A6675"/>
                </a:solidFill>
                <a:latin typeface="Archivo"/>
              </a:rPr>
              <a:t>Implementation, optimisation and managed support for Workday HCM, Financials and adjacent ERP.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047" y="2240280"/>
            <a:ext cx="4797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0" i="0" lang="en-AU">
                <a:solidFill>
                  <a:srgbClr val="A87C3D"/>
                </a:solidFill>
                <a:latin typeface="Fraunce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047" y="2606040"/>
            <a:ext cx="479739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00" b="1" i="0" lang="en-AU">
                <a:solidFill>
                  <a:srgbClr val="14283A"/>
                </a:solidFill>
                <a:latin typeface="Fraunces"/>
              </a:rPr>
              <a:t>Payroll consulting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047" y="3172968"/>
            <a:ext cx="47973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250" b="0" i="0" lang="en-AU">
                <a:solidFill>
                  <a:srgbClr val="5A6675"/>
                </a:solidFill>
                <a:latin typeface="Archivo"/>
              </a:rPr>
              <a:t>Compliant, accurate payroll across complex awards and multi-entity structures.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434840"/>
            <a:ext cx="4797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0" i="0" lang="en-AU">
                <a:solidFill>
                  <a:srgbClr val="A87C3D"/>
                </a:solidFill>
                <a:latin typeface="Fraunce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800600"/>
            <a:ext cx="479739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00" b="1" i="0" lang="en-AU">
                <a:solidFill>
                  <a:srgbClr val="14283A"/>
                </a:solidFill>
                <a:latin typeface="Fraunces"/>
              </a:rPr>
              <a:t>Data &amp;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367528"/>
            <a:ext cx="47973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250" b="0" i="0" lang="en-AU">
                <a:solidFill>
                  <a:srgbClr val="5A6675"/>
                </a:solidFill>
                <a:latin typeface="Archivo"/>
              </a:rPr>
              <a:t>Lakehouse architecture, governed analytics and applied AI on your people and finance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4434840"/>
            <a:ext cx="4797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0" i="0" lang="en-AU">
                <a:solidFill>
                  <a:srgbClr val="A87C3D"/>
                </a:solidFill>
                <a:latin typeface="Fraunce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4800600"/>
            <a:ext cx="479739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00" b="1" i="0" lang="en-AU">
                <a:solidFill>
                  <a:srgbClr val="14283A"/>
                </a:solidFill>
                <a:latin typeface="Fraunces"/>
              </a:rPr>
              <a:t>Intelligent automation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047" y="5367528"/>
            <a:ext cx="47973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250" b="0" i="0" lang="en-AU">
                <a:solidFill>
                  <a:srgbClr val="5A6675"/>
                </a:solidFill>
                <a:latin typeface="Archivo"/>
              </a:rPr>
              <a:t>RPA, ML and process design combined to remove low-value 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87407" y="629107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000" b="0" i="0" lang="en-AU" spc="160">
                <a:solidFill>
                  <a:srgbClr val="5A6675"/>
                </a:solidFill>
                <a:latin typeface="Archivo"/>
              </a:rPr>
              <a:t>03 —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841248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000" b="0">
                <a:solidFill>
                  <a:srgbClr val="14283A"/>
                </a:solidFill>
                <a:latin typeface="Fraunces"/>
              </a:rPr>
              <a:t>03</a:t>
            </a:r>
            <a:r>
              <a:rPr sz="1100" b="1" spc="160">
                <a:solidFill>
                  <a:srgbClr val="5A6675"/>
                </a:solidFill>
                <a:latin typeface="Archivo"/>
              </a:rPr>
              <a:t>   HOW WE WORK · THINK HUMAN FIRST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2468880"/>
            <a:ext cx="10509199" cy="9525"/>
          </a:xfrm>
          <a:prstGeom prst="rect">
            <a:avLst/>
          </a:prstGeom>
          <a:solidFill>
            <a:srgbClr val="C8C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697480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5000" b="0" i="0" lang="en-AU">
                <a:solidFill>
                  <a:srgbClr val="14283A"/>
                </a:solidFill>
                <a:latin typeface="Fraunce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657600"/>
            <a:ext cx="22615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 b="1" i="0" lang="en-AU">
                <a:solidFill>
                  <a:srgbClr val="14283A"/>
                </a:solidFill>
                <a:latin typeface="Fraunces"/>
              </a:rPr>
              <a:t>Listen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114800"/>
            <a:ext cx="217009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200" b="0" i="0" lang="en-AU">
                <a:solidFill>
                  <a:srgbClr val="5A6675"/>
                </a:solidFill>
                <a:latin typeface="Archivo"/>
              </a:rPr>
              <a:t>Understand the people and the work before the technology.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68547" y="2697480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5000" b="0" i="0" lang="en-AU">
                <a:solidFill>
                  <a:srgbClr val="14283A"/>
                </a:solidFill>
                <a:latin typeface="Fraunce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68547" y="3657600"/>
            <a:ext cx="22615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 b="1" i="0" lang="en-AU">
                <a:solidFill>
                  <a:srgbClr val="14283A"/>
                </a:solidFill>
                <a:latin typeface="Fraunces"/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68547" y="4114800"/>
            <a:ext cx="217009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200" b="0" i="0" lang="en-AU">
                <a:solidFill>
                  <a:srgbClr val="5A6675"/>
                </a:solidFill>
                <a:latin typeface="Archivo"/>
              </a:rPr>
              <a:t>Shape the platform around how teams actually operate.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7" y="2697480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5000" b="0" i="0" lang="en-AU">
                <a:solidFill>
                  <a:srgbClr val="14283A"/>
                </a:solidFill>
                <a:latin typeface="Fraunce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7" y="3657600"/>
            <a:ext cx="22615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 b="1" i="0" lang="en-AU">
                <a:solidFill>
                  <a:srgbClr val="14283A"/>
                </a:solidFill>
                <a:latin typeface="Fraunces"/>
              </a:rPr>
              <a:t>Deliver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7" y="4114800"/>
            <a:ext cx="217009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200" b="0" i="0" lang="en-AU">
                <a:solidFill>
                  <a:srgbClr val="5A6675"/>
                </a:solidFill>
                <a:latin typeface="Archivo"/>
              </a:rPr>
              <a:t>Implement in weeks-long increments, not multi-year programs.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23147" y="2697480"/>
            <a:ext cx="1097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5000" b="0" i="0" lang="en-AU">
                <a:solidFill>
                  <a:srgbClr val="14283A"/>
                </a:solidFill>
                <a:latin typeface="Fraunce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23147" y="3657600"/>
            <a:ext cx="22615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 b="1" i="0" lang="en-AU">
                <a:solidFill>
                  <a:srgbClr val="14283A"/>
                </a:solidFill>
                <a:latin typeface="Fraunces"/>
              </a:rPr>
              <a:t>Care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23147" y="4114800"/>
            <a:ext cx="217009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200" b="0" i="0" lang="en-AU">
                <a:solidFill>
                  <a:srgbClr val="5A6675"/>
                </a:solidFill>
                <a:latin typeface="Archivo"/>
              </a:rPr>
              <a:t>Stay on after go-live; measure outcomes, not tickets closed.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87407" y="629107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000" b="0" i="0" lang="en-AU" spc="160">
                <a:solidFill>
                  <a:srgbClr val="5A6675"/>
                </a:solidFill>
                <a:latin typeface="Archivo"/>
              </a:rPr>
              <a:t>04 —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841248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000" b="0">
                <a:solidFill>
                  <a:srgbClr val="14283A"/>
                </a:solidFill>
                <a:latin typeface="Fraunces"/>
              </a:rPr>
              <a:t>04</a:t>
            </a:r>
            <a:r>
              <a:rPr sz="1100" b="1" spc="160">
                <a:solidFill>
                  <a:srgbClr val="5A6675"/>
                </a:solidFill>
                <a:latin typeface="Archivo"/>
              </a:rPr>
              <a:t>   DATA &amp;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2468880"/>
            <a:ext cx="51206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2300" b="0" i="0">
                <a:solidFill>
                  <a:srgbClr val="14283A"/>
                </a:solidFill>
                <a:latin typeface="Fraunces"/>
              </a:rPr>
              <a:t>Certified consultants design </a:t>
            </a:r>
            <a:r>
              <a:rPr sz="2300" b="0" i="1">
                <a:solidFill>
                  <a:srgbClr val="18786A"/>
                </a:solidFill>
                <a:latin typeface="Fraunces"/>
              </a:rPr>
              <a:t>Lakehouse</a:t>
            </a:r>
            <a:r>
              <a:rPr sz="2300" b="0" i="0">
                <a:solidFill>
                  <a:srgbClr val="14283A"/>
                </a:solidFill>
                <a:latin typeface="Fraunces"/>
              </a:rPr>
              <a:t> architectures and integrate Databricks with Workday, payroll and finance — so leaders decide on current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0" y="1828800"/>
            <a:ext cx="430956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AU" spc="160">
                <a:solidFill>
                  <a:srgbClr val="18786A"/>
                </a:solidFill>
                <a:latin typeface="Archivo"/>
              </a:rPr>
              <a:t>GOVERNED KPI 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2212848"/>
            <a:ext cx="430956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250" b="0" i="0" lang="en-AU">
                <a:solidFill>
                  <a:srgbClr val="5A6675"/>
                </a:solidFill>
                <a:latin typeface="Archivo"/>
              </a:rPr>
              <a:t>One trusted source for people and finance measures, defined once.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0" y="2907792"/>
            <a:ext cx="4309567" cy="9525"/>
          </a:xfrm>
          <a:prstGeom prst="rect">
            <a:avLst/>
          </a:prstGeom>
          <a:solidFill>
            <a:srgbClr val="C8C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3108960"/>
            <a:ext cx="430956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AU" spc="160">
                <a:solidFill>
                  <a:srgbClr val="18786A"/>
                </a:solidFill>
                <a:latin typeface="Archivo"/>
              </a:rPr>
              <a:t>DELTA LAKE PIPELINES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3493008"/>
            <a:ext cx="430956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250" b="0" i="0" lang="en-AU">
                <a:solidFill>
                  <a:srgbClr val="5A6675"/>
                </a:solidFill>
                <a:latin typeface="Archivo"/>
              </a:rPr>
              <a:t>Batch and streaming ingestion, versioned and reliable by design.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0" y="4187952"/>
            <a:ext cx="4309567" cy="9525"/>
          </a:xfrm>
          <a:prstGeom prst="rect">
            <a:avLst/>
          </a:prstGeom>
          <a:solidFill>
            <a:srgbClr val="C8C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4389120"/>
            <a:ext cx="430956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AU" spc="160">
                <a:solidFill>
                  <a:srgbClr val="18786A"/>
                </a:solidFill>
                <a:latin typeface="Archivo"/>
              </a:rPr>
              <a:t>REAL-TIME 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4773168"/>
            <a:ext cx="430956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250" b="0" i="0" lang="en-AU">
                <a:solidFill>
                  <a:srgbClr val="5A6675"/>
                </a:solidFill>
                <a:latin typeface="Archivo"/>
              </a:rPr>
              <a:t>Current figures in the hands of leaders, not last quarter's export.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87407" y="629107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000" b="0" i="0" lang="en-AU" spc="160">
                <a:solidFill>
                  <a:srgbClr val="5A6675"/>
                </a:solidFill>
                <a:latin typeface="Archivo"/>
              </a:rPr>
              <a:t>05 —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841248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000" b="0">
                <a:solidFill>
                  <a:srgbClr val="14283A"/>
                </a:solidFill>
                <a:latin typeface="Fraunces"/>
              </a:rPr>
              <a:t>05</a:t>
            </a:r>
            <a:r>
              <a:rPr sz="1100" b="1" spc="160">
                <a:solidFill>
                  <a:srgbClr val="5A6675"/>
                </a:solidFill>
                <a:latin typeface="Archivo"/>
              </a:rPr>
              <a:t>  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2011680"/>
            <a:ext cx="3137306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6000" b="0" i="0">
                <a:solidFill>
                  <a:srgbClr val="14283A"/>
                </a:solidFill>
                <a:latin typeface="Fraunces"/>
              </a:rPr>
              <a:t>40+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sz="1050" b="1" spc="160">
                <a:solidFill>
                  <a:srgbClr val="5A6675"/>
                </a:solidFill>
                <a:latin typeface="Archivo"/>
              </a:rPr>
              <a:t>WORKDAY DEPLOYMENTS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44314" y="2011680"/>
            <a:ext cx="3137306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6000" b="0" i="0">
                <a:solidFill>
                  <a:srgbClr val="14283A"/>
                </a:solidFill>
                <a:latin typeface="Fraunces"/>
              </a:rPr>
              <a:t>98%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sz="1050" b="1" spc="160">
                <a:solidFill>
                  <a:srgbClr val="5A6675"/>
                </a:solidFill>
                <a:latin typeface="Archivo"/>
              </a:rPr>
              <a:t>CLIENT RETENTION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47380" y="2011680"/>
            <a:ext cx="3137306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6000" b="0" i="1">
                <a:solidFill>
                  <a:srgbClr val="18786A"/>
                </a:solidFill>
                <a:latin typeface="Fraunces"/>
              </a:rPr>
              <a:t>Weeks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sz="1050" b="1" spc="160">
                <a:solidFill>
                  <a:srgbClr val="5A6675"/>
                </a:solidFill>
                <a:latin typeface="Archivo"/>
              </a:rPr>
              <a:t>NOT MONTHS, TO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160520"/>
            <a:ext cx="8778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</a:pPr>
            <a:r>
              <a:rPr sz="2300" b="0" i="1" lang="en-AU">
                <a:solidFill>
                  <a:srgbClr val="14283A"/>
                </a:solidFill>
                <a:latin typeface="Fraunces"/>
              </a:rPr>
              <a:t>“They started with our people, not the platform — and the rollout stuck because of it.”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48640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AU" spc="160">
                <a:solidFill>
                  <a:srgbClr val="5A6675"/>
                </a:solidFill>
                <a:latin typeface="Archivo"/>
              </a:rPr>
              <a:t>PROGRAMME LEAD · ENTERPRISE SERVICES (ILLUSTRATIVE)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87407" y="629107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000" b="0" i="0" lang="en-AU" spc="160">
                <a:solidFill>
                  <a:srgbClr val="5A6675"/>
                </a:solidFill>
                <a:latin typeface="Archivo"/>
              </a:rPr>
              <a:t>06 —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841248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000" b="0">
                <a:solidFill>
                  <a:srgbClr val="14283A"/>
                </a:solidFill>
                <a:latin typeface="Fraunces"/>
              </a:rPr>
              <a:t>06</a:t>
            </a:r>
            <a:r>
              <a:rPr sz="1100" b="1" spc="160">
                <a:solidFill>
                  <a:srgbClr val="5A6675"/>
                </a:solidFill>
                <a:latin typeface="Archivo"/>
              </a:rPr>
              <a:t>   WHY MIVADA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2194560"/>
            <a:ext cx="1005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4600" b="0" i="0" lang="en-AU">
                <a:solidFill>
                  <a:srgbClr val="18786A"/>
                </a:solidFill>
                <a:latin typeface="Fraunce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1408" y="2240280"/>
            <a:ext cx="922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100" b="1" i="0" lang="en-AU">
                <a:solidFill>
                  <a:srgbClr val="14283A"/>
                </a:solidFill>
                <a:latin typeface="Fraunces"/>
              </a:rPr>
              <a:t>Certified specialists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21408" y="2724912"/>
            <a:ext cx="92290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350" b="0" i="0" lang="en-AU">
                <a:solidFill>
                  <a:srgbClr val="5A6675"/>
                </a:solidFill>
                <a:latin typeface="Archivo"/>
              </a:rPr>
              <a:t>Workday- and Databricks-certified consultants, not generalists assigned to fill a seat.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474720"/>
            <a:ext cx="1005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4600" b="0" i="0" lang="en-AU">
                <a:solidFill>
                  <a:srgbClr val="18786A"/>
                </a:solidFill>
                <a:latin typeface="Fraunce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21408" y="3520440"/>
            <a:ext cx="922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100" b="1" i="0" lang="en-AU">
                <a:solidFill>
                  <a:srgbClr val="14283A"/>
                </a:solidFill>
                <a:latin typeface="Fraunces"/>
              </a:rPr>
              <a:t>Onshore + offshore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21408" y="4005072"/>
            <a:ext cx="92290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350" b="0" i="0" lang="en-AU">
                <a:solidFill>
                  <a:srgbClr val="5A6675"/>
                </a:solidFill>
                <a:latin typeface="Archivo"/>
              </a:rPr>
              <a:t>Senior onshore leadership paired with cost-effective delivery from India.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754880"/>
            <a:ext cx="1005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4600" b="0" i="0" lang="en-AU">
                <a:solidFill>
                  <a:srgbClr val="18786A"/>
                </a:solidFill>
                <a:latin typeface="Fraunce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1408" y="4800600"/>
            <a:ext cx="922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100" b="1" i="0" lang="en-AU">
                <a:solidFill>
                  <a:srgbClr val="14283A"/>
                </a:solidFill>
                <a:latin typeface="Fraunces"/>
              </a:rPr>
              <a:t>People-first 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5285232"/>
            <a:ext cx="92290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350" b="0" i="0" lang="en-AU">
                <a:solidFill>
                  <a:srgbClr val="5A6675"/>
                </a:solidFill>
                <a:latin typeface="Archivo"/>
              </a:rPr>
              <a:t>Adoption built in from day one, so the platforms we deliver actually get used.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87407" y="629107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000" b="0" i="0" lang="en-AU" spc="160">
                <a:solidFill>
                  <a:srgbClr val="5A6675"/>
                </a:solidFill>
                <a:latin typeface="Archivo"/>
              </a:rPr>
              <a:t>07 —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84124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lang="en-AU" spc="420">
                <a:solidFill>
                  <a:srgbClr val="FBFAF7"/>
                </a:solidFill>
                <a:latin typeface="Archivo"/>
              </a:rPr>
              <a:t>MIVADA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2286000"/>
            <a:ext cx="8595360" cy="2377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4000"/>
              </a:lnSpc>
            </a:pPr>
            <a:r>
              <a:rPr sz="4000" b="0" i="0">
                <a:solidFill>
                  <a:srgbClr val="FBFAF7"/>
                </a:solidFill>
                <a:latin typeface="Fraunces"/>
              </a:rPr>
              <a:t>Let's build smarter systems, with people at the </a:t>
            </a:r>
            <a:r>
              <a:rPr sz="4000" b="0" i="1">
                <a:solidFill>
                  <a:srgbClr val="5BB5A4"/>
                </a:solidFill>
                <a:latin typeface="Fraunces"/>
              </a:rPr>
              <a:t>centre.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5349240"/>
            <a:ext cx="2926080" cy="9525"/>
          </a:xfrm>
          <a:prstGeom prst="rect">
            <a:avLst/>
          </a:prstGeom>
          <a:solidFill>
            <a:srgbClr val="A87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5778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 lang="en-AU" spc="100">
                <a:solidFill>
                  <a:srgbClr val="A7B2BD"/>
                </a:solidFill>
                <a:latin typeface="Archivo"/>
              </a:rPr>
              <a:t>mivada.com   ·   hello@mivada.com   ·   Sydney &amp; Melbourne   ·   Onshore AU &amp; India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87407" y="629107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000" b="0" i="0" lang="en-AU" spc="160">
                <a:solidFill>
                  <a:srgbClr val="8794A2"/>
                </a:solidFill>
                <a:latin typeface="Archivo"/>
              </a:rPr>
              <a:t>08 —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