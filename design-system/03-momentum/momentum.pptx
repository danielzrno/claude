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493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_c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mchi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713232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713232"/>
            <a:ext cx="36576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300" b="1" spc="-40">
                <a:solidFill>
                  <a:srgbClr val="FFFFFF"/>
                </a:solidFill>
                <a:latin typeface="Inter"/>
              </a:rPr>
              <a:t>Mivada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26119" y="841248"/>
            <a:ext cx="2624328" cy="40233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0">
                <a:solidFill>
                  <a:srgbClr val="FFFFFF"/>
                </a:solidFill>
                <a:latin typeface="Inter"/>
              </a:rPr>
              <a:t>Capability overview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15468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spc="160">
                <a:solidFill>
                  <a:srgbClr val="FFD9D4"/>
                </a:solidFill>
                <a:latin typeface="Inter"/>
              </a:rPr>
              <a:t>AUSTRALIAN TECHNOLOGY CONSULTANCY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56432"/>
            <a:ext cx="9601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6200" b="1" spc="-120">
                <a:solidFill>
                  <a:srgbClr val="FFFFFF"/>
                </a:solidFill>
                <a:latin typeface="Inter"/>
              </a:rPr>
              <a:t>Technology,
human first.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5806440"/>
            <a:ext cx="1495044" cy="40233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0">
                <a:solidFill>
                  <a:srgbClr val="FFFFFF"/>
                </a:solidFill>
                <a:latin typeface="Inter"/>
              </a:rPr>
              <a:t>Workday &amp; ERP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2596" y="5806440"/>
            <a:ext cx="973836" cy="40233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0">
                <a:solidFill>
                  <a:srgbClr val="FFFFFF"/>
                </a:solidFill>
                <a:latin typeface="Inter"/>
              </a:rPr>
              <a:t>Payroll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2736" y="5806440"/>
            <a:ext cx="1147572" cy="40233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0">
                <a:solidFill>
                  <a:srgbClr val="FFFFFF"/>
                </a:solidFill>
                <a:latin typeface="Inter"/>
              </a:rPr>
              <a:t>Data &amp;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6612" y="5806440"/>
            <a:ext cx="1234440" cy="40233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0">
                <a:solidFill>
                  <a:srgbClr val="FFFFFF"/>
                </a:solidFill>
                <a:latin typeface="Inter"/>
              </a:rPr>
              <a:t>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42855" y="638251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0" spc="40">
                <a:latin typeface="Inter"/>
                <a:solidFill>
                  <a:srgbClr val="FFFFFF">
                    <a:alpha val="60000"/>
                  </a:srgbClr>
                </a:solidFill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676656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spc="160">
                <a:solidFill>
                  <a:srgbClr val="EA493F"/>
                </a:solidFill>
                <a:latin typeface="Inter"/>
              </a:rPr>
              <a:t>WHO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9264"/>
            <a:ext cx="8412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3300" b="1" spc="-80">
                <a:solidFill>
                  <a:srgbClr val="111111"/>
                </a:solidFill>
                <a:latin typeface="Inter"/>
              </a:rPr>
              <a:t>We turn enterprise platforms into </a:t>
            </a:r>
            <a:r>
              <a:rPr sz="3300" b="1" spc="-80">
                <a:solidFill>
                  <a:srgbClr val="EA493F"/>
                </a:solidFill>
                <a:latin typeface="Inter"/>
              </a:rPr>
              <a:t>measurable human outcomes</a:t>
            </a:r>
            <a:r>
              <a:rPr sz="3300" b="1" spc="-80">
                <a:solidFill>
                  <a:srgbClr val="111111"/>
                </a:solidFill>
                <a:latin typeface="Inter"/>
              </a:rPr>
              <a:t>.</a:t>
            </a:r>
          </a:p>
        </p:txBody>
      </p:sp>
      <p:pic>
        <p:nvPicPr>
          <p:cNvPr id="4" name="Picture 3" descr="mc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63" y="676656"/>
            <a:ext cx="786384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2697480"/>
            <a:ext cx="7863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1700" b="0">
                <a:solidFill>
                  <a:srgbClr val="323232"/>
                </a:solidFill>
                <a:latin typeface="Inter"/>
              </a:rPr>
              <a:t>Mivada is an Australian technology consultancy that turns Workday, payroll, data and AI into </a:t>
            </a:r>
            <a:r>
              <a:rPr sz="1700" b="1">
                <a:solidFill>
                  <a:srgbClr val="111111"/>
                </a:solidFill>
                <a:latin typeface="Inter"/>
              </a:rPr>
              <a:t>outcomes people actually feel</a:t>
            </a:r>
            <a:r>
              <a:rPr sz="1700" b="0">
                <a:solidFill>
                  <a:srgbClr val="323232"/>
                </a:solidFill>
                <a:latin typeface="Inter"/>
              </a:rPr>
              <a:t> — built around how teams really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4572000"/>
            <a:ext cx="3332378" cy="141732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4E4E0"/>
            </a:solidFill>
          </a:ln>
          <a:effectLst>
            <a:outerShdw blurRad="146304" dist="50292" dir="5400000" rotWithShape="0">
              <a:srgbClr val="11111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791456"/>
            <a:ext cx="287517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800" b="1" spc="-100">
                <a:solidFill>
                  <a:srgbClr val="EA493F"/>
                </a:solidFill>
                <a:latin typeface="Inter"/>
              </a:rPr>
              <a:t>2014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5513831"/>
            <a:ext cx="282945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>
                <a:solidFill>
                  <a:srgbClr val="323232"/>
                </a:solidFill>
                <a:latin typeface="Inter"/>
              </a:rPr>
              <a:t>Founded — formerly LJM Infotech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658" y="4572000"/>
            <a:ext cx="3332378" cy="141732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4E4E0"/>
            </a:solidFill>
          </a:ln>
          <a:effectLst>
            <a:outerShdw blurRad="146304" dist="50292" dir="5400000" rotWithShape="0">
              <a:srgbClr val="11111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5690" y="4791456"/>
            <a:ext cx="287517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800" b="1" spc="-100">
                <a:solidFill>
                  <a:srgbClr val="EA493F"/>
                </a:solidFill>
                <a:latin typeface="Inter"/>
              </a:rPr>
              <a:t>120+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3978" y="5513831"/>
            <a:ext cx="282945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>
                <a:solidFill>
                  <a:srgbClr val="323232"/>
                </a:solidFill>
                <a:latin typeface="Inter"/>
              </a:rPr>
              <a:t>Specialists, certified not generalist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8068" y="4572000"/>
            <a:ext cx="3332378" cy="1417320"/>
          </a:xfrm>
          <a:prstGeom prst="roundRect">
            <a:avLst>
              <a:gd name="adj" fmla="val 8500"/>
            </a:avLst>
          </a:prstGeom>
          <a:solidFill>
            <a:srgbClr val="EA493F"/>
          </a:solidFill>
          <a:ln>
            <a:noFill/>
          </a:ln>
          <a:effectLst>
            <a:outerShdw blurRad="146304" dist="50292" dir="5400000" rotWithShape="0">
              <a:srgbClr val="11111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4100" y="4791456"/>
            <a:ext cx="287517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800" b="1" spc="-100">
                <a:solidFill>
                  <a:srgbClr val="FFFFFF"/>
                </a:solidFill>
                <a:latin typeface="Inter"/>
              </a:rPr>
              <a:t>AU + India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2388" y="5513831"/>
            <a:ext cx="282945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>
                <a:solidFill>
                  <a:srgbClr val="FFE3DF"/>
                </a:solidFill>
                <a:latin typeface="Inter"/>
              </a:rPr>
              <a:t>Onshore leadership, offshore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42855" y="638251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0" spc="40">
                <a:solidFill>
                  <a:srgbClr val="AEAEAE"/>
                </a:solidFill>
                <a:latin typeface="Inter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676656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spc="160">
                <a:solidFill>
                  <a:srgbClr val="EA493F"/>
                </a:solidFill>
                <a:latin typeface="Inter"/>
              </a:rPr>
              <a:t>WHAT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9264"/>
            <a:ext cx="7498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spc="-80">
                <a:solidFill>
                  <a:srgbClr val="111111"/>
                </a:solidFill>
                <a:latin typeface="Inter"/>
              </a:rPr>
              <a:t>Four pillars, one operating idea.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49816" y="1060704"/>
            <a:ext cx="230063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0">
                <a:solidFill>
                  <a:srgbClr val="111111"/>
                </a:solidFill>
                <a:latin typeface="Inter"/>
              </a:rPr>
              <a:t>Human first, end to 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148840"/>
            <a:ext cx="5117439" cy="1993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4E0"/>
            </a:solidFill>
          </a:ln>
          <a:effectLst>
            <a:outerShdw blurRad="146304" dist="50292" dir="5400000" rotWithShape="0">
              <a:srgbClr val="11111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c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423160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09928" y="2459736"/>
            <a:ext cx="402015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spc="40">
                <a:solidFill>
                  <a:srgbClr val="EA493F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044952"/>
            <a:ext cx="45687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 spc="-30">
                <a:solidFill>
                  <a:srgbClr val="111111"/>
                </a:solidFill>
                <a:latin typeface="Inter"/>
              </a:rPr>
              <a:t>Workday &amp; ERP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483864"/>
            <a:ext cx="45687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0">
                <a:solidFill>
                  <a:srgbClr val="323232"/>
                </a:solidFill>
                <a:latin typeface="Inter"/>
              </a:rPr>
              <a:t>Implementation, optimisation and managed support for Workday HCM, Financials and adjacent ERP.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2148840"/>
            <a:ext cx="5117439" cy="1993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4E0"/>
            </a:solidFill>
          </a:ln>
          <a:effectLst>
            <a:outerShdw blurRad="146304" dist="50292" dir="5400000" rotWithShape="0">
              <a:srgbClr val="11111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c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327" y="2423160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01687" y="2459736"/>
            <a:ext cx="402015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spc="40">
                <a:solidFill>
                  <a:srgbClr val="EA493F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3044952"/>
            <a:ext cx="45687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 spc="-30">
                <a:solidFill>
                  <a:srgbClr val="111111"/>
                </a:solidFill>
                <a:latin typeface="Inter"/>
              </a:rPr>
              <a:t>Payroll consulting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3483864"/>
            <a:ext cx="45687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0">
                <a:solidFill>
                  <a:srgbClr val="323232"/>
                </a:solidFill>
                <a:latin typeface="Inter"/>
              </a:rPr>
              <a:t>Compliant, accurate payroll across complex awards and multi-entity structures.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416552"/>
            <a:ext cx="5117439" cy="1993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4E0"/>
            </a:solidFill>
          </a:ln>
          <a:effectLst>
            <a:outerShdw blurRad="146304" dist="50292" dir="5400000" rotWithShape="0">
              <a:srgbClr val="11111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mc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4690872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709928" y="4727448"/>
            <a:ext cx="402015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spc="40">
                <a:solidFill>
                  <a:srgbClr val="EA493F"/>
                </a:solidFill>
                <a:latin typeface="Inter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5312664"/>
            <a:ext cx="45687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 spc="-30">
                <a:solidFill>
                  <a:srgbClr val="111111"/>
                </a:solidFill>
                <a:latin typeface="Inter"/>
              </a:rPr>
              <a:t>Data &amp;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751576"/>
            <a:ext cx="45687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0">
                <a:solidFill>
                  <a:srgbClr val="323232"/>
                </a:solidFill>
                <a:latin typeface="Inter"/>
              </a:rPr>
              <a:t>Lakehouse architecture, governed analytics and applied AI on your people and finance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4416552"/>
            <a:ext cx="5117439" cy="1993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4E0"/>
            </a:solidFill>
          </a:ln>
          <a:effectLst>
            <a:outerShdw blurRad="146304" dist="50292" dir="5400000" rotWithShape="0">
              <a:srgbClr val="11111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mc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327" y="4690872"/>
            <a:ext cx="457200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01687" y="4727448"/>
            <a:ext cx="402015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spc="40">
                <a:solidFill>
                  <a:srgbClr val="EA493F"/>
                </a:solidFill>
                <a:latin typeface="Inter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312664"/>
            <a:ext cx="45687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 spc="-30">
                <a:solidFill>
                  <a:srgbClr val="111111"/>
                </a:solidFill>
                <a:latin typeface="Inter"/>
              </a:rPr>
              <a:t>Intelligent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7327" y="5751576"/>
            <a:ext cx="45687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0">
                <a:solidFill>
                  <a:srgbClr val="323232"/>
                </a:solidFill>
                <a:latin typeface="Inter"/>
              </a:rPr>
              <a:t>RPA, ML and process design combined to remove low-value work for good.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42855" y="638251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0" spc="40">
                <a:solidFill>
                  <a:srgbClr val="AEAEAE"/>
                </a:solidFill>
                <a:latin typeface="Inter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676656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spc="160">
                <a:solidFill>
                  <a:srgbClr val="EA493F"/>
                </a:solidFill>
                <a:latin typeface="Inter"/>
              </a:rPr>
              <a:t>HOW WE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9264"/>
            <a:ext cx="6400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spc="-80">
                <a:solidFill>
                  <a:srgbClr val="111111"/>
                </a:solidFill>
                <a:latin typeface="Inter"/>
              </a:rPr>
              <a:t>Think human first.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60943" y="1060704"/>
            <a:ext cx="2889503" cy="402336"/>
          </a:xfrm>
          <a:prstGeom prst="roundRect">
            <a:avLst>
              <a:gd name="adj" fmla="val 50000"/>
            </a:avLst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Inter"/>
              </a:rPr>
              <a:t>Weeks, not multi-year programs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700" b="0">
                <a:solidFill>
                  <a:srgbClr val="323232"/>
                </a:solidFill>
                <a:latin typeface="Inter"/>
              </a:rPr>
              <a:t>A four-step engagement model that puts people before platforms.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697480"/>
            <a:ext cx="2448991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4E0"/>
            </a:solidFill>
          </a:ln>
          <a:effectLst>
            <a:outerShdw blurRad="146304" dist="50292" dir="5400000" rotWithShape="0">
              <a:srgbClr val="11111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78992" y="297180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Inter"/>
              </a:rPr>
              <a:t>Listen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38728"/>
            <a:ext cx="199179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spc="30">
                <a:solidFill>
                  <a:srgbClr val="EA493F"/>
                </a:solidFill>
                <a:latin typeface="Inter"/>
              </a:rPr>
              <a:t>Step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77639"/>
            <a:ext cx="197350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1300" b="0">
                <a:solidFill>
                  <a:srgbClr val="323232"/>
                </a:solidFill>
                <a:latin typeface="Inter"/>
              </a:rPr>
              <a:t>Understand the people and the work before the technology.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7983" y="2697480"/>
            <a:ext cx="2448991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4E0"/>
            </a:solidFill>
          </a:ln>
          <a:effectLst>
            <a:outerShdw blurRad="146304" dist="50292" dir="5400000" rotWithShape="0">
              <a:srgbClr val="11111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65727" y="297180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Inter"/>
              </a:rPr>
              <a:t>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4015" y="3538728"/>
            <a:ext cx="199179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spc="30">
                <a:solidFill>
                  <a:srgbClr val="EA493F"/>
                </a:solidFill>
                <a:latin typeface="Inter"/>
              </a:rPr>
              <a:t>Step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4015" y="3977639"/>
            <a:ext cx="197350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1300" b="0">
                <a:solidFill>
                  <a:srgbClr val="323232"/>
                </a:solidFill>
                <a:latin typeface="Inter"/>
              </a:rPr>
              <a:t>Shape the platform around how teams actually operate.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4719" y="2697480"/>
            <a:ext cx="2448991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4E0"/>
            </a:solidFill>
          </a:ln>
          <a:effectLst>
            <a:outerShdw blurRad="146304" dist="50292" dir="5400000" rotWithShape="0">
              <a:srgbClr val="11111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52463" y="297180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Inter"/>
              </a:rPr>
              <a:t>Deliver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0751" y="3538728"/>
            <a:ext cx="199179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spc="30">
                <a:solidFill>
                  <a:srgbClr val="EA493F"/>
                </a:solidFill>
                <a:latin typeface="Inter"/>
              </a:rPr>
              <a:t>Step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0751" y="3977639"/>
            <a:ext cx="197350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1300" b="0">
                <a:solidFill>
                  <a:srgbClr val="323232"/>
                </a:solidFill>
                <a:latin typeface="Inter"/>
              </a:rPr>
              <a:t>Implement in weeks-long increments, not multi-year programs.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1455" y="2697480"/>
            <a:ext cx="2448991" cy="2834640"/>
          </a:xfrm>
          <a:prstGeom prst="roundRect">
            <a:avLst>
              <a:gd name="adj" fmla="val 6000"/>
            </a:avLst>
          </a:prstGeom>
          <a:solidFill>
            <a:srgbClr val="EA493F"/>
          </a:solidFill>
          <a:ln>
            <a:noFill/>
          </a:ln>
          <a:effectLst>
            <a:outerShdw blurRad="146304" dist="50292" dir="5400000" rotWithShape="0">
              <a:srgbClr val="11111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39199" y="297180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C9362B"/>
                </a:solidFill>
                <a:latin typeface="Inter"/>
              </a:rPr>
              <a:t>Care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7487" y="3538728"/>
            <a:ext cx="199179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spc="30">
                <a:solidFill>
                  <a:srgbClr val="FFE3DF"/>
                </a:solidFill>
                <a:latin typeface="Inter"/>
              </a:rPr>
              <a:t>Step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7487" y="3977639"/>
            <a:ext cx="197350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1300" b="0">
                <a:solidFill>
                  <a:srgbClr val="FFFFFF"/>
                </a:solidFill>
                <a:latin typeface="Inter"/>
              </a:rPr>
              <a:t>Stay on after go-live; measure outcomes, not tickets closed.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638251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0" spc="40">
                <a:solidFill>
                  <a:srgbClr val="AEAEAE"/>
                </a:solidFill>
                <a:latin typeface="Inter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84124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spc="160">
                <a:solidFill>
                  <a:srgbClr val="EA493F"/>
                </a:solidFill>
                <a:latin typeface="Inter"/>
              </a:rPr>
              <a:t>DATA &amp;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52144"/>
            <a:ext cx="5852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</a:pPr>
            <a:r>
              <a:rPr sz="3000" b="1" spc="-70">
                <a:solidFill>
                  <a:srgbClr val="111111"/>
                </a:solidFill>
                <a:latin typeface="Inter"/>
              </a:rPr>
              <a:t>Decisions on current data, not last quarter's.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974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spc="20">
                <a:solidFill>
                  <a:srgbClr val="EA493F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2679192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50" b="1" spc="-20">
                <a:solidFill>
                  <a:srgbClr val="111111"/>
                </a:solidFill>
                <a:latin typeface="Inter"/>
              </a:rPr>
              <a:t>Lakehouse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9718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80" b="0">
                <a:solidFill>
                  <a:srgbClr val="323232"/>
                </a:solidFill>
                <a:latin typeface="Inter"/>
              </a:rPr>
              <a:t>Designed by certified consultants around your platforms.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4290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spc="20">
                <a:solidFill>
                  <a:srgbClr val="EA493F"/>
                </a:solidFill>
                <a:latin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410712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50" b="1" spc="-20">
                <a:solidFill>
                  <a:srgbClr val="111111"/>
                </a:solidFill>
                <a:latin typeface="Inter"/>
              </a:rPr>
              <a:t>Delta Lake pipelines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7033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80" b="0">
                <a:solidFill>
                  <a:srgbClr val="323232"/>
                </a:solidFill>
                <a:latin typeface="Inter"/>
              </a:rPr>
              <a:t>Batch and streaming, built to govern and to scale.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16052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spc="20">
                <a:solidFill>
                  <a:srgbClr val="EA493F"/>
                </a:solidFill>
                <a:latin typeface="Inter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4142232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50" b="1" spc="-20">
                <a:solidFill>
                  <a:srgbClr val="111111"/>
                </a:solidFill>
                <a:latin typeface="Inter"/>
              </a:rPr>
              <a:t>Governed KPI 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43484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80" b="0">
                <a:solidFill>
                  <a:srgbClr val="323232"/>
                </a:solidFill>
                <a:latin typeface="Inter"/>
              </a:rPr>
              <a:t>Databricks integrated with Workday, payroll and finance.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8920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spc="20">
                <a:solidFill>
                  <a:srgbClr val="EA493F"/>
                </a:solidFill>
                <a:latin typeface="Inter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4873752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50" b="1" spc="-20">
                <a:solidFill>
                  <a:srgbClr val="111111"/>
                </a:solidFill>
                <a:latin typeface="Inter"/>
              </a:rPr>
              <a:t>Real-time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166359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80" b="0">
                <a:solidFill>
                  <a:srgbClr val="323232"/>
                </a:solidFill>
                <a:latin typeface="Inter"/>
              </a:rPr>
              <a:t>So leaders decide on what is true right now.</a:t>
            </a:r>
          </a:p>
        </p:txBody>
      </p:sp>
      <p:pic>
        <p:nvPicPr>
          <p:cNvPr id="16" name="Picture 15" descr="photo_duot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328" y="841248"/>
            <a:ext cx="4154119" cy="5175504"/>
          </a:xfrm>
          <a:prstGeom prst="roundRect">
            <a:avLst>
              <a:gd name="adj" fmla="val 5000"/>
            </a:avLst>
          </a:prstGeom>
        </p:spPr>
      </p:pic>
      <p:sp>
        <p:nvSpPr>
          <p:cNvPr id="17" name="Rounded Rectangle 16"/>
          <p:cNvSpPr/>
          <p:nvPr/>
        </p:nvSpPr>
        <p:spPr>
          <a:xfrm>
            <a:off x="7434072" y="5468112"/>
            <a:ext cx="2971800" cy="365760"/>
          </a:xfrm>
          <a:prstGeom prst="roundRect">
            <a:avLst>
              <a:gd name="adj" fmla="val 50000"/>
            </a:avLst>
          </a:prstGeom>
          <a:solidFill>
            <a:srgbClr val="111111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4048" rIns="0" tIns="0" bIns="0"/>
          <a:lstStyle/>
          <a:p>
            <a:pPr algn="l"/>
            <a:r>
              <a:rPr sz="1150" b="0">
                <a:solidFill>
                  <a:srgbClr val="FFFFFF"/>
                </a:solidFill>
                <a:latin typeface="Inter"/>
              </a:rPr>
              <a:t>Databricks · Workday · Finance</a:t>
            </a:r>
          </a:p>
        </p:txBody>
      </p:sp>
      <p:pic>
        <p:nvPicPr>
          <p:cNvPr id="18" name="Picture 17" descr="m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2" y="5536692"/>
            <a:ext cx="22860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042855" y="638251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0" spc="40">
                <a:solidFill>
                  <a:srgbClr val="AEAEAE"/>
                </a:solidFill>
                <a:latin typeface="Inter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676656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spc="160">
                <a:solidFill>
                  <a:srgbClr val="EA493F"/>
                </a:solidFill>
                <a:latin typeface="Inter"/>
              </a:rPr>
              <a:t>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9264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spc="-80">
                <a:solidFill>
                  <a:srgbClr val="111111"/>
                </a:solidFill>
                <a:latin typeface="Inter"/>
              </a:rPr>
              <a:t>Proof, in numbers and in practice.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965960"/>
            <a:ext cx="3332378" cy="141732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E4E4E0"/>
            </a:solidFill>
          </a:ln>
          <a:effectLst>
            <a:outerShdw blurRad="146304" dist="50292" dir="5400000" rotWithShape="0">
              <a:srgbClr val="11111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85415"/>
            <a:ext cx="287517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800" b="1" spc="-100">
                <a:solidFill>
                  <a:srgbClr val="EA493F"/>
                </a:solidFill>
                <a:latin typeface="Inter"/>
              </a:rPr>
              <a:t>40+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907792"/>
            <a:ext cx="282945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>
                <a:solidFill>
                  <a:srgbClr val="323232"/>
                </a:solidFill>
                <a:latin typeface="Inter"/>
              </a:rPr>
              <a:t>Workday deployments delivered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9658" y="1965960"/>
            <a:ext cx="3332378" cy="1417320"/>
          </a:xfrm>
          <a:prstGeom prst="roundRect">
            <a:avLst>
              <a:gd name="adj" fmla="val 8500"/>
            </a:avLst>
          </a:prstGeom>
          <a:solidFill>
            <a:srgbClr val="EA493F"/>
          </a:solidFill>
          <a:ln>
            <a:noFill/>
          </a:ln>
          <a:effectLst>
            <a:outerShdw blurRad="146304" dist="50292" dir="5400000" rotWithShape="0">
              <a:srgbClr val="11111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5690" y="2185415"/>
            <a:ext cx="287517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800" b="1" spc="-100">
                <a:solidFill>
                  <a:srgbClr val="FFFFFF"/>
                </a:solidFill>
                <a:latin typeface="Inter"/>
              </a:rPr>
              <a:t>98%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3978" y="2907792"/>
            <a:ext cx="282945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>
                <a:solidFill>
                  <a:srgbClr val="FFE3DF"/>
                </a:solidFill>
                <a:latin typeface="Inter"/>
              </a:rPr>
              <a:t>Client retention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8068" y="1965960"/>
            <a:ext cx="3332378" cy="1417320"/>
          </a:xfrm>
          <a:prstGeom prst="roundRect">
            <a:avLst>
              <a:gd name="adj" fmla="val 85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4100" y="2185415"/>
            <a:ext cx="287517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800" b="1" spc="-100">
                <a:solidFill>
                  <a:srgbClr val="FFFFFF"/>
                </a:solidFill>
                <a:latin typeface="Inter"/>
              </a:rPr>
              <a:t>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2388" y="2907792"/>
            <a:ext cx="282945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>
                <a:solidFill>
                  <a:srgbClr val="C9C9C9"/>
                </a:solidFill>
                <a:latin typeface="Inter"/>
              </a:rPr>
              <a:t>To value — not months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886200"/>
            <a:ext cx="10509199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E4E0"/>
            </a:solidFill>
          </a:ln>
          <a:effectLst>
            <a:outerShdw blurRad="146304" dist="50292" dir="5400000" rotWithShape="0">
              <a:srgbClr val="11111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4251960"/>
            <a:ext cx="685159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2100" b="0" spc="-40">
                <a:solidFill>
                  <a:srgbClr val="111111"/>
                </a:solidFill>
                <a:latin typeface="Inter"/>
              </a:rPr>
              <a:t>They listened first, then built around how our teams actually work. Go-live felt like a </a:t>
            </a:r>
            <a:r>
              <a:rPr sz="2100" b="0" spc="-40">
                <a:solidFill>
                  <a:srgbClr val="EA493F"/>
                </a:solidFill>
                <a:latin typeface="Inter"/>
              </a:rPr>
              <a:t>beginning</a:t>
            </a:r>
            <a:r>
              <a:rPr sz="2100" b="0" spc="-40">
                <a:solidFill>
                  <a:srgbClr val="111111"/>
                </a:solidFill>
                <a:latin typeface="Inter"/>
              </a:rPr>
              <a:t>, not a handover.</a:t>
            </a:r>
          </a:p>
        </p:txBody>
      </p:sp>
      <p:pic>
        <p:nvPicPr>
          <p:cNvPr id="15" name="Picture 14" descr="mchi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4367" y="5166359"/>
            <a:ext cx="91" cy="91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424367" y="4599432"/>
            <a:ext cx="566928" cy="566928"/>
          </a:xfrm>
          <a:prstGeom prst="ellipse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7599" y="4617720"/>
            <a:ext cx="21945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spc="-20">
                <a:solidFill>
                  <a:srgbClr val="111111"/>
                </a:solidFill>
                <a:latin typeface="Inter"/>
              </a:rPr>
              <a:t>People &amp; Systems 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7599" y="4946904"/>
            <a:ext cx="2194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>
                <a:solidFill>
                  <a:srgbClr val="AEAEAE"/>
                </a:solidFill>
                <a:latin typeface="Inter"/>
              </a:rPr>
              <a:t>Enterprise client · illustrative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42855" y="638251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0" spc="40">
                <a:solidFill>
                  <a:srgbClr val="AEAEAE"/>
                </a:solidFill>
                <a:latin typeface="Inter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676656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spc="160">
                <a:solidFill>
                  <a:srgbClr val="EA493F"/>
                </a:solidFill>
                <a:latin typeface="Inter"/>
              </a:rPr>
              <a:t>WHY MIVADA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9264"/>
            <a:ext cx="7498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spc="-80">
                <a:solidFill>
                  <a:srgbClr val="111111"/>
                </a:solidFill>
                <a:latin typeface="Inter"/>
              </a:rPr>
              <a:t>Built to be used, not just installed.</a:t>
            </a:r>
          </a:p>
        </p:txBody>
      </p:sp>
      <p:pic>
        <p:nvPicPr>
          <p:cNvPr id="4" name="Picture 3" descr="mc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63" y="676656"/>
            <a:ext cx="786384" cy="7863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1248" y="2240280"/>
            <a:ext cx="3320186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4E0"/>
            </a:solidFill>
          </a:ln>
          <a:effectLst>
            <a:outerShdw blurRad="146304" dist="50292" dir="5400000" rotWithShape="0">
              <a:srgbClr val="11111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c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532888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" y="3172968"/>
            <a:ext cx="277154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750" b="1" spc="-30">
                <a:solidFill>
                  <a:srgbClr val="111111"/>
                </a:solidFill>
                <a:latin typeface="Inter"/>
              </a:rPr>
              <a:t>Certified specialists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721608"/>
            <a:ext cx="277154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0">
                <a:solidFill>
                  <a:srgbClr val="323232"/>
                </a:solidFill>
                <a:latin typeface="Inter"/>
              </a:rPr>
              <a:t>Workday- and Databricks-certified consultants, not generalists learning on your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" y="4956048"/>
            <a:ext cx="873252" cy="292608"/>
          </a:xfrm>
          <a:prstGeom prst="roundRect">
            <a:avLst>
              <a:gd name="adj" fmla="val 50000"/>
            </a:avLst>
          </a:prstGeom>
          <a:solidFill>
            <a:srgbClr val="FCE7E4"/>
          </a:solidFill>
          <a:ln w="9525">
            <a:solidFill>
              <a:srgbClr val="F6C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C9362B"/>
                </a:solidFill>
                <a:latin typeface="Inter"/>
              </a:rPr>
              <a:t>Workday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98548" y="4956048"/>
            <a:ext cx="1106424" cy="292608"/>
          </a:xfrm>
          <a:prstGeom prst="roundRect">
            <a:avLst>
              <a:gd name="adj" fmla="val 50000"/>
            </a:avLst>
          </a:prstGeom>
          <a:solidFill>
            <a:srgbClr val="FCE7E4"/>
          </a:solidFill>
          <a:ln w="9525">
            <a:solidFill>
              <a:srgbClr val="F6C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C9362B"/>
                </a:solidFill>
                <a:latin typeface="Inter"/>
              </a:rPr>
              <a:t>Databricks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5754" y="2240280"/>
            <a:ext cx="3320186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4E0"/>
            </a:solidFill>
          </a:ln>
          <a:effectLst>
            <a:outerShdw blurRad="146304" dist="50292" dir="5400000" rotWithShape="0">
              <a:srgbClr val="11111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c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074" y="2532888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10074" y="3172968"/>
            <a:ext cx="277154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750" b="1" spc="-30">
                <a:solidFill>
                  <a:srgbClr val="111111"/>
                </a:solidFill>
                <a:latin typeface="Inter"/>
              </a:rPr>
              <a:t>Onshore + offshore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0074" y="3721608"/>
            <a:ext cx="277154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0">
                <a:solidFill>
                  <a:srgbClr val="323232"/>
                </a:solidFill>
                <a:latin typeface="Inter"/>
              </a:rPr>
              <a:t>Senior onshore leadership paired with cost-effective delivery from India.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10074" y="4956048"/>
            <a:ext cx="1028700" cy="292608"/>
          </a:xfrm>
          <a:prstGeom prst="roundRect">
            <a:avLst>
              <a:gd name="adj" fmla="val 50000"/>
            </a:avLst>
          </a:prstGeom>
          <a:solidFill>
            <a:srgbClr val="FCE7E4"/>
          </a:solidFill>
          <a:ln w="9525">
            <a:solidFill>
              <a:srgbClr val="F6C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C9362B"/>
                </a:solidFill>
                <a:latin typeface="Inter"/>
              </a:rPr>
              <a:t>Australia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48502" y="4956048"/>
            <a:ext cx="717804" cy="292608"/>
          </a:xfrm>
          <a:prstGeom prst="roundRect">
            <a:avLst>
              <a:gd name="adj" fmla="val 50000"/>
            </a:avLst>
          </a:prstGeom>
          <a:solidFill>
            <a:srgbClr val="FCE7E4"/>
          </a:solidFill>
          <a:ln w="9525">
            <a:solidFill>
              <a:srgbClr val="F6C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C9362B"/>
                </a:solidFill>
                <a:latin typeface="Inter"/>
              </a:rPr>
              <a:t>India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0260" y="2240280"/>
            <a:ext cx="3320186" cy="3246120"/>
          </a:xfrm>
          <a:prstGeom prst="roundRect">
            <a:avLst>
              <a:gd name="adj" fmla="val 5000"/>
            </a:avLst>
          </a:prstGeom>
          <a:solidFill>
            <a:srgbClr val="EA493F"/>
          </a:solidFill>
          <a:ln>
            <a:noFill/>
          </a:ln>
          <a:effectLst>
            <a:outerShdw blurRad="146304" dist="50292" dir="5400000" rotWithShape="0">
              <a:srgbClr val="11111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c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0" y="2532888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04580" y="3172968"/>
            <a:ext cx="277154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750" b="1" spc="-30">
                <a:solidFill>
                  <a:srgbClr val="FFFFFF"/>
                </a:solidFill>
                <a:latin typeface="Inter"/>
              </a:rPr>
              <a:t>People-first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4580" y="3721608"/>
            <a:ext cx="277154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0">
                <a:solidFill>
                  <a:srgbClr val="FFFFFF"/>
                </a:solidFill>
                <a:latin typeface="Inter"/>
              </a:rPr>
              <a:t>Adoption built in from day one, so the platform actually gets used.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04580" y="4956048"/>
            <a:ext cx="795528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>
                <a:solidFill>
                  <a:srgbClr val="FFFFFF"/>
                </a:solidFill>
                <a:latin typeface="Inter"/>
              </a:rPr>
              <a:t>Change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09836" y="4956048"/>
            <a:ext cx="950976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>
                <a:solidFill>
                  <a:srgbClr val="FFFFFF"/>
                </a:solidFill>
                <a:latin typeface="Inter"/>
              </a:rPr>
              <a:t>Adoption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42855" y="638251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0" spc="40">
                <a:solidFill>
                  <a:srgbClr val="AEAEAE"/>
                </a:solidFill>
                <a:latin typeface="Inter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493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_c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mchi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713232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713232"/>
            <a:ext cx="36576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300" b="1" spc="-40">
                <a:solidFill>
                  <a:srgbClr val="FFFFFF"/>
                </a:solidFill>
                <a:latin typeface="Inter"/>
              </a:rPr>
              <a:t>Mivada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41487" y="841248"/>
            <a:ext cx="3108960" cy="40233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0">
                <a:solidFill>
                  <a:srgbClr val="FFFFFF"/>
                </a:solidFill>
                <a:latin typeface="Inter"/>
              </a:rPr>
              <a:t>Experience the Mivada difference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78892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spc="160">
                <a:solidFill>
                  <a:srgbClr val="FFD9D4"/>
                </a:solidFill>
                <a:latin typeface="Inter"/>
              </a:rPr>
              <a:t>LET'S TALK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27248"/>
            <a:ext cx="8778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4400" b="1" spc="-100">
                <a:solidFill>
                  <a:srgbClr val="FFFFFF"/>
                </a:solidFill>
                <a:latin typeface="Inter"/>
              </a:rPr>
              <a:t>Let's build smarter systems, with people at the centre.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507492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C9362B"/>
                </a:solidFill>
                <a:latin typeface="Inter"/>
              </a:rPr>
              <a:t>hello@mivada.com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5074920"/>
            <a:ext cx="1828800" cy="47548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0">
                <a:solidFill>
                  <a:srgbClr val="FFFFFF"/>
                </a:solidFill>
                <a:latin typeface="Inter"/>
              </a:rPr>
              <a:t>mivada.com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0">
                <a:latin typeface="Inter"/>
                <a:solidFill>
                  <a:srgbClr val="FFFFFF">
                    <a:alpha val="82000"/>
                  </a:srgbClr>
                </a:solidFill>
              </a:rPr>
              <a:t>Sydney      ·      Melbourne      ·      Onshore AU &amp; India      ·      Figures illustrative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42855" y="638251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0" spc="40">
                <a:latin typeface="Inter"/>
                <a:solidFill>
                  <a:srgbClr val="FFFFFF">
                    <a:alpha val="60000"/>
                  </a:srgbClr>
                </a:solidFill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