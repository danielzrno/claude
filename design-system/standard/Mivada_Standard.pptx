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111111"/>
                </a:solidFill>
                <a:latin typeface="Inter"/>
              </a:rPr>
              <a:t>Technology, </a:t>
            </a:r>
            <a:r>
              <a:rPr sz="1600" b="1" i="0" lang="en-AU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Workday, people systems, data and automation into outcomes teams actually feel — where human understanding becomes system advantage.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In good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Qantas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154680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86835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Jetstar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5847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Guzman y Gomez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04859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Western Sydney Airport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04859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Canva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721608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835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NAB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86835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5847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Rio Tinto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4859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ResMed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04859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HCF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" y="4288536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835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IAG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86835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5847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University of Sydney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04859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Macquarie University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04859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77824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7824" y="4855464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86835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Seven West Media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86835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95847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Amart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704859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dnata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04859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77824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Queensland Airports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" y="5422392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486835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Kennards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86835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847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Anglicare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4859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ProPharma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04859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Across your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people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People Systems 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HCM, Payroll, Time &amp; Attendance and HRIS 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Data, Analytics &amp; BI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Process &amp;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Long-term AMS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first,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start to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learn your people, processes and constraints before touching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shape Workday around how your teams really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Agile delivery, senior practitioners, clear governance.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Long-term managed services that keep improving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From reporting to governed analytics and automation — we turn Workday data into trusted, timely insight.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Dashboards &amp; reporting people actually use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Prism &amp; data lakehouse, governed analytics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AUTOMATE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Integrations &amp; automation across the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Security, controls and audit readiness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WORKDAY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78426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2746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2746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79028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3348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3348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7530" y="2830068"/>
            <a:ext cx="548640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AU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8132" y="2830068"/>
            <a:ext cx="548640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AU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4389120"/>
            <a:ext cx="6835444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52144" y="4572000"/>
            <a:ext cx="6286804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4901183"/>
            <a:ext cx="6286804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9028" y="4389120"/>
            <a:ext cx="3234842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348" y="4572000"/>
            <a:ext cx="2686202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4901183"/>
            <a:ext cx="2686202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61447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Flex between engagement models as you move from build to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325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68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411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955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498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041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127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671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14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18:30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757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19:30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00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20:30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843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325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6868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1411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85955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0498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5041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584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4127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58671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3214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7757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2300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6843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31387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7824" y="26974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77824" y="40690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59551" y="2697480"/>
            <a:ext cx="4472591" cy="1371600"/>
          </a:xfrm>
          <a:prstGeom prst="rect">
            <a:avLst/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2862072"/>
            <a:ext cx="738116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2898648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96127" y="3483864"/>
            <a:ext cx="738116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9279" y="3520440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4:00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325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5:00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868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6:00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1411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7:00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955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498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5041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584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127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671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3214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757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300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6843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" y="4325112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lang="en-AU" spc="51" cap="all">
                <a:solidFill>
                  <a:srgbClr val="EA493F"/>
                </a:solidFill>
                <a:latin typeface="Inter"/>
              </a:rPr>
              <a:t>← AEST   ·   IST 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" y="4709160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5038344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536752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4709160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5038344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367528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Monitoring &amp; backlog resolution per SLAs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" y="5943600"/>
            <a:ext cx="1043604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6424" y="600760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FFFFFF"/>
                </a:solidFill>
                <a:latin typeface="Inter"/>
              </a:rPr>
              <a:t>24×7 P1/P2 on-call   </a:t>
            </a:r>
            <a:r>
              <a:rPr sz="1100" b="0" i="0" lang="en-AU" spc="0">
                <a:solidFill>
                  <a:srgbClr val="FFFFFF"/>
                </a:solidFill>
                <a:latin typeface="Inter"/>
              </a:rPr>
              <a:t>always-on safety net for P1 &amp; P2 incidents, in line with monthly hours.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CADENCE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87751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Strategic oversight · innovation &amp; thought leadership · roadmap &amp; investment · relationship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6883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2542032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solidFill>
            <a:srgbClr val="D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TACTICAL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Product Owner · IT Service Owner – AMS · Risk &amp; Compliance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666744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Service &amp; SLA review · risk &amp; compliance · release planning &amp; adoption · improvement backlog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7673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3621024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OPERATIONAL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AMS team · Change &amp; Release Coordinators · Super Users / SMEs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45736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Daily triage &amp; resolution · change &amp; release execution · UX · operational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846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824" y="4700016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77824" y="5779008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7824" y="588873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Client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4447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0479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Service Delivery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0479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AMS operations &amp; SLAs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72535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19159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2535" y="3566160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3566160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77824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0479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5166360"/>
            <a:ext cx="4989423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FFFFFF"/>
                </a:solidFill>
                <a:latin typeface="Inter"/>
              </a:rPr>
              <a:t>Strategic advisory · direct CEO access for escalation &amp; sponsorship.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5166360"/>
            <a:ext cx="4989423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0479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DEDICATED WORKDAY PRACTICE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479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D6D6D6"/>
                </a:solidFill>
                <a:latin typeface="Inter"/>
              </a:rPr>
              <a:t>Innovation — automation, new Workday features &amp; process optimisation.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in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Workday delivery — consultants average 3+ years on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&amp; SUPPORT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206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62544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EMPLOYEES · AU, US &amp; INDIA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 lang="en-AU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4400" b="1" i="0" lang="en-AU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