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84" r:id="rId29"/>
    <p:sldId id="278" r:id="rId23"/>
    <p:sldId id="282" r:id="rId27"/>
    <p:sldId id="281" r:id="rId26"/>
    <p:sldId id="283" r:id="rId28"/>
    <p:sldId id="277" r:id="rId11"/>
    <p:sldId id="265" r:id="rId12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12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AEAEAE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111111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101010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323232"/>
                </a:solidFill>
                <a:latin typeface="Inter"/>
              </a:rPr>
              <a:t>Grew out of the customer | Local Accountability | Global Scale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20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FFFFFF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FFFFFF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D6D6D6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FFFFFF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Strategic advisory projects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>
            <a:extLst>
              <a:ext uri="{FF2B5EF4-FFF2-40B4-BE49-F238E27FC236}">
                <a16:creationId xmlns:a16="http://schemas.microsoft.com/office/drawing/2014/main" id="{C7155AAB-32BC-F0A3-EB41-5A50A3A25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FFFFFF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We own the system, we managed the payroll</a:t>
            </a:r>
          </a:p>
        </p:txBody>
      </p:sp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21408"/>
            <a:ext cx="91440" cy="162763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072" y="2121408"/>
            <a:ext cx="91440" cy="162763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Cutover &amp; hypercare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23232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AEAEAE"/>
                </a:solidFill>
                <a:latin typeface="Inter"/>
              </a:rPr>
              <a:t>Operational excellence, by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53920" y="3474720"/>
            <a:ext cx="34770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5392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1292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92858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9434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192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51860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8436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Consultants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0927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610862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38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&amp; Integration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11111"/>
                </a:solidFill>
                <a:latin typeface="Inter"/>
              </a:rPr>
              <a:t>CUSTOMER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Project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Change Manager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Leads &amp; SMEs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Testing Lead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Champions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Core HCM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Time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5576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Recruiting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Talent &amp;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5576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65576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Compensation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7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Benefits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5576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65576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Payroll (AU / global)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Learning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65576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7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6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65576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0168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Accounting (GL)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78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78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3416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Accounting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91072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91072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78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78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43416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91072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91072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Procurement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78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78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43416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Expenses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91072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91072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Banking &amp; Settlement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78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78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Business Assets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91072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91072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Reporting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78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78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43416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Prism Analytics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91072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78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78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3416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605332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23232"/>
                </a:solidFill>
                <a:latin typeface="Inter"/>
              </a:rPr>
              <a:t>Adaptive Planning — all modules.    ·    Cross-skilled across both suites — one team, two suites.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IMPLEMENTATION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implementation </a:t>
            </a:r>
            <a:r>
              <a:rPr sz="3300" b="1">
                <a:solidFill>
                  <a:srgbClr val="EA493F"/>
                </a:solidFill>
                <a:latin typeface="Inter"/>
              </a:rPr>
              <a:t>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single 20-week delivery brings all your modules live in one go-live — followed by four weeks of Hypercare.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12848"/>
            <a:ext cx="10442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11111"/>
                </a:solidFill>
                <a:latin typeface="Inter"/>
              </a:rPr>
              <a:t>One phase  ·  20 weeks to go-live  ·  all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Mobilise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93979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6898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346557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9476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Configure &amp; Prototype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99135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8–13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2054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51713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14–19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4632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EA493F"/>
                </a:solidFill>
                <a:latin typeface="Inter"/>
              </a:rPr>
              <a:t>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504291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50653" y="4892040"/>
            <a:ext cx="377519" cy="32918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1324" y="484632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11111"/>
                </a:solidFill>
                <a:latin typeface="Inter"/>
              </a:rPr>
              <a:t>Wk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3721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Hypercare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556869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solidFill>
            <a:srgbClr val="C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111111"/>
                </a:solidFill>
                <a:latin typeface="Inter"/>
              </a:rPr>
              <a:t>Wk 21–24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5943600"/>
            <a:ext cx="10442448" cy="67665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5943600"/>
            <a:ext cx="9784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One team. One go-live. Twenty weeks.  </a:t>
            </a:r>
            <a:r>
              <a:rPr sz="1100" b="0">
                <a:solidFill>
                  <a:srgbClr val="FFFFFF"/>
                </a:solidFill>
                <a:latin typeface="Inter"/>
              </a:rPr>
              <a:t>Workday GO's preconfigured tenant removes the design overhead — we validate, tailor and stand your team up, all modules live together at week 20.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