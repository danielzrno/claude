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4" r:id="rId8"/>
    <p:sldId id="276" r:id="rId9"/>
    <p:sldId id="280" r:id="rId25"/>
    <p:sldId id="284" r:id="rId29"/>
    <p:sldId id="278" r:id="rId23"/>
    <p:sldId id="282" r:id="rId27"/>
    <p:sldId id="281" r:id="rId26"/>
    <p:sldId id="283" r:id="rId28"/>
    <p:sldId id="277" r:id="rId11"/>
    <p:sldId id="265" r:id="rId12"/>
    <p:sldId id="285" r:id="rId24"/>
    <p:sldId id="286" r:id="rId10"/>
    <p:sldId id="287" r:id="rId30"/>
    <p:sldId id="288" r:id="rId31"/>
    <p:sldId id="289" r:id="rId32"/>
    <p:sldId id="290" r:id="rId33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77273"/>
  </p:normalViewPr>
  <p:slideViewPr>
    <p:cSldViewPr snapToGrid="0" snapToObjects="1">
      <p:cViewPr>
        <p:scale>
          <a:sx n="101" d="100"/>
          <a:sy n="101" d="100"/>
        </p:scale>
        <p:origin x="1616" y="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8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slide" Target="slides/slide23.xml"/><Relationship Id="rId14" Type="http://schemas.openxmlformats.org/officeDocument/2006/relationships/slide" Target="slides/slide24.xml"/><Relationship Id="rId15" Type="http://schemas.openxmlformats.org/officeDocument/2006/relationships/slide" Target="slides/slide25.xml"/><Relationship Id="rId16" Type="http://schemas.openxmlformats.org/officeDocument/2006/relationships/slide" Target="slides/slide26.xml"/><Relationship Id="rId17" Type="http://schemas.openxmlformats.org/officeDocument/2006/relationships/slide" Target="slides/slide27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1.xml"/><Relationship Id="rId24" Type="http://schemas.openxmlformats.org/officeDocument/2006/relationships/slide" Target="slides/slide17.xml"/><Relationship Id="rId25" Type="http://schemas.openxmlformats.org/officeDocument/2006/relationships/slide" Target="slides/slide9.xml"/><Relationship Id="rId26" Type="http://schemas.openxmlformats.org/officeDocument/2006/relationships/slide" Target="slides/slide13.xml"/><Relationship Id="rId27" Type="http://schemas.openxmlformats.org/officeDocument/2006/relationships/slide" Target="slides/slide12.xml"/><Relationship Id="rId28" Type="http://schemas.openxmlformats.org/officeDocument/2006/relationships/slide" Target="slides/slide14.xml"/><Relationship Id="rId29" Type="http://schemas.openxmlformats.org/officeDocument/2006/relationships/slide" Target="slides/slide10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8246E-F43B-7844-94AD-6FEDFECFA997}" type="datetimeFigureOut">
              <a:rPr lang="en-AU" smtClean="0"/>
              <a:t>7/6/2026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B14CE-0691-564D-9B14-1D54B32B15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53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CB14CE-0691-564D-9B14-1D54B32B15D1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925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jpe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jpeg"/><Relationship Id="rId25" Type="http://schemas.openxmlformats.org/officeDocument/2006/relationships/image" Target="../media/image26.png"/><Relationship Id="rId26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jpe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Logo_Master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5" y="2487168"/>
            <a:ext cx="5907265" cy="8961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767328"/>
            <a:ext cx="8534095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600" b="1" i="0" spc="0">
                <a:solidFill>
                  <a:srgbClr val="111111"/>
                </a:solidFill>
                <a:latin typeface="Inter"/>
              </a:rPr>
              <a:t>Technology, </a:t>
            </a:r>
            <a:r>
              <a:rPr lang="en-AU" sz="1600" b="1" i="0" spc="0">
                <a:solidFill>
                  <a:srgbClr val="EA493F"/>
                </a:solidFill>
                <a:latin typeface="Inter"/>
              </a:rPr>
              <a:t>human first.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331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192">
                <a:solidFill>
                  <a:srgbClr val="EA493F"/>
                </a:solidFill>
                <a:latin typeface="Inter"/>
              </a:rPr>
              <a:t>MIVADA · COMPANY OVERVIEW &amp; SERVICES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607040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400" b="1" i="0" spc="-135">
                <a:solidFill>
                  <a:srgbClr val="FFFFFF"/>
                </a:solidFill>
                <a:latin typeface="Inter"/>
              </a:rPr>
              <a:t>Technology, </a:t>
            </a:r>
            <a:r>
              <a:rPr lang="en-AU" sz="5400" b="1" i="0" spc="-135">
                <a:solidFill>
                  <a:srgbClr val="EA493F"/>
                </a:solidFill>
                <a:latin typeface="Inter"/>
              </a:rPr>
              <a:t>human first.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spc="46" dirty="0">
                <a:solidFill>
                  <a:srgbClr val="AEAEAE"/>
                </a:solidFill>
                <a:latin typeface="Inter"/>
              </a:rPr>
              <a:t>ANZ’s largest locally owned Workday partner.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AU" sz="1150" b="1" i="0" spc="46" dirty="0">
              <a:solidFill>
                <a:srgbClr val="AEAEAE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spc="46">
                <a:solidFill>
                  <a:srgbClr val="AEAEAE"/>
                </a:solidFill>
                <a:latin typeface="Inter"/>
              </a:rPr>
              <a:t>mivada.com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704088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4000" b="1" i="0" spc="-87" dirty="0">
                <a:solidFill>
                  <a:srgbClr val="111111"/>
                </a:solidFill>
                <a:latin typeface="Inter"/>
              </a:rPr>
              <a:t>ANZ’s Largest locally owned Workday </a:t>
            </a:r>
            <a:r>
              <a:rPr lang="en-AU" sz="4000" b="1" i="0" spc="-87" dirty="0">
                <a:solidFill>
                  <a:srgbClr val="EA493F"/>
                </a:solidFill>
                <a:latin typeface="Inter"/>
              </a:rPr>
              <a:t>partner.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99592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4160520"/>
            <a:ext cx="3314090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 dirty="0">
                <a:solidFill>
                  <a:srgbClr val="111111"/>
                </a:solidFill>
                <a:latin typeface="Inter"/>
              </a:rPr>
              <a:t>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294376"/>
            <a:ext cx="3250082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AEAEAE"/>
                </a:solidFill>
                <a:latin typeface="Inter"/>
              </a:rPr>
              <a:t>FOUNDED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56506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7402" y="4160520"/>
            <a:ext cx="3003194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 dirty="0">
                <a:solidFill>
                  <a:srgbClr val="111111"/>
                </a:solidFill>
                <a:latin typeface="Inter"/>
              </a:rPr>
              <a:t>200</a:t>
            </a:r>
            <a:r>
              <a:rPr lang="en-AU" sz="5800" b="1" i="0" spc="-203" dirty="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402" y="5294376"/>
            <a:ext cx="293918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 dirty="0">
                <a:solidFill>
                  <a:srgbClr val="AEAEAE"/>
                </a:solidFill>
                <a:latin typeface="Inter"/>
              </a:rPr>
              <a:t>Global Scale · AU, US &amp; INDIA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35188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46084" y="4160520"/>
            <a:ext cx="3003194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 dirty="0">
                <a:solidFill>
                  <a:srgbClr val="111111"/>
                </a:solidFill>
                <a:latin typeface="Inter"/>
              </a:rPr>
              <a:t>100</a:t>
            </a:r>
            <a:r>
              <a:rPr lang="en-AU" sz="5800" b="1" i="0" spc="-203" dirty="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084" y="5294376"/>
            <a:ext cx="293918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 dirty="0">
                <a:solidFill>
                  <a:srgbClr val="AEAEAE"/>
                </a:solidFill>
                <a:latin typeface="Inter"/>
              </a:rPr>
              <a:t>Workday Team</a:t>
            </a:r>
          </a:p>
        </p:txBody>
      </p:sp>
      <p:cxnSp>
        <p:nvCxnSpPr>
          <p:cNvPr id="15" name="Connector 11">
            <a:extLst>
              <a:ext uri="{FF2B5EF4-FFF2-40B4-BE49-F238E27FC236}">
                <a16:creationId xmlns:a16="http://schemas.microsoft.com/office/drawing/2014/main" id="{548C4017-CAC6-57C9-2F4B-7ADBE7776FCB}"/>
              </a:ext>
            </a:extLst>
          </p:cNvPr>
          <p:cNvCxnSpPr>
            <a:cxnSpLocks/>
          </p:cNvCxnSpPr>
          <p:nvPr/>
        </p:nvCxnSpPr>
        <p:spPr>
          <a:xfrm rot="5400000">
            <a:off x="6727207" y="2682242"/>
            <a:ext cx="2209614" cy="6349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D914FF8-BDF7-2D65-999C-151C0CE683DC}"/>
              </a:ext>
            </a:extLst>
          </p:cNvPr>
          <p:cNvSpPr txBox="1"/>
          <p:nvPr/>
        </p:nvSpPr>
        <p:spPr>
          <a:xfrm>
            <a:off x="8146084" y="1719072"/>
            <a:ext cx="3294083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000" b="1" i="0" spc="-75" dirty="0">
                <a:solidFill>
                  <a:srgbClr val="101010"/>
                </a:solidFill>
                <a:latin typeface="Inter"/>
              </a:rPr>
              <a:t>HCM, Payroll</a:t>
            </a:r>
            <a:r>
              <a:rPr lang="en-AU" sz="2000" b="1" spc="-75" dirty="0">
                <a:solidFill>
                  <a:srgbClr val="101010"/>
                </a:solidFill>
                <a:latin typeface="Inter"/>
              </a:rPr>
              <a:t> &amp; Time</a:t>
            </a:r>
            <a:br>
              <a:rPr lang="en-AU" sz="2000" b="1" spc="-75" dirty="0">
                <a:solidFill>
                  <a:srgbClr val="101010"/>
                </a:solidFill>
                <a:latin typeface="Inter"/>
              </a:rPr>
            </a:br>
            <a:r>
              <a:rPr lang="en-AU" sz="2000" b="1" spc="-75" dirty="0">
                <a:solidFill>
                  <a:srgbClr val="101010"/>
                </a:solidFill>
                <a:latin typeface="Inter"/>
              </a:rPr>
              <a:t>Finance</a:t>
            </a:r>
            <a:br>
              <a:rPr lang="en-AU" sz="2000" b="1" spc="-75" dirty="0">
                <a:solidFill>
                  <a:srgbClr val="101010"/>
                </a:solidFill>
                <a:latin typeface="Inter"/>
              </a:rPr>
            </a:br>
            <a:r>
              <a:rPr lang="en-AU" sz="2000" b="1" spc="-75" dirty="0">
                <a:solidFill>
                  <a:srgbClr val="101010"/>
                </a:solidFill>
                <a:latin typeface="Inter"/>
              </a:rPr>
              <a:t>Adaptive Planning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000" b="1" spc="-75" dirty="0">
                <a:solidFill>
                  <a:srgbClr val="101010"/>
                </a:solidFill>
                <a:latin typeface="Inter"/>
              </a:rPr>
              <a:t>A.I. &amp; Sana</a:t>
            </a:r>
            <a:endParaRPr lang="en-AU" sz="2000" b="1" i="0" spc="-75" dirty="0">
              <a:solidFill>
                <a:srgbClr val="101010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AE8F8E-8618-0D2E-16E7-910AD5EBDC61}"/>
              </a:ext>
            </a:extLst>
          </p:cNvPr>
          <p:cNvSpPr txBox="1"/>
          <p:nvPr/>
        </p:nvSpPr>
        <p:spPr>
          <a:xfrm>
            <a:off x="877824" y="3209544"/>
            <a:ext cx="550984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600" b="1" i="0" spc="0" dirty="0">
                <a:solidFill>
                  <a:srgbClr val="323232"/>
                </a:solidFill>
                <a:latin typeface="Inter"/>
              </a:rPr>
              <a:t>Grew out of the customer | Local Accountability | Global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26374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111111"/>
                </a:solidFill>
                <a:latin typeface="Inter"/>
              </a:rPr>
              <a:t>Proven in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Workday.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1272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3291840"/>
            <a:ext cx="2444419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111111"/>
                </a:solidFill>
                <a:latin typeface="Inter"/>
              </a:rPr>
              <a:t>3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425696"/>
            <a:ext cx="2380411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AEAEAE"/>
                </a:solidFill>
                <a:latin typeface="Inter"/>
              </a:rPr>
              <a:t>CERTIFICATIONS / CONSULTANT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835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97731" y="3291840"/>
            <a:ext cx="2133523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111111"/>
                </a:solidFill>
                <a:latin typeface="Inter"/>
              </a:rPr>
              <a:t>2000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7731" y="4425696"/>
            <a:ext cx="2069515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AEAEAE"/>
                </a:solidFill>
                <a:latin typeface="Inter"/>
              </a:rPr>
              <a:t>WORKDAY INTEGRATIONS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6743" y="3291840"/>
            <a:ext cx="2133523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111111"/>
                </a:solidFill>
                <a:latin typeface="Inter"/>
              </a:rPr>
              <a:t>3000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4425696"/>
            <a:ext cx="2069515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AEAEAE"/>
                </a:solidFill>
                <a:latin typeface="Inter"/>
              </a:rPr>
              <a:t>CUSTOM REPORTS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04859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15755" y="3291840"/>
            <a:ext cx="2133523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111111"/>
                </a:solidFill>
                <a:latin typeface="Inter"/>
              </a:rPr>
              <a:t>30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755" y="4425696"/>
            <a:ext cx="2069515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 dirty="0">
                <a:solidFill>
                  <a:srgbClr val="AEAEAE"/>
                </a:solidFill>
                <a:latin typeface="Inter"/>
              </a:rPr>
              <a:t>IMPLEMENTATIONS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" y="49560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56506" y="5166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7402" y="5120640"/>
            <a:ext cx="3003194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111111"/>
                </a:solidFill>
                <a:latin typeface="Inter"/>
              </a:rPr>
              <a:t>100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6254496"/>
            <a:ext cx="293918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 dirty="0">
                <a:solidFill>
                  <a:srgbClr val="AEAEAE"/>
                </a:solidFill>
                <a:latin typeface="Inter"/>
              </a:rPr>
              <a:t>Workday Team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35188" y="5166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46084" y="5120640"/>
            <a:ext cx="3003194" cy="10515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5800" b="1" i="0" spc="-203">
                <a:solidFill>
                  <a:srgbClr val="111111"/>
                </a:solidFill>
                <a:latin typeface="Inter"/>
              </a:rPr>
              <a:t>10</a:t>
            </a:r>
            <a:r>
              <a:rPr lang="en-AU" sz="5800" b="1" i="0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6084" y="6254496"/>
            <a:ext cx="293918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1" i="0" cap="all" spc="126">
                <a:solidFill>
                  <a:srgbClr val="AEAEAE"/>
                </a:solidFill>
                <a:latin typeface="Inter"/>
              </a:rPr>
              <a:t>YEARS DELIVERING WORKDAY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B70A9E2-1083-947A-1124-925835F03F87}"/>
              </a:ext>
            </a:extLst>
          </p:cNvPr>
          <p:cNvGrpSpPr/>
          <p:nvPr/>
        </p:nvGrpSpPr>
        <p:grpSpPr>
          <a:xfrm>
            <a:off x="-3134921" y="-3835462"/>
            <a:ext cx="8316521" cy="2937890"/>
            <a:chOff x="1078840" y="2748403"/>
            <a:chExt cx="10029039" cy="3542851"/>
          </a:xfrm>
        </p:grpSpPr>
        <p:pic>
          <p:nvPicPr>
            <p:cNvPr id="74" name="Google Shape;676;p21" descr="Picture 4">
              <a:extLst>
                <a:ext uri="{FF2B5EF4-FFF2-40B4-BE49-F238E27FC236}">
                  <a16:creationId xmlns:a16="http://schemas.microsoft.com/office/drawing/2014/main" id="{8C85D48B-68D8-84CF-0E2B-05DE1CC885D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40235" y="3772587"/>
              <a:ext cx="1656563" cy="339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678;p21" descr="Content Placeholder 10">
              <a:extLst>
                <a:ext uri="{FF2B5EF4-FFF2-40B4-BE49-F238E27FC236}">
                  <a16:creationId xmlns:a16="http://schemas.microsoft.com/office/drawing/2014/main" id="{04DB82FF-387E-1943-81FA-D57CEB3AC6DC}"/>
                </a:ext>
              </a:extLst>
            </p:cNvPr>
            <p:cNvPicPr preferRelativeResize="0"/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4343" b="28785"/>
            <a:stretch/>
          </p:blipFill>
          <p:spPr>
            <a:xfrm>
              <a:off x="8349011" y="2828009"/>
              <a:ext cx="1019300" cy="484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679;p21" descr="Picture 2">
              <a:extLst>
                <a:ext uri="{FF2B5EF4-FFF2-40B4-BE49-F238E27FC236}">
                  <a16:creationId xmlns:a16="http://schemas.microsoft.com/office/drawing/2014/main" id="{05E3B940-ADBF-D614-5224-ABC41C9200E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93742" y="4622751"/>
              <a:ext cx="466033" cy="484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680;p21" descr="Picture 4">
              <a:extLst>
                <a:ext uri="{FF2B5EF4-FFF2-40B4-BE49-F238E27FC236}">
                  <a16:creationId xmlns:a16="http://schemas.microsoft.com/office/drawing/2014/main" id="{3E68D501-0736-49B6-E8A1-6D3E15F58B6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94861" y="2810354"/>
              <a:ext cx="542425" cy="5195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682;p21" descr="Picture 8">
              <a:extLst>
                <a:ext uri="{FF2B5EF4-FFF2-40B4-BE49-F238E27FC236}">
                  <a16:creationId xmlns:a16="http://schemas.microsoft.com/office/drawing/2014/main" id="{826844F8-2DB4-7B77-60C2-A77601A4F4E2}"/>
                </a:ext>
              </a:extLst>
            </p:cNvPr>
            <p:cNvPicPr preferRelativeResize="0"/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 t="11277" b="13062"/>
            <a:stretch>
              <a:fillRect/>
            </a:stretch>
          </p:blipFill>
          <p:spPr>
            <a:xfrm>
              <a:off x="8188196" y="3738090"/>
              <a:ext cx="1096541" cy="408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684;p21" descr="Picture 2">
              <a:extLst>
                <a:ext uri="{FF2B5EF4-FFF2-40B4-BE49-F238E27FC236}">
                  <a16:creationId xmlns:a16="http://schemas.microsoft.com/office/drawing/2014/main" id="{656575EA-1C0A-0650-DA84-48087CF2FC13}"/>
                </a:ext>
              </a:extLst>
            </p:cNvPr>
            <p:cNvPicPr preferRelativeResize="0"/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6296592" y="4614958"/>
              <a:ext cx="987861" cy="4998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686;p21" descr="Picture 4">
              <a:extLst>
                <a:ext uri="{FF2B5EF4-FFF2-40B4-BE49-F238E27FC236}">
                  <a16:creationId xmlns:a16="http://schemas.microsoft.com/office/drawing/2014/main" id="{3F74D8AB-08B9-3EB4-F829-115C79FADF57}"/>
                </a:ext>
              </a:extLst>
            </p:cNvPr>
            <p:cNvPicPr preferRelativeResize="0"/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9999789" y="3844957"/>
              <a:ext cx="824043" cy="194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Picture 4" descr="Rio Tinto logo">
              <a:extLst>
                <a:ext uri="{FF2B5EF4-FFF2-40B4-BE49-F238E27FC236}">
                  <a16:creationId xmlns:a16="http://schemas.microsoft.com/office/drawing/2014/main" id="{E6EF3C45-9C66-A373-D1F1-0E90360BCB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10" t="19566" r="4242" b="27059"/>
            <a:stretch>
              <a:fillRect/>
            </a:stretch>
          </p:blipFill>
          <p:spPr bwMode="auto">
            <a:xfrm>
              <a:off x="1078840" y="4650824"/>
              <a:ext cx="1046343" cy="428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6" descr="Member login">
              <a:extLst>
                <a:ext uri="{FF2B5EF4-FFF2-40B4-BE49-F238E27FC236}">
                  <a16:creationId xmlns:a16="http://schemas.microsoft.com/office/drawing/2014/main" id="{B28E4085-65AC-2CAF-384F-A2D848D2C2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067" y="2888555"/>
              <a:ext cx="990163" cy="3631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" descr="Articles tagged with 'catering' | Dnata">
              <a:extLst>
                <a:ext uri="{FF2B5EF4-FFF2-40B4-BE49-F238E27FC236}">
                  <a16:creationId xmlns:a16="http://schemas.microsoft.com/office/drawing/2014/main" id="{6ED96ECC-71E4-DE0A-58A4-C800462C85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8334" y="4602644"/>
              <a:ext cx="1099699" cy="524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2" descr="National Australia Bank brand resources: accessing high ...">
              <a:extLst>
                <a:ext uri="{FF2B5EF4-FFF2-40B4-BE49-F238E27FC236}">
                  <a16:creationId xmlns:a16="http://schemas.microsoft.com/office/drawing/2014/main" id="{2F00174B-E940-69C5-76CD-9CB091F660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261" y="3558011"/>
              <a:ext cx="941883" cy="7688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2" descr="Seven West Media | Logopedia | Fandom">
              <a:extLst>
                <a:ext uri="{FF2B5EF4-FFF2-40B4-BE49-F238E27FC236}">
                  <a16:creationId xmlns:a16="http://schemas.microsoft.com/office/drawing/2014/main" id="{6F049F6B-EC08-90E4-6D8C-B395BDA53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9977" y="4648752"/>
              <a:ext cx="1117906" cy="43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Picture 6" descr="Canva's Logo gets a New Re-definition">
              <a:extLst>
                <a:ext uri="{FF2B5EF4-FFF2-40B4-BE49-F238E27FC236}">
                  <a16:creationId xmlns:a16="http://schemas.microsoft.com/office/drawing/2014/main" id="{567CB764-ACE0-15F4-AF3F-CC10287AD2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76" t="21623" r="14676" b="22364"/>
            <a:stretch>
              <a:fillRect/>
            </a:stretch>
          </p:blipFill>
          <p:spPr bwMode="auto">
            <a:xfrm>
              <a:off x="9929092" y="2865466"/>
              <a:ext cx="919236" cy="409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12" descr="Anglicare Aged Care &amp; Community Services | Sydney &amp; Surrounds | Anglicare">
              <a:extLst>
                <a:ext uri="{FF2B5EF4-FFF2-40B4-BE49-F238E27FC236}">
                  <a16:creationId xmlns:a16="http://schemas.microsoft.com/office/drawing/2014/main" id="{7261AAD4-E7A6-AEE0-3F62-4B7CCE2EF5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0133" y="2748406"/>
              <a:ext cx="559535" cy="643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87" descr="A logo with blue and green lines&#10;&#10;AI-generated content may be incorrect.">
              <a:extLst>
                <a:ext uri="{FF2B5EF4-FFF2-40B4-BE49-F238E27FC236}">
                  <a16:creationId xmlns:a16="http://schemas.microsoft.com/office/drawing/2014/main" id="{F1C67F03-A65C-F00D-36A2-401AD626C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747" t="13319" r="4612" b="12915"/>
            <a:stretch>
              <a:fillRect/>
            </a:stretch>
          </p:blipFill>
          <p:spPr>
            <a:xfrm>
              <a:off x="4060449" y="2816374"/>
              <a:ext cx="1073631" cy="507529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F00370A5-7EE6-EAFD-31AE-19D85C017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211850" y="3799605"/>
              <a:ext cx="604359" cy="285642"/>
            </a:xfrm>
            <a:prstGeom prst="rect">
              <a:avLst/>
            </a:prstGeom>
          </p:spPr>
        </p:pic>
        <p:pic>
          <p:nvPicPr>
            <p:cNvPr id="90" name="Picture 4" descr="Kennards Self Storage">
              <a:extLst>
                <a:ext uri="{FF2B5EF4-FFF2-40B4-BE49-F238E27FC236}">
                  <a16:creationId xmlns:a16="http://schemas.microsoft.com/office/drawing/2014/main" id="{FEDE0620-87AA-F7C1-8E74-8807828564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3012" y="4717359"/>
              <a:ext cx="968406" cy="295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2" descr="Resmed | The World Leader in Sleep Health">
              <a:extLst>
                <a:ext uri="{FF2B5EF4-FFF2-40B4-BE49-F238E27FC236}">
                  <a16:creationId xmlns:a16="http://schemas.microsoft.com/office/drawing/2014/main" id="{7C33DA76-B27D-F9D1-4C6C-5F5D6F1B26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338" y="3730222"/>
              <a:ext cx="947845" cy="424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2" descr="Careers - ProPharma">
              <a:extLst>
                <a:ext uri="{FF2B5EF4-FFF2-40B4-BE49-F238E27FC236}">
                  <a16:creationId xmlns:a16="http://schemas.microsoft.com/office/drawing/2014/main" id="{8571BE7A-32F5-B2BB-C305-A2C95E1D1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174" y="2963491"/>
              <a:ext cx="1268178" cy="213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6" descr="Housing – Disability Advocacy Pathways">
              <a:extLst>
                <a:ext uri="{FF2B5EF4-FFF2-40B4-BE49-F238E27FC236}">
                  <a16:creationId xmlns:a16="http://schemas.microsoft.com/office/drawing/2014/main" id="{776BD979-78D9-7821-40B4-10A2CA4B19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6425" y="5156081"/>
              <a:ext cx="2068551" cy="1135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14" descr="logo-melbourne-uni - Silverstone Edge">
              <a:extLst>
                <a:ext uri="{FF2B5EF4-FFF2-40B4-BE49-F238E27FC236}">
                  <a16:creationId xmlns:a16="http://schemas.microsoft.com/office/drawing/2014/main" id="{786AD385-D56B-F3F9-7293-DE51B2DB30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84" b="19420"/>
            <a:stretch>
              <a:fillRect/>
            </a:stretch>
          </p:blipFill>
          <p:spPr bwMode="auto">
            <a:xfrm>
              <a:off x="5496414" y="5496855"/>
              <a:ext cx="1367819" cy="453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18" descr="AS White Global | LinkedIn">
              <a:extLst>
                <a:ext uri="{FF2B5EF4-FFF2-40B4-BE49-F238E27FC236}">
                  <a16:creationId xmlns:a16="http://schemas.microsoft.com/office/drawing/2014/main" id="{3D6C68E9-CAE8-5D65-9899-B2013AEBE9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77" t="32565" r="10398" b="37166"/>
            <a:stretch>
              <a:fillRect/>
            </a:stretch>
          </p:blipFill>
          <p:spPr bwMode="auto">
            <a:xfrm>
              <a:off x="7595671" y="5539420"/>
              <a:ext cx="1019301" cy="368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6" name="Picture 4" descr="CloudRock">
            <a:extLst>
              <a:ext uri="{FF2B5EF4-FFF2-40B4-BE49-F238E27FC236}">
                <a16:creationId xmlns:a16="http://schemas.microsoft.com/office/drawing/2014/main" id="{797BFF79-7C72-5D53-58C7-EB2D6146D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236" y="5486401"/>
            <a:ext cx="905383" cy="90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6" descr="Workday Extend Application Development ...">
            <a:extLst>
              <a:ext uri="{FF2B5EF4-FFF2-40B4-BE49-F238E27FC236}">
                <a16:creationId xmlns:a16="http://schemas.microsoft.com/office/drawing/2014/main" id="{C2D2EC2D-C367-7A7B-D3C6-7BF335DB9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854" y="5486401"/>
            <a:ext cx="909424" cy="90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TRUSTED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111111"/>
                </a:solidFill>
                <a:latin typeface="Inter"/>
              </a:rPr>
              <a:t>In good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74519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 dirty="0">
                <a:solidFill>
                  <a:srgbClr val="323232"/>
                </a:solidFill>
                <a:latin typeface="Inter"/>
              </a:rPr>
              <a:t>A decade of work with some of Australia's most demanding operations.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B9FC064-FD9A-7FC4-E8D9-438DFD722AC9}"/>
              </a:ext>
            </a:extLst>
          </p:cNvPr>
          <p:cNvGrpSpPr/>
          <p:nvPr/>
        </p:nvGrpSpPr>
        <p:grpSpPr>
          <a:xfrm>
            <a:off x="1081479" y="2748406"/>
            <a:ext cx="10029043" cy="3542855"/>
            <a:chOff x="1078840" y="2748406"/>
            <a:chExt cx="10029043" cy="3542855"/>
          </a:xfrm>
        </p:grpSpPr>
        <p:pic>
          <p:nvPicPr>
            <p:cNvPr id="55" name="Google Shape;676;p21" descr="Picture 4">
              <a:extLst>
                <a:ext uri="{FF2B5EF4-FFF2-40B4-BE49-F238E27FC236}">
                  <a16:creationId xmlns:a16="http://schemas.microsoft.com/office/drawing/2014/main" id="{16304621-3EFA-2824-B6EB-A5D6AB5EF8F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40235" y="3772587"/>
              <a:ext cx="1656563" cy="339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678;p21" descr="Content Placeholder 10">
              <a:extLst>
                <a:ext uri="{FF2B5EF4-FFF2-40B4-BE49-F238E27FC236}">
                  <a16:creationId xmlns:a16="http://schemas.microsoft.com/office/drawing/2014/main" id="{8072590E-6A01-5B5B-011A-3FDAEA45F960}"/>
                </a:ext>
              </a:extLst>
            </p:cNvPr>
            <p:cNvPicPr preferRelativeResize="0"/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4343" b="28785"/>
            <a:stretch/>
          </p:blipFill>
          <p:spPr>
            <a:xfrm>
              <a:off x="8349011" y="2828009"/>
              <a:ext cx="1019300" cy="484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679;p21" descr="Picture 2">
              <a:extLst>
                <a:ext uri="{FF2B5EF4-FFF2-40B4-BE49-F238E27FC236}">
                  <a16:creationId xmlns:a16="http://schemas.microsoft.com/office/drawing/2014/main" id="{1492C804-5466-56E0-C49E-E9CC2CAF81A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993742" y="4622751"/>
              <a:ext cx="466033" cy="484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680;p21" descr="Picture 4">
              <a:extLst>
                <a:ext uri="{FF2B5EF4-FFF2-40B4-BE49-F238E27FC236}">
                  <a16:creationId xmlns:a16="http://schemas.microsoft.com/office/drawing/2014/main" id="{C6F847C2-7547-5BC0-88DC-F3EE4A9C1F5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94861" y="2810354"/>
              <a:ext cx="542425" cy="5195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82;p21" descr="Picture 8">
              <a:extLst>
                <a:ext uri="{FF2B5EF4-FFF2-40B4-BE49-F238E27FC236}">
                  <a16:creationId xmlns:a16="http://schemas.microsoft.com/office/drawing/2014/main" id="{AE3B3BFE-B713-7665-2470-A1520CBCDDE5}"/>
                </a:ext>
              </a:extLst>
            </p:cNvPr>
            <p:cNvPicPr preferRelativeResize="0"/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 t="11277" b="13062"/>
            <a:stretch>
              <a:fillRect/>
            </a:stretch>
          </p:blipFill>
          <p:spPr>
            <a:xfrm>
              <a:off x="8188196" y="3738090"/>
              <a:ext cx="1096541" cy="408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84;p21" descr="Picture 2">
              <a:extLst>
                <a:ext uri="{FF2B5EF4-FFF2-40B4-BE49-F238E27FC236}">
                  <a16:creationId xmlns:a16="http://schemas.microsoft.com/office/drawing/2014/main" id="{593C88A1-9578-A6E7-53D4-FA511B4B75F2}"/>
                </a:ext>
              </a:extLst>
            </p:cNvPr>
            <p:cNvPicPr preferRelativeResize="0"/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6296592" y="4614958"/>
              <a:ext cx="987861" cy="4998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86;p21" descr="Picture 4">
              <a:extLst>
                <a:ext uri="{FF2B5EF4-FFF2-40B4-BE49-F238E27FC236}">
                  <a16:creationId xmlns:a16="http://schemas.microsoft.com/office/drawing/2014/main" id="{F09E3182-D60A-A868-2D32-E9C262806953}"/>
                </a:ext>
              </a:extLst>
            </p:cNvPr>
            <p:cNvPicPr preferRelativeResize="0"/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/>
            <a:stretch/>
          </p:blipFill>
          <p:spPr>
            <a:xfrm>
              <a:off x="9999789" y="3844957"/>
              <a:ext cx="824043" cy="194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Picture 4" descr="Rio Tinto logo">
              <a:extLst>
                <a:ext uri="{FF2B5EF4-FFF2-40B4-BE49-F238E27FC236}">
                  <a16:creationId xmlns:a16="http://schemas.microsoft.com/office/drawing/2014/main" id="{FC853AAC-0892-7D17-2AEA-D2EA13336D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10" t="19566" r="4242" b="27059"/>
            <a:stretch>
              <a:fillRect/>
            </a:stretch>
          </p:blipFill>
          <p:spPr bwMode="auto">
            <a:xfrm>
              <a:off x="1078840" y="4650824"/>
              <a:ext cx="1046343" cy="428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6" descr="Member login">
              <a:extLst>
                <a:ext uri="{FF2B5EF4-FFF2-40B4-BE49-F238E27FC236}">
                  <a16:creationId xmlns:a16="http://schemas.microsoft.com/office/drawing/2014/main" id="{47E3C958-9502-6CE6-25A9-A6D847F97C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067" y="2888555"/>
              <a:ext cx="990163" cy="3631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8" descr="Articles tagged with 'catering' | Dnata">
              <a:extLst>
                <a:ext uri="{FF2B5EF4-FFF2-40B4-BE49-F238E27FC236}">
                  <a16:creationId xmlns:a16="http://schemas.microsoft.com/office/drawing/2014/main" id="{72732A54-B12E-DF81-9ECB-437D62B7D4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8334" y="4602644"/>
              <a:ext cx="1099699" cy="524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2" descr="National Australia Bank brand resources: accessing high ...">
              <a:extLst>
                <a:ext uri="{FF2B5EF4-FFF2-40B4-BE49-F238E27FC236}">
                  <a16:creationId xmlns:a16="http://schemas.microsoft.com/office/drawing/2014/main" id="{1E7B0814-BFE5-E552-2A3B-96AE24E579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261" y="3558011"/>
              <a:ext cx="941883" cy="7688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2" descr="Seven West Media | Logopedia | Fandom">
              <a:extLst>
                <a:ext uri="{FF2B5EF4-FFF2-40B4-BE49-F238E27FC236}">
                  <a16:creationId xmlns:a16="http://schemas.microsoft.com/office/drawing/2014/main" id="{D70F523C-FAC2-7872-6E70-06608686F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9977" y="4648752"/>
              <a:ext cx="1117906" cy="43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6" descr="Canva's Logo gets a New Re-definition">
              <a:extLst>
                <a:ext uri="{FF2B5EF4-FFF2-40B4-BE49-F238E27FC236}">
                  <a16:creationId xmlns:a16="http://schemas.microsoft.com/office/drawing/2014/main" id="{27BA2950-A64F-76FF-5FCE-0F4B6C9E77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76" t="21623" r="14676" b="22364"/>
            <a:stretch>
              <a:fillRect/>
            </a:stretch>
          </p:blipFill>
          <p:spPr bwMode="auto">
            <a:xfrm>
              <a:off x="9929092" y="2865466"/>
              <a:ext cx="919236" cy="409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Picture 12" descr="Anglicare Aged Care &amp; Community Services | Sydney &amp; Surrounds | Anglicare">
              <a:extLst>
                <a:ext uri="{FF2B5EF4-FFF2-40B4-BE49-F238E27FC236}">
                  <a16:creationId xmlns:a16="http://schemas.microsoft.com/office/drawing/2014/main" id="{8D6F0194-702A-FD2D-6737-E4B2EFA453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0133" y="2748406"/>
              <a:ext cx="559535" cy="643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69" descr="A logo with blue and green lines&#10;&#10;AI-generated content may be incorrect.">
              <a:extLst>
                <a:ext uri="{FF2B5EF4-FFF2-40B4-BE49-F238E27FC236}">
                  <a16:creationId xmlns:a16="http://schemas.microsoft.com/office/drawing/2014/main" id="{7C05EB16-ECC7-8A21-631B-B6D9E9F29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747" t="13319" r="4612" b="12915"/>
            <a:stretch>
              <a:fillRect/>
            </a:stretch>
          </p:blipFill>
          <p:spPr>
            <a:xfrm>
              <a:off x="4060449" y="2816374"/>
              <a:ext cx="1073631" cy="507529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6517AD38-486B-172B-2946-5D83F6AFE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211850" y="3799605"/>
              <a:ext cx="604359" cy="285642"/>
            </a:xfrm>
            <a:prstGeom prst="rect">
              <a:avLst/>
            </a:prstGeom>
          </p:spPr>
        </p:pic>
        <p:pic>
          <p:nvPicPr>
            <p:cNvPr id="72" name="Picture 4" descr="Kennards Self Storage">
              <a:extLst>
                <a:ext uri="{FF2B5EF4-FFF2-40B4-BE49-F238E27FC236}">
                  <a16:creationId xmlns:a16="http://schemas.microsoft.com/office/drawing/2014/main" id="{43C80418-3D3D-D050-D1DD-FCC63419F6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3012" y="4717359"/>
              <a:ext cx="968406" cy="295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2" descr="Resmed | The World Leader in Sleep Health">
              <a:extLst>
                <a:ext uri="{FF2B5EF4-FFF2-40B4-BE49-F238E27FC236}">
                  <a16:creationId xmlns:a16="http://schemas.microsoft.com/office/drawing/2014/main" id="{A15815DD-CFB7-34F5-9664-AFD35F6529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338" y="3730222"/>
              <a:ext cx="947845" cy="424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2" descr="Careers - ProPharma">
              <a:extLst>
                <a:ext uri="{FF2B5EF4-FFF2-40B4-BE49-F238E27FC236}">
                  <a16:creationId xmlns:a16="http://schemas.microsoft.com/office/drawing/2014/main" id="{5FF5F5F9-232E-43C4-F1E2-97B1F09E3E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1174" y="2963491"/>
              <a:ext cx="1268178" cy="213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ousing – Disability Advocacy Pathways">
              <a:extLst>
                <a:ext uri="{FF2B5EF4-FFF2-40B4-BE49-F238E27FC236}">
                  <a16:creationId xmlns:a16="http://schemas.microsoft.com/office/drawing/2014/main" id="{6B29799C-B442-8111-B9D3-A107A505B9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6425" y="5156081"/>
              <a:ext cx="2068551" cy="1135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logo-melbourne-uni - Silverstone Edge">
              <a:extLst>
                <a:ext uri="{FF2B5EF4-FFF2-40B4-BE49-F238E27FC236}">
                  <a16:creationId xmlns:a16="http://schemas.microsoft.com/office/drawing/2014/main" id="{E2517584-38BC-4C3E-81A2-D7D6782B34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84" b="19420"/>
            <a:stretch>
              <a:fillRect/>
            </a:stretch>
          </p:blipFill>
          <p:spPr bwMode="auto">
            <a:xfrm>
              <a:off x="5496414" y="5496855"/>
              <a:ext cx="1367819" cy="453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AS White Global | LinkedIn">
              <a:extLst>
                <a:ext uri="{FF2B5EF4-FFF2-40B4-BE49-F238E27FC236}">
                  <a16:creationId xmlns:a16="http://schemas.microsoft.com/office/drawing/2014/main" id="{758697FA-6FDF-96E9-492A-6C1A5A99E0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77" t="32565" r="10398" b="37166"/>
            <a:stretch>
              <a:fillRect/>
            </a:stretch>
          </p:blipFill>
          <p:spPr bwMode="auto">
            <a:xfrm>
              <a:off x="7595671" y="5539420"/>
              <a:ext cx="1019301" cy="368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400" b="1" i="0" spc="-74" dirty="0">
                <a:solidFill>
                  <a:srgbClr val="FFFFFF"/>
                </a:solidFill>
                <a:latin typeface="Inter"/>
              </a:rPr>
              <a:t>Across your </a:t>
            </a:r>
            <a:r>
              <a:rPr lang="en-AU" sz="3400" b="1" spc="-74" dirty="0">
                <a:solidFill>
                  <a:srgbClr val="EA493F"/>
                </a:solidFill>
                <a:latin typeface="Inter"/>
              </a:rPr>
              <a:t>ERP</a:t>
            </a:r>
            <a:r>
              <a:rPr lang="en-AU" sz="3400" b="1" i="0" spc="-74" dirty="0">
                <a:solidFill>
                  <a:srgbClr val="EA493F"/>
                </a:solidFill>
                <a:latin typeface="Inter"/>
              </a:rPr>
              <a:t> platform.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2395728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2523744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200" b="1" i="0" spc="-96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0824" y="2487168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100" b="1" spc="-42" dirty="0">
                <a:solidFill>
                  <a:srgbClr val="FFFFFF"/>
                </a:solidFill>
                <a:latin typeface="Inter"/>
              </a:rPr>
              <a:t>ERP </a:t>
            </a:r>
            <a:r>
              <a:rPr lang="en-AU" sz="2100" b="1" i="0" spc="-42" dirty="0">
                <a:solidFill>
                  <a:srgbClr val="FFFFFF"/>
                </a:solidFill>
                <a:latin typeface="Inter"/>
              </a:rPr>
              <a:t>&amp; Transformation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CFCFCF"/>
                </a:solidFill>
                <a:latin typeface="Inter"/>
              </a:rPr>
              <a:t>HCM, Payroll, Time &amp; Attendance and Finance— implemented and optimised.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2578608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cap="all" spc="130">
                <a:solidFill>
                  <a:srgbClr val="AEAEAE"/>
                </a:solidFill>
                <a:latin typeface="Inter"/>
              </a:rPr>
              <a:t>WORKDAY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328269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" y="3410712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200" b="1" i="0" spc="-96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3374136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100" b="1" i="0" spc="-42" dirty="0">
                <a:solidFill>
                  <a:srgbClr val="FFFFFF"/>
                </a:solidFill>
                <a:latin typeface="Inter"/>
              </a:rPr>
              <a:t>Data, Analytics &amp; B.I.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CFCFCF"/>
                </a:solidFill>
                <a:latin typeface="Inter"/>
              </a:rPr>
              <a:t>Reporting, dashboards and governed analytics leaders 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3465576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cap="all" spc="130">
                <a:solidFill>
                  <a:srgbClr val="AEAEAE"/>
                </a:solidFill>
                <a:latin typeface="Inter"/>
              </a:rPr>
              <a:t>INSIGHT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" y="4169663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429768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200" b="1" i="0" spc="-96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0824" y="4261104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100" b="1" i="0" spc="-42" dirty="0">
                <a:solidFill>
                  <a:srgbClr val="FFFFFF"/>
                </a:solidFill>
                <a:latin typeface="Inter"/>
              </a:rPr>
              <a:t>Automation &amp; A.I.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CFCFCF"/>
                </a:solidFill>
                <a:latin typeface="Inter"/>
              </a:rPr>
              <a:t>Redesign, integrations and automation that remove manual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2815" y="4352544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cap="all" spc="130">
                <a:solidFill>
                  <a:srgbClr val="AEAEAE"/>
                </a:solidFill>
                <a:latin typeface="Inter"/>
              </a:rPr>
              <a:t>EFFICIENCY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" y="5056632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7824" y="5184648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200" b="1" i="0" spc="-96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0824" y="5148072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100" b="1" i="0" spc="-42" dirty="0">
                <a:solidFill>
                  <a:srgbClr val="FFFFFF"/>
                </a:solidFill>
                <a:latin typeface="Inter"/>
              </a:rPr>
              <a:t>Managed Services &amp; Support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CFCFCF"/>
                </a:solidFill>
                <a:latin typeface="Inter"/>
              </a:rPr>
              <a:t>Application Managed Service, Managed Payroll that keeps delivering value after go-live.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5239512"/>
            <a:ext cx="159105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cap="all" spc="130">
                <a:solidFill>
                  <a:srgbClr val="AEAEAE"/>
                </a:solidFill>
                <a:latin typeface="Inter"/>
              </a:rPr>
              <a:t>PARTNERSHIP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" y="594360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 dirty="0">
                <a:solidFill>
                  <a:srgbClr val="EA493F"/>
                </a:solidFill>
                <a:latin typeface="Inter"/>
              </a:rPr>
              <a:t>Engagement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FFFFFF"/>
                </a:solidFill>
                <a:latin typeface="Inter"/>
              </a:rPr>
              <a:t>Across the whole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Workday lifecycle.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4448" y="2194560"/>
            <a:ext cx="2322576" cy="17830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58768" y="246888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00" b="1" i="0" cap="all" spc="112">
                <a:solidFill>
                  <a:srgbClr val="EA493F"/>
                </a:solidFill>
                <a:latin typeface="Inter"/>
              </a:rPr>
              <a:t>IMPLEMENT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8768" y="2962656"/>
            <a:ext cx="1773936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50" b="1" i="0" spc="-13" dirty="0">
                <a:solidFill>
                  <a:srgbClr val="FFFFFF"/>
                </a:solidFill>
                <a:latin typeface="Inter"/>
              </a:rPr>
              <a:t>Deploy Workday HCM, Payroll &amp; Finance.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1072" y="2194560"/>
            <a:ext cx="2322576" cy="17830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246888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00" b="1" i="0" cap="all" spc="112">
                <a:solidFill>
                  <a:srgbClr val="EA493F"/>
                </a:solidFill>
                <a:latin typeface="Inter"/>
              </a:rPr>
              <a:t>OPTIMISE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962656"/>
            <a:ext cx="1773936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50" b="1" i="0" spc="-13">
                <a:solidFill>
                  <a:srgbClr val="FFFFFF"/>
                </a:solidFill>
                <a:latin typeface="Inter"/>
              </a:rPr>
              <a:t>Phase 2, integrations &amp; reporting.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97696" y="2194560"/>
            <a:ext cx="2322576" cy="17830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72016" y="246888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00" b="1" i="0" cap="all" spc="112">
                <a:solidFill>
                  <a:srgbClr val="EA493F"/>
                </a:solidFill>
                <a:latin typeface="Inter"/>
              </a:rPr>
              <a:t>MANAGE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2016" y="2962656"/>
            <a:ext cx="1773936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50" b="1" i="0" spc="-13">
                <a:solidFill>
                  <a:srgbClr val="FFFFFF"/>
                </a:solidFill>
                <a:latin typeface="Inter"/>
              </a:rPr>
              <a:t>Managed Services &amp; Managed Payroll — 24×7, continuous improvement.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728" y="2834640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600" b="1" i="0" spc="0" dirty="0">
                <a:solidFill>
                  <a:srgbClr val="EA493F"/>
                </a:solidFill>
                <a:latin typeface="Inter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1" y="2834640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600" b="1" i="0" spc="0">
                <a:solidFill>
                  <a:srgbClr val="EA493F"/>
                </a:solidFill>
                <a:latin typeface="Inter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4448" y="4389120"/>
            <a:ext cx="5029200" cy="914400"/>
          </a:xfrm>
          <a:prstGeom prst="rect">
            <a:avLst/>
          </a:prstGeom>
          <a:noFill/>
          <a:ln w="1905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58768" y="4572000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 dirty="0">
                <a:solidFill>
                  <a:srgbClr val="EA493F"/>
                </a:solidFill>
                <a:latin typeface="Inter"/>
              </a:rPr>
              <a:t>LEAD IMPLEMENTATION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4901183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D6D6D6"/>
                </a:solidFill>
                <a:latin typeface="Inter"/>
              </a:rPr>
              <a:t>Our certified consultants, leading implementation using Workday best practice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AU" sz="1200" b="0" i="0" spc="0" dirty="0">
              <a:solidFill>
                <a:srgbClr val="D6D6D6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997696" y="4389120"/>
            <a:ext cx="2322576" cy="196596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72016" y="4572000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FFFFFF"/>
                </a:solidFill>
                <a:latin typeface="Inter"/>
              </a:rPr>
              <a:t>MANAGED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4901183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spc="0">
                <a:solidFill>
                  <a:srgbClr val="FFFFFF"/>
                </a:solidFill>
                <a:latin typeface="Inter"/>
              </a:rPr>
              <a:t>We own the outcome at Manage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9DA16E-2A45-15A0-E8CE-0C2B93A91FEA}"/>
              </a:ext>
            </a:extLst>
          </p:cNvPr>
          <p:cNvSpPr/>
          <p:nvPr/>
        </p:nvSpPr>
        <p:spPr>
          <a:xfrm>
            <a:off x="3584448" y="5440680"/>
            <a:ext cx="5029200" cy="914400"/>
          </a:xfrm>
          <a:prstGeom prst="rect">
            <a:avLst/>
          </a:prstGeom>
          <a:noFill/>
          <a:ln w="1905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5D086C-4790-1E0E-A2ED-959F3DEB7F75}"/>
              </a:ext>
            </a:extLst>
          </p:cNvPr>
          <p:cNvSpPr txBox="1"/>
          <p:nvPr/>
        </p:nvSpPr>
        <p:spPr>
          <a:xfrm>
            <a:off x="3858768" y="5623560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EA493F"/>
                </a:solidFill>
                <a:latin typeface="Inter"/>
              </a:rPr>
              <a:t>STAFF AUGMENTATION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6ED5A2-E007-69EC-DC75-4A45FDD9E1AF}"/>
              </a:ext>
            </a:extLst>
          </p:cNvPr>
          <p:cNvSpPr txBox="1"/>
          <p:nvPr/>
        </p:nvSpPr>
        <p:spPr>
          <a:xfrm>
            <a:off x="3858768" y="5952744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0" i="0" spc="0">
                <a:solidFill>
                  <a:srgbClr val="D6D6D6"/>
                </a:solidFill>
                <a:latin typeface="Inter"/>
              </a:rPr>
              <a:t>Our certified consultants, embedded in your team — through Implement and Optimise.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60CB8F-AA6E-AE2F-2D3A-34F8235E0AE1}"/>
              </a:ext>
            </a:extLst>
          </p:cNvPr>
          <p:cNvSpPr/>
          <p:nvPr/>
        </p:nvSpPr>
        <p:spPr>
          <a:xfrm>
            <a:off x="877824" y="2194560"/>
            <a:ext cx="2322576" cy="17830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529C9C-7D48-0778-48BA-49F267AB2CB4}"/>
              </a:ext>
            </a:extLst>
          </p:cNvPr>
          <p:cNvSpPr txBox="1"/>
          <p:nvPr/>
        </p:nvSpPr>
        <p:spPr>
          <a:xfrm>
            <a:off x="1152144" y="2468880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00" b="1" i="0" cap="all" spc="112" dirty="0">
                <a:solidFill>
                  <a:srgbClr val="EA493F"/>
                </a:solidFill>
                <a:latin typeface="Inter"/>
              </a:rPr>
              <a:t>ADVISE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A7A7AF-9BD2-7863-DCAB-7516FC26351D}"/>
              </a:ext>
            </a:extLst>
          </p:cNvPr>
          <p:cNvSpPr txBox="1"/>
          <p:nvPr/>
        </p:nvSpPr>
        <p:spPr>
          <a:xfrm>
            <a:off x="1152144" y="2962656"/>
            <a:ext cx="1773936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50" b="1" spc="-13" dirty="0">
                <a:solidFill>
                  <a:srgbClr val="FFFFFF"/>
                </a:solidFill>
                <a:latin typeface="Inter"/>
              </a:rPr>
              <a:t>Roadmap, business case, readiness assessments  and planning</a:t>
            </a:r>
            <a:endParaRPr lang="en-AU" sz="1350" b="1" i="0" spc="-13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F36C3F-B242-B1D1-FBDF-A2A4306C420A}"/>
              </a:ext>
            </a:extLst>
          </p:cNvPr>
          <p:cNvSpPr txBox="1"/>
          <p:nvPr/>
        </p:nvSpPr>
        <p:spPr>
          <a:xfrm>
            <a:off x="3118104" y="2834640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2600" b="1" i="0" spc="0" dirty="0">
                <a:solidFill>
                  <a:srgbClr val="EA493F"/>
                </a:solidFill>
                <a:latin typeface="Inter"/>
              </a:rPr>
              <a:t>›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485C6F-21C8-A144-D289-A5CAB920C584}"/>
              </a:ext>
            </a:extLst>
          </p:cNvPr>
          <p:cNvSpPr/>
          <p:nvPr/>
        </p:nvSpPr>
        <p:spPr>
          <a:xfrm>
            <a:off x="877824" y="4389120"/>
            <a:ext cx="2322576" cy="1965960"/>
          </a:xfrm>
          <a:prstGeom prst="rect">
            <a:avLst/>
          </a:prstGeom>
          <a:noFill/>
          <a:ln w="1905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E26CCE-9611-23DC-2480-402EFFEC6326}"/>
              </a:ext>
            </a:extLst>
          </p:cNvPr>
          <p:cNvSpPr txBox="1"/>
          <p:nvPr/>
        </p:nvSpPr>
        <p:spPr>
          <a:xfrm>
            <a:off x="1152144" y="4572000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 dirty="0">
                <a:solidFill>
                  <a:srgbClr val="EA493F"/>
                </a:solidFill>
                <a:latin typeface="Inter"/>
              </a:rPr>
              <a:t>ADVISORY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FA19F4-5A3C-B9AB-C186-20717E5E6650}"/>
              </a:ext>
            </a:extLst>
          </p:cNvPr>
          <p:cNvSpPr txBox="1"/>
          <p:nvPr/>
        </p:nvSpPr>
        <p:spPr>
          <a:xfrm>
            <a:off x="1152144" y="4901183"/>
            <a:ext cx="1773936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0" i="0" spc="0" dirty="0">
                <a:solidFill>
                  <a:srgbClr val="D6D6D6"/>
                </a:solidFill>
                <a:latin typeface="Inter"/>
              </a:rPr>
              <a:t>Strategic advisory projects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A6E06-FEFB-95D8-6443-278395D9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Icon_White_RGB_L.png">
            <a:extLst>
              <a:ext uri="{FF2B5EF4-FFF2-40B4-BE49-F238E27FC236}">
                <a16:creationId xmlns:a16="http://schemas.microsoft.com/office/drawing/2014/main" id="{C7155AAB-32BC-F0A3-EB41-5A50A3A25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81B023-C453-A1C4-349B-A1AEC6DDCCC5}"/>
              </a:ext>
            </a:extLst>
          </p:cNvPr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ENGAGEMENT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363BB-A8F9-6883-0E80-F0BFD2B8EB21}"/>
              </a:ext>
            </a:extLst>
          </p:cNvPr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 dirty="0">
                <a:solidFill>
                  <a:srgbClr val="FFFFFF"/>
                </a:solidFill>
                <a:latin typeface="Inter"/>
              </a:rPr>
              <a:t>Four ways we </a:t>
            </a:r>
            <a:r>
              <a:rPr lang="en-AU" sz="3300" b="1" i="0" spc="-72" dirty="0">
                <a:solidFill>
                  <a:srgbClr val="EA493F"/>
                </a:solidFill>
                <a:latin typeface="Inter"/>
              </a:rPr>
              <a:t>support you.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3C0180-A632-D46E-8464-AE171C27DD3A}"/>
              </a:ext>
            </a:extLst>
          </p:cNvPr>
          <p:cNvSpPr/>
          <p:nvPr/>
        </p:nvSpPr>
        <p:spPr>
          <a:xfrm>
            <a:off x="877824" y="2331720"/>
            <a:ext cx="5035143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7032A-314D-94E0-F4DC-F2364B7E3EAA}"/>
              </a:ext>
            </a:extLst>
          </p:cNvPr>
          <p:cNvSpPr txBox="1"/>
          <p:nvPr/>
        </p:nvSpPr>
        <p:spPr>
          <a:xfrm>
            <a:off x="1152144" y="2569463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50" dirty="0">
                <a:solidFill>
                  <a:srgbClr val="EA493F"/>
                </a:solidFill>
                <a:latin typeface="Inter"/>
              </a:rPr>
              <a:t>Lead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90339-5953-E012-DBC5-DAF3A4E9298F}"/>
              </a:ext>
            </a:extLst>
          </p:cNvPr>
          <p:cNvSpPr txBox="1"/>
          <p:nvPr/>
        </p:nvSpPr>
        <p:spPr>
          <a:xfrm>
            <a:off x="1152144" y="2935224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50" i="0" spc="-14" dirty="0">
                <a:solidFill>
                  <a:srgbClr val="FFFFFF"/>
                </a:solidFill>
                <a:latin typeface="Inter"/>
              </a:rPr>
              <a:t>Our certified consultants, </a:t>
            </a:r>
            <a:r>
              <a:rPr lang="en-AU" sz="1450" spc="-14" dirty="0">
                <a:solidFill>
                  <a:srgbClr val="FFFFFF"/>
                </a:solidFill>
                <a:latin typeface="Inter"/>
              </a:rPr>
              <a:t>leading implementation using Workday best practice</a:t>
            </a:r>
            <a:endParaRPr lang="en-AU" sz="1450" i="0" spc="-14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69D60C-FEA9-E529-6D7C-7D43B5F395A4}"/>
              </a:ext>
            </a:extLst>
          </p:cNvPr>
          <p:cNvSpPr/>
          <p:nvPr/>
        </p:nvSpPr>
        <p:spPr>
          <a:xfrm>
            <a:off x="6278727" y="2331720"/>
            <a:ext cx="5035143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5D1168-6354-7EC7-4B2E-2D8FBF92C177}"/>
              </a:ext>
            </a:extLst>
          </p:cNvPr>
          <p:cNvSpPr txBox="1"/>
          <p:nvPr/>
        </p:nvSpPr>
        <p:spPr>
          <a:xfrm>
            <a:off x="6553047" y="2569463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AU" sz="1250" b="1" cap="all" spc="150" dirty="0">
                <a:solidFill>
                  <a:srgbClr val="EA493F"/>
                </a:solidFill>
                <a:latin typeface="Inter"/>
              </a:rPr>
              <a:t>STAFF AUGMENTATION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00FE74-4765-EA99-0F78-928CB310EE85}"/>
              </a:ext>
            </a:extLst>
          </p:cNvPr>
          <p:cNvSpPr txBox="1"/>
          <p:nvPr/>
        </p:nvSpPr>
        <p:spPr>
          <a:xfrm>
            <a:off x="6553047" y="2935224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</a:pPr>
            <a:r>
              <a:rPr lang="en-AU" sz="1450" spc="-14" dirty="0">
                <a:solidFill>
                  <a:srgbClr val="FFFFFF"/>
                </a:solidFill>
                <a:latin typeface="Inter"/>
              </a:rPr>
              <a:t>Our certified consultants, embedded in your team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1B0CBBA-3CBD-0F91-2EBD-53685AFAE309}"/>
              </a:ext>
            </a:extLst>
          </p:cNvPr>
          <p:cNvSpPr/>
          <p:nvPr/>
        </p:nvSpPr>
        <p:spPr>
          <a:xfrm>
            <a:off x="877824" y="3922776"/>
            <a:ext cx="5035143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361499-A0C4-47EB-59C7-4D450E468221}"/>
              </a:ext>
            </a:extLst>
          </p:cNvPr>
          <p:cNvSpPr txBox="1"/>
          <p:nvPr/>
        </p:nvSpPr>
        <p:spPr>
          <a:xfrm>
            <a:off x="1152144" y="4160519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AU" sz="1250" b="1" cap="all" spc="150" dirty="0">
                <a:solidFill>
                  <a:srgbClr val="EA493F"/>
                </a:solidFill>
                <a:latin typeface="Inter"/>
              </a:rPr>
              <a:t>MANAGED SERVICES-  AMS</a:t>
            </a:r>
            <a:endParaRPr lang="en-AU" sz="1250" b="1" i="0" cap="all" spc="150" dirty="0">
              <a:solidFill>
                <a:srgbClr val="EA493F"/>
              </a:solidFill>
              <a:latin typeface="Inte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DFD555-014D-0FF8-D96B-206B9BF58DE9}"/>
              </a:ext>
            </a:extLst>
          </p:cNvPr>
          <p:cNvSpPr txBox="1"/>
          <p:nvPr/>
        </p:nvSpPr>
        <p:spPr>
          <a:xfrm>
            <a:off x="1152144" y="4526280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</a:pPr>
            <a:r>
              <a:rPr lang="en-AU" sz="1450" spc="-14" dirty="0">
                <a:solidFill>
                  <a:srgbClr val="FFFFFF"/>
                </a:solidFill>
                <a:latin typeface="Inter"/>
              </a:rPr>
              <a:t>We own the outcome, end to end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E47FCB-8A15-6EF6-350B-DE863B2D2467}"/>
              </a:ext>
            </a:extLst>
          </p:cNvPr>
          <p:cNvSpPr/>
          <p:nvPr/>
        </p:nvSpPr>
        <p:spPr>
          <a:xfrm>
            <a:off x="6278727" y="3922776"/>
            <a:ext cx="5035143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A0EB90-3F05-3D03-34CA-4D07F911B893}"/>
              </a:ext>
            </a:extLst>
          </p:cNvPr>
          <p:cNvSpPr txBox="1"/>
          <p:nvPr/>
        </p:nvSpPr>
        <p:spPr>
          <a:xfrm>
            <a:off x="6553047" y="4160519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50" dirty="0">
                <a:solidFill>
                  <a:srgbClr val="EA493F"/>
                </a:solidFill>
                <a:latin typeface="Inter"/>
              </a:rPr>
              <a:t>MANAGED SERVICES - Managed Payroll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F7E83E-9779-A690-5073-8077B485AD57}"/>
              </a:ext>
            </a:extLst>
          </p:cNvPr>
          <p:cNvSpPr txBox="1"/>
          <p:nvPr/>
        </p:nvSpPr>
        <p:spPr>
          <a:xfrm>
            <a:off x="6553047" y="4526280"/>
            <a:ext cx="4532223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450" i="0" spc="-14" dirty="0">
                <a:solidFill>
                  <a:srgbClr val="FFFFFF"/>
                </a:solidFill>
                <a:latin typeface="Inter"/>
              </a:rPr>
              <a:t>We own the system, we managed the payroll</a:t>
            </a:r>
          </a:p>
        </p:txBody>
      </p:sp>
    </p:spTree>
    <p:extLst>
      <p:ext uri="{BB962C8B-B14F-4D97-AF65-F5344CB8AC3E}">
        <p14:creationId xmlns:p14="http://schemas.microsoft.com/office/powerpoint/2010/main" val="233971646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DELIVERY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Velocity &amp; Value — </a:t>
            </a:r>
            <a:r>
              <a:rPr sz="3300" b="1">
                <a:solidFill>
                  <a:srgbClr val="EA493F"/>
                </a:solidFill>
                <a:latin typeface="Inter"/>
              </a:rPr>
              <a:t>Workday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72768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Workday's packaged deployment model — proven, best-practice processes, live fast.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21408"/>
            <a:ext cx="5029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67712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A493F"/>
                </a:solidFill>
                <a:latin typeface="Inter"/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6265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"/>
              </a:rPr>
              <a:t>Pre-configured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73552"/>
            <a:ext cx="4389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All standard HR, payroll &amp; talent processes — prebuilt to Workday's ANZ leading practice.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2121408"/>
            <a:ext cx="50292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267712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Inter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96265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"/>
              </a:rPr>
              <a:t>Unique to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273552"/>
            <a:ext cx="4389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The configuration that flexes Workday to your data, org structure, pay cycles and awards.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968496"/>
            <a:ext cx="104424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"/>
              </a:rPr>
              <a:t>Five-phase delivery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" y="4443984"/>
            <a:ext cx="175199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7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1. Mobilise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Charter &amp;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1526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50438" y="4443984"/>
            <a:ext cx="175199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96742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2. Architect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Workshops &amp;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4140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23052" y="4443984"/>
            <a:ext cx="175199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9356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3. Configure &amp; Prototype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Build &amp; iterate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6755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95667" y="4443984"/>
            <a:ext cx="175199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1971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4. Test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End-to-end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9369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68281" y="4443984"/>
            <a:ext cx="175199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4585" y="4443984"/>
            <a:ext cx="145938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5. Deploy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Cutover &amp; hypercare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Your implementation </a:t>
            </a:r>
            <a:r>
              <a:rPr sz="3300" b="1">
                <a:solidFill>
                  <a:srgbClr val="EA493F"/>
                </a:solidFill>
                <a:latin typeface="Inter"/>
              </a:rPr>
              <a:t>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A single 20-week delivery brings all your modules live in one go-live — followed by four weeks of Hypercare.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212848"/>
            <a:ext cx="10442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11111"/>
                </a:solidFill>
                <a:latin typeface="Inter"/>
              </a:rPr>
              <a:t>One phase  ·  20 weeks to go-live  ·  all modules.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74320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Mobilise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939796"/>
            <a:ext cx="8988552" cy="27432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1720" y="2788920"/>
            <a:ext cx="746049" cy="329184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788920"/>
            <a:ext cx="7460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26898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Architect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3465576"/>
            <a:ext cx="8988552" cy="27432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7769" y="3314700"/>
            <a:ext cx="1869618" cy="329184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7769" y="3314700"/>
            <a:ext cx="186961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3–7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9476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Configure &amp; Prototype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3991356"/>
            <a:ext cx="8988552" cy="27432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6377" y="3840480"/>
            <a:ext cx="2247138" cy="329184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377" y="3840480"/>
            <a:ext cx="22471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8–13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32054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4517136"/>
            <a:ext cx="8988552" cy="27432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03515" y="4366259"/>
            <a:ext cx="2247138" cy="329184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3515" y="4366259"/>
            <a:ext cx="22471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Wk 14–19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84632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EA493F"/>
                </a:solidFill>
                <a:latin typeface="Inter"/>
              </a:rPr>
              <a:t>GO-LIVE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5042916"/>
            <a:ext cx="8988552" cy="27432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50653" y="4892040"/>
            <a:ext cx="377519" cy="32918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1324" y="4846320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11111"/>
                </a:solidFill>
                <a:latin typeface="Inter"/>
              </a:rPr>
              <a:t>Wk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372100"/>
            <a:ext cx="13624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Hypercare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5568696"/>
            <a:ext cx="8988552" cy="27432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19183" y="5417820"/>
            <a:ext cx="1501088" cy="329184"/>
          </a:xfrm>
          <a:prstGeom prst="rect">
            <a:avLst/>
          </a:prstGeom>
          <a:solidFill>
            <a:srgbClr val="C9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19183" y="5417820"/>
            <a:ext cx="15010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111111"/>
                </a:solidFill>
                <a:latin typeface="Inter"/>
              </a:rPr>
              <a:t>Wk 21–24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" y="5943600"/>
            <a:ext cx="10442448" cy="67665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8" y="5943600"/>
            <a:ext cx="97840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One team. One go-live. Twenty weeks.  </a:t>
            </a:r>
            <a:r>
              <a:rPr sz="1100" b="0">
                <a:solidFill>
                  <a:srgbClr val="FFFFFF"/>
                </a:solidFill>
                <a:latin typeface="Inter"/>
              </a:rPr>
              <a:t>Workday GO's preconfigured tenant removes the design overhead — we validate, tailor and stand your team up, all modules live together at week 20.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DELIVERY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The Data Handshake: </a:t>
            </a:r>
            <a:r>
              <a:rPr sz="3300" b="1">
                <a:solidFill>
                  <a:srgbClr val="EA493F"/>
                </a:solidFill>
                <a:latin typeface="Inter"/>
              </a:rPr>
              <a:t>ensuring 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627632"/>
            <a:ext cx="104424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Data is the fuel for your Workday engine — and accurate data is the only way to ensure operational success. We use a collaborative handshake model that plays to each side's strengths.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331720"/>
            <a:ext cx="4736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2331720"/>
            <a:ext cx="4736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14416" y="2331720"/>
            <a:ext cx="969264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EA493F"/>
                </a:solidFill>
                <a:latin typeface="Inter"/>
              </a:rPr>
              <a:t>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4963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A493F"/>
                </a:solidFill>
                <a:latin typeface="Inter"/>
              </a:rPr>
              <a:t>YOUR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75234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"/>
              </a:rPr>
              <a:t>You know your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0632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Extract &amp; cleanse legacy data — ensuring only active, accurate records are migrated.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963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A493F"/>
                </a:solidFill>
                <a:latin typeface="Inter"/>
              </a:rPr>
              <a:t>MIVADA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75234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"/>
              </a:rPr>
              <a:t>We know Workday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0632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Provide the mapping templates and technical tooling to load data into Workday's architecture.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822191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"/>
              </a:rPr>
              <a:t>Iterative validation — </a:t>
            </a:r>
            <a:r>
              <a:rPr sz="1700" b="1">
                <a:solidFill>
                  <a:srgbClr val="EA493F"/>
                </a:solidFill>
                <a:latin typeface="Inter"/>
              </a:rPr>
              <a:t>no “big-bang” loads.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261104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23232"/>
                </a:solidFill>
                <a:latin typeface="Inter"/>
              </a:rPr>
              <a:t>Three distinct load cycles let your team validate the numbers repeatedly — so the system is commercially accurate on day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" y="4773168"/>
            <a:ext cx="323697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9194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376672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First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5669279"/>
            <a:ext cx="2724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Initial migration on a sample set — validates mapping templates and surfaces transformation issues early.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773168"/>
            <a:ext cx="323697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49194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5376672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Second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5669279"/>
            <a:ext cx="2724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Full dataset migration. Your team validates balances, org structures and employee records against source.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3296" y="4773168"/>
            <a:ext cx="323697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49194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5376672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Gold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5669279"/>
            <a:ext cx="2724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Final production load with current-state data — a point-in-time cutover, signed off before go-live.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THE ONE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Your delivery </a:t>
            </a:r>
            <a:r>
              <a:rPr sz="3300" b="1">
                <a:solidFill>
                  <a:srgbClr val="EA493F"/>
                </a:solidFill>
                <a:latin typeface="Inter"/>
              </a:rPr>
              <a:t>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Defined expertise across every layer of delivery — clear ownership, no gaps, no ambiguity, built on a “one team”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94560"/>
            <a:ext cx="50292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3774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EA493F"/>
                </a:solidFill>
                <a:latin typeface="Inter"/>
              </a:rPr>
              <a:t>MIVADA DELIVERY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424" y="2761488"/>
            <a:ext cx="2286000" cy="45720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9424" y="27614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Client Partner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92424" y="3218688"/>
            <a:ext cx="0" cy="256032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53920" y="3474720"/>
            <a:ext cx="3477007" cy="0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53920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133856" y="3822191"/>
            <a:ext cx="104013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22191"/>
            <a:ext cx="9669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Engagement Manager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12923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292858" y="3822191"/>
            <a:ext cx="104013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9434" y="3822191"/>
            <a:ext cx="9669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Functional Lead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71925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51860" y="3822191"/>
            <a:ext cx="104013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8436" y="3822191"/>
            <a:ext cx="9669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Functional Consultants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30927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610862" y="3822191"/>
            <a:ext cx="104013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49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7438" y="3822191"/>
            <a:ext cx="9669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Data &amp;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2194560"/>
            <a:ext cx="50292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3774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11111"/>
                </a:solidFill>
                <a:latin typeface="Inter"/>
              </a:rPr>
              <a:t>CUSTOMER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62671" y="2761488"/>
            <a:ext cx="2286000" cy="45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1" y="27614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Executive Sponsor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05672" y="3218688"/>
            <a:ext cx="0" cy="256032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51268" y="3474720"/>
            <a:ext cx="3708807" cy="0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51268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547104" y="3822191"/>
            <a:ext cx="80832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Project Manager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78470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474305" y="3822191"/>
            <a:ext cx="80832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0881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Change Manager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05672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401507" y="3822191"/>
            <a:ext cx="80832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8083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Functional Leads &amp; SMEs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32873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328708" y="3822191"/>
            <a:ext cx="80832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65284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Testing Lead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660075" y="3474720"/>
            <a:ext cx="0" cy="347471"/>
          </a:xfrm>
          <a:prstGeom prst="line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0255910" y="3822191"/>
            <a:ext cx="80832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92486" y="3822191"/>
            <a:ext cx="73517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>
                <a:solidFill>
                  <a:srgbClr val="111111"/>
                </a:solidFill>
                <a:latin typeface="Inter"/>
              </a:rPr>
              <a:t>Data Champions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" y="4882896"/>
            <a:ext cx="10442448" cy="10241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07008" y="4882896"/>
            <a:ext cx="978408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EA493F"/>
                </a:solidFill>
                <a:latin typeface="Inter"/>
              </a:rPr>
              <a:t>A note on your team — </a:t>
            </a:r>
            <a:r>
              <a:rPr sz="1150" b="0">
                <a:solidFill>
                  <a:srgbClr val="FFFFFF"/>
                </a:solidFill>
                <a:latin typeface="Inter"/>
              </a:rPr>
              <a:t>these roles don't have to be separate individuals. In many organisations the same people play multiple roles; what matters is that every role is owned by someone with the authority and time to fulfil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GETTING PAYROLL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Payroll testing </a:t>
            </a:r>
            <a:r>
              <a:rPr sz="3300" b="1">
                <a:solidFill>
                  <a:srgbClr val="EA493F"/>
                </a:solidFill>
                <a:latin typeface="Inter"/>
              </a:rPr>
              <a:t>rigour.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72768"/>
            <a:ext cx="10442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Payroll is the one thing every employee notices on day one — so we prove it with structured, evidence-based parallel testing before any go-live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12848"/>
            <a:ext cx="3236975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340864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A493F"/>
                </a:solidFill>
                <a:latin typeface="Inter"/>
              </a:rPr>
              <a:t>2+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816352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Full parallel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072384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minimum — never just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212848"/>
            <a:ext cx="3236975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340864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A493F"/>
                </a:solidFill>
                <a:latin typeface="Inter"/>
              </a:rPr>
              <a:t>Line-level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816352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Variance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072384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every earning, deduction &amp; super — not gross-to-gross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212848"/>
            <a:ext cx="3236975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340864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A493F"/>
                </a:solidFill>
                <a:latin typeface="Inter"/>
              </a:rP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816352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Net-pay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072384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target tolerance for sign-off — explained variances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621024"/>
            <a:ext cx="104424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"/>
              </a:rPr>
              <a:t>Parallel testing cycle.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4059936"/>
            <a:ext cx="1481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7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Legacy pay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70048" y="4059936"/>
            <a:ext cx="1481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6352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Workday mirror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8224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2" y="4059936"/>
            <a:ext cx="1481328" cy="8412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Line-level variance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4496" y="4059936"/>
            <a:ext cx="1481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Root-cause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059936"/>
            <a:ext cx="14813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4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Resolve &amp; document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54896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38944" y="4059936"/>
            <a:ext cx="1481328" cy="8412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85248" y="4059936"/>
            <a:ext cx="11887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Formal sign-off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" y="5248656"/>
            <a:ext cx="10442448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5248656"/>
            <a:ext cx="982065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Built for Australian complexity   </a:t>
            </a:r>
            <a:r>
              <a:rPr sz="1100" b="0">
                <a:solidFill>
                  <a:srgbClr val="FFFFFF"/>
                </a:solidFill>
                <a:latin typeface="Inter"/>
              </a:rPr>
              <a:t>modern awards &amp; EAs  ·  super &amp; STP  ·  leave loading &amp; Long Service Leave  ·  termination &amp; back-pay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CONSULTANT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Full-stack Workday, </a:t>
            </a:r>
            <a:r>
              <a:rPr sz="3300" b="1">
                <a:solidFill>
                  <a:srgbClr val="EA493F"/>
                </a:solidFill>
                <a:latin typeface="Inter"/>
              </a:rPr>
              <a:t>FIN &amp; HCM.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72768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Full-stack Workday functional and integration expertise across both suites.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39696"/>
            <a:ext cx="5029200" cy="3840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139696"/>
            <a:ext cx="46268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HCM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67004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267004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Core HCM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5576" y="267004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67004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Absence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3168396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3168396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Time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5576" y="3168396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3168396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Recruiting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" y="3666744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5" y="3666744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Talent &amp; Performance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5576" y="3666744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0168" y="3666744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Compensation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4165091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5" y="4165091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Benefits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65576" y="4165091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168" y="4165091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Payroll (AU / global)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" y="4663440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663440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Learning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65576" y="4663440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0168" y="4663440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Security &amp; BP config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" y="516178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5" y="516178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Integrations (EIB, CC, Studio)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65576" y="516178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30168" y="516178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Advanced &amp; Composite Reporting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2139696"/>
            <a:ext cx="5029200" cy="3840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2139696"/>
            <a:ext cx="46268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FIN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267004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267004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Financial Accounting (GL)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78824" y="267004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43416" y="267004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Accounting Center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91072" y="3168396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55664" y="3168396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Accounts Payable / Suppliers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78824" y="3168396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3416" y="3168396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Accounts Receivable / Customers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91072" y="3666744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3666744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Procurement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78824" y="3666744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43416" y="3666744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Expenses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91072" y="4165091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55664" y="4165091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Banking &amp; Settlement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78824" y="4165091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43416" y="4165091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Business Assets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91072" y="4663440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55664" y="4663440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Financial Reporting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78824" y="4663440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43416" y="4663440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Prism Analytics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91072" y="516178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55664" y="516178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Security &amp; BP config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78824" y="5161788"/>
            <a:ext cx="24414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43416" y="5161788"/>
            <a:ext cx="222199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Inter"/>
              </a:rPr>
              <a:t>Integrations (EIB, CC, Studio)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7824" y="6053328"/>
            <a:ext cx="104424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323232"/>
                </a:solidFill>
                <a:latin typeface="Inter"/>
              </a:rPr>
              <a:t>Adaptive Planning — all modules.    ·    Cross-skilled across both suites — one team, two suites.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AMS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FFFFFF"/>
                </a:solidFill>
                <a:latin typeface="Inter"/>
              </a:rPr>
              <a:t>AMS, built on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ITIL.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CFCFCF"/>
                </a:solidFill>
                <a:latin typeface="Inter"/>
              </a:rPr>
              <a:t>We run Workday on ITIL — the global standard for IT service management.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514600"/>
            <a:ext cx="3234842" cy="301752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144" y="2807208"/>
            <a:ext cx="273192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25">
                <a:solidFill>
                  <a:srgbClr val="EA493F"/>
                </a:solidFill>
                <a:latin typeface="Inter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3355848"/>
            <a:ext cx="2686202" cy="19202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D6D6D6"/>
                </a:solidFill>
                <a:latin typeface="Inter"/>
              </a:rPr>
              <a:t>The proven framework for running IT services — incident, problem, change and release management, done to a recognised standard.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8426" y="2514600"/>
            <a:ext cx="3234842" cy="301752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2746" y="2807208"/>
            <a:ext cx="273192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25">
                <a:solidFill>
                  <a:srgbClr val="EA493F"/>
                </a:solidFill>
                <a:latin typeface="Inter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2746" y="3355848"/>
            <a:ext cx="2686202" cy="19202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D6D6D6"/>
                </a:solidFill>
                <a:latin typeface="Inter"/>
              </a:rPr>
              <a:t>Predictable, SLA-backed support: fewer incidents, faster resolution, controlled change and continuous improvement.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9028" y="2514600"/>
            <a:ext cx="3234842" cy="301752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3348" y="2807208"/>
            <a:ext cx="273192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cap="all" spc="125">
                <a:solidFill>
                  <a:srgbClr val="EA493F"/>
                </a:solidFill>
                <a:latin typeface="Inter"/>
              </a:rPr>
              <a:t>HOW WE APPLY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348" y="3355848"/>
            <a:ext cx="2686202" cy="192023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D6D6D6"/>
                </a:solidFill>
                <a:latin typeface="Inter"/>
              </a:rPr>
              <a:t>Governed run operations · 24×7 P1/P2 on-call · change &amp; release control · continuous improvement.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943600"/>
            <a:ext cx="1043604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spc="24">
                <a:solidFill>
                  <a:srgbClr val="AEAEAE"/>
                </a:solidFill>
                <a:latin typeface="Inter"/>
              </a:rPr>
              <a:t>Operational excellence, by design.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AMS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111111"/>
                </a:solidFill>
                <a:latin typeface="Inter"/>
              </a:rPr>
              <a:t>AMS operating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323232"/>
                </a:solidFill>
                <a:latin typeface="Inter"/>
              </a:rPr>
              <a:t>Driving operational excellence through governance, integration and continuous improvement.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86000"/>
            <a:ext cx="10436047" cy="310896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" y="2286000"/>
            <a:ext cx="9978847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FFFFFF"/>
                </a:solidFill>
                <a:latin typeface="Inter"/>
              </a:rPr>
              <a:t>CONTINUOUS 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633472"/>
            <a:ext cx="10436047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2633472"/>
            <a:ext cx="9978847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FFFFFF"/>
                </a:solidFill>
                <a:latin typeface="Inter"/>
              </a:rPr>
              <a:t>GOVERNANCE</a:t>
            </a:r>
            <a:r>
              <a:rPr lang="en-AU" sz="1000" b="0" i="0" spc="0">
                <a:solidFill>
                  <a:srgbClr val="FFFFFF"/>
                </a:solidFill>
                <a:latin typeface="Inter"/>
              </a:rPr>
              <a:t>    Thought leadership · Product &amp; vendor relationship · Technical-debt reduction · WD bi-annual release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3200400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Incident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8839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1991" y="3200400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Problem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9855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3007" y="3200400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Change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00871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74023" y="3200400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Release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785615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Service requests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8839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91991" y="3785615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Change Advisory 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9855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3007" y="3785615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SLAs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00871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74023" y="3785615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" y="4370832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Integration health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18839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1991" y="4370832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Backlog management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855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33007" y="4370832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Prioritisation forum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00871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74023" y="4370832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Capacity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0976" y="4956048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Enhancements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8839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91991" y="4956048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Knowledge 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9855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33007" y="4956048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Cyber security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00871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74023" y="4956048"/>
            <a:ext cx="236669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950" b="1" i="0" spc="-4">
                <a:solidFill>
                  <a:srgbClr val="111111"/>
                </a:solidFill>
                <a:latin typeface="Inter"/>
              </a:rPr>
              <a:t>BP &amp; security config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" y="5541264"/>
            <a:ext cx="10436047" cy="3840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06424" y="5541264"/>
            <a:ext cx="9978847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50" b="1" i="0" cap="all" spc="115">
                <a:solidFill>
                  <a:srgbClr val="FFFFFF"/>
                </a:solidFill>
                <a:latin typeface="Inter"/>
              </a:rPr>
              <a:t>SERVICE INTEGRATION · ITSM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0976" y="6016752"/>
            <a:ext cx="324093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spc="-5">
                <a:solidFill>
                  <a:srgbClr val="EA493F"/>
                </a:solidFill>
                <a:latin typeface="Inter"/>
              </a:rPr>
              <a:t>OPERATIONS AS A PRIORITY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02226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75378" y="6016752"/>
            <a:ext cx="324093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spc="-5">
                <a:solidFill>
                  <a:srgbClr val="EA493F"/>
                </a:solidFill>
                <a:latin typeface="Inter"/>
              </a:rPr>
              <a:t>BUSINESS VALUE REALISATION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26628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99780" y="6016752"/>
            <a:ext cx="324093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00" b="1" i="0" spc="-5">
                <a:solidFill>
                  <a:srgbClr val="EA493F"/>
                </a:solidFill>
                <a:latin typeface="Inter"/>
              </a:rPr>
              <a:t>OPERATIONAL EXCELLENCE · ITIL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COVERAGE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Seamless onshore–offshore </a:t>
            </a:r>
            <a:r>
              <a:rPr sz="3300" b="1">
                <a:solidFill>
                  <a:srgbClr val="EA493F"/>
                </a:solidFill>
                <a:latin typeface="Inter"/>
              </a:rPr>
              <a:t>coverage.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Continuous support across time zones — onshore by day, offshore through the overlap, 24×7 on-call for P1/P2.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23232"/>
                </a:solidFill>
                <a:latin typeface="Inter"/>
              </a:rPr>
              <a:t>AEST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2212848"/>
            <a:ext cx="9217152" cy="18288"/>
          </a:xfrm>
          <a:prstGeom prst="rect">
            <a:avLst/>
          </a:prstGeom>
          <a:solidFill>
            <a:srgbClr val="E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68265" y="2286000"/>
            <a:ext cx="3686860" cy="310896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8265" y="2286000"/>
            <a:ext cx="36868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ONSHORE · AU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1696" y="2670048"/>
            <a:ext cx="3871203" cy="31089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2670048"/>
            <a:ext cx="387120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OFFSHORE ·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696" y="3017520"/>
            <a:ext cx="38712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Inter"/>
              </a:rPr>
              <a:t>warm handover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3429000"/>
            <a:ext cx="5029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5935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ONSHORE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04487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493F"/>
                </a:solidFill>
                <a:latin typeface="Inter"/>
              </a:rPr>
              <a:t>Australia · 8:30–17:30 AEST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197096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23232"/>
                </a:solidFill>
                <a:latin typeface="Inter"/>
              </a:rPr>
              <a:t>Governance &amp; stakeholder engagement · P1/P2 incident resolution · application health checks &amp; start-of-day triage.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3429000"/>
            <a:ext cx="5029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5935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OFFSHORE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04487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493F"/>
                </a:solidFill>
                <a:latin typeface="Inter"/>
              </a:rPr>
              <a:t>India · 8:00–17:00 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97096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23232"/>
                </a:solidFill>
                <a:latin typeface="Inter"/>
              </a:rPr>
              <a:t>Day-to-day incident management · routine incidents &amp; service requests · monitoring &amp; backlog resolution per SLA.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" y="5074920"/>
            <a:ext cx="10442448" cy="8412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5074920"/>
            <a:ext cx="97840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EA493F"/>
                </a:solidFill>
                <a:latin typeface="Inter"/>
              </a:rPr>
              <a:t>24×7 on-call · P1 &amp; P2  </a:t>
            </a:r>
            <a:r>
              <a:rPr sz="1100" b="0">
                <a:solidFill>
                  <a:srgbClr val="FFFFFF"/>
                </a:solidFill>
                <a:latin typeface="Inter"/>
              </a:rPr>
              <a:t>incident support covered on-call, irrespective of tracking — an always-on safety net aligned to monthly hours.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GOVERNANCE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Strong governance, </a:t>
            </a:r>
            <a:r>
              <a:rPr sz="3300" b="1">
                <a:solidFill>
                  <a:srgbClr val="EA493F"/>
                </a:solidFill>
                <a:latin typeface="Inter"/>
              </a:rPr>
              <a:t>aligned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Transparent reporting · escalation by exception · decisions at the right tier · continuous improvement built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94560"/>
            <a:ext cx="1371600" cy="36576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424" y="2194560"/>
            <a:ext cx="3063240" cy="36576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194560"/>
            <a:ext cx="2807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CUSTOMER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12664" y="2194560"/>
            <a:ext cx="3063240" cy="36576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194560"/>
            <a:ext cx="2807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ACTIVITIES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75904" y="2194560"/>
            <a:ext cx="1783080" cy="36576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194560"/>
            <a:ext cx="1527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MIVADA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58984" y="2194560"/>
            <a:ext cx="1161288" cy="36576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7000" y="2194560"/>
            <a:ext cx="9052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CADENCE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2615184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615184"/>
            <a:ext cx="111556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STRATEGIC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9424" y="2615184"/>
            <a:ext cx="3063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615184"/>
            <a:ext cx="280720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Executive Sponsor · CIO / IT Exec · Head of HR / Payroll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12664" y="2615184"/>
            <a:ext cx="3063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615184"/>
            <a:ext cx="280720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Strategic direction · innovation &amp; roadmap · investment alignment · relationship health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75904" y="2615184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615184"/>
            <a:ext cx="152704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111111"/>
                </a:solidFill>
                <a:latin typeface="Inter"/>
              </a:rPr>
              <a:t>CEO · Client Partner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58984" y="2615184"/>
            <a:ext cx="11612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615184"/>
            <a:ext cx="90525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Quarterly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3749039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749039"/>
            <a:ext cx="111556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TACTICAL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9424" y="3749039"/>
            <a:ext cx="3063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3749039"/>
            <a:ext cx="280720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Business / Product Owner · IT Service Owner · Risk, Security &amp; Compliance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12664" y="3749039"/>
            <a:ext cx="3063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3749039"/>
            <a:ext cx="280720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Service &amp; SLA review · risk, security &amp; compliance · release planning · improvement backlog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75904" y="3749039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749039"/>
            <a:ext cx="152704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111111"/>
                </a:solidFill>
                <a:latin typeface="Inter"/>
              </a:rPr>
              <a:t>Client Partner · Service Delivery Lead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58984" y="3749039"/>
            <a:ext cx="11612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87000" y="3749039"/>
            <a:ext cx="90525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Monthly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" y="4882896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882896"/>
            <a:ext cx="111556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OPERATIONAL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9424" y="4882896"/>
            <a:ext cx="3063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4882896"/>
            <a:ext cx="280720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IT App Support / AMS team · Change &amp; Release · Super Users / SMEs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12664" y="4882896"/>
            <a:ext cx="3063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0680" y="4882896"/>
            <a:ext cx="280720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Incident triage &amp; resolution · change &amp; release execution · UX &amp; support · ops performance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75904" y="4882896"/>
            <a:ext cx="1783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4882896"/>
            <a:ext cx="152704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111111"/>
                </a:solidFill>
                <a:latin typeface="Inter"/>
              </a:rPr>
              <a:t>Service Delivery Lead · Consultants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58984" y="4882896"/>
            <a:ext cx="116128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87000" y="4882896"/>
            <a:ext cx="90525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Weekly / Daily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TRANSITION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Minimising risk, </a:t>
            </a:r>
            <a:r>
              <a:rPr sz="3300" b="1">
                <a:solidFill>
                  <a:srgbClr val="EA493F"/>
                </a:solidFill>
                <a:latin typeface="Inter"/>
              </a:rPr>
              <a:t>maximising readiness.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A four-week transition to a confident go-live — governance live, knowledge transferred, parallel-run proven, then we lead.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40280"/>
            <a:ext cx="243230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2240280"/>
            <a:ext cx="2432304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240280"/>
            <a:ext cx="206654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493F"/>
                </a:solidFill>
                <a:latin typeface="Inter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07208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11111"/>
                </a:solidFill>
                <a:latin typeface="Inter"/>
              </a:rPr>
              <a:t>Mobilise &amp; operating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47288"/>
            <a:ext cx="2048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Finalise AMS resourcing &amp; roles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Kickoff, governance &amp; cadences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ITSM access &amp; workflows · RACI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" y="4846320"/>
            <a:ext cx="2029968" cy="310896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846320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Governance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2240280"/>
            <a:ext cx="347472" cy="3063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4176" y="2240280"/>
            <a:ext cx="243230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94176" y="2240280"/>
            <a:ext cx="2432304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7056" y="2240280"/>
            <a:ext cx="206654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493F"/>
                </a:solidFill>
                <a:latin typeface="Inter"/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2807208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11111"/>
                </a:solidFill>
                <a:latin typeface="Inter"/>
              </a:rPr>
              <a:t>Knowledge transfer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344" y="3447288"/>
            <a:ext cx="2048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Deep-dive KT across all modules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Review open items &amp; project plan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Reference docs · shadow internal teams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95344" y="4846320"/>
            <a:ext cx="2029968" cy="310896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5344" y="4846320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KT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240280"/>
            <a:ext cx="347472" cy="3063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240280"/>
            <a:ext cx="243230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10528" y="2240280"/>
            <a:ext cx="2432304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240280"/>
            <a:ext cx="206654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493F"/>
                </a:solidFill>
                <a:latin typeface="Inter"/>
              </a:rPr>
              <a:t>WEEK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2807208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11111"/>
                </a:solidFill>
                <a:latin typeface="Inter"/>
              </a:rPr>
              <a:t>Process alignment &amp; parallel 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3447288"/>
            <a:ext cx="2048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Align AMS to client ITSM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AMS runs tickets under supervision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Test escalation · measure SLA adherence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11696" y="4846320"/>
            <a:ext cx="2029968" cy="310896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1696" y="4846320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Cutover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240280"/>
            <a:ext cx="347472" cy="3063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A493F"/>
                </a:solidFill>
                <a:latin typeface="Inter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2240280"/>
            <a:ext cx="2432304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26880" y="2240280"/>
            <a:ext cx="2432304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59" y="2240280"/>
            <a:ext cx="206654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493F"/>
                </a:solidFill>
                <a:latin typeface="Inter"/>
              </a:rPr>
              <a:t>WEEK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2807208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11111"/>
                </a:solidFill>
                <a:latin typeface="Inter"/>
              </a:rPr>
              <a:t>Go-live readiness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3447288"/>
            <a:ext cx="2048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Mivada leads AMS operations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Escalation &amp; major-incident mgmt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323232"/>
                </a:solidFill>
                <a:latin typeface="Inter"/>
              </a:rPr>
              <a:t>•  Daily reporting · acceptance sign-off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28048" y="4846320"/>
            <a:ext cx="2029968" cy="310896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4846320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Go-live &amp; sign-off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SERVICE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Measurable </a:t>
            </a:r>
            <a:r>
              <a:rPr sz="3300" b="1">
                <a:solidFill>
                  <a:srgbClr val="EA493F"/>
                </a:solidFill>
                <a:latin typeface="Inter"/>
              </a:rPr>
              <a:t>service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Operational excellence through clear priorities, acknowledgement and resolution targets.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40280"/>
            <a:ext cx="1371600" cy="3840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1155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PRIORITY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424" y="2240280"/>
            <a:ext cx="4956048" cy="3840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240280"/>
            <a:ext cx="47000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5472" y="2240280"/>
            <a:ext cx="2011680" cy="3840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2240280"/>
            <a:ext cx="1755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ACKNOWLEDGE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17152" y="2240280"/>
            <a:ext cx="2103120" cy="3840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5168" y="2240280"/>
            <a:ext cx="18470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TARGET RESOLUTION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2679192"/>
            <a:ext cx="1371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79192"/>
            <a:ext cx="111556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Priority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9424" y="2679192"/>
            <a:ext cx="495604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679192"/>
            <a:ext cx="470001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23232"/>
                </a:solidFill>
                <a:latin typeface="Inter"/>
              </a:rPr>
              <a:t>Critical system issue with major impact, or preventing a vital business process (e.g. payroll unable to process).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5472" y="2679192"/>
            <a:ext cx="2011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2679192"/>
            <a:ext cx="175564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30 minutes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2679192"/>
            <a:ext cx="2103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2679192"/>
            <a:ext cx="184708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4 hours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3566160"/>
            <a:ext cx="1371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566160"/>
            <a:ext cx="111556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Priority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424" y="3566160"/>
            <a:ext cx="495604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566160"/>
            <a:ext cx="470001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23232"/>
                </a:solidFill>
                <a:latin typeface="Inter"/>
              </a:rPr>
              <a:t>Critical-severity issue with moderate impact, or an urgent issue with major business impact.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5472" y="3566160"/>
            <a:ext cx="2011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3566160"/>
            <a:ext cx="175564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1 hour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17152" y="3566160"/>
            <a:ext cx="2103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3566160"/>
            <a:ext cx="184708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8 hours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" y="4453128"/>
            <a:ext cx="1371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453128"/>
            <a:ext cx="111556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Priority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9424" y="4453128"/>
            <a:ext cx="495604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4453128"/>
            <a:ext cx="470001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23232"/>
                </a:solidFill>
                <a:latin typeface="Inter"/>
              </a:rPr>
              <a:t>Moderate impact on system performance where a workaround is known and available.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5472" y="4453128"/>
            <a:ext cx="2011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4453128"/>
            <a:ext cx="175564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4 hours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17152" y="4453128"/>
            <a:ext cx="2103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8" y="4453128"/>
            <a:ext cx="184708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3 business days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" y="5340096"/>
            <a:ext cx="1371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340096"/>
            <a:ext cx="111556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>
                <a:solidFill>
                  <a:srgbClr val="EA493F"/>
                </a:solidFill>
                <a:latin typeface="Inter"/>
              </a:rPr>
              <a:t>Priority 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9424" y="5340096"/>
            <a:ext cx="495604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40" y="5340096"/>
            <a:ext cx="470001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23232"/>
                </a:solidFill>
                <a:latin typeface="Inter"/>
              </a:rPr>
              <a:t>Low impact and/or low urgency; no significant impact on business performance.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05472" y="5340096"/>
            <a:ext cx="2011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33488" y="5340096"/>
            <a:ext cx="175564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1 business 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17152" y="5340096"/>
            <a:ext cx="2103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45168" y="5340096"/>
            <a:ext cx="184708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11111"/>
                </a:solidFill>
                <a:latin typeface="Inter"/>
              </a:rPr>
              <a:t>5 business days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COMMERCIALS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Engagement </a:t>
            </a:r>
            <a:r>
              <a:rPr sz="3300" b="1">
                <a:solidFill>
                  <a:srgbClr val="EA493F"/>
                </a:solidFill>
                <a:latin typeface="Inter"/>
              </a:rPr>
              <a:t>pricing.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A blended onshore–offshore managed service — predictable monthly cost, flexible hours.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94560"/>
            <a:ext cx="323697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322576"/>
            <a:ext cx="2779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493F"/>
                </a:solidFill>
                <a:latin typeface="Inter"/>
              </a:rPr>
              <a:t>100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852928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"/>
              </a:rPr>
              <a:t>Per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127248"/>
            <a:ext cx="2779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  <a:latin typeface="Inter"/>
              </a:rPr>
              <a:t>allocated AMS capacity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194560"/>
            <a:ext cx="323697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322576"/>
            <a:ext cx="2779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493F"/>
                </a:solidFill>
                <a:latin typeface="Inter"/>
              </a:rPr>
              <a:t>$15,000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852928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"/>
              </a:rPr>
              <a:t>Per month (AUD)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127248"/>
            <a:ext cx="2779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  <a:latin typeface="Inter"/>
              </a:rPr>
              <a:t>predictable managed-service fee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194560"/>
            <a:ext cx="323697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322576"/>
            <a:ext cx="27797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493F"/>
                </a:solidFill>
                <a:latin typeface="Inter"/>
              </a:rPr>
              <a:t>$180,000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852928"/>
            <a:ext cx="277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"/>
              </a:rPr>
              <a:t>Per year (AUD)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127248"/>
            <a:ext cx="2779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  <a:latin typeface="Inter"/>
              </a:rPr>
              <a:t>total annual commitment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3703320"/>
            <a:ext cx="10442448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3703320"/>
            <a:ext cx="97840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A493F"/>
                </a:solidFill>
                <a:latin typeface="Inter"/>
              </a:rPr>
              <a:t>$150 AUD / hour   </a:t>
            </a:r>
            <a:r>
              <a:rPr sz="1200" b="0">
                <a:solidFill>
                  <a:srgbClr val="FFFFFF"/>
                </a:solidFill>
                <a:latin typeface="Inter"/>
              </a:rPr>
              <a:t>blended onshore–offshore rate · 40 / 60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617720"/>
            <a:ext cx="104424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"/>
              </a:rPr>
              <a:t>Key considerations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956048"/>
            <a:ext cx="104424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—  Up to 20% of monthly hours can carry forward to the next month (unused hours only).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—  Hours flex up or down with requirements, reviewed against actual utilisation every six months.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—  Not restricted to any ticket type or Workday module — you decide how hours are used.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23232"/>
                </a:solidFill>
                <a:latin typeface="Inter"/>
              </a:rPr>
              <a:t>—  Onshore manages critical P1/P2 issues until the offshore team is online.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336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2062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EA493F"/>
                </a:solidFill>
                <a:latin typeface="Inter"/>
              </a:rPr>
              <a:t>AUGMENTATION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104333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11111"/>
                </a:solidFill>
                <a:latin typeface="Inter"/>
              </a:rPr>
              <a:t>Certified consultants, </a:t>
            </a:r>
            <a:r>
              <a:rPr sz="3300" b="1">
                <a:solidFill>
                  <a:srgbClr val="EA493F"/>
                </a:solidFill>
                <a:latin typeface="Inter"/>
              </a:rPr>
              <a:t>ready to mobilise.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42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23232"/>
                </a:solidFill>
                <a:latin typeface="Inter"/>
              </a:rPr>
              <a:t>Certified FIN and HCM consultants available to augment your team — onshore, offshore or blended.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157984"/>
            <a:ext cx="323697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267712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[X]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706624"/>
            <a:ext cx="2779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"/>
              </a:rPr>
              <a:t>FIN consultants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944368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  <a:latin typeface="Inter"/>
              </a:rPr>
              <a:t>available to mobilise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157984"/>
            <a:ext cx="323697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267712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[Y]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706624"/>
            <a:ext cx="2779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"/>
              </a:rPr>
              <a:t>HCM consultants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944368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  <a:latin typeface="Inter"/>
              </a:rPr>
              <a:t>available to mobilise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157984"/>
            <a:ext cx="323697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267712"/>
            <a:ext cx="2779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A493F"/>
                </a:solidFill>
                <a:latin typeface="Inter"/>
              </a:rPr>
              <a:t>[date]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706624"/>
            <a:ext cx="2779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"/>
              </a:rPr>
              <a:t>Earliest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944368"/>
            <a:ext cx="2779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23232"/>
                </a:solidFill>
                <a:latin typeface="Inter"/>
              </a:rPr>
              <a:t>onshore / offshore / blended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3456432"/>
            <a:ext cx="960120" cy="36576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456432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STREAM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37943" y="3456432"/>
            <a:ext cx="3520440" cy="36576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3456432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CONSULTANT FOCUS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58383" y="3456432"/>
            <a:ext cx="1691640" cy="36576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399" y="3456432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CERTIFICATION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0023" y="3456432"/>
            <a:ext cx="1463040" cy="36576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39" y="3456432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LOCATION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13063" y="3456432"/>
            <a:ext cx="1371600" cy="36576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456432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AVAILABLE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84663" y="3456432"/>
            <a:ext cx="1435608" cy="36576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3456432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ALLOCATION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" y="3840480"/>
            <a:ext cx="960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3840480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HCM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37943" y="3840480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5960" y="3840480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Core HCM, Absence, Time Tracking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58383" y="3840480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399" y="3840480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[Pro / Certified]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50023" y="384048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39" y="3840480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[Onshore – AU]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13063" y="384048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384048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[wk of __]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84663" y="3840480"/>
            <a:ext cx="143560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12680" y="3840480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[__ days p/w]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" y="4233672"/>
            <a:ext cx="960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4233672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HCM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37943" y="4233672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65960" y="4233672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Recruiting, Talent, Compensation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58383" y="4233672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399" y="4233672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[Pro / Certified]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50023" y="4233672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39" y="4233672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[Offshore – IN]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13063" y="4233672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41080" y="4233672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[wk of __]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84663" y="4233672"/>
            <a:ext cx="143560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12680" y="4233672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[__ days p/w]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7824" y="4626864"/>
            <a:ext cx="960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40" y="4626864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HCM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37943" y="4626864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65960" y="4626864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Payroll &amp; HCM integrations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58383" y="4626864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399" y="4626864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[Pro / Certified]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0023" y="4626864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78039" y="4626864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[AU / IN]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3063" y="4626864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41080" y="4626864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[wk of __]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84663" y="4626864"/>
            <a:ext cx="143560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12680" y="4626864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[__ days p/w]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7824" y="5020055"/>
            <a:ext cx="960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5840" y="5020055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FIN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37943" y="5020055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65960" y="5020055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Core Financials, GL, Accounting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58383" y="5020055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399" y="5020055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[Pro / Certified]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50023" y="5020055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78039" y="5020055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[Onshore – AU]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13063" y="5020055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41080" y="5020055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[wk of __]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84663" y="5020055"/>
            <a:ext cx="143560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12680" y="5020055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[__ days p/w]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77824" y="5413247"/>
            <a:ext cx="960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05840" y="5413247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FIN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37943" y="5413247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965960" y="5413247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Procurement, Expenses, AP / AR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58383" y="5413247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399" y="5413247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[Pro / Certified]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050023" y="5413247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78039" y="5413247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[Offshore – IN]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13063" y="5413247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41080" y="5413247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[wk of __]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884663" y="5413247"/>
            <a:ext cx="143560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12680" y="5413247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[__ days p/w]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" y="5806439"/>
            <a:ext cx="960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" y="5806439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EA493F"/>
                </a:solidFill>
                <a:latin typeface="Inter"/>
              </a:rPr>
              <a:t>FIN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37943" y="5806439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965960" y="5806439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323232"/>
                </a:solidFill>
                <a:latin typeface="Inter"/>
              </a:rPr>
              <a:t>FIN integrations &amp; Reporting / Prism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58383" y="5806439"/>
            <a:ext cx="1691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399" y="5806439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[Pro / Certified]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050023" y="5806439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78039" y="5806439"/>
            <a:ext cx="1207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[AU / IN]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13063" y="5806439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5806439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[wk of __]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884663" y="5806439"/>
            <a:ext cx="143560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012680" y="5806439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111111"/>
                </a:solidFill>
                <a:latin typeface="Inter"/>
              </a:rPr>
              <a:t>[__ days p/w]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77824" y="6272784"/>
            <a:ext cx="10442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23232"/>
                </a:solidFill>
                <a:latin typeface="Inter"/>
              </a:rPr>
              <a:t>Placeholder capacity — to be confirmed against the live FIN / HCM bench.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111111"/>
                </a:solidFill>
                <a:latin typeface="Inter"/>
              </a:rPr>
              <a:t>Governance —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aligned at every tier.</a:t>
            </a:r>
          </a:p>
        </p:txBody>
      </p:sp>
      <p:pic>
        <p:nvPicPr>
          <p:cNvPr id="35" name="Picture 34" descr="A screen shot of a diagram&#10;&#10;AI-generated content may be incorrect.">
            <a:extLst>
              <a:ext uri="{FF2B5EF4-FFF2-40B4-BE49-F238E27FC236}">
                <a16:creationId xmlns:a16="http://schemas.microsoft.com/office/drawing/2014/main" id="{B076234D-C9BC-A483-757A-14C1E71951E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87" b="4759"/>
          <a:stretch>
            <a:fillRect/>
          </a:stretch>
        </p:blipFill>
        <p:spPr bwMode="auto">
          <a:xfrm>
            <a:off x="2111518" y="1920240"/>
            <a:ext cx="7968963" cy="419317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or 13"/>
          <p:cNvCxnSpPr>
            <a:cxnSpLocks/>
          </p:cNvCxnSpPr>
          <p:nvPr/>
        </p:nvCxnSpPr>
        <p:spPr>
          <a:xfrm>
            <a:off x="6096000" y="4716999"/>
            <a:ext cx="0" cy="27432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3">
            <a:extLst>
              <a:ext uri="{FF2B5EF4-FFF2-40B4-BE49-F238E27FC236}">
                <a16:creationId xmlns:a16="http://schemas.microsoft.com/office/drawing/2014/main" id="{9FBE9EEB-F172-D844-4773-AE08CB561A7E}"/>
              </a:ext>
            </a:extLst>
          </p:cNvPr>
          <p:cNvCxnSpPr>
            <a:cxnSpLocks/>
          </p:cNvCxnSpPr>
          <p:nvPr/>
        </p:nvCxnSpPr>
        <p:spPr>
          <a:xfrm>
            <a:off x="6096000" y="3594466"/>
            <a:ext cx="0" cy="274320"/>
          </a:xfrm>
          <a:prstGeom prst="bentConnector3">
            <a:avLst>
              <a:gd name="adj1" fmla="val 2147483646"/>
            </a:avLst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 dirty="0">
                <a:solidFill>
                  <a:srgbClr val="111111"/>
                </a:solidFill>
                <a:latin typeface="Inter"/>
              </a:rPr>
              <a:t>One integrated AMS team — </a:t>
            </a:r>
            <a:r>
              <a:rPr lang="en-AU" sz="3300" b="1" i="0" spc="-72" dirty="0">
                <a:solidFill>
                  <a:srgbClr val="EA493F"/>
                </a:solidFill>
                <a:latin typeface="Inter"/>
              </a:rPr>
              <a:t>onshore + offshore.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8637977-9C98-501F-1EAE-B376020457A1}"/>
              </a:ext>
            </a:extLst>
          </p:cNvPr>
          <p:cNvGrpSpPr/>
          <p:nvPr/>
        </p:nvGrpSpPr>
        <p:grpSpPr>
          <a:xfrm>
            <a:off x="3566890" y="2679192"/>
            <a:ext cx="4989423" cy="1115568"/>
            <a:chOff x="877824" y="2286000"/>
            <a:chExt cx="4989423" cy="1115568"/>
          </a:xfrm>
        </p:grpSpPr>
        <p:sp>
          <p:nvSpPr>
            <p:cNvPr id="5" name="Rectangle 4"/>
            <p:cNvSpPr/>
            <p:nvPr/>
          </p:nvSpPr>
          <p:spPr>
            <a:xfrm>
              <a:off x="877824" y="2286000"/>
              <a:ext cx="4989423" cy="960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4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133856" y="2468880"/>
              <a:ext cx="4532223" cy="3657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500" b="1" i="0" spc="-15">
                  <a:solidFill>
                    <a:srgbClr val="111111"/>
                  </a:solidFill>
                  <a:latin typeface="Inter"/>
                </a:rPr>
                <a:t>Client Partner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33856" y="2852928"/>
              <a:ext cx="4532223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050" b="0" i="0" spc="0">
                  <a:solidFill>
                    <a:srgbClr val="323232"/>
                  </a:solidFill>
                  <a:latin typeface="Inter"/>
                </a:rPr>
                <a:t>Strategic relationship &amp; sponsorship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A18E2A6-043C-A0B7-9EFC-90A24DAF5DA2}"/>
              </a:ext>
            </a:extLst>
          </p:cNvPr>
          <p:cNvGrpSpPr/>
          <p:nvPr/>
        </p:nvGrpSpPr>
        <p:grpSpPr>
          <a:xfrm>
            <a:off x="3566889" y="3818927"/>
            <a:ext cx="4989423" cy="1115568"/>
            <a:chOff x="6324447" y="2351315"/>
            <a:chExt cx="4989423" cy="1115568"/>
          </a:xfrm>
        </p:grpSpPr>
        <p:sp>
          <p:nvSpPr>
            <p:cNvPr id="8" name="Rectangle 7"/>
            <p:cNvSpPr/>
            <p:nvPr/>
          </p:nvSpPr>
          <p:spPr>
            <a:xfrm>
              <a:off x="6324447" y="2351315"/>
              <a:ext cx="4989423" cy="960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4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80479" y="2534195"/>
              <a:ext cx="4532223" cy="3657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500" b="1" i="0" spc="-15">
                  <a:solidFill>
                    <a:srgbClr val="111111"/>
                  </a:solidFill>
                  <a:latin typeface="Inter"/>
                </a:rPr>
                <a:t>Service Delivery Lead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80479" y="2918243"/>
              <a:ext cx="4532223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050" b="0" i="0" spc="0">
                  <a:solidFill>
                    <a:srgbClr val="323232"/>
                  </a:solidFill>
                  <a:latin typeface="Inter"/>
                </a:rPr>
                <a:t>Day-to-day AMS operations &amp; SLAs</a:t>
              </a: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3374866" y="4991315"/>
            <a:ext cx="0" cy="320040"/>
          </a:xfrm>
          <a:prstGeom prst="bentConnector3">
            <a:avLst>
              <a:gd name="adj1" fmla="val 2147483646"/>
            </a:avLst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</p:cNvCxnSpPr>
          <p:nvPr/>
        </p:nvCxnSpPr>
        <p:spPr>
          <a:xfrm>
            <a:off x="8821490" y="4991315"/>
            <a:ext cx="0" cy="32004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77477" y="4991315"/>
            <a:ext cx="5446624" cy="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80155" y="5344013"/>
            <a:ext cx="498942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6187" y="5526893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500" b="1" i="0" spc="-15">
                <a:solidFill>
                  <a:srgbClr val="111111"/>
                </a:solidFill>
                <a:latin typeface="Inter"/>
              </a:rPr>
              <a:t>Onshore · Australia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187" y="5910941"/>
            <a:ext cx="4532223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323232"/>
                </a:solidFill>
                <a:latin typeface="Inter"/>
              </a:rPr>
              <a:t>Functional / Integration Consultants — Core HCM · Financials · Integrations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6778" y="5344013"/>
            <a:ext cx="498942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2810" y="5526893"/>
            <a:ext cx="453222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500" b="1" i="0" spc="-15">
                <a:solidFill>
                  <a:srgbClr val="111111"/>
                </a:solidFill>
                <a:latin typeface="Inter"/>
              </a:rPr>
              <a:t>Offshore ·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2810" y="5910941"/>
            <a:ext cx="4532223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323232"/>
                </a:solidFill>
                <a:latin typeface="Inter"/>
              </a:rPr>
              <a:t>Functional / Integration Consultants — Core HCM · Financials · Integrations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305A14-AEBE-8779-B93F-7B2941E5C937}"/>
              </a:ext>
            </a:extLst>
          </p:cNvPr>
          <p:cNvGrpSpPr/>
          <p:nvPr/>
        </p:nvGrpSpPr>
        <p:grpSpPr>
          <a:xfrm>
            <a:off x="3566889" y="1708620"/>
            <a:ext cx="4989422" cy="815123"/>
            <a:chOff x="877824" y="5845628"/>
            <a:chExt cx="4989423" cy="815123"/>
          </a:xfrm>
        </p:grpSpPr>
        <p:sp>
          <p:nvSpPr>
            <p:cNvPr id="21" name="Rectangle 20"/>
            <p:cNvSpPr/>
            <p:nvPr/>
          </p:nvSpPr>
          <p:spPr>
            <a:xfrm>
              <a:off x="877824" y="5845628"/>
              <a:ext cx="4989423" cy="815123"/>
            </a:xfrm>
            <a:prstGeom prst="rect">
              <a:avLst/>
            </a:prstGeom>
            <a:solidFill>
              <a:srgbClr val="EA49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33856" y="5925312"/>
              <a:ext cx="4532223" cy="3657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AU" sz="1100" b="1" i="0" cap="all" spc="110" dirty="0">
                  <a:solidFill>
                    <a:srgbClr val="FFFFFF"/>
                  </a:solidFill>
                  <a:latin typeface="Inter"/>
                </a:rPr>
                <a:t>THOUGHT LEADERSHIP</a:t>
              </a:r>
              <a:br>
                <a:rPr lang="en-AU" sz="1100" b="1" i="0" cap="all" spc="110" dirty="0">
                  <a:solidFill>
                    <a:srgbClr val="FFFFFF"/>
                  </a:solidFill>
                  <a:latin typeface="Inter"/>
                </a:rPr>
              </a:br>
              <a:endParaRPr lang="en-AU" sz="1100" b="1" i="0" cap="all" spc="110" dirty="0">
                <a:solidFill>
                  <a:srgbClr val="FFFFFF"/>
                </a:solidFill>
                <a:latin typeface="Inter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AU" sz="1100" b="1" i="0" cap="all" spc="110" dirty="0">
                <a:solidFill>
                  <a:srgbClr val="FFFFFF"/>
                </a:solidFill>
                <a:latin typeface="Inter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33856" y="6110803"/>
              <a:ext cx="4532223" cy="44871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br>
                <a:rPr lang="en-AU" sz="1050" b="1" i="0" spc="0" dirty="0">
                  <a:solidFill>
                    <a:srgbClr val="FFFFFF"/>
                  </a:solidFill>
                  <a:latin typeface="Inter"/>
                </a:rPr>
              </a:br>
              <a:r>
                <a:rPr lang="en-AU" sz="1050" b="1" i="0" spc="0" dirty="0">
                  <a:solidFill>
                    <a:srgbClr val="FFFFFF"/>
                  </a:solidFill>
                  <a:latin typeface="Inter"/>
                </a:rPr>
                <a:t>Strategic advisory · direct CEO access for escalation &amp; sponsorship.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300" b="1" i="0" spc="-72">
                <a:solidFill>
                  <a:srgbClr val="111111"/>
                </a:solidFill>
                <a:latin typeface="Inter"/>
              </a:rPr>
              <a:t>Proven Workday </a:t>
            </a:r>
            <a:r>
              <a:rPr lang="en-AU" sz="3300" b="1" i="0" spc="-72">
                <a:solidFill>
                  <a:srgbClr val="EA493F"/>
                </a:solidFill>
                <a:latin typeface="Inter"/>
              </a:rPr>
              <a:t>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288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0" i="0" spc="0">
                <a:solidFill>
                  <a:srgbClr val="323232"/>
                </a:solidFill>
                <a:latin typeface="Inter"/>
              </a:rPr>
              <a:t>Long-term partnerships with some of Australia's most demanding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651760"/>
            <a:ext cx="325008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72">
                <a:solidFill>
                  <a:srgbClr val="EA493F"/>
                </a:solidFill>
                <a:latin typeface="Inter"/>
              </a:rPr>
              <a:t>QANTAS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154680"/>
            <a:ext cx="322265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323232"/>
                </a:solidFill>
                <a:latin typeface="Inter"/>
              </a:rPr>
              <a:t>A partner since 2014 — taking over Workday support in 2017 and growing into a strategic partner across HR, Payroll, Digital, Automation, Data and Analytics. We scaled integrations, modernised architectures and embedded automation, evolving into a long-term enterprise partner.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56506" y="269748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49114" y="2651760"/>
            <a:ext cx="295747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72">
                <a:solidFill>
                  <a:srgbClr val="EA493F"/>
                </a:solidFill>
                <a:latin typeface="Inter"/>
              </a:rPr>
              <a:t>GUZMAN Y GOMEZ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9114" y="3154680"/>
            <a:ext cx="2930042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323232"/>
                </a:solidFill>
                <a:latin typeface="Inter"/>
              </a:rPr>
              <a:t>Stabilised and optimised Workday post–go-live across modules, reporting, security and compliance. Agile delivery onboarded 150+ franchisees, shipped new reporting and a redesigned security model, and lifted performance across HCM, Absence and Learning.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35188" y="269748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7796" y="2651760"/>
            <a:ext cx="2957474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72">
                <a:solidFill>
                  <a:srgbClr val="EA493F"/>
                </a:solidFill>
                <a:latin typeface="Inter"/>
              </a:rPr>
              <a:t>WESTERN SYDNEY INTL AIRPORT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6" y="3154680"/>
            <a:ext cx="2930042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050" b="0" i="0" spc="0">
                <a:solidFill>
                  <a:srgbClr val="323232"/>
                </a:solidFill>
                <a:latin typeface="Inter"/>
              </a:rPr>
              <a:t>Delivered a card-management system, then expanded into a strategic role on WSI's Workday program. By resolving functional and integration issues and assuming full AMS ownership, we stabilised HR, Payroll, Finance and Procurement.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100" b="1" i="0" cap="all" spc="154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3400" b="1" i="0" spc="-74">
                <a:solidFill>
                  <a:srgbClr val="FFFFFF"/>
                </a:solidFill>
                <a:latin typeface="Inter"/>
              </a:rPr>
              <a:t>A partner, </a:t>
            </a:r>
            <a:r>
              <a:rPr lang="en-AU" sz="3400" b="1" i="0" spc="-74">
                <a:solidFill>
                  <a:srgbClr val="EA493F"/>
                </a:solidFill>
                <a:latin typeface="Inter"/>
              </a:rPr>
              <a:t>not a vendor.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971800"/>
            <a:ext cx="3204362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1" i="0" spc="182" dirty="0">
                <a:solidFill>
                  <a:srgbClr val="EA493F"/>
                </a:solidFill>
                <a:latin typeface="Inter"/>
              </a:rPr>
              <a:t>01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2300" b="1" i="0" spc="-57" dirty="0">
                <a:solidFill>
                  <a:srgbClr val="FFFFFF"/>
                </a:solidFill>
                <a:latin typeface="Inter"/>
              </a:rPr>
              <a:t>We grew out of a customer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1250" b="0" i="0" spc="0" dirty="0">
                <a:solidFill>
                  <a:srgbClr val="CFCFCF"/>
                </a:solidFill>
                <a:latin typeface="Inter"/>
              </a:rPr>
              <a:t>So we understand your challenges from the inside — and we're not a Big 4.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56506" y="2971800"/>
            <a:ext cx="0" cy="2331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85690" y="2971800"/>
            <a:ext cx="2875178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1" i="0" spc="182">
                <a:solidFill>
                  <a:srgbClr val="EA493F"/>
                </a:solidFill>
                <a:latin typeface="Inter"/>
              </a:rPr>
              <a:t>02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2300" b="1" i="0" spc="-57">
                <a:solidFill>
                  <a:srgbClr val="FFFFFF"/>
                </a:solidFill>
                <a:latin typeface="Inter"/>
              </a:rPr>
              <a:t>Senior, local, accountable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1250" b="0" i="0" spc="0">
                <a:solidFill>
                  <a:srgbClr val="CFCFCF"/>
                </a:solidFill>
                <a:latin typeface="Inter"/>
              </a:rPr>
              <a:t>Australian-owned, with direct access to our CEO and a dedicated engagement manager.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35188" y="2971800"/>
            <a:ext cx="0" cy="2331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64372" y="2971800"/>
            <a:ext cx="2875178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300" b="1" i="0" spc="182">
                <a:solidFill>
                  <a:srgbClr val="EA493F"/>
                </a:solidFill>
                <a:latin typeface="Inter"/>
              </a:rPr>
              <a:t>03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2300" b="1" i="0" spc="-57">
                <a:solidFill>
                  <a:srgbClr val="FFFFFF"/>
                </a:solidFill>
                <a:latin typeface="Inter"/>
              </a:rPr>
              <a:t>In it for the long term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lang="en-AU" sz="1250" b="0" i="0" spc="0">
                <a:solidFill>
                  <a:srgbClr val="CFCFCF"/>
                </a:solidFill>
                <a:latin typeface="Inter"/>
              </a:rPr>
              <a:t>From go-live into managed services — we grow with you.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194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00" b="1" i="0" cap="all" spc="192">
                <a:solidFill>
                  <a:srgbClr val="EA493F"/>
                </a:solidFill>
                <a:latin typeface="Inter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24128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4400" b="1" i="0" spc="-110">
                <a:solidFill>
                  <a:srgbClr val="FFFFFF"/>
                </a:solidFill>
                <a:latin typeface="Inter"/>
              </a:rPr>
              <a:t>Let's build something </a:t>
            </a:r>
            <a:r>
              <a:rPr lang="en-AU" sz="4400" b="1" i="0" spc="-110">
                <a:solidFill>
                  <a:srgbClr val="EA493F"/>
                </a:solidFill>
                <a:latin typeface="Inter"/>
              </a:rPr>
              <a:t>human.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585216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5989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1" i="0" spc="25">
                <a:solidFill>
                  <a:srgbClr val="CFCFCF"/>
                </a:solidFill>
                <a:latin typeface="Inter"/>
              </a:rPr>
              <a:t>hello@mivada.com · mivada.com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5989320"/>
            <a:ext cx="552297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AU" sz="1250" b="0" i="0" spc="25">
                <a:solidFill>
                  <a:srgbClr val="AEAEAE"/>
                </a:solidFill>
                <a:latin typeface="Inter"/>
              </a:rPr>
              <a:t>Sydney · Melbourne · AU &amp;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992</Words>
  <Application>Microsoft Macintosh PowerPoint</Application>
  <PresentationFormat>Widescreen</PresentationFormat>
  <Paragraphs>186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Zrno</cp:lastModifiedBy>
  <cp:revision>4</cp:revision>
  <dcterms:created xsi:type="dcterms:W3CDTF">2013-01-27T09:14:16Z</dcterms:created>
  <dcterms:modified xsi:type="dcterms:W3CDTF">2026-06-07T05:34:34Z</dcterms:modified>
  <cp:category/>
</cp:coreProperties>
</file>