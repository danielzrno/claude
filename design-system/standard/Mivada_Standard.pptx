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78" r:id="rId23"/>
    <p:sldId id="279" r:id="rId24"/>
    <p:sldId id="263" r:id="rId10"/>
    <p:sldId id="277" r:id="rId11"/>
    <p:sldId id="265" r:id="rId12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AEAEAE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111111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101010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323232"/>
                </a:solidFill>
                <a:latin typeface="Inter"/>
              </a:rPr>
              <a:t>Grew out of the customer | Local Accountability | Global Scale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20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FFFFFF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FFFFFF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D6D6D6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FFFFFF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Strategic advisory projects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>
            <a:extLst>
              <a:ext uri="{FF2B5EF4-FFF2-40B4-BE49-F238E27FC236}">
                <a16:creationId xmlns:a16="http://schemas.microsoft.com/office/drawing/2014/main" id="{C7155AAB-32BC-F0A3-EB41-5A50A3A25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FFFFFF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We own the system, we managed the payroll</a:t>
            </a:r>
          </a:p>
        </p:txBody>
      </p:sp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Full-stack Workday,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494370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40">
                <a:solidFill>
                  <a:srgbClr val="111111"/>
                </a:solidFill>
                <a:latin typeface="Inter"/>
              </a:rPr>
              <a:t>HCM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Core 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410712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Absence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758184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Time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105656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Recruiting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453128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Talent &amp;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80060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Compensation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675" y="306324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Benefits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410712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Payroll (AU / global)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58184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9675" y="4105656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4453128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480060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Advanced &amp; Composite Reporting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468880"/>
            <a:ext cx="0" cy="32004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6743" y="2468880"/>
            <a:ext cx="4632807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40">
                <a:solidFill>
                  <a:srgbClr val="111111"/>
                </a:solidFill>
                <a:latin typeface="Inter"/>
              </a:rPr>
              <a:t>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06324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Financial Accounting (GL)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3410712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Accounting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743" y="3758184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43" y="4105656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4453128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Procurement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3" y="480060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23147" y="306324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Banking &amp;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3147" y="3410712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Business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3147" y="3758184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Financial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147" y="4105656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Prism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3147" y="4453128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3147" y="480060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603504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EA493F"/>
                </a:solidFill>
                <a:latin typeface="Inter"/>
              </a:rPr>
              <a:t>Adaptive Planning — all modules.  ·  Cross-skilled across both suites — one team, two suites.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AEAEAE"/>
                </a:solidFill>
                <a:latin typeface="Inter"/>
              </a:rPr>
              <a:t>Operational excellence, by design.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23232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37943" y="3474720"/>
            <a:ext cx="3108960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3794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40817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133502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9242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688335" y="3822191"/>
            <a:ext cx="140817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24911" y="3822191"/>
            <a:ext cx="133502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Solution Architect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4690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242816" y="3822191"/>
            <a:ext cx="140817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9392" y="3822191"/>
            <a:ext cx="133502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Data &amp; Integration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11111"/>
                </a:solidFill>
                <a:latin typeface="Inter"/>
              </a:rPr>
              <a:t>CUSTOMER TEAM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Project Manager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Change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Testing Lead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Champions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