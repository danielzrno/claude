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80" r:id="rId25"/>
    <p:sldId id="284" r:id="rId29"/>
    <p:sldId id="278" r:id="rId23"/>
    <p:sldId id="282" r:id="rId27"/>
    <p:sldId id="281" r:id="rId26"/>
    <p:sldId id="283" r:id="rId28"/>
    <p:sldId id="277" r:id="rId11"/>
    <p:sldId id="265" r:id="rId12"/>
    <p:sldId id="285" r:id="rId24"/>
    <p:sldId id="286" r:id="rId10"/>
    <p:sldId id="287" r:id="rId30"/>
    <p:sldId id="288" r:id="rId31"/>
    <p:sldId id="289" r:id="rId32"/>
    <p:sldId id="290" r:id="rId33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8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23.xml"/><Relationship Id="rId14" Type="http://schemas.openxmlformats.org/officeDocument/2006/relationships/slide" Target="slides/slide24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17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2.xml"/><Relationship Id="rId28" Type="http://schemas.openxmlformats.org/officeDocument/2006/relationships/slide" Target="slides/slide14.xml"/><Relationship Id="rId29" Type="http://schemas.openxmlformats.org/officeDocument/2006/relationships/slide" Target="slides/slide10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AEAEAE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111111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101010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323232"/>
                </a:solidFill>
                <a:latin typeface="Inter"/>
              </a:rPr>
              <a:t>Grew out of the customer | Local Accountability | Global Scale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FFFFFF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FFFFFF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D6D6D6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D6D6D6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FFFFFF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D6D6D6"/>
                </a:solidFill>
                <a:latin typeface="Inter"/>
              </a:rPr>
              <a:t>Strategic advisory projects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>
            <a:extLst>
              <a:ext uri="{FF2B5EF4-FFF2-40B4-BE49-F238E27FC236}">
                <a16:creationId xmlns:a16="http://schemas.microsoft.com/office/drawing/2014/main" id="{C7155AAB-32BC-F0A3-EB41-5A50A3A25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FFFFFF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We own the system, we managed the payroll</a:t>
            </a:r>
          </a:p>
        </p:txBody>
      </p:sp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Velocity &amp; Value — </a:t>
            </a:r>
            <a:r>
              <a:rPr sz="3300" b="1">
                <a:solidFill>
                  <a:srgbClr val="EA493F"/>
                </a:solidFill>
                <a:latin typeface="Inter"/>
              </a:rPr>
              <a:t>Workday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Workday's packaged deployment model — proven, best-practice processes, live fast.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21408"/>
            <a:ext cx="91440" cy="162763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A493F"/>
                </a:solidFill>
                <a:latin typeface="Inter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Pre-configured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All standard HR, payroll &amp; talent processes — prebuilt to Workday's ANZ leading practice.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072" y="2121408"/>
            <a:ext cx="91440" cy="162763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Inter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Unique to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The configuration that flexes Workday to your data, org structure, pay cycles and awards.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968496"/>
            <a:ext cx="104424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Five-phase delivery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1. Mobilise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Charter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1526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50438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96742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2. Architect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Workshops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41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052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9356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3. Configure &amp; Prototype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Build &amp; iterate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755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95667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1971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4. Test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End-to-end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369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8281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85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5. Deploy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Cutover &amp; hypercare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IMPLEMENTATION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implementation </a:t>
            </a:r>
            <a:r>
              <a:rPr sz="3300" b="1">
                <a:solidFill>
                  <a:srgbClr val="EA493F"/>
                </a:solidFill>
                <a:latin typeface="Inter"/>
              </a:rPr>
              <a:t>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single 20-week delivery brings all your modules live in one go-live — followed by four weeks of Hypercare.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212848"/>
            <a:ext cx="10442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11111"/>
                </a:solidFill>
                <a:latin typeface="Inter"/>
              </a:rPr>
              <a:t>One phase  ·  20 weeks to go-live  ·  all modules.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Mobilise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93979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6898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346557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3–7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9476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Configure &amp; Prototype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99135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8–13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2054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451713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14–19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84632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EA493F"/>
                </a:solidFill>
                <a:latin typeface="Inter"/>
              </a:rPr>
              <a:t>GO-LIVE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504291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50653" y="4892040"/>
            <a:ext cx="377519" cy="32918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1324" y="484632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11111"/>
                </a:solidFill>
                <a:latin typeface="Inter"/>
              </a:rPr>
              <a:t>Wk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3721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Hypercare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556869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solidFill>
            <a:srgbClr val="C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111111"/>
                </a:solidFill>
                <a:latin typeface="Inter"/>
              </a:rPr>
              <a:t>Wk 21–24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5943600"/>
            <a:ext cx="10442448" cy="67665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5943600"/>
            <a:ext cx="9784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One team. One go-live. Twenty weeks.  </a:t>
            </a:r>
            <a:r>
              <a:rPr sz="1100" b="0">
                <a:solidFill>
                  <a:srgbClr val="FFFFFF"/>
                </a:solidFill>
                <a:latin typeface="Inter"/>
              </a:rPr>
              <a:t>Workday GO's preconfigured tenant removes the design overhead — we validate, tailor and stand your team up, all modules live together at week 20.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23232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53920" y="3474720"/>
            <a:ext cx="34770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5392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1292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292858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9434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7192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451860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8436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Consultants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0927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610862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7438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&amp; Integration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11111"/>
                </a:solidFill>
                <a:latin typeface="Inter"/>
              </a:rPr>
              <a:t>CUSTOMER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Project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Change Manager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Leads &amp; SMEs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Testing Lead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Champions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GETTING PAYROLL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Payroll testing </a:t>
            </a:r>
            <a:r>
              <a:rPr sz="3300" b="1">
                <a:solidFill>
                  <a:srgbClr val="EA493F"/>
                </a:solidFill>
                <a:latin typeface="Inter"/>
              </a:rPr>
              <a:t>rigour.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Payroll is the one thing every employee notices on day one — so we prove it with structured, evidence-based parallel testing before any go-live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Full parallel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minimum — never just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Line-level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Variance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every earning, deduction &amp; super — not gross-to-gross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Net-pay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target tolerance for sign-off — explained variances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10442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Parallel testing cycle.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Legacy pay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Workday mirror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8224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Line-level variance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Root-cause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Resolve &amp; 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4896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8944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8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Formal sign-off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" y="5248656"/>
            <a:ext cx="10442448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5248656"/>
            <a:ext cx="982065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Built for Australian complexity   </a:t>
            </a:r>
            <a:r>
              <a:rPr sz="1100" b="0">
                <a:solidFill>
                  <a:srgbClr val="FFFFFF"/>
                </a:solidFill>
                <a:latin typeface="Inter"/>
              </a:rPr>
              <a:t>modern awards &amp; EAs  ·  super &amp; STP  ·  leave loading &amp; Long Service Leave  ·  termination &amp; back-pay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Core HCM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Time Tracking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65576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Recruiting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Talent &amp; 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65576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65576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Compensation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7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Benefits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65576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65576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Payroll (AU / global)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Learning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65576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7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6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65576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30168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91072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1072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Accounting (GL)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78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78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3416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Accounting Center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91072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91072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55664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78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78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43416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91072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91072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Procurement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78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78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43416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Expenses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91072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91072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Banking &amp; Settlement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78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78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Business Assets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91072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91072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Reporting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78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78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43416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Prism Analytics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91072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91072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78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78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3416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605332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23232"/>
                </a:solidFill>
                <a:latin typeface="Inter"/>
              </a:rPr>
              <a:t>Adaptive Planning — all modules.    ·    Cross-skilled across both suites — one team, two suites.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AEAEAE"/>
                </a:solidFill>
                <a:latin typeface="Inter"/>
              </a:rPr>
              <a:t>Operational excellence, by design.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Seamless onshore–offshore </a:t>
            </a:r>
            <a:r>
              <a:rPr sz="3300" b="1">
                <a:solidFill>
                  <a:srgbClr val="EA493F"/>
                </a:solidFill>
                <a:latin typeface="Inter"/>
              </a:rPr>
              <a:t>coverage.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Continuous support across time zones — onshore by day, offshore through the overlap, 24×7 on-call for P1/P2.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94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23232"/>
                </a:solidFill>
                <a:latin typeface="Inter"/>
              </a:rPr>
              <a:t>AEST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2212848"/>
            <a:ext cx="9217152" cy="18288"/>
          </a:xfrm>
          <a:prstGeom prst="rect">
            <a:avLst/>
          </a:prstGeom>
          <a:solidFill>
            <a:srgbClr val="E4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ONSHORE · 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OFFSHORE ·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3017520"/>
            <a:ext cx="3871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23232"/>
                </a:solidFill>
                <a:latin typeface="Inter"/>
              </a:rPr>
              <a:t>warm handover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3429000"/>
            <a:ext cx="5029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3429000"/>
            <a:ext cx="91440" cy="141732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ONSHORE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Australia · 8:30–17:30 AEST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Governance &amp; stakeholder engagement · P1/P2 incident resolution · application health checks &amp; start-of-day triage.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429000"/>
            <a:ext cx="5029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429000"/>
            <a:ext cx="91440" cy="14173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OFFSHORE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India · 8:00–17:00 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Day-to-day incident management · routine incidents &amp; service requests · monitoring &amp; backlog resolution per SLA.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" y="5074920"/>
            <a:ext cx="10442448" cy="84124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074920"/>
            <a:ext cx="97840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EA493F"/>
                </a:solidFill>
                <a:latin typeface="Inter"/>
              </a:rPr>
              <a:t>24×7 on-call · P1 &amp; P2  </a:t>
            </a:r>
            <a:r>
              <a:rPr sz="1100" b="0">
                <a:solidFill>
                  <a:srgbClr val="FFFFFF"/>
                </a:solidFill>
                <a:latin typeface="Inter"/>
              </a:rPr>
              <a:t>incident support covered on-call, irrespective of tracking — an always-on safety net aligned to monthly hours.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GOVERNANCE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Strong governance, </a:t>
            </a:r>
            <a:r>
              <a:rPr sz="3300" b="1">
                <a:solidFill>
                  <a:srgbClr val="EA493F"/>
                </a:solidFill>
                <a:latin typeface="Inter"/>
              </a:rPr>
              <a:t>aligned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Transparent reporting · escalation by exception · decisions at the right tier · continuous improvement built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137160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CUSTOMER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1266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75904" y="2194560"/>
            <a:ext cx="178308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194560"/>
            <a:ext cx="1527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58984" y="2194560"/>
            <a:ext cx="1161288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0" y="2194560"/>
            <a:ext cx="9052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CADENCE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2615184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15184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STRATEGIC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424" y="2615184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12664" y="2615184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Strategic direction · innovation &amp; roadmap · investment alignment · relationship health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75904" y="2615184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15184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58984" y="2615184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0" y="2615184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3749039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749039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TACTICAL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9424" y="3749039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Business / Product Owner · IT Service Owner · Risk, Security &amp; Compliance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12664" y="3749039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Service &amp; SLA review · risk, security &amp; compliance · release planning · improvement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75904" y="3749039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749039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58984" y="3749039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87000" y="3749039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" y="4882896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882896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OPERATIONAL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9424" y="4882896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IT App Support / AMS team · Change &amp; Release · Super Users / SMEs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12664" y="4882896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Incident triage &amp; resolution · change &amp; release execution · UX &amp; support · ops performance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75904" y="4882896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4882896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58984" y="4882896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87000" y="4882896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TRANSITION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Minimising risk, </a:t>
            </a:r>
            <a:r>
              <a:rPr sz="3300" b="1">
                <a:solidFill>
                  <a:srgbClr val="EA493F"/>
                </a:solidFill>
                <a:latin typeface="Inter"/>
              </a:rPr>
              <a:t>maximising readiness.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four-week transition to a confident go-live — governance live, knowledge transferred, parallel-run proven, then we lead.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Mobilise &amp; operating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Finalise AMS resourcing &amp; roles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Kickoff, governance &amp; cadences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ITSM access &amp; workflows · RACI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Governance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8416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4176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94176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Knowledge transfer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5344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Deep-dive KT across all modules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Review open items &amp; project plan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Reference docs · shadow internal teams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KT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8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0528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Process alignment &amp; parallel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1696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Align AMS to client ITSM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AMS runs tickets under supervision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Test escalation · measure SLA adherence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Cutover ready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0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26880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59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8048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Go-live readiness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Mivada leads AMS operations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Escalation &amp; major-incident mgmt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Daily reporting · acceptance sign-off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Go-live &amp; sign-off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SERVICE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Measurable </a:t>
            </a:r>
            <a:r>
              <a:rPr sz="3300" b="1">
                <a:solidFill>
                  <a:srgbClr val="EA493F"/>
                </a:solidFill>
                <a:latin typeface="Inter"/>
              </a:rPr>
              <a:t>service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Operational excellence through clear priorities, acknowledgement and resolution targets.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1371600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115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PRIORITY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240280"/>
            <a:ext cx="4956048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240280"/>
            <a:ext cx="4700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5472" y="2240280"/>
            <a:ext cx="2011680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3488" y="224028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ACKNOWLEDGE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17152" y="2240280"/>
            <a:ext cx="2103120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45168" y="2240280"/>
            <a:ext cx="1847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TARGET RESOLUTION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2679192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79192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9424" y="2679192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679192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Critical system issue with major impact, or preventing a vital business process (e.g. payroll unable to process).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5472" y="2679192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679192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30 minutes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2679192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2679192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4 hours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3566160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566160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9424" y="3566160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566160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Critical-severity issue with moderate impact, or an urgent issue with major business impact.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5472" y="3566160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3566160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1 hour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7152" y="3566160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3566160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8 hours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7824" y="4453128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53128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9424" y="4453128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4453128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Moderate impact on system performance where a workaround is known and available.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05472" y="4453128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33488" y="4453128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4 hours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17152" y="4453128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8" y="4453128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3 business days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340096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340096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49424" y="5340096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77440" y="5340096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Low impact and/or low urgency; no significant impact on business performance.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05472" y="5340096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33488" y="5340096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1 business day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5340096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45168" y="5340096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5 business days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COMMERCIALS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Engagement </a:t>
            </a:r>
            <a:r>
              <a:rPr sz="3300" b="1">
                <a:solidFill>
                  <a:srgbClr val="EA493F"/>
                </a:solidFill>
                <a:latin typeface="Inter"/>
              </a:rPr>
              <a:t>pricing.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blended onshore–offshore managed service — predictable monthly cost, flexible hours.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100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allocated AMS capacity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month (AUD)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predictable managed-service fee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$180,000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year (AUD)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total annual commitment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703320"/>
            <a:ext cx="10442448" cy="71323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8" y="3703320"/>
            <a:ext cx="9784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A493F"/>
                </a:solidFill>
                <a:latin typeface="Inter"/>
              </a:rPr>
              <a:t>$150 AUD / hour   </a:t>
            </a:r>
            <a:r>
              <a:rPr sz="1200" b="0">
                <a:solidFill>
                  <a:srgbClr val="FFFFFF"/>
                </a:solidFill>
                <a:latin typeface="Inter"/>
              </a:rPr>
              <a:t>blended onshore–offshore rate · 40 / 60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617720"/>
            <a:ext cx="10442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Key considerations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956048"/>
            <a:ext cx="104424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Up to 20% of monthly hours can carry forward to the next month (unused hours only).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Hours flex up or down with requirements, reviewed against actual utilisation every six months.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Not restricted to any ticket type or Workday module — you decide how hours are used.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Onshore manages critical P1/P2 issues until the offshore team is online.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AUGMENTATION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Certified consultants, </a:t>
            </a:r>
            <a:r>
              <a:rPr sz="3300" b="1">
                <a:solidFill>
                  <a:srgbClr val="EA493F"/>
                </a:solidFill>
                <a:latin typeface="Inter"/>
              </a:rPr>
              <a:t>ready to mobilise.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Certified FIN and HCM consultants available to augment your team — onshore, offshore or blended.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[X]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FIN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available to mobilise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HCM consultants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available to mobilise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Earliest 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onshore / offshore / blended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456432"/>
            <a:ext cx="96012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45643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STREAM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37943" y="3456432"/>
            <a:ext cx="352044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345643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CONSULTANT FOCUS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58383" y="3456432"/>
            <a:ext cx="169164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399" y="345643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CERTIFICATION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50023" y="3456432"/>
            <a:ext cx="146304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39" y="345643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13063" y="3456432"/>
            <a:ext cx="137160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345643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84663" y="3456432"/>
            <a:ext cx="1435608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345643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ALLOCATION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" y="3840480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3840480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7943" y="3840480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5960" y="3840480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Core HCM, Absence, Time Tracking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58383" y="3840480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399" y="3840480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50023" y="3840480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78039" y="3840480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[Onshore – AU]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13063" y="3840480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384048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84663" y="3840480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12680" y="3840480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233672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423367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37943" y="4233672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5960" y="423367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Recruiting, Talent, Compensation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58383" y="4233672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399" y="423367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50023" y="4233672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39" y="423367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[Offshore – IN]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13063" y="4233672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1080" y="423367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84663" y="4233672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2680" y="423367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7824" y="4626864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4626864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37943" y="4626864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5960" y="462686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Payroll &amp; HCM integrations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58383" y="4626864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399" y="4626864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0023" y="4626864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78039" y="4626864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[AU / IN]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13063" y="4626864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41080" y="4626864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84663" y="4626864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12680" y="4626864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7824" y="5020055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5840" y="5020055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37943" y="5020055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65960" y="5020055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Core Financials, GL, Accounting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58383" y="5020055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399" y="5020055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50023" y="5020055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39" y="5020055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[Onshore – AU]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13063" y="5020055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5020055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884663" y="5020055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12680" y="5020055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7824" y="5413247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40" y="5413247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37943" y="5413247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965960" y="5413247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Procurement, Expenses, AP / AR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358383" y="5413247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399" y="5413247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050023" y="5413247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78039" y="5413247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[Offshore – IN]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13063" y="5413247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5413247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84663" y="5413247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012680" y="5413247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7824" y="5806439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" y="5806439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837943" y="5806439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965960" y="5806439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FIN integrations &amp; Reporting / Prism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358383" y="5806439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399" y="5806439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050023" y="5806439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78039" y="5806439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[AU / IN]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513063" y="5806439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641080" y="5806439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84663" y="5806439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012680" y="5806439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7824" y="6272784"/>
            <a:ext cx="10442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23232"/>
                </a:solidFill>
                <a:latin typeface="Inter"/>
              </a:rPr>
              <a:t>Placeholder capacity — to be confirmed against the live FIN / HCM bench.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