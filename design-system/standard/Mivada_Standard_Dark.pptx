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71" r:id="rId5"/>
    <p:sldId id="259" r:id="rId6"/>
    <p:sldId id="260" r:id="rId7"/>
    <p:sldId id="264" r:id="rId8"/>
    <p:sldId id="276" r:id="rId9"/>
    <p:sldId id="280" r:id="rId25"/>
    <p:sldId id="284" r:id="rId29"/>
    <p:sldId id="278" r:id="rId23"/>
    <p:sldId id="282" r:id="rId27"/>
    <p:sldId id="281" r:id="rId26"/>
    <p:sldId id="283" r:id="rId28"/>
    <p:sldId id="277" r:id="rId11"/>
    <p:sldId id="265" r:id="rId12"/>
    <p:sldId id="267" r:id="rId13"/>
    <p:sldId id="268" r:id="rId14"/>
    <p:sldId id="269" r:id="rId15"/>
    <p:sldId id="270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10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28"/>
    <p:restoredTop sz="77273"/>
  </p:normalViewPr>
  <p:slideViewPr>
    <p:cSldViewPr snapToGrid="0" snapToObjects="1">
      <p:cViewPr>
        <p:scale>
          <a:sx n="101" d="100"/>
          <a:sy n="101" d="100"/>
        </p:scale>
        <p:origin x="1616" y="6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1" Type="http://schemas.openxmlformats.org/officeDocument/2006/relationships/slide" Target="slides/slide15.xml"/><Relationship Id="rId12" Type="http://schemas.openxmlformats.org/officeDocument/2006/relationships/slide" Target="slides/slide16.xml"/><Relationship Id="rId13" Type="http://schemas.openxmlformats.org/officeDocument/2006/relationships/slide" Target="slides/slide17.xml"/><Relationship Id="rId14" Type="http://schemas.openxmlformats.org/officeDocument/2006/relationships/slide" Target="slides/slide18.xml"/><Relationship Id="rId15" Type="http://schemas.openxmlformats.org/officeDocument/2006/relationships/slide" Target="slides/slide19.xml"/><Relationship Id="rId16" Type="http://schemas.openxmlformats.org/officeDocument/2006/relationships/slide" Target="slides/slide20.xml"/><Relationship Id="rId17" Type="http://schemas.openxmlformats.org/officeDocument/2006/relationships/slide" Target="slides/slide21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1.xml"/><Relationship Id="rId25" Type="http://schemas.openxmlformats.org/officeDocument/2006/relationships/slide" Target="slides/slide9.xml"/><Relationship Id="rId26" Type="http://schemas.openxmlformats.org/officeDocument/2006/relationships/slide" Target="slides/slide13.xml"/><Relationship Id="rId27" Type="http://schemas.openxmlformats.org/officeDocument/2006/relationships/slide" Target="slides/slide12.xml"/><Relationship Id="rId28" Type="http://schemas.openxmlformats.org/officeDocument/2006/relationships/slide" Target="slides/slide14.xml"/><Relationship Id="rId29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18246E-F43B-7844-94AD-6FEDFECFA997}" type="datetimeFigureOut">
              <a:rPr lang="en-AU" smtClean="0"/>
              <a:t>7/6/2026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CB14CE-0691-564D-9B14-1D54B32B15D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4532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CB14CE-0691-564D-9B14-1D54B32B15D1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59251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5.png"/><Relationship Id="rId15" Type="http://schemas.openxmlformats.org/officeDocument/2006/relationships/image" Target="../media/image16.jpeg"/><Relationship Id="rId16" Type="http://schemas.openxmlformats.org/officeDocument/2006/relationships/image" Target="../media/image17.png"/><Relationship Id="rId17" Type="http://schemas.openxmlformats.org/officeDocument/2006/relationships/image" Target="../media/image18.png"/><Relationship Id="rId18" Type="http://schemas.openxmlformats.org/officeDocument/2006/relationships/image" Target="../media/image19.png"/><Relationship Id="rId19" Type="http://schemas.openxmlformats.org/officeDocument/2006/relationships/image" Target="../media/image20.png"/><Relationship Id="rId20" Type="http://schemas.openxmlformats.org/officeDocument/2006/relationships/image" Target="../media/image21.png"/><Relationship Id="rId21" Type="http://schemas.openxmlformats.org/officeDocument/2006/relationships/image" Target="../media/image22.png"/><Relationship Id="rId22" Type="http://schemas.openxmlformats.org/officeDocument/2006/relationships/image" Target="../media/image23.png"/><Relationship Id="rId23" Type="http://schemas.openxmlformats.org/officeDocument/2006/relationships/image" Target="../media/image24.png"/><Relationship Id="rId24" Type="http://schemas.openxmlformats.org/officeDocument/2006/relationships/image" Target="../media/image25.jpeg"/><Relationship Id="rId25" Type="http://schemas.openxmlformats.org/officeDocument/2006/relationships/image" Target="../media/image26.png"/><Relationship Id="rId26" Type="http://schemas.openxmlformats.org/officeDocument/2006/relationships/image" Target="../media/image27.png"/><Relationship Id="rId27" Type="http://schemas.openxmlformats.org/officeDocument/2006/relationships/image" Target="../media/image2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5.png"/><Relationship Id="rId15" Type="http://schemas.openxmlformats.org/officeDocument/2006/relationships/image" Target="../media/image16.jpeg"/><Relationship Id="rId16" Type="http://schemas.openxmlformats.org/officeDocument/2006/relationships/image" Target="../media/image17.png"/><Relationship Id="rId17" Type="http://schemas.openxmlformats.org/officeDocument/2006/relationships/image" Target="../media/image18.png"/><Relationship Id="rId18" Type="http://schemas.openxmlformats.org/officeDocument/2006/relationships/image" Target="../media/image19.png"/><Relationship Id="rId19" Type="http://schemas.openxmlformats.org/officeDocument/2006/relationships/image" Target="../media/image20.png"/><Relationship Id="rId20" Type="http://schemas.openxmlformats.org/officeDocument/2006/relationships/image" Target="../media/image21.png"/><Relationship Id="rId21" Type="http://schemas.openxmlformats.org/officeDocument/2006/relationships/image" Target="../media/image22.png"/><Relationship Id="rId22" Type="http://schemas.openxmlformats.org/officeDocument/2006/relationships/image" Target="../media/image23.png"/><Relationship Id="rId23" Type="http://schemas.openxmlformats.org/officeDocument/2006/relationships/image" Target="../media/image24.png"/><Relationship Id="rId24" Type="http://schemas.openxmlformats.org/officeDocument/2006/relationships/image" Target="../media/image25.jpeg"/><Relationship Id="rId25" Type="http://schemas.openxmlformats.org/officeDocument/2006/relationships/image" Target="../media/image2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828800" y="3767328"/>
            <a:ext cx="8534095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600" b="1" i="0" spc="0">
                <a:solidFill>
                  <a:srgbClr val="FFFFFF"/>
                </a:solidFill>
                <a:latin typeface="Inter"/>
              </a:rPr>
              <a:t>Technology, </a:t>
            </a:r>
            <a:r>
              <a:rPr lang="en-AU" sz="1600" b="1" i="0" spc="0">
                <a:solidFill>
                  <a:srgbClr val="EA493F"/>
                </a:solidFill>
                <a:latin typeface="Inter"/>
              </a:rPr>
              <a:t>human first.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2215" y="2487168"/>
            <a:ext cx="5907265" cy="8961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77824" y="233172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200" b="1" i="0" cap="all" spc="192">
                <a:solidFill>
                  <a:srgbClr val="EA493F"/>
                </a:solidFill>
                <a:latin typeface="Inter"/>
              </a:rPr>
              <a:t>MIVADA · COMPANY OVERVIEW &amp; SERVICES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697480"/>
            <a:ext cx="10607040" cy="2926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5400" b="1" i="0" spc="-135">
                <a:solidFill>
                  <a:srgbClr val="FFFFFF"/>
                </a:solidFill>
                <a:latin typeface="Inter"/>
              </a:rPr>
              <a:t>Technology, </a:t>
            </a:r>
            <a:r>
              <a:rPr lang="en-AU" sz="5400" b="1" i="0" spc="-135">
                <a:solidFill>
                  <a:srgbClr val="EA493F"/>
                </a:solidFill>
                <a:latin typeface="Inter"/>
              </a:rPr>
              <a:t>human first.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77824" y="6163056"/>
            <a:ext cx="10436047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77824" y="6272784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150" b="1" i="0" spc="46" dirty="0">
                <a:solidFill>
                  <a:srgbClr val="CFCFCF"/>
                </a:solidFill>
                <a:latin typeface="Inter"/>
              </a:rPr>
              <a:t>ANZ’s largest locally owned Workday partner.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AU" sz="1150" b="1" i="0" spc="46" dirty="0">
              <a:solidFill>
                <a:srgbClr val="AEAEAE"/>
              </a:solidFill>
              <a:latin typeface="Int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90895" y="6272784"/>
            <a:ext cx="552297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150" b="1" i="0" spc="46">
                <a:solidFill>
                  <a:srgbClr val="CFCFCF"/>
                </a:solidFill>
                <a:latin typeface="Inter"/>
              </a:rPr>
              <a:t>mivada.com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749808"/>
            <a:ext cx="2531685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100" b="1" i="0" cap="all" spc="154">
                <a:solidFill>
                  <a:srgbClr val="EA493F"/>
                </a:solidFill>
                <a:latin typeface="Inter"/>
              </a:rPr>
              <a:t>WHO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32688"/>
            <a:ext cx="7040880" cy="2468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4000" b="1" i="0" spc="-87" dirty="0">
                <a:solidFill>
                  <a:srgbClr val="FFFFFF"/>
                </a:solidFill>
                <a:latin typeface="Inter"/>
              </a:rPr>
              <a:t>ANZ’s Largest locally owned Workday </a:t>
            </a:r>
            <a:r>
              <a:rPr lang="en-AU" sz="4000" b="1" i="0" spc="-87" dirty="0">
                <a:solidFill>
                  <a:srgbClr val="EA493F"/>
                </a:solidFill>
                <a:latin typeface="Inter"/>
              </a:rPr>
              <a:t>partner.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77824" y="3995928"/>
            <a:ext cx="10436047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77824" y="4160520"/>
            <a:ext cx="3314090" cy="105156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5800" b="1" i="0" spc="-203" dirty="0">
                <a:solidFill>
                  <a:srgbClr val="FFFFFF"/>
                </a:solidFill>
                <a:latin typeface="Inter"/>
              </a:rPr>
              <a:t>2014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5294376"/>
            <a:ext cx="3250082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050" b="1" i="0" cap="all" spc="126">
                <a:solidFill>
                  <a:srgbClr val="CFCFCF"/>
                </a:solidFill>
                <a:latin typeface="Inter"/>
              </a:rPr>
              <a:t>FOUNDED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356506" y="4206240"/>
            <a:ext cx="0" cy="155448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67402" y="4160520"/>
            <a:ext cx="3003194" cy="105156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5800" b="1" i="0" spc="-203" dirty="0">
                <a:solidFill>
                  <a:srgbClr val="FFFFFF"/>
                </a:solidFill>
                <a:latin typeface="Inter"/>
              </a:rPr>
              <a:t>200</a:t>
            </a:r>
            <a:r>
              <a:rPr lang="en-AU" sz="5800" b="1" i="0" spc="-203" dirty="0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7402" y="5294376"/>
            <a:ext cx="293918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050" b="1" i="0" cap="all" spc="126" dirty="0">
                <a:solidFill>
                  <a:srgbClr val="CFCFCF"/>
                </a:solidFill>
                <a:latin typeface="Inter"/>
              </a:rPr>
              <a:t>Global Scale · AU, US &amp; INDIA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835188" y="4206240"/>
            <a:ext cx="0" cy="155448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146084" y="4160520"/>
            <a:ext cx="3003194" cy="105156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5800" b="1" i="0" spc="-203" dirty="0">
                <a:solidFill>
                  <a:srgbClr val="FFFFFF"/>
                </a:solidFill>
                <a:latin typeface="Inter"/>
              </a:rPr>
              <a:t>100</a:t>
            </a:r>
            <a:r>
              <a:rPr lang="en-AU" sz="5800" b="1" i="0" spc="-203" dirty="0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084" y="5294376"/>
            <a:ext cx="293918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050" b="1" i="0" cap="all" spc="126" dirty="0">
                <a:solidFill>
                  <a:srgbClr val="CFCFCF"/>
                </a:solidFill>
                <a:latin typeface="Inter"/>
              </a:rPr>
              <a:t>Workday Team</a:t>
            </a:r>
          </a:p>
        </p:txBody>
      </p:sp>
      <p:cxnSp>
        <p:nvCxnSpPr>
          <p:cNvPr id="15" name="Connector 11">
            <a:extLst>
              <a:ext uri="{FF2B5EF4-FFF2-40B4-BE49-F238E27FC236}">
                <a16:creationId xmlns:a16="http://schemas.microsoft.com/office/drawing/2014/main" id="{548C4017-CAC6-57C9-2F4B-7ADBE7776FCB}"/>
              </a:ext>
            </a:extLst>
          </p:cNvPr>
          <p:cNvCxnSpPr>
            <a:cxnSpLocks/>
          </p:cNvCxnSpPr>
          <p:nvPr/>
        </p:nvCxnSpPr>
        <p:spPr>
          <a:xfrm rot="5400000">
            <a:off x="6727207" y="2682242"/>
            <a:ext cx="2209614" cy="6349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D914FF8-BDF7-2D65-999C-151C0CE683DC}"/>
              </a:ext>
            </a:extLst>
          </p:cNvPr>
          <p:cNvSpPr txBox="1"/>
          <p:nvPr/>
        </p:nvSpPr>
        <p:spPr>
          <a:xfrm>
            <a:off x="8146084" y="1719072"/>
            <a:ext cx="3294083" cy="2286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2000" b="1" i="0" spc="-75" dirty="0">
                <a:solidFill>
                  <a:srgbClr val="FFFFFF"/>
                </a:solidFill>
                <a:latin typeface="Inter"/>
              </a:rPr>
              <a:t>HCM, Payroll</a:t>
            </a:r>
            <a:r>
              <a:rPr lang="en-AU" sz="2000" b="1" spc="-75" dirty="0">
                <a:solidFill>
                  <a:srgbClr val="FFFFFF"/>
                </a:solidFill>
                <a:latin typeface="Inter"/>
              </a:rPr>
              <a:t> &amp; Time</a:t>
            </a:r>
            <a:br>
              <a:rPr lang="en-AU" sz="2000" b="1" spc="-75" dirty="0">
                <a:solidFill>
                  <a:srgbClr val="101010"/>
                </a:solidFill>
                <a:latin typeface="Inter"/>
              </a:rPr>
            </a:br>
            <a:r>
              <a:rPr lang="en-AU" sz="2000" b="1" spc="-75" dirty="0">
                <a:solidFill>
                  <a:srgbClr val="FFFFFF"/>
                </a:solidFill>
                <a:latin typeface="Inter"/>
              </a:rPr>
              <a:t>Finance</a:t>
            </a:r>
            <a:br>
              <a:rPr lang="en-AU" sz="2000" b="1" spc="-75" dirty="0">
                <a:solidFill>
                  <a:srgbClr val="101010"/>
                </a:solidFill>
                <a:latin typeface="Inter"/>
              </a:rPr>
            </a:br>
            <a:r>
              <a:rPr lang="en-AU" sz="2000" b="1" spc="-75" dirty="0">
                <a:solidFill>
                  <a:srgbClr val="FFFFFF"/>
                </a:solidFill>
                <a:latin typeface="Inter"/>
              </a:rPr>
              <a:t>Adaptive Planning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2000" b="1" spc="-75" dirty="0">
                <a:solidFill>
                  <a:srgbClr val="FFFFFF"/>
                </a:solidFill>
                <a:latin typeface="Inter"/>
              </a:rPr>
              <a:t>A.I. &amp; Sana</a:t>
            </a:r>
            <a:endParaRPr lang="en-AU" sz="2000" b="1" i="0" spc="-75" dirty="0">
              <a:solidFill>
                <a:srgbClr val="101010"/>
              </a:solidFill>
              <a:latin typeface="Inter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CAE8F8E-8618-0D2E-16E7-910AD5EBDC61}"/>
              </a:ext>
            </a:extLst>
          </p:cNvPr>
          <p:cNvSpPr txBox="1"/>
          <p:nvPr/>
        </p:nvSpPr>
        <p:spPr>
          <a:xfrm>
            <a:off x="877824" y="3209544"/>
            <a:ext cx="5509841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600" b="1" i="0" spc="0" dirty="0">
                <a:solidFill>
                  <a:srgbClr val="CFCFCF"/>
                </a:solidFill>
                <a:latin typeface="Inter"/>
              </a:rPr>
              <a:t>Grew out of the customer | Local Accountability | Global Scale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100" b="1" i="0" cap="all" spc="154">
                <a:solidFill>
                  <a:srgbClr val="EA493F"/>
                </a:solidFill>
                <a:latin typeface="Inter"/>
              </a:rPr>
              <a:t>CAPABILITY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7120" y="926374"/>
            <a:ext cx="10436047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3300" b="1" i="0" spc="-72">
                <a:solidFill>
                  <a:srgbClr val="FFFFFF"/>
                </a:solidFill>
                <a:latin typeface="Inter"/>
              </a:rPr>
              <a:t>Proven in </a:t>
            </a:r>
            <a:r>
              <a:rPr lang="en-AU" sz="3300" b="1" i="0" spc="-72">
                <a:solidFill>
                  <a:srgbClr val="EA493F"/>
                </a:solidFill>
                <a:latin typeface="Inter"/>
              </a:rPr>
              <a:t>Workday.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77824" y="3127248"/>
            <a:ext cx="10436047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77824" y="3291840"/>
            <a:ext cx="2444419" cy="105156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5800" b="1" i="0" spc="-203">
                <a:solidFill>
                  <a:srgbClr val="FFFFFF"/>
                </a:solidFill>
                <a:latin typeface="Inter"/>
              </a:rPr>
              <a:t>3</a:t>
            </a:r>
            <a:r>
              <a:rPr lang="en-AU" sz="5800" b="1" i="0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4425696"/>
            <a:ext cx="2380411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050" b="1" i="0" cap="all" spc="126">
                <a:solidFill>
                  <a:srgbClr val="CFCFCF"/>
                </a:solidFill>
                <a:latin typeface="Inter"/>
              </a:rPr>
              <a:t>CERTIFICATIONS / CONSULTANT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486835" y="3337560"/>
            <a:ext cx="0" cy="155448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797731" y="3291840"/>
            <a:ext cx="2133523" cy="105156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5800" b="1" i="0" spc="-203">
                <a:solidFill>
                  <a:srgbClr val="FFFFFF"/>
                </a:solidFill>
                <a:latin typeface="Inter"/>
              </a:rPr>
              <a:t>2000</a:t>
            </a:r>
            <a:r>
              <a:rPr lang="en-AU" sz="5800" b="1" i="0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7731" y="4425696"/>
            <a:ext cx="2069515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050" b="1" i="0" cap="all" spc="126">
                <a:solidFill>
                  <a:srgbClr val="CFCFCF"/>
                </a:solidFill>
                <a:latin typeface="Inter"/>
              </a:rPr>
              <a:t>WORKDAY INTEGRATIONS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5847" y="3337560"/>
            <a:ext cx="0" cy="155448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6743" y="3291840"/>
            <a:ext cx="2133523" cy="105156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5800" b="1" i="0" spc="-203">
                <a:solidFill>
                  <a:srgbClr val="FFFFFF"/>
                </a:solidFill>
                <a:latin typeface="Inter"/>
              </a:rPr>
              <a:t>3000</a:t>
            </a:r>
            <a:r>
              <a:rPr lang="en-AU" sz="5800" b="1" i="0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6743" y="4425696"/>
            <a:ext cx="2069515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050" b="1" i="0" cap="all" spc="126">
                <a:solidFill>
                  <a:srgbClr val="CFCFCF"/>
                </a:solidFill>
                <a:latin typeface="Inter"/>
              </a:rPr>
              <a:t>CUSTOM REPORTS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704859" y="3337560"/>
            <a:ext cx="0" cy="155448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015755" y="3291840"/>
            <a:ext cx="2133523" cy="105156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5800" b="1" i="0" spc="-203">
                <a:solidFill>
                  <a:srgbClr val="FFFFFF"/>
                </a:solidFill>
                <a:latin typeface="Inter"/>
              </a:rPr>
              <a:t>30</a:t>
            </a:r>
            <a:r>
              <a:rPr lang="en-AU" sz="5800" b="1" i="0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15755" y="4425696"/>
            <a:ext cx="2069515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050" b="1" i="0" cap="all" spc="126" dirty="0">
                <a:solidFill>
                  <a:srgbClr val="CFCFCF"/>
                </a:solidFill>
                <a:latin typeface="Inter"/>
              </a:rPr>
              <a:t>IMPLEMENTATIONS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77824" y="4956048"/>
            <a:ext cx="10436047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356506" y="5166359"/>
            <a:ext cx="0" cy="1554481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667402" y="5120640"/>
            <a:ext cx="3003194" cy="105156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5800" b="1" i="0" spc="-203">
                <a:solidFill>
                  <a:srgbClr val="FFFFFF"/>
                </a:solidFill>
                <a:latin typeface="Inter"/>
              </a:rPr>
              <a:t>100</a:t>
            </a:r>
            <a:r>
              <a:rPr lang="en-AU" sz="5800" b="1" i="0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7402" y="6254496"/>
            <a:ext cx="293918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050" b="1" i="0" cap="all" spc="126" dirty="0">
                <a:solidFill>
                  <a:srgbClr val="CFCFCF"/>
                </a:solidFill>
                <a:latin typeface="Inter"/>
              </a:rPr>
              <a:t>Workday Team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835188" y="5166359"/>
            <a:ext cx="0" cy="1554481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146084" y="5120640"/>
            <a:ext cx="3003194" cy="105156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5800" b="1" i="0" spc="-203">
                <a:solidFill>
                  <a:srgbClr val="FFFFFF"/>
                </a:solidFill>
                <a:latin typeface="Inter"/>
              </a:rPr>
              <a:t>10</a:t>
            </a:r>
            <a:r>
              <a:rPr lang="en-AU" sz="5800" b="1" i="0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46084" y="6254496"/>
            <a:ext cx="293918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050" b="1" i="0" cap="all" spc="126">
                <a:solidFill>
                  <a:srgbClr val="CFCFCF"/>
                </a:solidFill>
                <a:latin typeface="Inter"/>
              </a:rPr>
              <a:t>YEARS DELIVERING WORKDAY</a:t>
            </a: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FB70A9E2-1083-947A-1124-925835F03F87}"/>
              </a:ext>
            </a:extLst>
          </p:cNvPr>
          <p:cNvGrpSpPr/>
          <p:nvPr/>
        </p:nvGrpSpPr>
        <p:grpSpPr>
          <a:xfrm>
            <a:off x="-3134921" y="-3835462"/>
            <a:ext cx="8316521" cy="2937890"/>
            <a:chOff x="1078840" y="2748403"/>
            <a:chExt cx="10029039" cy="3542851"/>
          </a:xfrm>
        </p:grpSpPr>
        <p:pic>
          <p:nvPicPr>
            <p:cNvPr id="74" name="Google Shape;676;p21" descr="Picture 4">
              <a:extLst>
                <a:ext uri="{FF2B5EF4-FFF2-40B4-BE49-F238E27FC236}">
                  <a16:creationId xmlns:a16="http://schemas.microsoft.com/office/drawing/2014/main" id="{8C85D48B-68D8-84CF-0E2B-05DE1CC885D2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840235" y="3772587"/>
              <a:ext cx="1656563" cy="3396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" name="Google Shape;678;p21" descr="Content Placeholder 10">
              <a:extLst>
                <a:ext uri="{FF2B5EF4-FFF2-40B4-BE49-F238E27FC236}">
                  <a16:creationId xmlns:a16="http://schemas.microsoft.com/office/drawing/2014/main" id="{04DB82FF-387E-1943-81FA-D57CEB3AC6DC}"/>
                </a:ext>
              </a:extLst>
            </p:cNvPr>
            <p:cNvPicPr preferRelativeResize="0"/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34343" b="28785"/>
            <a:stretch/>
          </p:blipFill>
          <p:spPr>
            <a:xfrm>
              <a:off x="8349011" y="2828009"/>
              <a:ext cx="1019300" cy="4842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" name="Google Shape;679;p21" descr="Picture 2">
              <a:extLst>
                <a:ext uri="{FF2B5EF4-FFF2-40B4-BE49-F238E27FC236}">
                  <a16:creationId xmlns:a16="http://schemas.microsoft.com/office/drawing/2014/main" id="{05E3B940-ADBF-D614-5224-ABC41C9200E4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993742" y="4622751"/>
              <a:ext cx="466033" cy="4842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" name="Google Shape;680;p21" descr="Picture 4">
              <a:extLst>
                <a:ext uri="{FF2B5EF4-FFF2-40B4-BE49-F238E27FC236}">
                  <a16:creationId xmlns:a16="http://schemas.microsoft.com/office/drawing/2014/main" id="{3E68D501-0736-49B6-E8A1-6D3E15F58B6A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694861" y="2810354"/>
              <a:ext cx="542425" cy="5195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" name="Google Shape;682;p21" descr="Picture 8">
              <a:extLst>
                <a:ext uri="{FF2B5EF4-FFF2-40B4-BE49-F238E27FC236}">
                  <a16:creationId xmlns:a16="http://schemas.microsoft.com/office/drawing/2014/main" id="{826844F8-2DB4-7B77-60C2-A77601A4F4E2}"/>
                </a:ext>
              </a:extLst>
            </p:cNvPr>
            <p:cNvPicPr preferRelativeResize="0"/>
            <p:nvPr/>
          </p:nvPicPr>
          <p:blipFill rotWithShape="1"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alphaModFix/>
            </a:blip>
            <a:srcRect t="11277" b="13062"/>
            <a:stretch>
              <a:fillRect/>
            </a:stretch>
          </p:blipFill>
          <p:spPr>
            <a:xfrm>
              <a:off x="8188196" y="3738090"/>
              <a:ext cx="1096541" cy="408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" name="Google Shape;684;p21" descr="Picture 2">
              <a:extLst>
                <a:ext uri="{FF2B5EF4-FFF2-40B4-BE49-F238E27FC236}">
                  <a16:creationId xmlns:a16="http://schemas.microsoft.com/office/drawing/2014/main" id="{656575EA-1C0A-0650-DA84-48087CF2FC13}"/>
                </a:ext>
              </a:extLst>
            </p:cNvPr>
            <p:cNvPicPr preferRelativeResize="0"/>
            <p:nvPr/>
          </p:nvPicPr>
          <p:blipFill rotWithShape="1"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alphaModFix/>
            </a:blip>
            <a:srcRect/>
            <a:stretch/>
          </p:blipFill>
          <p:spPr>
            <a:xfrm>
              <a:off x="6296592" y="4614958"/>
              <a:ext cx="987861" cy="4998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686;p21" descr="Picture 4">
              <a:extLst>
                <a:ext uri="{FF2B5EF4-FFF2-40B4-BE49-F238E27FC236}">
                  <a16:creationId xmlns:a16="http://schemas.microsoft.com/office/drawing/2014/main" id="{3F74D8AB-08B9-3EB4-F829-115C79FADF57}"/>
                </a:ext>
              </a:extLst>
            </p:cNvPr>
            <p:cNvPicPr preferRelativeResize="0"/>
            <p:nvPr/>
          </p:nvPicPr>
          <p:blipFill rotWithShape="1">
            <a:blip r:embed="rId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alphaModFix/>
            </a:blip>
            <a:srcRect/>
            <a:stretch/>
          </p:blipFill>
          <p:spPr>
            <a:xfrm>
              <a:off x="9999789" y="3844957"/>
              <a:ext cx="824043" cy="1949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Picture 4" descr="Rio Tinto logo">
              <a:extLst>
                <a:ext uri="{FF2B5EF4-FFF2-40B4-BE49-F238E27FC236}">
                  <a16:creationId xmlns:a16="http://schemas.microsoft.com/office/drawing/2014/main" id="{E6EF3C45-9C66-A373-D1F1-0E90360BCB0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10" t="19566" r="4242" b="27059"/>
            <a:stretch>
              <a:fillRect/>
            </a:stretch>
          </p:blipFill>
          <p:spPr bwMode="auto">
            <a:xfrm>
              <a:off x="1078840" y="4650824"/>
              <a:ext cx="1046343" cy="4281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2" name="Picture 6" descr="Member login">
              <a:extLst>
                <a:ext uri="{FF2B5EF4-FFF2-40B4-BE49-F238E27FC236}">
                  <a16:creationId xmlns:a16="http://schemas.microsoft.com/office/drawing/2014/main" id="{B28E4085-65AC-2CAF-384F-A2D848D2C2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98067" y="2888555"/>
              <a:ext cx="990163" cy="3631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3" name="Picture 8" descr="Articles tagged with 'catering' | Dnata">
              <a:extLst>
                <a:ext uri="{FF2B5EF4-FFF2-40B4-BE49-F238E27FC236}">
                  <a16:creationId xmlns:a16="http://schemas.microsoft.com/office/drawing/2014/main" id="{6ED96ECC-71E4-DE0A-58A4-C800462C85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8334" y="4602644"/>
              <a:ext cx="1099699" cy="5244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4" name="Picture 2" descr="National Australia Bank brand resources: accessing high ...">
              <a:extLst>
                <a:ext uri="{FF2B5EF4-FFF2-40B4-BE49-F238E27FC236}">
                  <a16:creationId xmlns:a16="http://schemas.microsoft.com/office/drawing/2014/main" id="{2F00174B-E940-69C5-76CD-9CB091F660A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31261" y="3558011"/>
              <a:ext cx="941883" cy="7688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5" name="Picture 2" descr="Seven West Media | Logopedia | Fandom">
              <a:extLst>
                <a:ext uri="{FF2B5EF4-FFF2-40B4-BE49-F238E27FC236}">
                  <a16:creationId xmlns:a16="http://schemas.microsoft.com/office/drawing/2014/main" id="{6F049F6B-EC08-90E4-6D8C-B395BDA532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89977" y="4648752"/>
              <a:ext cx="1117906" cy="4322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6" name="Picture 6" descr="Canva's Logo gets a New Re-definition">
              <a:extLst>
                <a:ext uri="{FF2B5EF4-FFF2-40B4-BE49-F238E27FC236}">
                  <a16:creationId xmlns:a16="http://schemas.microsoft.com/office/drawing/2014/main" id="{567CB764-ACE0-15F4-AF3F-CC10287AD2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676" t="21623" r="14676" b="22364"/>
            <a:stretch>
              <a:fillRect/>
            </a:stretch>
          </p:blipFill>
          <p:spPr bwMode="auto">
            <a:xfrm>
              <a:off x="9929092" y="2865466"/>
              <a:ext cx="919236" cy="4093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7" name="Picture 12" descr="Anglicare Aged Care &amp; Community Services | Sydney &amp; Surrounds | Anglicare">
              <a:extLst>
                <a:ext uri="{FF2B5EF4-FFF2-40B4-BE49-F238E27FC236}">
                  <a16:creationId xmlns:a16="http://schemas.microsoft.com/office/drawing/2014/main" id="{7261AAD4-E7A6-AEE0-3F62-4B7CCE2EF5E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0133" y="2748406"/>
              <a:ext cx="559535" cy="6434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8" name="Picture 87" descr="A logo with blue and green lines&#10;&#10;AI-generated content may be incorrect.">
              <a:extLst>
                <a:ext uri="{FF2B5EF4-FFF2-40B4-BE49-F238E27FC236}">
                  <a16:creationId xmlns:a16="http://schemas.microsoft.com/office/drawing/2014/main" id="{F1C67F03-A65C-F00D-36A2-401AD626C6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7747" t="13319" r="4612" b="12915"/>
            <a:stretch>
              <a:fillRect/>
            </a:stretch>
          </p:blipFill>
          <p:spPr>
            <a:xfrm>
              <a:off x="4060449" y="2816374"/>
              <a:ext cx="1073631" cy="507529"/>
            </a:xfrm>
            <a:prstGeom prst="rect">
              <a:avLst/>
            </a:prstGeom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F00370A5-7EE6-EAFD-31AE-19D85C0175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5211850" y="3799605"/>
              <a:ext cx="604359" cy="285642"/>
            </a:xfrm>
            <a:prstGeom prst="rect">
              <a:avLst/>
            </a:prstGeom>
          </p:spPr>
        </p:pic>
        <p:pic>
          <p:nvPicPr>
            <p:cNvPr id="90" name="Picture 4" descr="Kennards Self Storage">
              <a:extLst>
                <a:ext uri="{FF2B5EF4-FFF2-40B4-BE49-F238E27FC236}">
                  <a16:creationId xmlns:a16="http://schemas.microsoft.com/office/drawing/2014/main" id="{FEDE0620-87AA-F7C1-8E74-8807828564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53012" y="4717359"/>
              <a:ext cx="968406" cy="2950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1" name="Picture 2" descr="Resmed | The World Leader in Sleep Health">
              <a:extLst>
                <a:ext uri="{FF2B5EF4-FFF2-40B4-BE49-F238E27FC236}">
                  <a16:creationId xmlns:a16="http://schemas.microsoft.com/office/drawing/2014/main" id="{7C33DA76-B27D-F9D1-4C6C-5F5D6F1B26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77338" y="3730222"/>
              <a:ext cx="947845" cy="4244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2" name="Picture 2" descr="Careers - ProPharma">
              <a:extLst>
                <a:ext uri="{FF2B5EF4-FFF2-40B4-BE49-F238E27FC236}">
                  <a16:creationId xmlns:a16="http://schemas.microsoft.com/office/drawing/2014/main" id="{8571BE7A-32F5-B2BB-C305-A2C95E1D18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1174" y="2963491"/>
              <a:ext cx="1268178" cy="2132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3" name="Picture 6" descr="Housing – Disability Advocacy Pathways">
              <a:extLst>
                <a:ext uri="{FF2B5EF4-FFF2-40B4-BE49-F238E27FC236}">
                  <a16:creationId xmlns:a16="http://schemas.microsoft.com/office/drawing/2014/main" id="{776BD979-78D9-7821-40B4-10A2CA4B19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96425" y="5156081"/>
              <a:ext cx="2068551" cy="11351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4" name="Picture 14" descr="logo-melbourne-uni - Silverstone Edge">
              <a:extLst>
                <a:ext uri="{FF2B5EF4-FFF2-40B4-BE49-F238E27FC236}">
                  <a16:creationId xmlns:a16="http://schemas.microsoft.com/office/drawing/2014/main" id="{786AD385-D56B-F3F9-7293-DE51B2DB304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884" b="19420"/>
            <a:stretch>
              <a:fillRect/>
            </a:stretch>
          </p:blipFill>
          <p:spPr bwMode="auto">
            <a:xfrm>
              <a:off x="5496414" y="5496855"/>
              <a:ext cx="1367819" cy="4536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5" name="Picture 18" descr="AS White Global | LinkedIn">
              <a:extLst>
                <a:ext uri="{FF2B5EF4-FFF2-40B4-BE49-F238E27FC236}">
                  <a16:creationId xmlns:a16="http://schemas.microsoft.com/office/drawing/2014/main" id="{3D6C68E9-CAE8-5D65-9899-B2013AEBE9D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877" t="32565" r="10398" b="37166"/>
            <a:stretch>
              <a:fillRect/>
            </a:stretch>
          </p:blipFill>
          <p:spPr bwMode="auto">
            <a:xfrm>
              <a:off x="7595671" y="5539420"/>
              <a:ext cx="1019301" cy="3685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96" name="Picture 4" descr="CloudRock">
            <a:extLst>
              <a:ext uri="{FF2B5EF4-FFF2-40B4-BE49-F238E27FC236}">
                <a16:creationId xmlns:a16="http://schemas.microsoft.com/office/drawing/2014/main" id="{797BFF79-7C72-5D53-58C7-EB2D6146D4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236" y="5486401"/>
            <a:ext cx="905383" cy="905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7" name="Picture 6" descr="Workday Extend Application Development ...">
            <a:extLst>
              <a:ext uri="{FF2B5EF4-FFF2-40B4-BE49-F238E27FC236}">
                <a16:creationId xmlns:a16="http://schemas.microsoft.com/office/drawing/2014/main" id="{C2D2EC2D-C367-7A7B-D3C6-7BF335DB9B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2854" y="5486401"/>
            <a:ext cx="909424" cy="905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8" name="Picture 97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100" b="1" i="0" cap="all" spc="154">
                <a:solidFill>
                  <a:srgbClr val="EA493F"/>
                </a:solidFill>
                <a:latin typeface="Inter"/>
              </a:rPr>
              <a:t>TRUSTED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14400"/>
            <a:ext cx="10436047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3300" b="1" i="0" spc="-72">
                <a:solidFill>
                  <a:srgbClr val="FFFFFF"/>
                </a:solidFill>
                <a:latin typeface="Inter"/>
              </a:rPr>
              <a:t>In good </a:t>
            </a:r>
            <a:r>
              <a:rPr lang="en-AU" sz="3300" b="1" i="0" spc="-72">
                <a:solidFill>
                  <a:srgbClr val="EA493F"/>
                </a:solidFill>
                <a:latin typeface="Inter"/>
              </a:rPr>
              <a:t>company.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874519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300" b="0" i="0" spc="0" dirty="0">
                <a:solidFill>
                  <a:srgbClr val="CFCFCF"/>
                </a:solidFill>
                <a:latin typeface="Inter"/>
              </a:rPr>
              <a:t>A decade of work with some of Australia's most demanding operations.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CB9FC064-FD9A-7FC4-E8D9-438DFD722AC9}"/>
              </a:ext>
            </a:extLst>
          </p:cNvPr>
          <p:cNvGrpSpPr/>
          <p:nvPr/>
        </p:nvGrpSpPr>
        <p:grpSpPr>
          <a:xfrm>
            <a:off x="1081479" y="2748406"/>
            <a:ext cx="10029043" cy="3542855"/>
            <a:chOff x="1078840" y="2748406"/>
            <a:chExt cx="10029043" cy="3542855"/>
          </a:xfrm>
        </p:grpSpPr>
        <p:pic>
          <p:nvPicPr>
            <p:cNvPr id="55" name="Google Shape;676;p21" descr="Picture 4">
              <a:extLst>
                <a:ext uri="{FF2B5EF4-FFF2-40B4-BE49-F238E27FC236}">
                  <a16:creationId xmlns:a16="http://schemas.microsoft.com/office/drawing/2014/main" id="{16304621-3EFA-2824-B6EB-A5D6AB5EF8F9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840235" y="3772587"/>
              <a:ext cx="1656563" cy="3396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" name="Google Shape;678;p21" descr="Content Placeholder 10">
              <a:extLst>
                <a:ext uri="{FF2B5EF4-FFF2-40B4-BE49-F238E27FC236}">
                  <a16:creationId xmlns:a16="http://schemas.microsoft.com/office/drawing/2014/main" id="{8072590E-6A01-5B5B-011A-3FDAEA45F960}"/>
                </a:ext>
              </a:extLst>
            </p:cNvPr>
            <p:cNvPicPr preferRelativeResize="0"/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34343" b="28785"/>
            <a:stretch/>
          </p:blipFill>
          <p:spPr>
            <a:xfrm>
              <a:off x="8349011" y="2828009"/>
              <a:ext cx="1019300" cy="4842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" name="Google Shape;679;p21" descr="Picture 2">
              <a:extLst>
                <a:ext uri="{FF2B5EF4-FFF2-40B4-BE49-F238E27FC236}">
                  <a16:creationId xmlns:a16="http://schemas.microsoft.com/office/drawing/2014/main" id="{1492C804-5466-56E0-C49E-E9CC2CAF81AA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993742" y="4622751"/>
              <a:ext cx="466033" cy="4842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" name="Google Shape;680;p21" descr="Picture 4">
              <a:extLst>
                <a:ext uri="{FF2B5EF4-FFF2-40B4-BE49-F238E27FC236}">
                  <a16:creationId xmlns:a16="http://schemas.microsoft.com/office/drawing/2014/main" id="{C6F847C2-7547-5BC0-88DC-F3EE4A9C1F51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694861" y="2810354"/>
              <a:ext cx="542425" cy="5195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" name="Google Shape;682;p21" descr="Picture 8">
              <a:extLst>
                <a:ext uri="{FF2B5EF4-FFF2-40B4-BE49-F238E27FC236}">
                  <a16:creationId xmlns:a16="http://schemas.microsoft.com/office/drawing/2014/main" id="{AE3B3BFE-B713-7665-2470-A1520CBCDDE5}"/>
                </a:ext>
              </a:extLst>
            </p:cNvPr>
            <p:cNvPicPr preferRelativeResize="0"/>
            <p:nvPr/>
          </p:nvPicPr>
          <p:blipFill rotWithShape="1"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alphaModFix/>
            </a:blip>
            <a:srcRect t="11277" b="13062"/>
            <a:stretch>
              <a:fillRect/>
            </a:stretch>
          </p:blipFill>
          <p:spPr>
            <a:xfrm>
              <a:off x="8188196" y="3738090"/>
              <a:ext cx="1096541" cy="408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" name="Google Shape;684;p21" descr="Picture 2">
              <a:extLst>
                <a:ext uri="{FF2B5EF4-FFF2-40B4-BE49-F238E27FC236}">
                  <a16:creationId xmlns:a16="http://schemas.microsoft.com/office/drawing/2014/main" id="{593C88A1-9578-A6E7-53D4-FA511B4B75F2}"/>
                </a:ext>
              </a:extLst>
            </p:cNvPr>
            <p:cNvPicPr preferRelativeResize="0"/>
            <p:nvPr/>
          </p:nvPicPr>
          <p:blipFill rotWithShape="1"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alphaModFix/>
            </a:blip>
            <a:srcRect/>
            <a:stretch/>
          </p:blipFill>
          <p:spPr>
            <a:xfrm>
              <a:off x="6296592" y="4614958"/>
              <a:ext cx="987861" cy="4998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" name="Google Shape;686;p21" descr="Picture 4">
              <a:extLst>
                <a:ext uri="{FF2B5EF4-FFF2-40B4-BE49-F238E27FC236}">
                  <a16:creationId xmlns:a16="http://schemas.microsoft.com/office/drawing/2014/main" id="{F09E3182-D60A-A868-2D32-E9C262806953}"/>
                </a:ext>
              </a:extLst>
            </p:cNvPr>
            <p:cNvPicPr preferRelativeResize="0"/>
            <p:nvPr/>
          </p:nvPicPr>
          <p:blipFill rotWithShape="1">
            <a:blip r:embed="rId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alphaModFix/>
            </a:blip>
            <a:srcRect/>
            <a:stretch/>
          </p:blipFill>
          <p:spPr>
            <a:xfrm>
              <a:off x="9999789" y="3844957"/>
              <a:ext cx="824043" cy="1949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" name="Picture 4" descr="Rio Tinto logo">
              <a:extLst>
                <a:ext uri="{FF2B5EF4-FFF2-40B4-BE49-F238E27FC236}">
                  <a16:creationId xmlns:a16="http://schemas.microsoft.com/office/drawing/2014/main" id="{FC853AAC-0892-7D17-2AEA-D2EA13336D4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10" t="19566" r="4242" b="27059"/>
            <a:stretch>
              <a:fillRect/>
            </a:stretch>
          </p:blipFill>
          <p:spPr bwMode="auto">
            <a:xfrm>
              <a:off x="1078840" y="4650824"/>
              <a:ext cx="1046343" cy="4281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4" name="Picture 6" descr="Member login">
              <a:extLst>
                <a:ext uri="{FF2B5EF4-FFF2-40B4-BE49-F238E27FC236}">
                  <a16:creationId xmlns:a16="http://schemas.microsoft.com/office/drawing/2014/main" id="{47E3C958-9502-6CE6-25A9-A6D847F97C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98067" y="2888555"/>
              <a:ext cx="990163" cy="3631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5" name="Picture 8" descr="Articles tagged with 'catering' | Dnata">
              <a:extLst>
                <a:ext uri="{FF2B5EF4-FFF2-40B4-BE49-F238E27FC236}">
                  <a16:creationId xmlns:a16="http://schemas.microsoft.com/office/drawing/2014/main" id="{72732A54-B12E-DF81-9ECB-437D62B7D4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8334" y="4602644"/>
              <a:ext cx="1099699" cy="5244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6" name="Picture 2" descr="National Australia Bank brand resources: accessing high ...">
              <a:extLst>
                <a:ext uri="{FF2B5EF4-FFF2-40B4-BE49-F238E27FC236}">
                  <a16:creationId xmlns:a16="http://schemas.microsoft.com/office/drawing/2014/main" id="{1E7B0814-BFE5-E552-2A3B-96AE24E5793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31261" y="3558011"/>
              <a:ext cx="941883" cy="7688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7" name="Picture 2" descr="Seven West Media | Logopedia | Fandom">
              <a:extLst>
                <a:ext uri="{FF2B5EF4-FFF2-40B4-BE49-F238E27FC236}">
                  <a16:creationId xmlns:a16="http://schemas.microsoft.com/office/drawing/2014/main" id="{D70F523C-FAC2-7872-6E70-06608686FE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89977" y="4648752"/>
              <a:ext cx="1117906" cy="4322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8" name="Picture 6" descr="Canva's Logo gets a New Re-definition">
              <a:extLst>
                <a:ext uri="{FF2B5EF4-FFF2-40B4-BE49-F238E27FC236}">
                  <a16:creationId xmlns:a16="http://schemas.microsoft.com/office/drawing/2014/main" id="{27BA2950-A64F-76FF-5FCE-0F4B6C9E776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676" t="21623" r="14676" b="22364"/>
            <a:stretch>
              <a:fillRect/>
            </a:stretch>
          </p:blipFill>
          <p:spPr bwMode="auto">
            <a:xfrm>
              <a:off x="9929092" y="2865466"/>
              <a:ext cx="919236" cy="4093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9" name="Picture 12" descr="Anglicare Aged Care &amp; Community Services | Sydney &amp; Surrounds | Anglicare">
              <a:extLst>
                <a:ext uri="{FF2B5EF4-FFF2-40B4-BE49-F238E27FC236}">
                  <a16:creationId xmlns:a16="http://schemas.microsoft.com/office/drawing/2014/main" id="{8D6F0194-702A-FD2D-6737-E4B2EFA453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0133" y="2748406"/>
              <a:ext cx="559535" cy="6434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0" name="Picture 69" descr="A logo with blue and green lines&#10;&#10;AI-generated content may be incorrect.">
              <a:extLst>
                <a:ext uri="{FF2B5EF4-FFF2-40B4-BE49-F238E27FC236}">
                  <a16:creationId xmlns:a16="http://schemas.microsoft.com/office/drawing/2014/main" id="{7C05EB16-ECC7-8A21-631B-B6D9E9F2970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7747" t="13319" r="4612" b="12915"/>
            <a:stretch>
              <a:fillRect/>
            </a:stretch>
          </p:blipFill>
          <p:spPr>
            <a:xfrm>
              <a:off x="4060449" y="2816374"/>
              <a:ext cx="1073631" cy="507529"/>
            </a:xfrm>
            <a:prstGeom prst="rect">
              <a:avLst/>
            </a:prstGeom>
          </p:spPr>
        </p:pic>
        <p:pic>
          <p:nvPicPr>
            <p:cNvPr id="71" name="Picture 70">
              <a:extLst>
                <a:ext uri="{FF2B5EF4-FFF2-40B4-BE49-F238E27FC236}">
                  <a16:creationId xmlns:a16="http://schemas.microsoft.com/office/drawing/2014/main" id="{6517AD38-486B-172B-2946-5D83F6AFE3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5211850" y="3799605"/>
              <a:ext cx="604359" cy="285642"/>
            </a:xfrm>
            <a:prstGeom prst="rect">
              <a:avLst/>
            </a:prstGeom>
          </p:spPr>
        </p:pic>
        <p:pic>
          <p:nvPicPr>
            <p:cNvPr id="72" name="Picture 4" descr="Kennards Self Storage">
              <a:extLst>
                <a:ext uri="{FF2B5EF4-FFF2-40B4-BE49-F238E27FC236}">
                  <a16:creationId xmlns:a16="http://schemas.microsoft.com/office/drawing/2014/main" id="{43C80418-3D3D-D050-D1DD-FCC63419F6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53012" y="4717359"/>
              <a:ext cx="968406" cy="2950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3" name="Picture 2" descr="Resmed | The World Leader in Sleep Health">
              <a:extLst>
                <a:ext uri="{FF2B5EF4-FFF2-40B4-BE49-F238E27FC236}">
                  <a16:creationId xmlns:a16="http://schemas.microsoft.com/office/drawing/2014/main" id="{A15815DD-CFB7-34F5-9664-AFD35F6529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77338" y="3730222"/>
              <a:ext cx="947845" cy="4244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4" name="Picture 2" descr="Careers - ProPharma">
              <a:extLst>
                <a:ext uri="{FF2B5EF4-FFF2-40B4-BE49-F238E27FC236}">
                  <a16:creationId xmlns:a16="http://schemas.microsoft.com/office/drawing/2014/main" id="{5FF5F5F9-232E-43C4-F1E2-97B1F09E3E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1174" y="2963491"/>
              <a:ext cx="1268178" cy="2132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Housing – Disability Advocacy Pathways">
              <a:extLst>
                <a:ext uri="{FF2B5EF4-FFF2-40B4-BE49-F238E27FC236}">
                  <a16:creationId xmlns:a16="http://schemas.microsoft.com/office/drawing/2014/main" id="{6B29799C-B442-8111-B9D3-A107A505B97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96425" y="5156081"/>
              <a:ext cx="2068551" cy="11351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8" name="Picture 14" descr="logo-melbourne-uni - Silverstone Edge">
              <a:extLst>
                <a:ext uri="{FF2B5EF4-FFF2-40B4-BE49-F238E27FC236}">
                  <a16:creationId xmlns:a16="http://schemas.microsoft.com/office/drawing/2014/main" id="{E2517584-38BC-4C3E-81A2-D7D6782B342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884" b="19420"/>
            <a:stretch>
              <a:fillRect/>
            </a:stretch>
          </p:blipFill>
          <p:spPr bwMode="auto">
            <a:xfrm>
              <a:off x="5496414" y="5496855"/>
              <a:ext cx="1367819" cy="4536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2" name="Picture 18" descr="AS White Global | LinkedIn">
              <a:extLst>
                <a:ext uri="{FF2B5EF4-FFF2-40B4-BE49-F238E27FC236}">
                  <a16:creationId xmlns:a16="http://schemas.microsoft.com/office/drawing/2014/main" id="{758697FA-6FDF-96E9-492A-6C1A5A99E0C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877" t="32565" r="10398" b="37166"/>
            <a:stretch>
              <a:fillRect/>
            </a:stretch>
          </p:blipFill>
          <p:spPr bwMode="auto">
            <a:xfrm>
              <a:off x="7595671" y="5539420"/>
              <a:ext cx="1019301" cy="3685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43" name="Picture 1042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100" b="1" i="0" cap="all" spc="154">
                <a:solidFill>
                  <a:srgbClr val="EA493F"/>
                </a:solidFill>
                <a:latin typeface="Inter"/>
              </a:rPr>
              <a:t>WHAT WE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6868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3400" b="1" i="0" spc="-74" dirty="0">
                <a:solidFill>
                  <a:srgbClr val="FFFFFF"/>
                </a:solidFill>
                <a:latin typeface="Inter"/>
              </a:rPr>
              <a:t>Across your </a:t>
            </a:r>
            <a:r>
              <a:rPr lang="en-AU" sz="3400" b="1" spc="-74" dirty="0">
                <a:solidFill>
                  <a:srgbClr val="EA493F"/>
                </a:solidFill>
                <a:latin typeface="Inter"/>
              </a:rPr>
              <a:t>ERP</a:t>
            </a:r>
            <a:r>
              <a:rPr lang="en-AU" sz="3400" b="1" i="0" spc="-74" dirty="0">
                <a:solidFill>
                  <a:srgbClr val="EA493F"/>
                </a:solidFill>
                <a:latin typeface="Inter"/>
              </a:rPr>
              <a:t> platform.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77824" y="2395728"/>
            <a:ext cx="10436047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77824" y="2523744"/>
            <a:ext cx="100584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3200" b="1" i="0" spc="-96">
                <a:solidFill>
                  <a:srgbClr val="EA493F"/>
                </a:solidFill>
                <a:latin typeface="Inter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20824" y="2487168"/>
            <a:ext cx="7040880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2100" b="1" spc="-42" dirty="0">
                <a:solidFill>
                  <a:srgbClr val="FFFFFF"/>
                </a:solidFill>
                <a:latin typeface="Inter"/>
              </a:rPr>
              <a:t>ERP </a:t>
            </a:r>
            <a:r>
              <a:rPr lang="en-AU" sz="2100" b="1" i="0" spc="-42" dirty="0">
                <a:solidFill>
                  <a:srgbClr val="FFFFFF"/>
                </a:solidFill>
                <a:latin typeface="Inter"/>
              </a:rPr>
              <a:t>&amp; Transformation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lang="en-AU" sz="1200" b="0" i="0" spc="0" dirty="0">
                <a:solidFill>
                  <a:srgbClr val="CFCFCF"/>
                </a:solidFill>
                <a:latin typeface="Inter"/>
              </a:rPr>
              <a:t>HCM, Payroll, Time &amp; Attendance and Finance— implemented and optimised.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2578608"/>
            <a:ext cx="1591056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000" b="1" i="0" cap="all" spc="130">
                <a:solidFill>
                  <a:srgbClr val="CFCFCF"/>
                </a:solidFill>
                <a:latin typeface="Inter"/>
              </a:rPr>
              <a:t>WORKDAY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77824" y="3282696"/>
            <a:ext cx="10436047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77824" y="3410712"/>
            <a:ext cx="100584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3200" b="1" i="0" spc="-96">
                <a:solidFill>
                  <a:srgbClr val="EA493F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20824" y="3374136"/>
            <a:ext cx="7040880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2100" b="1" i="0" spc="-42" dirty="0">
                <a:solidFill>
                  <a:srgbClr val="FFFFFF"/>
                </a:solidFill>
                <a:latin typeface="Inter"/>
              </a:rPr>
              <a:t>Data, Analytics &amp; B.I.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lang="en-AU" sz="1200" b="0" i="0" spc="0" dirty="0">
                <a:solidFill>
                  <a:srgbClr val="CFCFCF"/>
                </a:solidFill>
                <a:latin typeface="Inter"/>
              </a:rPr>
              <a:t>Reporting, dashboards and governed analytics leaders trust.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22815" y="3465576"/>
            <a:ext cx="1591056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000" b="1" i="0" cap="all" spc="130">
                <a:solidFill>
                  <a:srgbClr val="CFCFCF"/>
                </a:solidFill>
                <a:latin typeface="Inter"/>
              </a:rPr>
              <a:t>INSIGHT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77824" y="4169663"/>
            <a:ext cx="10436047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7824" y="4297680"/>
            <a:ext cx="100584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3200" b="1" i="0" spc="-96">
                <a:solidFill>
                  <a:srgbClr val="EA493F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20824" y="4261104"/>
            <a:ext cx="7040880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2100" b="1" i="0" spc="-42" dirty="0">
                <a:solidFill>
                  <a:srgbClr val="FFFFFF"/>
                </a:solidFill>
                <a:latin typeface="Inter"/>
              </a:rPr>
              <a:t>Automation &amp; A.I.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lang="en-AU" sz="1200" b="0" i="0" spc="0" dirty="0">
                <a:solidFill>
                  <a:srgbClr val="CFCFCF"/>
                </a:solidFill>
                <a:latin typeface="Inter"/>
              </a:rPr>
              <a:t>Redesign, integrations and automation that remove manual work.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22815" y="4352544"/>
            <a:ext cx="1591056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000" b="1" i="0" cap="all" spc="130">
                <a:solidFill>
                  <a:srgbClr val="CFCFCF"/>
                </a:solidFill>
                <a:latin typeface="Inter"/>
              </a:rPr>
              <a:t>EFFICIENCY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77824" y="5056632"/>
            <a:ext cx="10436047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7824" y="5184648"/>
            <a:ext cx="100584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3200" b="1" i="0" spc="-96">
                <a:solidFill>
                  <a:srgbClr val="EA493F"/>
                </a:solidFill>
                <a:latin typeface="Inter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0824" y="5148072"/>
            <a:ext cx="7040880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2100" b="1" i="0" spc="-42" dirty="0">
                <a:solidFill>
                  <a:srgbClr val="FFFFFF"/>
                </a:solidFill>
                <a:latin typeface="Inter"/>
              </a:rPr>
              <a:t>Managed Services &amp; Support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lang="en-AU" sz="1200" b="0" i="0" spc="0" dirty="0">
                <a:solidFill>
                  <a:srgbClr val="CFCFCF"/>
                </a:solidFill>
                <a:latin typeface="Inter"/>
              </a:rPr>
              <a:t>Application Managed Service, Managed Payroll that keeps delivering value after go-live.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22815" y="5239512"/>
            <a:ext cx="1591056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000" b="1" i="0" cap="all" spc="130">
                <a:solidFill>
                  <a:srgbClr val="CFCFCF"/>
                </a:solidFill>
                <a:latin typeface="Inter"/>
              </a:rPr>
              <a:t>PARTNERSHIP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77824" y="5943600"/>
            <a:ext cx="10436047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100" b="1" i="0" cap="all" spc="154" dirty="0">
                <a:solidFill>
                  <a:srgbClr val="EA493F"/>
                </a:solidFill>
                <a:latin typeface="Inter"/>
              </a:rPr>
              <a:t>Engagement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14400"/>
            <a:ext cx="10436047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3300" b="1" i="0" spc="-72">
                <a:solidFill>
                  <a:srgbClr val="FFFFFF"/>
                </a:solidFill>
                <a:latin typeface="Inter"/>
              </a:rPr>
              <a:t>Across the whole </a:t>
            </a:r>
            <a:r>
              <a:rPr lang="en-AU" sz="3300" b="1" i="0" spc="-72">
                <a:solidFill>
                  <a:srgbClr val="EA493F"/>
                </a:solidFill>
                <a:latin typeface="Inter"/>
              </a:rPr>
              <a:t>Workday lifecycle.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584448" y="2194560"/>
            <a:ext cx="2322576" cy="1783080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58768" y="2468880"/>
            <a:ext cx="177393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400" b="1" i="0" cap="all" spc="112">
                <a:solidFill>
                  <a:srgbClr val="EA493F"/>
                </a:solidFill>
                <a:latin typeface="Inter"/>
              </a:rPr>
              <a:t>IMPLEMENT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58768" y="2962656"/>
            <a:ext cx="1773936" cy="82295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350" b="1" i="0" spc="-13" dirty="0">
                <a:solidFill>
                  <a:srgbClr val="FFFFFF"/>
                </a:solidFill>
                <a:latin typeface="Inter"/>
              </a:rPr>
              <a:t>Deploy Workday HCM, Payroll &amp; Finance.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91072" y="2194560"/>
            <a:ext cx="2322576" cy="1783080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65392" y="2468880"/>
            <a:ext cx="177393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400" b="1" i="0" cap="all" spc="112">
                <a:solidFill>
                  <a:srgbClr val="EA493F"/>
                </a:solidFill>
                <a:latin typeface="Inter"/>
              </a:rPr>
              <a:t>OPTIMISE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2962656"/>
            <a:ext cx="1773936" cy="82295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350" b="1" i="0" spc="-13">
                <a:solidFill>
                  <a:srgbClr val="FFFFFF"/>
                </a:solidFill>
                <a:latin typeface="Inter"/>
              </a:rPr>
              <a:t>Phase 2, integrations &amp; reporting.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97696" y="2194560"/>
            <a:ext cx="2322576" cy="1783080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72016" y="2468880"/>
            <a:ext cx="177393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400" b="1" i="0" cap="all" spc="112">
                <a:solidFill>
                  <a:srgbClr val="EA493F"/>
                </a:solidFill>
                <a:latin typeface="Inter"/>
              </a:rPr>
              <a:t>MANAGE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72016" y="2962656"/>
            <a:ext cx="1773936" cy="82295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350" b="1" i="0" spc="-13">
                <a:solidFill>
                  <a:srgbClr val="FFFFFF"/>
                </a:solidFill>
                <a:latin typeface="Inter"/>
              </a:rPr>
              <a:t>Managed Services &amp; Managed Payroll — 24×7, continuous improvement.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24728" y="2834640"/>
            <a:ext cx="54864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2600" b="1" i="0" spc="0" dirty="0">
                <a:solidFill>
                  <a:srgbClr val="EA493F"/>
                </a:solidFill>
                <a:latin typeface="Inter"/>
              </a:rPr>
              <a:t>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31351" y="2834640"/>
            <a:ext cx="54864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2600" b="1" i="0" spc="0">
                <a:solidFill>
                  <a:srgbClr val="EA493F"/>
                </a:solidFill>
                <a:latin typeface="Inter"/>
              </a:rPr>
              <a:t>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84448" y="4389120"/>
            <a:ext cx="5029200" cy="914400"/>
          </a:xfrm>
          <a:prstGeom prst="rect">
            <a:avLst/>
          </a:prstGeom>
          <a:noFill/>
          <a:ln w="19050">
            <a:solidFill>
              <a:srgbClr val="EA49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58768" y="4572000"/>
            <a:ext cx="448056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150" b="1" i="0" cap="all" spc="115" dirty="0">
                <a:solidFill>
                  <a:srgbClr val="EA493F"/>
                </a:solidFill>
                <a:latin typeface="Inter"/>
              </a:rPr>
              <a:t>LEAD IMPLEMENTATION PARTNER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58768" y="4901183"/>
            <a:ext cx="448056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200" b="0" i="0" spc="0" dirty="0">
                <a:solidFill>
                  <a:srgbClr val="CFCFCF"/>
                </a:solidFill>
                <a:latin typeface="Inter"/>
              </a:rPr>
              <a:t>Our certified consultants, leading implementation using Workday best practice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AU" sz="1200" b="0" i="0" spc="0" dirty="0">
              <a:solidFill>
                <a:srgbClr val="D6D6D6"/>
              </a:solidFill>
              <a:latin typeface="Inter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997696" y="4389120"/>
            <a:ext cx="2322576" cy="1965960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72016" y="4572000"/>
            <a:ext cx="1773936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150" b="1" i="0" cap="all" spc="115">
                <a:solidFill>
                  <a:srgbClr val="FFFFFF"/>
                </a:solidFill>
                <a:latin typeface="Inter"/>
              </a:rPr>
              <a:t>MANAGED SERVICES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72016" y="4901183"/>
            <a:ext cx="1773936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200" b="1" i="0" spc="0">
                <a:solidFill>
                  <a:srgbClr val="FFFFFF"/>
                </a:solidFill>
                <a:latin typeface="Inter"/>
              </a:rPr>
              <a:t>We own the outcome at Manage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59DA16E-2A45-15A0-E8CE-0C2B93A91FEA}"/>
              </a:ext>
            </a:extLst>
          </p:cNvPr>
          <p:cNvSpPr/>
          <p:nvPr/>
        </p:nvSpPr>
        <p:spPr>
          <a:xfrm>
            <a:off x="3584448" y="5440680"/>
            <a:ext cx="5029200" cy="914400"/>
          </a:xfrm>
          <a:prstGeom prst="rect">
            <a:avLst/>
          </a:prstGeom>
          <a:noFill/>
          <a:ln w="19050">
            <a:solidFill>
              <a:srgbClr val="EA49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A5D086C-4790-1E0E-A2ED-959F3DEB7F75}"/>
              </a:ext>
            </a:extLst>
          </p:cNvPr>
          <p:cNvSpPr txBox="1"/>
          <p:nvPr/>
        </p:nvSpPr>
        <p:spPr>
          <a:xfrm>
            <a:off x="3858768" y="5623560"/>
            <a:ext cx="448056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150" b="1" i="0" cap="all" spc="115">
                <a:solidFill>
                  <a:srgbClr val="EA493F"/>
                </a:solidFill>
                <a:latin typeface="Inter"/>
              </a:rPr>
              <a:t>STAFF AUGMENTATION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86ED5A2-E007-69EC-DC75-4A45FDD9E1AF}"/>
              </a:ext>
            </a:extLst>
          </p:cNvPr>
          <p:cNvSpPr txBox="1"/>
          <p:nvPr/>
        </p:nvSpPr>
        <p:spPr>
          <a:xfrm>
            <a:off x="3858768" y="5952744"/>
            <a:ext cx="448056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200" b="0" i="0" spc="0">
                <a:solidFill>
                  <a:srgbClr val="CFCFCF"/>
                </a:solidFill>
                <a:latin typeface="Inter"/>
              </a:rPr>
              <a:t>Our certified consultants, embedded in your team — through Implement and Optimise.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A60CB8F-AA6E-AE2F-2D3A-34F8235E0AE1}"/>
              </a:ext>
            </a:extLst>
          </p:cNvPr>
          <p:cNvSpPr/>
          <p:nvPr/>
        </p:nvSpPr>
        <p:spPr>
          <a:xfrm>
            <a:off x="877824" y="2194560"/>
            <a:ext cx="2322576" cy="1783080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F529C9C-7D48-0778-48BA-49F267AB2CB4}"/>
              </a:ext>
            </a:extLst>
          </p:cNvPr>
          <p:cNvSpPr txBox="1"/>
          <p:nvPr/>
        </p:nvSpPr>
        <p:spPr>
          <a:xfrm>
            <a:off x="1152144" y="2468880"/>
            <a:ext cx="177393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400" b="1" i="0" cap="all" spc="112" dirty="0">
                <a:solidFill>
                  <a:srgbClr val="EA493F"/>
                </a:solidFill>
                <a:latin typeface="Inter"/>
              </a:rPr>
              <a:t>ADVISE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3A7A7AF-9BD2-7863-DCAB-7516FC26351D}"/>
              </a:ext>
            </a:extLst>
          </p:cNvPr>
          <p:cNvSpPr txBox="1"/>
          <p:nvPr/>
        </p:nvSpPr>
        <p:spPr>
          <a:xfrm>
            <a:off x="1152144" y="2962656"/>
            <a:ext cx="1773936" cy="82295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350" b="1" spc="-13" dirty="0">
                <a:solidFill>
                  <a:srgbClr val="FFFFFF"/>
                </a:solidFill>
                <a:latin typeface="Inter"/>
              </a:rPr>
              <a:t>Roadmap, business case, readiness assessments  and planning</a:t>
            </a:r>
            <a:endParaRPr lang="en-AU" sz="1350" b="1" i="0" spc="-13" dirty="0">
              <a:solidFill>
                <a:srgbClr val="FFFFFF"/>
              </a:solidFill>
              <a:latin typeface="Inter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3F36C3F-B242-B1D1-FBDF-A2A4306C420A}"/>
              </a:ext>
            </a:extLst>
          </p:cNvPr>
          <p:cNvSpPr txBox="1"/>
          <p:nvPr/>
        </p:nvSpPr>
        <p:spPr>
          <a:xfrm>
            <a:off x="3118104" y="2834640"/>
            <a:ext cx="54864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2600" b="1" i="0" spc="0" dirty="0">
                <a:solidFill>
                  <a:srgbClr val="EA493F"/>
                </a:solidFill>
                <a:latin typeface="Inter"/>
              </a:rPr>
              <a:t>›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7485C6F-21C8-A144-D289-A5CAB920C584}"/>
              </a:ext>
            </a:extLst>
          </p:cNvPr>
          <p:cNvSpPr/>
          <p:nvPr/>
        </p:nvSpPr>
        <p:spPr>
          <a:xfrm>
            <a:off x="877824" y="4389120"/>
            <a:ext cx="2322576" cy="1965960"/>
          </a:xfrm>
          <a:prstGeom prst="rect">
            <a:avLst/>
          </a:prstGeom>
          <a:noFill/>
          <a:ln w="19050">
            <a:solidFill>
              <a:srgbClr val="EA49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9E26CCE-9611-23DC-2480-402EFFEC6326}"/>
              </a:ext>
            </a:extLst>
          </p:cNvPr>
          <p:cNvSpPr txBox="1"/>
          <p:nvPr/>
        </p:nvSpPr>
        <p:spPr>
          <a:xfrm>
            <a:off x="1152144" y="4572000"/>
            <a:ext cx="1773936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150" b="1" i="0" cap="all" spc="115" dirty="0">
                <a:solidFill>
                  <a:srgbClr val="EA493F"/>
                </a:solidFill>
                <a:latin typeface="Inter"/>
              </a:rPr>
              <a:t>ADVISORY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3FA19F4-5A3C-B9AB-C186-20717E5E6650}"/>
              </a:ext>
            </a:extLst>
          </p:cNvPr>
          <p:cNvSpPr txBox="1"/>
          <p:nvPr/>
        </p:nvSpPr>
        <p:spPr>
          <a:xfrm>
            <a:off x="1152144" y="4901183"/>
            <a:ext cx="1773936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200" b="0" i="0" spc="0" dirty="0">
                <a:solidFill>
                  <a:srgbClr val="CFCFCF"/>
                </a:solidFill>
                <a:latin typeface="Inter"/>
              </a:rPr>
              <a:t>Strategic advisory projects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FA6E06-FEFB-95D8-6443-278395D97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81B023-C453-A1C4-349B-A1AEC6DDCCC5}"/>
              </a:ext>
            </a:extLst>
          </p:cNvPr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100" b="1" i="0" cap="all" spc="154">
                <a:solidFill>
                  <a:srgbClr val="EA493F"/>
                </a:solidFill>
                <a:latin typeface="Inter"/>
              </a:rPr>
              <a:t>ENGAGEMENT MODELS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4363BB-A8F9-6883-0E80-F0BFD2B8EB21}"/>
              </a:ext>
            </a:extLst>
          </p:cNvPr>
          <p:cNvSpPr txBox="1"/>
          <p:nvPr/>
        </p:nvSpPr>
        <p:spPr>
          <a:xfrm>
            <a:off x="841248" y="914400"/>
            <a:ext cx="10436047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3300" b="1" i="0" spc="-72" dirty="0">
                <a:solidFill>
                  <a:srgbClr val="FFFFFF"/>
                </a:solidFill>
                <a:latin typeface="Inter"/>
              </a:rPr>
              <a:t>Four ways we </a:t>
            </a:r>
            <a:r>
              <a:rPr lang="en-AU" sz="3300" b="1" i="0" spc="-72" dirty="0">
                <a:solidFill>
                  <a:srgbClr val="EA493F"/>
                </a:solidFill>
                <a:latin typeface="Inter"/>
              </a:rPr>
              <a:t>support you.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3C0180-A632-D46E-8464-AE171C27DD3A}"/>
              </a:ext>
            </a:extLst>
          </p:cNvPr>
          <p:cNvSpPr/>
          <p:nvPr/>
        </p:nvSpPr>
        <p:spPr>
          <a:xfrm>
            <a:off x="877824" y="2331720"/>
            <a:ext cx="5035143" cy="1097280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57032A-314D-94E0-F4DC-F2364B7E3EAA}"/>
              </a:ext>
            </a:extLst>
          </p:cNvPr>
          <p:cNvSpPr txBox="1"/>
          <p:nvPr/>
        </p:nvSpPr>
        <p:spPr>
          <a:xfrm>
            <a:off x="1152144" y="2569463"/>
            <a:ext cx="4532223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250" b="1" i="0" cap="all" spc="150" dirty="0">
                <a:solidFill>
                  <a:srgbClr val="EA493F"/>
                </a:solidFill>
                <a:latin typeface="Inter"/>
              </a:rPr>
              <a:t>Lead implementation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B90339-5953-E012-DBC5-DAF3A4E9298F}"/>
              </a:ext>
            </a:extLst>
          </p:cNvPr>
          <p:cNvSpPr txBox="1"/>
          <p:nvPr/>
        </p:nvSpPr>
        <p:spPr>
          <a:xfrm>
            <a:off x="1152144" y="2935224"/>
            <a:ext cx="4532223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450" i="0" spc="-14" dirty="0">
                <a:solidFill>
                  <a:srgbClr val="FFFFFF"/>
                </a:solidFill>
                <a:latin typeface="Inter"/>
              </a:rPr>
              <a:t>Our certified consultants, </a:t>
            </a:r>
            <a:r>
              <a:rPr lang="en-AU" sz="1450" spc="-14" dirty="0">
                <a:solidFill>
                  <a:srgbClr val="FFFFFF"/>
                </a:solidFill>
                <a:latin typeface="Inter"/>
              </a:rPr>
              <a:t>leading implementation using Workday best practice</a:t>
            </a:r>
            <a:endParaRPr lang="en-AU" sz="1450" i="0" spc="-14" dirty="0">
              <a:solidFill>
                <a:srgbClr val="FFFFFF"/>
              </a:solidFill>
              <a:latin typeface="Inter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469D60C-FEA9-E529-6D7C-7D43B5F395A4}"/>
              </a:ext>
            </a:extLst>
          </p:cNvPr>
          <p:cNvSpPr/>
          <p:nvPr/>
        </p:nvSpPr>
        <p:spPr>
          <a:xfrm>
            <a:off x="6278727" y="2331720"/>
            <a:ext cx="5035143" cy="1097280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5D1168-6354-7EC7-4B2E-2D8FBF92C177}"/>
              </a:ext>
            </a:extLst>
          </p:cNvPr>
          <p:cNvSpPr txBox="1"/>
          <p:nvPr/>
        </p:nvSpPr>
        <p:spPr>
          <a:xfrm>
            <a:off x="6553047" y="2569463"/>
            <a:ext cx="4532223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AU" sz="1250" b="1" cap="all" spc="150" dirty="0">
                <a:solidFill>
                  <a:srgbClr val="EA493F"/>
                </a:solidFill>
                <a:latin typeface="Inter"/>
              </a:rPr>
              <a:t>STAFF AUGMENTATION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00FE74-4765-EA99-0F78-928CB310EE85}"/>
              </a:ext>
            </a:extLst>
          </p:cNvPr>
          <p:cNvSpPr txBox="1"/>
          <p:nvPr/>
        </p:nvSpPr>
        <p:spPr>
          <a:xfrm>
            <a:off x="6553047" y="2935224"/>
            <a:ext cx="4532223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</a:pPr>
            <a:r>
              <a:rPr lang="en-AU" sz="1450" spc="-14" dirty="0">
                <a:solidFill>
                  <a:srgbClr val="FFFFFF"/>
                </a:solidFill>
                <a:latin typeface="Inter"/>
              </a:rPr>
              <a:t>Our certified consultants, embedded in your team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1B0CBBA-3CBD-0F91-2EBD-53685AFAE309}"/>
              </a:ext>
            </a:extLst>
          </p:cNvPr>
          <p:cNvSpPr/>
          <p:nvPr/>
        </p:nvSpPr>
        <p:spPr>
          <a:xfrm>
            <a:off x="877824" y="3922776"/>
            <a:ext cx="5035143" cy="1097280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B361499-A0C4-47EB-59C7-4D450E468221}"/>
              </a:ext>
            </a:extLst>
          </p:cNvPr>
          <p:cNvSpPr txBox="1"/>
          <p:nvPr/>
        </p:nvSpPr>
        <p:spPr>
          <a:xfrm>
            <a:off x="1152144" y="4160519"/>
            <a:ext cx="4532223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AU" sz="1250" b="1" cap="all" spc="150" dirty="0">
                <a:solidFill>
                  <a:srgbClr val="EA493F"/>
                </a:solidFill>
                <a:latin typeface="Inter"/>
              </a:rPr>
              <a:t>MANAGED SERVICES-  AMS</a:t>
            </a:r>
            <a:endParaRPr lang="en-AU" sz="1250" b="1" i="0" cap="all" spc="150" dirty="0">
              <a:solidFill>
                <a:srgbClr val="EA493F"/>
              </a:solidFill>
              <a:latin typeface="Inter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9DFD555-014D-0FF8-D96B-206B9BF58DE9}"/>
              </a:ext>
            </a:extLst>
          </p:cNvPr>
          <p:cNvSpPr txBox="1"/>
          <p:nvPr/>
        </p:nvSpPr>
        <p:spPr>
          <a:xfrm>
            <a:off x="1152144" y="4526280"/>
            <a:ext cx="4532223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</a:pPr>
            <a:r>
              <a:rPr lang="en-AU" sz="1450" spc="-14" dirty="0">
                <a:solidFill>
                  <a:srgbClr val="FFFFFF"/>
                </a:solidFill>
                <a:latin typeface="Inter"/>
              </a:rPr>
              <a:t>We own the outcome, end to end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BE47FCB-8A15-6EF6-350B-DE863B2D2467}"/>
              </a:ext>
            </a:extLst>
          </p:cNvPr>
          <p:cNvSpPr/>
          <p:nvPr/>
        </p:nvSpPr>
        <p:spPr>
          <a:xfrm>
            <a:off x="6278727" y="3922776"/>
            <a:ext cx="5035143" cy="1097280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0A0EB90-3F05-3D03-34CA-4D07F911B893}"/>
              </a:ext>
            </a:extLst>
          </p:cNvPr>
          <p:cNvSpPr txBox="1"/>
          <p:nvPr/>
        </p:nvSpPr>
        <p:spPr>
          <a:xfrm>
            <a:off x="6553047" y="4160519"/>
            <a:ext cx="4532223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250" b="1" i="0" cap="all" spc="150" dirty="0">
                <a:solidFill>
                  <a:srgbClr val="EA493F"/>
                </a:solidFill>
                <a:latin typeface="Inter"/>
              </a:rPr>
              <a:t>MANAGED SERVICES - Managed Payroll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FF7E83E-9779-A690-5073-8077B485AD57}"/>
              </a:ext>
            </a:extLst>
          </p:cNvPr>
          <p:cNvSpPr txBox="1"/>
          <p:nvPr/>
        </p:nvSpPr>
        <p:spPr>
          <a:xfrm>
            <a:off x="6553047" y="4526280"/>
            <a:ext cx="4532223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450" i="0" spc="-14" dirty="0">
                <a:solidFill>
                  <a:srgbClr val="FFFFFF"/>
                </a:solidFill>
                <a:latin typeface="Inter"/>
              </a:rPr>
              <a:t>We own the system, we managed the payroll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716465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0" y="420624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EA493F"/>
                </a:solidFill>
                <a:latin typeface="Inter"/>
              </a:rPr>
              <a:t>DELIVERY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96112"/>
            <a:ext cx="1043330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Inter"/>
              </a:rPr>
              <a:t>Velocity &amp; Value — </a:t>
            </a:r>
            <a:r>
              <a:rPr sz="3300" b="1">
                <a:solidFill>
                  <a:srgbClr val="EA493F"/>
                </a:solidFill>
                <a:latin typeface="Inter"/>
              </a:rPr>
              <a:t>Workday GO.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572768"/>
            <a:ext cx="10442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CFCFCF"/>
                </a:solidFill>
                <a:latin typeface="Inter"/>
              </a:rPr>
              <a:t>Workday's packaged deployment model — proven, best-practice processes, live fast.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824" y="2121408"/>
            <a:ext cx="5029200" cy="1627632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7824" y="2121408"/>
            <a:ext cx="91440" cy="1627632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267712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EA493F"/>
                </a:solidFill>
                <a:latin typeface="Inter"/>
              </a:rPr>
              <a:t>90%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962656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Inter"/>
              </a:rPr>
              <a:t>Pre-configured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273552"/>
            <a:ext cx="43891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CFCFCF"/>
                </a:solidFill>
                <a:latin typeface="Inter"/>
              </a:rPr>
              <a:t>All standard HR, payroll &amp; talent processes — prebuilt to Workday's ANZ leading practice.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91072" y="2121408"/>
            <a:ext cx="5029200" cy="1627632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91072" y="2121408"/>
            <a:ext cx="91440" cy="1627632"/>
          </a:xfrm>
          <a:prstGeom prst="rect">
            <a:avLst/>
          </a:prstGeom>
          <a:solidFill>
            <a:srgbClr val="FFFFF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2267712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Inter"/>
              </a:rPr>
              <a:t>10%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2962656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Inter"/>
              </a:rPr>
              <a:t>Unique to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3273552"/>
            <a:ext cx="43891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CFCFCF"/>
                </a:solidFill>
                <a:latin typeface="Inter"/>
              </a:rPr>
              <a:t>The configuration that flexes Workday to your data, org structure, pay cycles and awards.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968496"/>
            <a:ext cx="1044244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nter"/>
              </a:rPr>
              <a:t>Five-phase delivery model.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7824" y="4443984"/>
            <a:ext cx="1751990" cy="1170432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7" y="4443984"/>
            <a:ext cx="1459382" cy="1170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EA493F"/>
                </a:solidFill>
                <a:latin typeface="Inter"/>
              </a:rPr>
              <a:t>1. Mobilise</a:t>
            </a:r>
          </a:p>
          <a:p>
            <a:pPr algn="ctr">
              <a:lnSpc>
                <a:spcPct val="105000"/>
              </a:lnSpc>
            </a:pPr>
            <a:r>
              <a:rPr sz="900" b="0">
                <a:solidFill>
                  <a:srgbClr val="CFCFCF"/>
                </a:solidFill>
                <a:latin typeface="Inter"/>
              </a:rPr>
              <a:t>Charter &amp; governance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11526" y="48006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EA493F"/>
                </a:solidFill>
                <a:latin typeface="Inter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50438" y="4443984"/>
            <a:ext cx="1751990" cy="1170432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96742" y="4443984"/>
            <a:ext cx="1459382" cy="1170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EA493F"/>
                </a:solidFill>
                <a:latin typeface="Inter"/>
              </a:rPr>
              <a:t>2. Architect</a:t>
            </a:r>
          </a:p>
          <a:p>
            <a:pPr algn="ctr">
              <a:lnSpc>
                <a:spcPct val="105000"/>
              </a:lnSpc>
            </a:pPr>
            <a:r>
              <a:rPr sz="900" b="0">
                <a:solidFill>
                  <a:srgbClr val="CFCFCF"/>
                </a:solidFill>
                <a:latin typeface="Inter"/>
              </a:rPr>
              <a:t>Workshops &amp; 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84140" y="48006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EA493F"/>
                </a:solidFill>
                <a:latin typeface="Inter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23052" y="4443984"/>
            <a:ext cx="1751990" cy="1170432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69356" y="4443984"/>
            <a:ext cx="1459382" cy="1170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EA493F"/>
                </a:solidFill>
                <a:latin typeface="Inter"/>
              </a:rPr>
              <a:t>3. Configure &amp; Prototype</a:t>
            </a:r>
          </a:p>
          <a:p>
            <a:pPr algn="ctr">
              <a:lnSpc>
                <a:spcPct val="105000"/>
              </a:lnSpc>
            </a:pPr>
            <a:r>
              <a:rPr sz="900" b="0">
                <a:solidFill>
                  <a:srgbClr val="CFCFCF"/>
                </a:solidFill>
                <a:latin typeface="Inter"/>
              </a:rPr>
              <a:t>Build &amp; iterate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56755" y="48006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EA493F"/>
                </a:solidFill>
                <a:latin typeface="Inter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95667" y="4443984"/>
            <a:ext cx="1751990" cy="1170432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41971" y="4443984"/>
            <a:ext cx="1459382" cy="1170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EA493F"/>
                </a:solidFill>
                <a:latin typeface="Inter"/>
              </a:rPr>
              <a:t>4. Test</a:t>
            </a:r>
          </a:p>
          <a:p>
            <a:pPr algn="ctr">
              <a:lnSpc>
                <a:spcPct val="105000"/>
              </a:lnSpc>
            </a:pPr>
            <a:r>
              <a:rPr sz="900" b="0">
                <a:solidFill>
                  <a:srgbClr val="CFCFCF"/>
                </a:solidFill>
                <a:latin typeface="Inter"/>
              </a:rPr>
              <a:t>End-to-end 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29369" y="48006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EA493F"/>
                </a:solidFill>
                <a:latin typeface="Inter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68281" y="4443984"/>
            <a:ext cx="1751990" cy="1170432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14585" y="4443984"/>
            <a:ext cx="1459382" cy="1170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EA493F"/>
                </a:solidFill>
                <a:latin typeface="Inter"/>
              </a:rPr>
              <a:t>5. Deploy</a:t>
            </a:r>
          </a:p>
          <a:p>
            <a:pPr algn="ctr">
              <a:lnSpc>
                <a:spcPct val="105000"/>
              </a:lnSpc>
            </a:pPr>
            <a:r>
              <a:rPr sz="900" b="0">
                <a:solidFill>
                  <a:srgbClr val="CFCFCF"/>
                </a:solidFill>
                <a:latin typeface="Inter"/>
              </a:rPr>
              <a:t>Cutover &amp; hypercare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457200"/>
            <a:ext cx="402336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0" y="420624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EA493F"/>
                </a:solidFill>
                <a:latin typeface="Inter"/>
              </a:rPr>
              <a:t>IMPLEMENTATION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96112"/>
            <a:ext cx="1043330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Inter"/>
              </a:rPr>
              <a:t>Your implementation </a:t>
            </a:r>
            <a:r>
              <a:rPr sz="3300" b="1">
                <a:solidFill>
                  <a:srgbClr val="EA493F"/>
                </a:solidFill>
                <a:latin typeface="Inter"/>
              </a:rPr>
              <a:t>timeline.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591056"/>
            <a:ext cx="104424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FCFCF"/>
                </a:solidFill>
                <a:latin typeface="Inter"/>
              </a:rPr>
              <a:t>A single 20-week delivery brings all your modules live in one go-live — followed by four weeks of Hypercare.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212848"/>
            <a:ext cx="104424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Inter"/>
              </a:rPr>
              <a:t>One phase  ·  20 weeks to go-live  ·  all modules.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743200"/>
            <a:ext cx="136245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Inter"/>
              </a:rPr>
              <a:t>Mobilise</a:t>
            </a:r>
          </a:p>
        </p:txBody>
      </p:sp>
      <p:sp>
        <p:nvSpPr>
          <p:cNvPr id="8" name="Rectangle 7"/>
          <p:cNvSpPr/>
          <p:nvPr/>
        </p:nvSpPr>
        <p:spPr>
          <a:xfrm>
            <a:off x="2331720" y="2939796"/>
            <a:ext cx="8988552" cy="27432"/>
          </a:xfrm>
          <a:prstGeom prst="rect">
            <a:avLst/>
          </a:prstGeom>
          <a:solidFill>
            <a:srgbClr val="2A2A2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331720" y="2788920"/>
            <a:ext cx="746049" cy="329184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1720" y="2788920"/>
            <a:ext cx="74604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Inter"/>
              </a:rPr>
              <a:t>Wk 1–2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268980"/>
            <a:ext cx="136245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Inter"/>
              </a:rPr>
              <a:t>Architect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31720" y="3465576"/>
            <a:ext cx="8988552" cy="27432"/>
          </a:xfrm>
          <a:prstGeom prst="rect">
            <a:avLst/>
          </a:prstGeom>
          <a:solidFill>
            <a:srgbClr val="2A2A2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77769" y="3314700"/>
            <a:ext cx="1869618" cy="329184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77769" y="3314700"/>
            <a:ext cx="186961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Inter"/>
              </a:rPr>
              <a:t>Wk 3–7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94760"/>
            <a:ext cx="136245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Inter"/>
              </a:rPr>
              <a:t>Configure &amp; Prototype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31720" y="3991356"/>
            <a:ext cx="8988552" cy="27432"/>
          </a:xfrm>
          <a:prstGeom prst="rect">
            <a:avLst/>
          </a:prstGeom>
          <a:solidFill>
            <a:srgbClr val="2A2A2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56377" y="3840480"/>
            <a:ext cx="2247138" cy="329184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56377" y="3840480"/>
            <a:ext cx="224713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Inter"/>
              </a:rPr>
              <a:t>Wk 8–13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4320540"/>
            <a:ext cx="136245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Inter"/>
              </a:rPr>
              <a:t>Test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31720" y="4517136"/>
            <a:ext cx="8988552" cy="27432"/>
          </a:xfrm>
          <a:prstGeom prst="rect">
            <a:avLst/>
          </a:prstGeom>
          <a:solidFill>
            <a:srgbClr val="2A2A2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03515" y="4366259"/>
            <a:ext cx="2247138" cy="329184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03515" y="4366259"/>
            <a:ext cx="224713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Inter"/>
              </a:rPr>
              <a:t>Wk 14–19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" y="4846320"/>
            <a:ext cx="136245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EA493F"/>
                </a:solidFill>
                <a:latin typeface="Inter"/>
              </a:rPr>
              <a:t>GO-LIVE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31720" y="5042916"/>
            <a:ext cx="8988552" cy="27432"/>
          </a:xfrm>
          <a:prstGeom prst="rect">
            <a:avLst/>
          </a:prstGeom>
          <a:solidFill>
            <a:srgbClr val="2A2A2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450653" y="4892040"/>
            <a:ext cx="377519" cy="329184"/>
          </a:xfrm>
          <a:prstGeom prst="rect">
            <a:avLst/>
          </a:prstGeom>
          <a:solidFill>
            <a:srgbClr val="1C1C1C"/>
          </a:solidFill>
          <a:ln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01324" y="4846320"/>
            <a:ext cx="10972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Inter"/>
              </a:rPr>
              <a:t>Wk 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" y="5372100"/>
            <a:ext cx="136245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Inter"/>
              </a:rPr>
              <a:t>Hypercare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31720" y="5568696"/>
            <a:ext cx="8988552" cy="27432"/>
          </a:xfrm>
          <a:prstGeom prst="rect">
            <a:avLst/>
          </a:prstGeom>
          <a:solidFill>
            <a:srgbClr val="2A2A2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819183" y="5417820"/>
            <a:ext cx="1501088" cy="329184"/>
          </a:xfrm>
          <a:prstGeom prst="rect">
            <a:avLst/>
          </a:prstGeom>
          <a:solidFill>
            <a:srgbClr val="3A3A3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19183" y="5417820"/>
            <a:ext cx="150108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Inter"/>
              </a:rPr>
              <a:t>Wk 21–24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7824" y="5943600"/>
            <a:ext cx="10442448" cy="676656"/>
          </a:xfrm>
          <a:prstGeom prst="rect">
            <a:avLst/>
          </a:prstGeom>
          <a:solidFill>
            <a:srgbClr val="1C1C1C"/>
          </a:solidFill>
          <a:ln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07008" y="5943600"/>
            <a:ext cx="97840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EA493F"/>
                </a:solidFill>
                <a:latin typeface="Inter"/>
              </a:rPr>
              <a:t>One team. One go-live. Twenty weeks.  </a:t>
            </a:r>
            <a:r>
              <a:rPr sz="1100" b="0">
                <a:solidFill>
                  <a:srgbClr val="FFFFFF"/>
                </a:solidFill>
                <a:latin typeface="Inter"/>
              </a:rPr>
              <a:t>Workday GO's preconfigured tenant removes the design overhead — we validate, tailor and stand your team up, all modules live together at week 20.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457200"/>
            <a:ext cx="402336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0" y="420624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EA493F"/>
                </a:solidFill>
                <a:latin typeface="Inter"/>
              </a:rPr>
              <a:t>DELIVERY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96112"/>
            <a:ext cx="1043330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Inter"/>
              </a:rPr>
              <a:t>The Data Handshake: </a:t>
            </a:r>
            <a:r>
              <a:rPr sz="3300" b="1">
                <a:solidFill>
                  <a:srgbClr val="EA493F"/>
                </a:solidFill>
                <a:latin typeface="Inter"/>
              </a:rPr>
              <a:t>ensuring certainty.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627632"/>
            <a:ext cx="104424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FCFCF"/>
                </a:solidFill>
                <a:latin typeface="Inter"/>
              </a:rPr>
              <a:t>Data is the fuel for your Workday engine — and accurate data is the only way to ensure operational success. We use a collaborative handshake model that plays to each side's strengths.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824" y="2331720"/>
            <a:ext cx="4736592" cy="1243584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0" y="2331720"/>
            <a:ext cx="4736592" cy="1243584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14416" y="2331720"/>
            <a:ext cx="969264" cy="1243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EA493F"/>
                </a:solidFill>
                <a:latin typeface="Inter"/>
              </a:rPr>
              <a:t>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" y="2496312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EA493F"/>
                </a:solidFill>
                <a:latin typeface="Inter"/>
              </a:rPr>
              <a:t>YOUR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" y="2752344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Inter"/>
              </a:rPr>
              <a:t>You know your business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" y="3063239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CFCFCF"/>
                </a:solidFill>
                <a:latin typeface="Inter"/>
              </a:rPr>
              <a:t>Extract &amp; cleanse legacy data — ensuring only active, accurate records are migrated.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496312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EA493F"/>
                </a:solidFill>
                <a:latin typeface="Inter"/>
              </a:rPr>
              <a:t>MIVADA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752344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Inter"/>
              </a:rPr>
              <a:t>We know Workday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063239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CFCFCF"/>
                </a:solidFill>
                <a:latin typeface="Inter"/>
              </a:rPr>
              <a:t>Provide the mapping templates and technical tooling to load data into Workday's architecture.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822191"/>
            <a:ext cx="10442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Inter"/>
              </a:rPr>
              <a:t>Iterative validation — </a:t>
            </a:r>
            <a:r>
              <a:rPr sz="1700" b="1">
                <a:solidFill>
                  <a:srgbClr val="EA493F"/>
                </a:solidFill>
                <a:latin typeface="Inter"/>
              </a:rPr>
              <a:t>no “big-bang” loads.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4261104"/>
            <a:ext cx="10442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CFCFCF"/>
                </a:solidFill>
                <a:latin typeface="Inter"/>
              </a:rPr>
              <a:t>Three distinct load cycles let your team validate the numbers repeatedly — so the system is commercially accurate on day one.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7824" y="4773168"/>
            <a:ext cx="3236976" cy="1371600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3856" y="4919472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EA493F"/>
                </a:solidFill>
                <a:latin typeface="Inter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" y="5376672"/>
            <a:ext cx="2724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Inter"/>
              </a:rPr>
              <a:t>First 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" y="5669279"/>
            <a:ext cx="27249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CFCFCF"/>
                </a:solidFill>
                <a:latin typeface="Inter"/>
              </a:rPr>
              <a:t>Initial migration on a sample set — validates mapping templates and surfaces transformation issues early.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4773168"/>
            <a:ext cx="3236976" cy="1371600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36592" y="4919472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EA493F"/>
                </a:solidFill>
                <a:latin typeface="Inter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36592" y="5376672"/>
            <a:ext cx="2724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Inter"/>
              </a:rPr>
              <a:t>Second load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36592" y="5669279"/>
            <a:ext cx="27249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CFCFCF"/>
                </a:solidFill>
                <a:latin typeface="Inter"/>
              </a:rPr>
              <a:t>Full dataset migration. Your team validates balances, org structures and employee records against source.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83296" y="4773168"/>
            <a:ext cx="3236976" cy="1371600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9327" y="4919472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EA493F"/>
                </a:solidFill>
                <a:latin typeface="Inter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7" y="5376672"/>
            <a:ext cx="2724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Inter"/>
              </a:rPr>
              <a:t>Gold build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7" y="5669279"/>
            <a:ext cx="27249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CFCFCF"/>
                </a:solidFill>
                <a:latin typeface="Inter"/>
              </a:rPr>
              <a:t>Final production load with current-state data — a point-in-time cutover, signed off before go-live.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457200"/>
            <a:ext cx="402336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0" y="420624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EA493F"/>
                </a:solidFill>
                <a:latin typeface="Inter"/>
              </a:rPr>
              <a:t>THE ONE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96112"/>
            <a:ext cx="1043330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Inter"/>
              </a:rPr>
              <a:t>Your delivery </a:t>
            </a:r>
            <a:r>
              <a:rPr sz="3300" b="1">
                <a:solidFill>
                  <a:srgbClr val="EA493F"/>
                </a:solidFill>
                <a:latin typeface="Inter"/>
              </a:rPr>
              <a:t>team.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591056"/>
            <a:ext cx="104424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FCFCF"/>
                </a:solidFill>
                <a:latin typeface="Inter"/>
              </a:rPr>
              <a:t>Defined expertise across every layer of delivery — clear ownership, no gaps, no ambiguity, built on a “one team” model.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824" y="2194560"/>
            <a:ext cx="5029200" cy="2395728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" y="2377440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EA493F"/>
                </a:solidFill>
                <a:latin typeface="Inter"/>
              </a:rPr>
              <a:t>MIVADA DELIVERY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9424" y="2761488"/>
            <a:ext cx="2286000" cy="457200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49424" y="276148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Client Partner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92424" y="3218688"/>
            <a:ext cx="0" cy="256032"/>
          </a:xfrm>
          <a:prstGeom prst="line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653920" y="3474720"/>
            <a:ext cx="3477007" cy="0"/>
          </a:xfrm>
          <a:prstGeom prst="line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653920" y="3474720"/>
            <a:ext cx="0" cy="347471"/>
          </a:xfrm>
          <a:prstGeom prst="line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133856" y="3822191"/>
            <a:ext cx="1040130" cy="566928"/>
          </a:xfrm>
          <a:prstGeom prst="rect">
            <a:avLst/>
          </a:prstGeom>
          <a:solidFill>
            <a:srgbClr val="141414"/>
          </a:solidFill>
          <a:ln w="12700">
            <a:solidFill>
              <a:srgbClr val="EA49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3822191"/>
            <a:ext cx="96697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>
                <a:solidFill>
                  <a:srgbClr val="FFFFFF"/>
                </a:solidFill>
                <a:latin typeface="Inter"/>
              </a:rPr>
              <a:t>Engagement Manager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812923" y="3474720"/>
            <a:ext cx="0" cy="347471"/>
          </a:xfrm>
          <a:prstGeom prst="line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292858" y="3822191"/>
            <a:ext cx="1040130" cy="566928"/>
          </a:xfrm>
          <a:prstGeom prst="rect">
            <a:avLst/>
          </a:prstGeom>
          <a:solidFill>
            <a:srgbClr val="141414"/>
          </a:solidFill>
          <a:ln w="12700">
            <a:solidFill>
              <a:srgbClr val="EA49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29434" y="3822191"/>
            <a:ext cx="96697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>
                <a:solidFill>
                  <a:srgbClr val="FFFFFF"/>
                </a:solidFill>
                <a:latin typeface="Inter"/>
              </a:rPr>
              <a:t>Functional Lead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971925" y="3474720"/>
            <a:ext cx="0" cy="347471"/>
          </a:xfrm>
          <a:prstGeom prst="line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451860" y="3822191"/>
            <a:ext cx="1040130" cy="566928"/>
          </a:xfrm>
          <a:prstGeom prst="rect">
            <a:avLst/>
          </a:prstGeom>
          <a:solidFill>
            <a:srgbClr val="141414"/>
          </a:solidFill>
          <a:ln w="12700">
            <a:solidFill>
              <a:srgbClr val="EA49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88436" y="3822191"/>
            <a:ext cx="96697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>
                <a:solidFill>
                  <a:srgbClr val="FFFFFF"/>
                </a:solidFill>
                <a:latin typeface="Inter"/>
              </a:rPr>
              <a:t>Functional Consultants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130927" y="3474720"/>
            <a:ext cx="0" cy="347471"/>
          </a:xfrm>
          <a:prstGeom prst="line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4610862" y="3822191"/>
            <a:ext cx="1040130" cy="566928"/>
          </a:xfrm>
          <a:prstGeom prst="rect">
            <a:avLst/>
          </a:prstGeom>
          <a:solidFill>
            <a:srgbClr val="141414"/>
          </a:solidFill>
          <a:ln w="12700">
            <a:solidFill>
              <a:srgbClr val="EA49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47438" y="3822191"/>
            <a:ext cx="96697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>
                <a:solidFill>
                  <a:srgbClr val="FFFFFF"/>
                </a:solidFill>
                <a:latin typeface="Inter"/>
              </a:rPr>
              <a:t>Data &amp; Integration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91072" y="2194560"/>
            <a:ext cx="5029200" cy="2395728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65392" y="2377440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CUSTOMER TEAM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62671" y="2761488"/>
            <a:ext cx="2286000" cy="457200"/>
          </a:xfrm>
          <a:prstGeom prst="rect">
            <a:avLst/>
          </a:prstGeom>
          <a:solidFill>
            <a:srgbClr val="1C1C1C"/>
          </a:solidFill>
          <a:ln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62671" y="276148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Executive Sponsor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805672" y="3218688"/>
            <a:ext cx="0" cy="256032"/>
          </a:xfrm>
          <a:prstGeom prst="line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951268" y="3474720"/>
            <a:ext cx="3708807" cy="0"/>
          </a:xfrm>
          <a:prstGeom prst="line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951268" y="3474720"/>
            <a:ext cx="0" cy="347471"/>
          </a:xfrm>
          <a:prstGeom prst="line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6547104" y="3822191"/>
            <a:ext cx="808329" cy="566928"/>
          </a:xfrm>
          <a:prstGeom prst="rect">
            <a:avLst/>
          </a:prstGeom>
          <a:solidFill>
            <a:srgbClr val="141414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3822191"/>
            <a:ext cx="73517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>
                <a:solidFill>
                  <a:srgbClr val="FFFFFF"/>
                </a:solidFill>
                <a:latin typeface="Inter"/>
              </a:rPr>
              <a:t>Project Manager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878470" y="3474720"/>
            <a:ext cx="0" cy="347471"/>
          </a:xfrm>
          <a:prstGeom prst="line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7474305" y="3822191"/>
            <a:ext cx="808329" cy="566928"/>
          </a:xfrm>
          <a:prstGeom prst="rect">
            <a:avLst/>
          </a:prstGeom>
          <a:solidFill>
            <a:srgbClr val="141414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10881" y="3822191"/>
            <a:ext cx="73517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>
                <a:solidFill>
                  <a:srgbClr val="FFFFFF"/>
                </a:solidFill>
                <a:latin typeface="Inter"/>
              </a:rPr>
              <a:t>Change Manager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805672" y="3474720"/>
            <a:ext cx="0" cy="347471"/>
          </a:xfrm>
          <a:prstGeom prst="line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8401507" y="3822191"/>
            <a:ext cx="808329" cy="566928"/>
          </a:xfrm>
          <a:prstGeom prst="rect">
            <a:avLst/>
          </a:prstGeom>
          <a:solidFill>
            <a:srgbClr val="141414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38083" y="3822191"/>
            <a:ext cx="73517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>
                <a:solidFill>
                  <a:srgbClr val="FFFFFF"/>
                </a:solidFill>
                <a:latin typeface="Inter"/>
              </a:rPr>
              <a:t>Functional Leads &amp; SMEs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732873" y="3474720"/>
            <a:ext cx="0" cy="347471"/>
          </a:xfrm>
          <a:prstGeom prst="line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9328708" y="3822191"/>
            <a:ext cx="808329" cy="566928"/>
          </a:xfrm>
          <a:prstGeom prst="rect">
            <a:avLst/>
          </a:prstGeom>
          <a:solidFill>
            <a:srgbClr val="141414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65284" y="3822191"/>
            <a:ext cx="73517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>
                <a:solidFill>
                  <a:srgbClr val="FFFFFF"/>
                </a:solidFill>
                <a:latin typeface="Inter"/>
              </a:rPr>
              <a:t>Testing Lead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0660075" y="3474720"/>
            <a:ext cx="0" cy="347471"/>
          </a:xfrm>
          <a:prstGeom prst="line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10255910" y="3822191"/>
            <a:ext cx="808329" cy="566928"/>
          </a:xfrm>
          <a:prstGeom prst="rect">
            <a:avLst/>
          </a:prstGeom>
          <a:solidFill>
            <a:srgbClr val="141414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92486" y="3822191"/>
            <a:ext cx="73517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>
                <a:solidFill>
                  <a:srgbClr val="FFFFFF"/>
                </a:solidFill>
                <a:latin typeface="Inter"/>
              </a:rPr>
              <a:t>Data Champions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7824" y="4882896"/>
            <a:ext cx="10442448" cy="1024128"/>
          </a:xfrm>
          <a:prstGeom prst="rect">
            <a:avLst/>
          </a:prstGeom>
          <a:solidFill>
            <a:srgbClr val="1C1C1C"/>
          </a:solidFill>
          <a:ln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207008" y="4882896"/>
            <a:ext cx="9784080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EA493F"/>
                </a:solidFill>
                <a:latin typeface="Inter"/>
              </a:rPr>
              <a:t>A note on your team — </a:t>
            </a:r>
            <a:r>
              <a:rPr sz="1150" b="0">
                <a:solidFill>
                  <a:srgbClr val="FFFFFF"/>
                </a:solidFill>
                <a:latin typeface="Inter"/>
              </a:rPr>
              <a:t>these roles don't have to be separate individuals. In many organisations the same people play multiple roles; what matters is that every role is owned by someone with the authority and time to fulfil it.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457200"/>
            <a:ext cx="402336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0" y="420624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EA493F"/>
                </a:solidFill>
                <a:latin typeface="Inter"/>
              </a:rPr>
              <a:t>GETTING PAYROLL RIGHT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96112"/>
            <a:ext cx="1043330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Inter"/>
              </a:rPr>
              <a:t>Payroll testing </a:t>
            </a:r>
            <a:r>
              <a:rPr sz="3300" b="1">
                <a:solidFill>
                  <a:srgbClr val="EA493F"/>
                </a:solidFill>
                <a:latin typeface="Inter"/>
              </a:rPr>
              <a:t>rigour.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572768"/>
            <a:ext cx="1044244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CFCFCF"/>
                </a:solidFill>
                <a:latin typeface="Inter"/>
              </a:rPr>
              <a:t>Payroll is the one thing every employee notices on day one — so we prove it with structured, evidence-based parallel testing before any go-live decision.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824" y="2212848"/>
            <a:ext cx="3236975" cy="1078992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7824" y="2212848"/>
            <a:ext cx="91440" cy="1078992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2340864"/>
            <a:ext cx="27797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A493F"/>
                </a:solidFill>
                <a:latin typeface="Inter"/>
              </a:rPr>
              <a:t>2+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816352"/>
            <a:ext cx="27797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Inter"/>
              </a:rPr>
              <a:t>Full parallel cycles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3072384"/>
            <a:ext cx="2779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CFCFCF"/>
                </a:solidFill>
                <a:latin typeface="Inter"/>
              </a:rPr>
              <a:t>minimum — never just 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59" y="2212848"/>
            <a:ext cx="3236975" cy="1078992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2212848"/>
            <a:ext cx="91440" cy="1078992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73168" y="2340864"/>
            <a:ext cx="27797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A493F"/>
                </a:solidFill>
                <a:latin typeface="Inter"/>
              </a:rPr>
              <a:t>Line-level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2816352"/>
            <a:ext cx="27797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Inter"/>
              </a:rPr>
              <a:t>Variance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3072384"/>
            <a:ext cx="2779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CFCFCF"/>
                </a:solidFill>
                <a:latin typeface="Inter"/>
              </a:rPr>
              <a:t>every earning, deduction &amp; super — not gross-to-gross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83296" y="2212848"/>
            <a:ext cx="3236975" cy="1078992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83296" y="2212848"/>
            <a:ext cx="91440" cy="1078992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75904" y="2340864"/>
            <a:ext cx="27797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A493F"/>
                </a:solidFill>
                <a:latin typeface="Inter"/>
              </a:rPr>
              <a:t>$0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904" y="2816352"/>
            <a:ext cx="27797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Inter"/>
              </a:rPr>
              <a:t>Net-pay variance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3072384"/>
            <a:ext cx="2779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CFCFCF"/>
                </a:solidFill>
                <a:latin typeface="Inter"/>
              </a:rPr>
              <a:t>target tolerance for sign-off — explained variances only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3621024"/>
            <a:ext cx="104424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nter"/>
              </a:rPr>
              <a:t>Parallel testing cycle.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7824" y="4059936"/>
            <a:ext cx="1481328" cy="841248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7" y="4059936"/>
            <a:ext cx="118872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EA493F"/>
                </a:solidFill>
                <a:latin typeface="Inter"/>
              </a:rPr>
              <a:t>Legacy pay run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42519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EA493F"/>
                </a:solidFill>
                <a:latin typeface="Inter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70048" y="4059936"/>
            <a:ext cx="1481328" cy="841248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16352" y="4059936"/>
            <a:ext cx="118872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EA493F"/>
                </a:solidFill>
                <a:latin typeface="Inter"/>
              </a:rPr>
              <a:t>Workday mirror run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78224" y="42519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EA493F"/>
                </a:solidFill>
                <a:latin typeface="Inter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62272" y="4059936"/>
            <a:ext cx="1481328" cy="841248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08576" y="4059936"/>
            <a:ext cx="118872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Inter"/>
              </a:rPr>
              <a:t>Line-level variance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70448" y="42519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EA493F"/>
                </a:solidFill>
                <a:latin typeface="Inter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54496" y="4059936"/>
            <a:ext cx="1481328" cy="841248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059936"/>
            <a:ext cx="118872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EA493F"/>
                </a:solidFill>
                <a:latin typeface="Inter"/>
              </a:rPr>
              <a:t>Root-cause analysis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62672" y="42519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EA493F"/>
                </a:solidFill>
                <a:latin typeface="Inter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46720" y="4059936"/>
            <a:ext cx="1481328" cy="841248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93024" y="4059936"/>
            <a:ext cx="118872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EA493F"/>
                </a:solidFill>
                <a:latin typeface="Inter"/>
              </a:rPr>
              <a:t>Resolve &amp; document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54896" y="42519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EA493F"/>
                </a:solidFill>
                <a:latin typeface="Inter"/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38944" y="4059936"/>
            <a:ext cx="1481328" cy="841248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85248" y="4059936"/>
            <a:ext cx="118872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Inter"/>
              </a:rPr>
              <a:t>Formal sign-off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7824" y="5248656"/>
            <a:ext cx="10442448" cy="658368"/>
          </a:xfrm>
          <a:prstGeom prst="rect">
            <a:avLst/>
          </a:prstGeom>
          <a:solidFill>
            <a:srgbClr val="1C1C1C"/>
          </a:solidFill>
          <a:ln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88720" y="5248656"/>
            <a:ext cx="9820656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A493F"/>
                </a:solidFill>
                <a:latin typeface="Inter"/>
              </a:rPr>
              <a:t>Built for Australian complexity   </a:t>
            </a:r>
            <a:r>
              <a:rPr sz="1100" b="0">
                <a:solidFill>
                  <a:srgbClr val="FFFFFF"/>
                </a:solidFill>
                <a:latin typeface="Inter"/>
              </a:rPr>
              <a:t>modern awards &amp; EAs  ·  super &amp; STP  ·  leave loading &amp; Long Service Leave  ·  termination &amp; back-pay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457200"/>
            <a:ext cx="402336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0" y="420624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EA493F"/>
                </a:solidFill>
                <a:latin typeface="Inter"/>
              </a:rPr>
              <a:t>CONSULTANT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96112"/>
            <a:ext cx="1043330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Inter"/>
              </a:rPr>
              <a:t>Full-stack Workday, </a:t>
            </a:r>
            <a:r>
              <a:rPr sz="3300" b="1">
                <a:solidFill>
                  <a:srgbClr val="EA493F"/>
                </a:solidFill>
                <a:latin typeface="Inter"/>
              </a:rPr>
              <a:t>FIN &amp; HCM.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572768"/>
            <a:ext cx="10442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CFCFCF"/>
                </a:solidFill>
                <a:latin typeface="Inter"/>
              </a:rPr>
              <a:t>Full-stack Workday functional and integration expertise across both suites.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824" y="2139696"/>
            <a:ext cx="5029200" cy="384048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139696"/>
            <a:ext cx="46268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Inter"/>
              </a:rPr>
              <a:t>HCM</a:t>
            </a:r>
          </a:p>
        </p:txBody>
      </p:sp>
      <p:sp>
        <p:nvSpPr>
          <p:cNvPr id="8" name="Rectangle 7"/>
          <p:cNvSpPr/>
          <p:nvPr/>
        </p:nvSpPr>
        <p:spPr>
          <a:xfrm>
            <a:off x="877824" y="2670048"/>
            <a:ext cx="2441448" cy="420624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77824" y="2670048"/>
            <a:ext cx="54864" cy="420624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5" y="2670048"/>
            <a:ext cx="22219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Inter"/>
              </a:rPr>
              <a:t>Core HCM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65576" y="2670048"/>
            <a:ext cx="2441448" cy="420624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65576" y="2670048"/>
            <a:ext cx="54864" cy="420624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0168" y="2670048"/>
            <a:ext cx="22219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Inter"/>
              </a:rPr>
              <a:t>Absence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7824" y="3168396"/>
            <a:ext cx="2441448" cy="420624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7824" y="3168396"/>
            <a:ext cx="54864" cy="420624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2415" y="3168396"/>
            <a:ext cx="22219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Inter"/>
              </a:rPr>
              <a:t>Time Tracking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65576" y="3168396"/>
            <a:ext cx="2441448" cy="420624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65576" y="3168396"/>
            <a:ext cx="54864" cy="420624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30168" y="3168396"/>
            <a:ext cx="22219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Inter"/>
              </a:rPr>
              <a:t>Recruiting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7824" y="3666744"/>
            <a:ext cx="2441448" cy="420624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7824" y="3666744"/>
            <a:ext cx="54864" cy="420624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2415" y="3666744"/>
            <a:ext cx="22219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Inter"/>
              </a:rPr>
              <a:t>Talent &amp; Performance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65576" y="3666744"/>
            <a:ext cx="2441448" cy="420624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465576" y="3666744"/>
            <a:ext cx="54864" cy="420624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30168" y="3666744"/>
            <a:ext cx="22219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Inter"/>
              </a:rPr>
              <a:t>Compensation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7824" y="4165091"/>
            <a:ext cx="2441448" cy="420624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77824" y="4165091"/>
            <a:ext cx="54864" cy="420624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2415" y="4165091"/>
            <a:ext cx="22219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Inter"/>
              </a:rPr>
              <a:t>Benefits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65576" y="4165091"/>
            <a:ext cx="2441448" cy="420624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65576" y="4165091"/>
            <a:ext cx="54864" cy="420624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30168" y="4165091"/>
            <a:ext cx="22219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Inter"/>
              </a:rPr>
              <a:t>Payroll (AU / global)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7824" y="4663440"/>
            <a:ext cx="2441448" cy="420624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7824" y="4663440"/>
            <a:ext cx="54864" cy="420624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2415" y="4663440"/>
            <a:ext cx="22219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Inter"/>
              </a:rPr>
              <a:t>Learning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65576" y="4663440"/>
            <a:ext cx="2441448" cy="420624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465576" y="4663440"/>
            <a:ext cx="54864" cy="420624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30168" y="4663440"/>
            <a:ext cx="22219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Inter"/>
              </a:rPr>
              <a:t>Security &amp; BP config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7824" y="5161788"/>
            <a:ext cx="2441448" cy="420624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77824" y="5161788"/>
            <a:ext cx="54864" cy="420624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42415" y="5161788"/>
            <a:ext cx="22219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Inter"/>
              </a:rPr>
              <a:t>Integrations (EIB, CC, Studio)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65576" y="5161788"/>
            <a:ext cx="2441448" cy="420624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465576" y="5161788"/>
            <a:ext cx="54864" cy="420624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30168" y="5161788"/>
            <a:ext cx="22219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Inter"/>
              </a:rPr>
              <a:t>Advanced &amp; Composite Reporting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91072" y="2139696"/>
            <a:ext cx="5029200" cy="384048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40" y="2139696"/>
            <a:ext cx="46268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Inter"/>
              </a:rPr>
              <a:t>FIN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91072" y="2670048"/>
            <a:ext cx="2441448" cy="420624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91072" y="2670048"/>
            <a:ext cx="54864" cy="420624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55664" y="2670048"/>
            <a:ext cx="22219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Inter"/>
              </a:rPr>
              <a:t>Financial Accounting (GL)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878824" y="2670048"/>
            <a:ext cx="2441448" cy="420624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878824" y="2670048"/>
            <a:ext cx="54864" cy="420624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43416" y="2670048"/>
            <a:ext cx="22219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Inter"/>
              </a:rPr>
              <a:t>Accounting Center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91072" y="3168396"/>
            <a:ext cx="2441448" cy="420624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291072" y="3168396"/>
            <a:ext cx="54864" cy="420624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55664" y="3168396"/>
            <a:ext cx="22219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Inter"/>
              </a:rPr>
              <a:t>Accounts Payable / Suppliers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878824" y="3168396"/>
            <a:ext cx="2441448" cy="420624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878824" y="3168396"/>
            <a:ext cx="54864" cy="420624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43416" y="3168396"/>
            <a:ext cx="22219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Inter"/>
              </a:rPr>
              <a:t>Accounts Receivable / Customers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91072" y="3666744"/>
            <a:ext cx="2441448" cy="420624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291072" y="3666744"/>
            <a:ext cx="54864" cy="420624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55664" y="3666744"/>
            <a:ext cx="22219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Inter"/>
              </a:rPr>
              <a:t>Procurement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878824" y="3666744"/>
            <a:ext cx="2441448" cy="420624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878824" y="3666744"/>
            <a:ext cx="54864" cy="420624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043416" y="3666744"/>
            <a:ext cx="22219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Inter"/>
              </a:rPr>
              <a:t>Expenses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91072" y="4165091"/>
            <a:ext cx="2441448" cy="420624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91072" y="4165091"/>
            <a:ext cx="54864" cy="420624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55664" y="4165091"/>
            <a:ext cx="22219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Inter"/>
              </a:rPr>
              <a:t>Banking &amp; Settlement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878824" y="4165091"/>
            <a:ext cx="2441448" cy="420624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878824" y="4165091"/>
            <a:ext cx="54864" cy="420624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043416" y="4165091"/>
            <a:ext cx="22219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Inter"/>
              </a:rPr>
              <a:t>Business Assets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91072" y="4663440"/>
            <a:ext cx="2441448" cy="420624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291072" y="4663440"/>
            <a:ext cx="54864" cy="420624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55664" y="4663440"/>
            <a:ext cx="22219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Inter"/>
              </a:rPr>
              <a:t>Financial Reporting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878824" y="4663440"/>
            <a:ext cx="2441448" cy="420624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878824" y="4663440"/>
            <a:ext cx="54864" cy="420624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043416" y="4663440"/>
            <a:ext cx="22219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Inter"/>
              </a:rPr>
              <a:t>Prism Analytics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291072" y="5161788"/>
            <a:ext cx="2441448" cy="420624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291072" y="5161788"/>
            <a:ext cx="54864" cy="420624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55664" y="5161788"/>
            <a:ext cx="22219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Inter"/>
              </a:rPr>
              <a:t>Security &amp; BP config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878824" y="5161788"/>
            <a:ext cx="2441448" cy="420624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878824" y="5161788"/>
            <a:ext cx="54864" cy="420624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043416" y="5161788"/>
            <a:ext cx="22219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Inter"/>
              </a:rPr>
              <a:t>Integrations (EIB, CC, Studio)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77824" y="6053328"/>
            <a:ext cx="1044244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CFCFCF"/>
                </a:solidFill>
                <a:latin typeface="Inter"/>
              </a:rPr>
              <a:t>Adaptive Planning — all modules.    ·    Cross-skilled across both suites — one team, two suites.</a:t>
            </a:r>
          </a:p>
        </p:txBody>
      </p:sp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457200"/>
            <a:ext cx="402336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100" b="1" i="0" cap="all" spc="154">
                <a:solidFill>
                  <a:srgbClr val="EA493F"/>
                </a:solidFill>
                <a:latin typeface="Inter"/>
              </a:rPr>
              <a:t>AMS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14400"/>
            <a:ext cx="10436047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3300" b="1" i="0" spc="-72">
                <a:solidFill>
                  <a:srgbClr val="FFFFFF"/>
                </a:solidFill>
                <a:latin typeface="Inter"/>
              </a:rPr>
              <a:t>AMS, built on </a:t>
            </a:r>
            <a:r>
              <a:rPr lang="en-AU" sz="3300" b="1" i="0" spc="-72">
                <a:solidFill>
                  <a:srgbClr val="EA493F"/>
                </a:solidFill>
                <a:latin typeface="Inter"/>
              </a:rPr>
              <a:t>ITIL.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737360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300" b="0" i="0" spc="0">
                <a:solidFill>
                  <a:srgbClr val="CFCFCF"/>
                </a:solidFill>
                <a:latin typeface="Inter"/>
              </a:rPr>
              <a:t>We run Workday on ITIL — the global standard for IT service management.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824" y="2514600"/>
            <a:ext cx="3234842" cy="3017520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52144" y="2807208"/>
            <a:ext cx="273192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250" b="1" i="0" cap="all" spc="125">
                <a:solidFill>
                  <a:srgbClr val="EA493F"/>
                </a:solidFill>
                <a:latin typeface="Inter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" y="3355848"/>
            <a:ext cx="2686202" cy="192023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300" b="0" i="0" spc="0">
                <a:solidFill>
                  <a:srgbClr val="CFCFCF"/>
                </a:solidFill>
                <a:latin typeface="Inter"/>
              </a:rPr>
              <a:t>The proven framework for running IT services — incident, problem, change and release management, done to a recognised standard.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78426" y="2514600"/>
            <a:ext cx="3234842" cy="3017520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2746" y="2807208"/>
            <a:ext cx="273192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250" b="1" i="0" cap="all" spc="125">
                <a:solidFill>
                  <a:srgbClr val="EA493F"/>
                </a:solidFill>
                <a:latin typeface="Inter"/>
              </a:rPr>
              <a:t>WHY IT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2746" y="3355848"/>
            <a:ext cx="2686202" cy="192023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300" b="0" i="0" spc="0">
                <a:solidFill>
                  <a:srgbClr val="CFCFCF"/>
                </a:solidFill>
                <a:latin typeface="Inter"/>
              </a:rPr>
              <a:t>Predictable, SLA-backed support: fewer incidents, faster resolution, controlled change and continuous improvement.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79028" y="2514600"/>
            <a:ext cx="3234842" cy="3017520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53348" y="2807208"/>
            <a:ext cx="273192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250" b="1" i="0" cap="all" spc="125">
                <a:solidFill>
                  <a:srgbClr val="EA493F"/>
                </a:solidFill>
                <a:latin typeface="Inter"/>
              </a:rPr>
              <a:t>HOW WE APPLY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3348" y="3355848"/>
            <a:ext cx="2686202" cy="192023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300" b="0" i="0" spc="0">
                <a:solidFill>
                  <a:srgbClr val="CFCFCF"/>
                </a:solidFill>
                <a:latin typeface="Inter"/>
              </a:rPr>
              <a:t>Governed run operations · 24×7 P1/P2 on-call · change &amp; release control · continuous improvement.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5943600"/>
            <a:ext cx="10436047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200" b="1" i="0" spc="24">
                <a:solidFill>
                  <a:srgbClr val="CFCFCF"/>
                </a:solidFill>
                <a:latin typeface="Inter"/>
              </a:rPr>
              <a:t>Operational excellence, by design.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100" b="1" i="0" cap="all" spc="154">
                <a:solidFill>
                  <a:srgbClr val="EA493F"/>
                </a:solidFill>
                <a:latin typeface="Inter"/>
              </a:rPr>
              <a:t>AMS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14400"/>
            <a:ext cx="10436047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3300" b="1" i="0" spc="-72">
                <a:solidFill>
                  <a:srgbClr val="FFFFFF"/>
                </a:solidFill>
                <a:latin typeface="Inter"/>
              </a:rPr>
              <a:t>AMS operating </a:t>
            </a:r>
            <a:r>
              <a:rPr lang="en-AU" sz="3300" b="1" i="0" spc="-72">
                <a:solidFill>
                  <a:srgbClr val="EA493F"/>
                </a:solidFill>
                <a:latin typeface="Inter"/>
              </a:rPr>
              <a:t>framework.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737360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300" b="0" i="0" spc="0">
                <a:solidFill>
                  <a:srgbClr val="CFCFCF"/>
                </a:solidFill>
                <a:latin typeface="Inter"/>
              </a:rPr>
              <a:t>Driving operational excellence through governance, integration and continuous improvement.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824" y="2286000"/>
            <a:ext cx="10436047" cy="310896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6424" y="2286000"/>
            <a:ext cx="9978847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150" b="1" i="0" cap="all" spc="115">
                <a:solidFill>
                  <a:srgbClr val="FFFFFF"/>
                </a:solidFill>
                <a:latin typeface="Inter"/>
              </a:rPr>
              <a:t>CONTINUOUS IMPROVEMENT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877824" y="2633472"/>
            <a:ext cx="10436047" cy="420624"/>
          </a:xfrm>
          <a:prstGeom prst="rect">
            <a:avLst/>
          </a:prstGeom>
          <a:solidFill>
            <a:srgbClr val="1C1C1C"/>
          </a:solidFill>
          <a:ln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06424" y="2633472"/>
            <a:ext cx="9978847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150" b="1" i="0" cap="all" spc="115">
                <a:solidFill>
                  <a:srgbClr val="FFFFFF"/>
                </a:solidFill>
                <a:latin typeface="Inter"/>
              </a:rPr>
              <a:t>GOVERNANCE</a:t>
            </a:r>
            <a:r>
              <a:rPr lang="en-AU" sz="1000" b="0" i="0" spc="0">
                <a:solidFill>
                  <a:srgbClr val="FFFFFF"/>
                </a:solidFill>
                <a:latin typeface="Inter"/>
              </a:rPr>
              <a:t>    Thought leadership · Product &amp; vendor relationship · Technical-debt reduction · WD bi-annual release management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7824" y="3200400"/>
            <a:ext cx="2512999" cy="457200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0976" y="3200400"/>
            <a:ext cx="2366695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950" b="1" i="0" spc="-4">
                <a:solidFill>
                  <a:srgbClr val="FFFFFF"/>
                </a:solidFill>
                <a:latin typeface="Inter"/>
              </a:rPr>
              <a:t>Incident management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18839" y="3200400"/>
            <a:ext cx="2512999" cy="457200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91991" y="3200400"/>
            <a:ext cx="2366695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950" b="1" i="0" spc="-4">
                <a:solidFill>
                  <a:srgbClr val="FFFFFF"/>
                </a:solidFill>
                <a:latin typeface="Inter"/>
              </a:rPr>
              <a:t>Problem management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59855" y="3200400"/>
            <a:ext cx="2512999" cy="457200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33007" y="3200400"/>
            <a:ext cx="2366695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950" b="1" i="0" spc="-4">
                <a:solidFill>
                  <a:srgbClr val="FFFFFF"/>
                </a:solidFill>
                <a:latin typeface="Inter"/>
              </a:rPr>
              <a:t>Change management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00871" y="3200400"/>
            <a:ext cx="2512999" cy="457200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74023" y="3200400"/>
            <a:ext cx="2366695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950" b="1" i="0" spc="-4">
                <a:solidFill>
                  <a:srgbClr val="FFFFFF"/>
                </a:solidFill>
                <a:latin typeface="Inter"/>
              </a:rPr>
              <a:t>Release management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7824" y="3785615"/>
            <a:ext cx="2512999" cy="457200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0976" y="3785615"/>
            <a:ext cx="2366695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950" b="1" i="0" spc="-4">
                <a:solidFill>
                  <a:srgbClr val="FFFFFF"/>
                </a:solidFill>
                <a:latin typeface="Inter"/>
              </a:rPr>
              <a:t>Service requests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18839" y="3785615"/>
            <a:ext cx="2512999" cy="457200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91991" y="3785615"/>
            <a:ext cx="2366695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950" b="1" i="0" spc="-4">
                <a:solidFill>
                  <a:srgbClr val="FFFFFF"/>
                </a:solidFill>
                <a:latin typeface="Inter"/>
              </a:rPr>
              <a:t>Change Advisory Board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59855" y="3785615"/>
            <a:ext cx="2512999" cy="457200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33007" y="3785615"/>
            <a:ext cx="2366695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950" b="1" i="0" spc="-4">
                <a:solidFill>
                  <a:srgbClr val="FFFFFF"/>
                </a:solidFill>
                <a:latin typeface="Inter"/>
              </a:rPr>
              <a:t>SLAs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00871" y="3785615"/>
            <a:ext cx="2512999" cy="457200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74023" y="3785615"/>
            <a:ext cx="2366695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950" b="1" i="0" spc="-4">
                <a:solidFill>
                  <a:srgbClr val="FFFFFF"/>
                </a:solidFill>
                <a:latin typeface="Inter"/>
              </a:rPr>
              <a:t>Metrics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7824" y="4370832"/>
            <a:ext cx="2512999" cy="457200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0976" y="4370832"/>
            <a:ext cx="2366695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950" b="1" i="0" spc="-4">
                <a:solidFill>
                  <a:srgbClr val="FFFFFF"/>
                </a:solidFill>
                <a:latin typeface="Inter"/>
              </a:rPr>
              <a:t>Integration health checks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18839" y="4370832"/>
            <a:ext cx="2512999" cy="457200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591991" y="4370832"/>
            <a:ext cx="2366695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950" b="1" i="0" spc="-4">
                <a:solidFill>
                  <a:srgbClr val="FFFFFF"/>
                </a:solidFill>
                <a:latin typeface="Inter"/>
              </a:rPr>
              <a:t>Backlog management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59855" y="4370832"/>
            <a:ext cx="2512999" cy="457200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33007" y="4370832"/>
            <a:ext cx="2366695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950" b="1" i="0" spc="-4">
                <a:solidFill>
                  <a:srgbClr val="FFFFFF"/>
                </a:solidFill>
                <a:latin typeface="Inter"/>
              </a:rPr>
              <a:t>Prioritisation forum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800871" y="4370832"/>
            <a:ext cx="2512999" cy="457200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874023" y="4370832"/>
            <a:ext cx="2366695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950" b="1" i="0" spc="-4">
                <a:solidFill>
                  <a:srgbClr val="FFFFFF"/>
                </a:solidFill>
                <a:latin typeface="Inter"/>
              </a:rPr>
              <a:t>Capacity management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7824" y="4956048"/>
            <a:ext cx="2512999" cy="457200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50976" y="4956048"/>
            <a:ext cx="2366695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950" b="1" i="0" spc="-4">
                <a:solidFill>
                  <a:srgbClr val="FFFFFF"/>
                </a:solidFill>
                <a:latin typeface="Inter"/>
              </a:rPr>
              <a:t>Enhancements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18839" y="4956048"/>
            <a:ext cx="2512999" cy="457200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591991" y="4956048"/>
            <a:ext cx="2366695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950" b="1" i="0" spc="-4">
                <a:solidFill>
                  <a:srgbClr val="FFFFFF"/>
                </a:solidFill>
                <a:latin typeface="Inter"/>
              </a:rPr>
              <a:t>Knowledge base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59855" y="4956048"/>
            <a:ext cx="2512999" cy="457200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33007" y="4956048"/>
            <a:ext cx="2366695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950" b="1" i="0" spc="-4">
                <a:solidFill>
                  <a:srgbClr val="FFFFFF"/>
                </a:solidFill>
                <a:latin typeface="Inter"/>
              </a:rPr>
              <a:t>Cyber security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800871" y="4956048"/>
            <a:ext cx="2512999" cy="457200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874023" y="4956048"/>
            <a:ext cx="2366695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950" b="1" i="0" spc="-4">
                <a:solidFill>
                  <a:srgbClr val="FFFFFF"/>
                </a:solidFill>
                <a:latin typeface="Inter"/>
              </a:rPr>
              <a:t>BP &amp; security config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77824" y="5541264"/>
            <a:ext cx="10436047" cy="384048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106424" y="5541264"/>
            <a:ext cx="9978847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150" b="1" i="0" cap="all" spc="115">
                <a:solidFill>
                  <a:srgbClr val="FFFFFF"/>
                </a:solidFill>
                <a:latin typeface="Inter"/>
              </a:rPr>
              <a:t>SERVICE INTEGRATION · ITSM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7824" y="6016752"/>
            <a:ext cx="3387242" cy="365760"/>
          </a:xfrm>
          <a:prstGeom prst="rect">
            <a:avLst/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50976" y="6016752"/>
            <a:ext cx="3240938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000" b="1" i="0" spc="-5">
                <a:solidFill>
                  <a:srgbClr val="EA493F"/>
                </a:solidFill>
                <a:latin typeface="Inter"/>
              </a:rPr>
              <a:t>OPERATIONS AS A PRIORITY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402226" y="6016752"/>
            <a:ext cx="3387242" cy="365760"/>
          </a:xfrm>
          <a:prstGeom prst="rect">
            <a:avLst/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475378" y="6016752"/>
            <a:ext cx="3240938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000" b="1" i="0" spc="-5">
                <a:solidFill>
                  <a:srgbClr val="EA493F"/>
                </a:solidFill>
                <a:latin typeface="Inter"/>
              </a:rPr>
              <a:t>BUSINESS VALUE REALISATION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26628" y="6016752"/>
            <a:ext cx="3387242" cy="365760"/>
          </a:xfrm>
          <a:prstGeom prst="rect">
            <a:avLst/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999780" y="6016752"/>
            <a:ext cx="3240938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000" b="1" i="0" spc="-5">
                <a:solidFill>
                  <a:srgbClr val="EA493F"/>
                </a:solidFill>
                <a:latin typeface="Inter"/>
              </a:rPr>
              <a:t>OPERATIONAL EXCELLENCE · ITIL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100" b="1" i="0" cap="all" spc="154">
                <a:solidFill>
                  <a:srgbClr val="EA493F"/>
                </a:solidFill>
                <a:latin typeface="Inter"/>
              </a:rPr>
              <a:t>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14400"/>
            <a:ext cx="10436047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3300" b="1" i="0" spc="-72">
                <a:solidFill>
                  <a:srgbClr val="FFFFFF"/>
                </a:solidFill>
                <a:latin typeface="Inter"/>
              </a:rPr>
              <a:t>Governance — </a:t>
            </a:r>
            <a:r>
              <a:rPr lang="en-AU" sz="3300" b="1" i="0" spc="-72">
                <a:solidFill>
                  <a:srgbClr val="EA493F"/>
                </a:solidFill>
                <a:latin typeface="Inter"/>
              </a:rPr>
              <a:t>aligned at every tier.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946926" y="1755648"/>
            <a:ext cx="8298147" cy="452236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A screen shot of a diagram&#10;&#10;AI-generated content may be incorrect.">
            <a:extLst>
              <a:ext uri="{FF2B5EF4-FFF2-40B4-BE49-F238E27FC236}">
                <a16:creationId xmlns:a16="http://schemas.microsoft.com/office/drawing/2014/main" id="{B076234D-C9BC-A483-757A-14C1E71951E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687" b="4759"/>
          <a:stretch>
            <a:fillRect/>
          </a:stretch>
        </p:blipFill>
        <p:spPr bwMode="auto">
          <a:xfrm>
            <a:off x="2111518" y="1920240"/>
            <a:ext cx="7968963" cy="419317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Connector 13"/>
          <p:cNvCxnSpPr>
            <a:cxnSpLocks/>
          </p:cNvCxnSpPr>
          <p:nvPr/>
        </p:nvCxnSpPr>
        <p:spPr>
          <a:xfrm>
            <a:off x="6096000" y="4716999"/>
            <a:ext cx="0" cy="27432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13">
            <a:extLst>
              <a:ext uri="{FF2B5EF4-FFF2-40B4-BE49-F238E27FC236}">
                <a16:creationId xmlns:a16="http://schemas.microsoft.com/office/drawing/2014/main" id="{9FBE9EEB-F172-D844-4773-AE08CB561A7E}"/>
              </a:ext>
            </a:extLst>
          </p:cNvPr>
          <p:cNvCxnSpPr>
            <a:cxnSpLocks/>
          </p:cNvCxnSpPr>
          <p:nvPr/>
        </p:nvCxnSpPr>
        <p:spPr>
          <a:xfrm>
            <a:off x="6096000" y="3594466"/>
            <a:ext cx="0" cy="274320"/>
          </a:xfrm>
          <a:prstGeom prst="bentConnector3">
            <a:avLst>
              <a:gd name="adj1" fmla="val 2147483646"/>
            </a:avLst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100" b="1" i="0" cap="all" spc="154">
                <a:solidFill>
                  <a:srgbClr val="EA493F"/>
                </a:solidFill>
                <a:latin typeface="Inter"/>
              </a:rPr>
              <a:t>TEAM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14400"/>
            <a:ext cx="10436047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3300" b="1" i="0" spc="-72" dirty="0">
                <a:solidFill>
                  <a:srgbClr val="FFFFFF"/>
                </a:solidFill>
                <a:latin typeface="Inter"/>
              </a:rPr>
              <a:t>One integrated AMS team — </a:t>
            </a:r>
            <a:r>
              <a:rPr lang="en-AU" sz="3300" b="1" i="0" spc="-72" dirty="0">
                <a:solidFill>
                  <a:srgbClr val="EA493F"/>
                </a:solidFill>
                <a:latin typeface="Inter"/>
              </a:rPr>
              <a:t>onshore + offshore.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8637977-9C98-501F-1EAE-B376020457A1}"/>
              </a:ext>
            </a:extLst>
          </p:cNvPr>
          <p:cNvGrpSpPr/>
          <p:nvPr/>
        </p:nvGrpSpPr>
        <p:grpSpPr>
          <a:xfrm>
            <a:off x="3566890" y="2679192"/>
            <a:ext cx="4989423" cy="1115568"/>
            <a:chOff x="877824" y="2286000"/>
            <a:chExt cx="4989423" cy="1115568"/>
          </a:xfrm>
        </p:grpSpPr>
        <p:sp>
          <p:nvSpPr>
            <p:cNvPr id="5" name="Rectangle 4"/>
            <p:cNvSpPr/>
            <p:nvPr/>
          </p:nvSpPr>
          <p:spPr>
            <a:xfrm>
              <a:off x="877824" y="2286000"/>
              <a:ext cx="4989423" cy="9601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4E4E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133856" y="2468880"/>
              <a:ext cx="4532223" cy="36576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AU" sz="1500" b="1" i="0" spc="-15">
                  <a:solidFill>
                    <a:srgbClr val="111111"/>
                  </a:solidFill>
                  <a:latin typeface="Inter"/>
                </a:rPr>
                <a:t>Client Partner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133856" y="2852928"/>
              <a:ext cx="4532223" cy="54864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lnSpc>
                  <a:spcPct val="11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AU" sz="1050" b="0" i="0" spc="0">
                  <a:solidFill>
                    <a:srgbClr val="323232"/>
                  </a:solidFill>
                  <a:latin typeface="Inter"/>
                </a:rPr>
                <a:t>Strategic relationship &amp; sponsorship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A18E2A6-043C-A0B7-9EFC-90A24DAF5DA2}"/>
              </a:ext>
            </a:extLst>
          </p:cNvPr>
          <p:cNvGrpSpPr/>
          <p:nvPr/>
        </p:nvGrpSpPr>
        <p:grpSpPr>
          <a:xfrm>
            <a:off x="3566889" y="3818927"/>
            <a:ext cx="4989423" cy="1115568"/>
            <a:chOff x="6324447" y="2351315"/>
            <a:chExt cx="4989423" cy="1115568"/>
          </a:xfrm>
        </p:grpSpPr>
        <p:sp>
          <p:nvSpPr>
            <p:cNvPr id="8" name="Rectangle 7"/>
            <p:cNvSpPr/>
            <p:nvPr/>
          </p:nvSpPr>
          <p:spPr>
            <a:xfrm>
              <a:off x="6324447" y="2351315"/>
              <a:ext cx="4989423" cy="9601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4E4E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580479" y="2534195"/>
              <a:ext cx="4532223" cy="36576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AU" sz="1500" b="1" i="0" spc="-15">
                  <a:solidFill>
                    <a:srgbClr val="111111"/>
                  </a:solidFill>
                  <a:latin typeface="Inter"/>
                </a:rPr>
                <a:t>Service Delivery Lead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580479" y="2918243"/>
              <a:ext cx="4532223" cy="54864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lnSpc>
                  <a:spcPct val="11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AU" sz="1050" b="0" i="0" spc="0">
                  <a:solidFill>
                    <a:srgbClr val="323232"/>
                  </a:solidFill>
                  <a:latin typeface="Inter"/>
                </a:rPr>
                <a:t>Day-to-day AMS operations &amp; SLAs</a:t>
              </a:r>
            </a:p>
          </p:txBody>
        </p:sp>
      </p:grpSp>
      <p:cxnSp>
        <p:nvCxnSpPr>
          <p:cNvPr id="11" name="Connector 10"/>
          <p:cNvCxnSpPr/>
          <p:nvPr/>
        </p:nvCxnSpPr>
        <p:spPr>
          <a:xfrm>
            <a:off x="3374866" y="4991315"/>
            <a:ext cx="0" cy="320040"/>
          </a:xfrm>
          <a:prstGeom prst="bentConnector3">
            <a:avLst>
              <a:gd name="adj1" fmla="val 2147483646"/>
            </a:avLst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>
            <a:cxnSpLocks/>
          </p:cNvCxnSpPr>
          <p:nvPr/>
        </p:nvCxnSpPr>
        <p:spPr>
          <a:xfrm>
            <a:off x="8821490" y="4991315"/>
            <a:ext cx="0" cy="32004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377477" y="4991315"/>
            <a:ext cx="5446624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880155" y="5344013"/>
            <a:ext cx="4989423" cy="1051560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36187" y="5526893"/>
            <a:ext cx="4532223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500" b="1" i="0" spc="-15">
                <a:solidFill>
                  <a:srgbClr val="FFFFFF"/>
                </a:solidFill>
                <a:latin typeface="Inter"/>
              </a:rPr>
              <a:t>Onshore · Australia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187" y="5910941"/>
            <a:ext cx="4532223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050" b="0" i="0" spc="0">
                <a:solidFill>
                  <a:srgbClr val="CFCFCF"/>
                </a:solidFill>
                <a:latin typeface="Inter"/>
              </a:rPr>
              <a:t>Functional / Integration Consultants — Core HCM · Financials · Integrations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26778" y="5344013"/>
            <a:ext cx="4989423" cy="1051560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2810" y="5526893"/>
            <a:ext cx="4532223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500" b="1" i="0" spc="-15">
                <a:solidFill>
                  <a:srgbClr val="FFFFFF"/>
                </a:solidFill>
                <a:latin typeface="Inter"/>
              </a:rPr>
              <a:t>Offshore · India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2810" y="5910941"/>
            <a:ext cx="4532223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050" b="0" i="0" spc="0">
                <a:solidFill>
                  <a:srgbClr val="CFCFCF"/>
                </a:solidFill>
                <a:latin typeface="Inter"/>
              </a:rPr>
              <a:t>Functional / Integration Consultants — Core HCM · Financials · Integrations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6305A14-AEBE-8779-B93F-7B2941E5C937}"/>
              </a:ext>
            </a:extLst>
          </p:cNvPr>
          <p:cNvGrpSpPr/>
          <p:nvPr/>
        </p:nvGrpSpPr>
        <p:grpSpPr>
          <a:xfrm>
            <a:off x="3566889" y="1708620"/>
            <a:ext cx="4989422" cy="815123"/>
            <a:chOff x="877824" y="5845628"/>
            <a:chExt cx="4989423" cy="815123"/>
          </a:xfrm>
        </p:grpSpPr>
        <p:sp>
          <p:nvSpPr>
            <p:cNvPr id="21" name="Rectangle 20"/>
            <p:cNvSpPr/>
            <p:nvPr/>
          </p:nvSpPr>
          <p:spPr>
            <a:xfrm>
              <a:off x="877824" y="5845628"/>
              <a:ext cx="4989423" cy="815123"/>
            </a:xfrm>
            <a:prstGeom prst="rect">
              <a:avLst/>
            </a:prstGeom>
            <a:solidFill>
              <a:srgbClr val="EA49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133856" y="5925312"/>
              <a:ext cx="4532223" cy="36576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AU" sz="1100" b="1" i="0" cap="all" spc="110" dirty="0">
                  <a:solidFill>
                    <a:srgbClr val="FFFFFF"/>
                  </a:solidFill>
                  <a:latin typeface="Inter"/>
                </a:rPr>
                <a:t>THOUGHT LEADERSHIP</a:t>
              </a:r>
              <a:br>
                <a:rPr lang="en-AU" sz="1100" b="1" i="0" cap="all" spc="110" dirty="0">
                  <a:solidFill>
                    <a:srgbClr val="FFFFFF"/>
                  </a:solidFill>
                  <a:latin typeface="Inter"/>
                </a:rPr>
              </a:br>
              <a:endParaRPr lang="en-AU" sz="1100" b="1" i="0" cap="all" spc="110" dirty="0">
                <a:solidFill>
                  <a:srgbClr val="FFFFFF"/>
                </a:solidFill>
                <a:latin typeface="Inter"/>
              </a:endParaRP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AU" sz="1100" b="1" i="0" cap="all" spc="110" dirty="0">
                <a:solidFill>
                  <a:srgbClr val="FFFFFF"/>
                </a:solidFill>
                <a:latin typeface="Inter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133856" y="6110803"/>
              <a:ext cx="4532223" cy="44871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</a:pPr>
              <a:br>
                <a:rPr lang="en-AU" sz="1050" b="1" i="0" spc="0" dirty="0">
                  <a:solidFill>
                    <a:srgbClr val="FFFFFF"/>
                  </a:solidFill>
                  <a:latin typeface="Inter"/>
                </a:rPr>
              </a:br>
              <a:r>
                <a:rPr lang="en-AU" sz="1050" b="1" i="0" spc="0" dirty="0">
                  <a:solidFill>
                    <a:srgbClr val="FFFFFF"/>
                  </a:solidFill>
                  <a:latin typeface="Inter"/>
                </a:rPr>
                <a:t>Strategic advisory · direct CEO access for escalation &amp; sponsorship.</a:t>
              </a:r>
            </a:p>
          </p:txBody>
        </p:sp>
      </p:grp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100" b="1" i="0" cap="all" spc="154">
                <a:solidFill>
                  <a:srgbClr val="EA493F"/>
                </a:solidFill>
                <a:latin typeface="Inter"/>
              </a:rPr>
              <a:t>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14400"/>
            <a:ext cx="10436047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3300" b="1" i="0" spc="-72">
                <a:solidFill>
                  <a:srgbClr val="FFFFFF"/>
                </a:solidFill>
                <a:latin typeface="Inter"/>
              </a:rPr>
              <a:t>Proven Workday </a:t>
            </a:r>
            <a:r>
              <a:rPr lang="en-AU" sz="3300" b="1" i="0" spc="-72">
                <a:solidFill>
                  <a:srgbClr val="EA493F"/>
                </a:solidFill>
                <a:latin typeface="Inter"/>
              </a:rPr>
              <a:t>outcomes.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828800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300" b="0" i="0" spc="0">
                <a:solidFill>
                  <a:srgbClr val="CFCFCF"/>
                </a:solidFill>
                <a:latin typeface="Inter"/>
              </a:rPr>
              <a:t>Long-term partnerships with some of Australia's most demanding operations.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651760"/>
            <a:ext cx="3250082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200" b="1" i="0" cap="all" spc="72">
                <a:solidFill>
                  <a:srgbClr val="EA493F"/>
                </a:solidFill>
                <a:latin typeface="Inter"/>
              </a:rPr>
              <a:t>QANTAS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3154680"/>
            <a:ext cx="3222650" cy="3108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050" b="0" i="0" spc="0">
                <a:solidFill>
                  <a:srgbClr val="CFCFCF"/>
                </a:solidFill>
                <a:latin typeface="Inter"/>
              </a:rPr>
              <a:t>A partner since 2014 — taking over Workday support in 2017 and growing into a strategic partner across HR, Payroll, Digital, Automation, Data and Analytics. We scaled integrations, modernised architectures and embedded automation, evolving into a long-term enterprise partner.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356506" y="2697480"/>
            <a:ext cx="0" cy="347472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649114" y="2651760"/>
            <a:ext cx="2957474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200" b="1" i="0" cap="all" spc="72">
                <a:solidFill>
                  <a:srgbClr val="EA493F"/>
                </a:solidFill>
                <a:latin typeface="Inter"/>
              </a:rPr>
              <a:t>GUZMAN Y GOMEZ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9114" y="3154680"/>
            <a:ext cx="2930042" cy="3108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050" b="0" i="0" spc="0">
                <a:solidFill>
                  <a:srgbClr val="CFCFCF"/>
                </a:solidFill>
                <a:latin typeface="Inter"/>
              </a:rPr>
              <a:t>Stabilised and optimised Workday post–go-live across modules, reporting, security and compliance. Agile delivery onboarded 150+ franchisees, shipped new reporting and a redesigned security model, and lifted performance across HCM, Absence and Learning.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35188" y="2697480"/>
            <a:ext cx="0" cy="347472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127796" y="2651760"/>
            <a:ext cx="2957474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200" b="1" i="0" cap="all" spc="72">
                <a:solidFill>
                  <a:srgbClr val="EA493F"/>
                </a:solidFill>
                <a:latin typeface="Inter"/>
              </a:rPr>
              <a:t>WESTERN SYDNEY INTL AIRPORT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7796" y="3154680"/>
            <a:ext cx="2930042" cy="3108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050" b="0" i="0" spc="0">
                <a:solidFill>
                  <a:srgbClr val="CFCFCF"/>
                </a:solidFill>
                <a:latin typeface="Inter"/>
              </a:rPr>
              <a:t>Delivered a card-management system, then expanded into a strategic role on WSI's Workday program. By resolving functional and integration issues and assuming full AMS ownership, we stabilised HR, Payroll, Finance and Procurement.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100" b="1" i="0" cap="all" spc="154">
                <a:solidFill>
                  <a:srgbClr val="EA493F"/>
                </a:solidFill>
                <a:latin typeface="Inter"/>
              </a:rPr>
              <a:t>WHY MIVADA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1440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3400" b="1" i="0" spc="-74">
                <a:solidFill>
                  <a:srgbClr val="FFFFFF"/>
                </a:solidFill>
                <a:latin typeface="Inter"/>
              </a:rPr>
              <a:t>A partner, </a:t>
            </a:r>
            <a:r>
              <a:rPr lang="en-AU" sz="3400" b="1" i="0" spc="-74">
                <a:solidFill>
                  <a:srgbClr val="EA493F"/>
                </a:solidFill>
                <a:latin typeface="Inter"/>
              </a:rPr>
              <a:t>not a vendor.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2971800"/>
            <a:ext cx="3204362" cy="2377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300" b="1" i="0" spc="182" dirty="0">
                <a:solidFill>
                  <a:srgbClr val="EA493F"/>
                </a:solidFill>
                <a:latin typeface="Inter"/>
              </a:rPr>
              <a:t>01</a:t>
            </a:r>
          </a:p>
          <a:p>
            <a:pPr algn="l">
              <a:lnSpc>
                <a:spcPct val="102000"/>
              </a:lnSpc>
              <a:spcBef>
                <a:spcPts val="1200"/>
              </a:spcBef>
              <a:spcAft>
                <a:spcPts val="0"/>
              </a:spcAft>
            </a:pPr>
            <a:r>
              <a:rPr lang="en-AU" sz="2300" b="1" i="0" spc="-57" dirty="0">
                <a:solidFill>
                  <a:srgbClr val="FFFFFF"/>
                </a:solidFill>
                <a:latin typeface="Inter"/>
              </a:rPr>
              <a:t>We grew out of a customer</a:t>
            </a:r>
          </a:p>
          <a:p>
            <a:pPr algn="l">
              <a:lnSpc>
                <a:spcPct val="128000"/>
              </a:lnSpc>
              <a:spcBef>
                <a:spcPts val="1200"/>
              </a:spcBef>
              <a:spcAft>
                <a:spcPts val="0"/>
              </a:spcAft>
            </a:pPr>
            <a:r>
              <a:rPr lang="en-AU" sz="1250" b="0" i="0" spc="0" dirty="0">
                <a:solidFill>
                  <a:srgbClr val="CFCFCF"/>
                </a:solidFill>
                <a:latin typeface="Inter"/>
              </a:rPr>
              <a:t>So we understand your challenges from the inside — and we're not a Big 4.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56506" y="2971800"/>
            <a:ext cx="0" cy="233172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685690" y="2971800"/>
            <a:ext cx="2875178" cy="2377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300" b="1" i="0" spc="182">
                <a:solidFill>
                  <a:srgbClr val="EA493F"/>
                </a:solidFill>
                <a:latin typeface="Inter"/>
              </a:rPr>
              <a:t>02</a:t>
            </a:r>
          </a:p>
          <a:p>
            <a:pPr algn="l">
              <a:lnSpc>
                <a:spcPct val="102000"/>
              </a:lnSpc>
              <a:spcBef>
                <a:spcPts val="1200"/>
              </a:spcBef>
              <a:spcAft>
                <a:spcPts val="0"/>
              </a:spcAft>
            </a:pPr>
            <a:r>
              <a:rPr lang="en-AU" sz="2300" b="1" i="0" spc="-57">
                <a:solidFill>
                  <a:srgbClr val="FFFFFF"/>
                </a:solidFill>
                <a:latin typeface="Inter"/>
              </a:rPr>
              <a:t>Senior, local, accountable</a:t>
            </a:r>
          </a:p>
          <a:p>
            <a:pPr algn="l">
              <a:lnSpc>
                <a:spcPct val="128000"/>
              </a:lnSpc>
              <a:spcBef>
                <a:spcPts val="1200"/>
              </a:spcBef>
              <a:spcAft>
                <a:spcPts val="0"/>
              </a:spcAft>
            </a:pPr>
            <a:r>
              <a:rPr lang="en-AU" sz="1250" b="0" i="0" spc="0">
                <a:solidFill>
                  <a:srgbClr val="CFCFCF"/>
                </a:solidFill>
                <a:latin typeface="Inter"/>
              </a:rPr>
              <a:t>Australian-owned, with direct access to our CEO and a dedicated engagement manager.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835188" y="2971800"/>
            <a:ext cx="0" cy="233172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164372" y="2971800"/>
            <a:ext cx="2875178" cy="2377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300" b="1" i="0" spc="182">
                <a:solidFill>
                  <a:srgbClr val="EA493F"/>
                </a:solidFill>
                <a:latin typeface="Inter"/>
              </a:rPr>
              <a:t>03</a:t>
            </a:r>
          </a:p>
          <a:p>
            <a:pPr algn="l">
              <a:lnSpc>
                <a:spcPct val="102000"/>
              </a:lnSpc>
              <a:spcBef>
                <a:spcPts val="1200"/>
              </a:spcBef>
              <a:spcAft>
                <a:spcPts val="0"/>
              </a:spcAft>
            </a:pPr>
            <a:r>
              <a:rPr lang="en-AU" sz="2300" b="1" i="0" spc="-57">
                <a:solidFill>
                  <a:srgbClr val="FFFFFF"/>
                </a:solidFill>
                <a:latin typeface="Inter"/>
              </a:rPr>
              <a:t>In it for the long term</a:t>
            </a:r>
          </a:p>
          <a:p>
            <a:pPr algn="l">
              <a:lnSpc>
                <a:spcPct val="128000"/>
              </a:lnSpc>
              <a:spcBef>
                <a:spcPts val="1200"/>
              </a:spcBef>
              <a:spcAft>
                <a:spcPts val="0"/>
              </a:spcAft>
            </a:pPr>
            <a:r>
              <a:rPr lang="en-AU" sz="1250" b="0" i="0" spc="0">
                <a:solidFill>
                  <a:srgbClr val="CFCFCF"/>
                </a:solidFill>
                <a:latin typeface="Inter"/>
              </a:rPr>
              <a:t>From go-live into managed services — we grow with you.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77824" y="219456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200" b="1" i="0" cap="all" spc="192">
                <a:solidFill>
                  <a:srgbClr val="EA493F"/>
                </a:solidFill>
                <a:latin typeface="Inter"/>
              </a:rPr>
              <a:t>LET'S TALK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606040"/>
            <a:ext cx="10241280" cy="274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4400" b="1" i="0" spc="-110">
                <a:solidFill>
                  <a:srgbClr val="FFFFFF"/>
                </a:solidFill>
                <a:latin typeface="Inter"/>
              </a:rPr>
              <a:t>Let's build something </a:t>
            </a:r>
            <a:r>
              <a:rPr lang="en-AU" sz="4400" b="1" i="0" spc="-110">
                <a:solidFill>
                  <a:srgbClr val="EA493F"/>
                </a:solidFill>
                <a:latin typeface="Inter"/>
              </a:rPr>
              <a:t>human.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77824" y="5852160"/>
            <a:ext cx="10436047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77824" y="598932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250" b="1" i="0" spc="25">
                <a:solidFill>
                  <a:srgbClr val="CFCFCF"/>
                </a:solidFill>
                <a:latin typeface="Inter"/>
              </a:rPr>
              <a:t>hello@mivada.com · mivada.com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0895" y="5989320"/>
            <a:ext cx="5522976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250" b="0" i="0" spc="25">
                <a:solidFill>
                  <a:srgbClr val="CFCFCF"/>
                </a:solidFill>
                <a:latin typeface="Inter"/>
              </a:rPr>
              <a:t>Sydney · Melbourne · AU &amp; India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749808"/>
            <a:ext cx="2531685" cy="3840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992</Words>
  <Application>Microsoft Macintosh PowerPoint</Application>
  <PresentationFormat>Widescreen</PresentationFormat>
  <Paragraphs>186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Arial</vt:lpstr>
      <vt:lpstr>Calibri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Daniel Zrno</cp:lastModifiedBy>
  <cp:revision>4</cp:revision>
  <dcterms:created xsi:type="dcterms:W3CDTF">2013-01-27T09:14:16Z</dcterms:created>
  <dcterms:modified xsi:type="dcterms:W3CDTF">2026-06-07T05:34:34Z</dcterms:modified>
  <cp:category/>
</cp:coreProperties>
</file>