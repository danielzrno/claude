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8"/>
  </p:notesMasterIdLst>
  <p:sldIdLst>
    <p:sldId id="256" r:id="rId2"/>
    <p:sldId id="257" r:id="rId3"/>
    <p:sldId id="258" r:id="rId4"/>
    <p:sldId id="271" r:id="rId5"/>
    <p:sldId id="259" r:id="rId6"/>
    <p:sldId id="260" r:id="rId7"/>
    <p:sldId id="264" r:id="rId8"/>
    <p:sldId id="276" r:id="rId9"/>
    <p:sldId id="280" r:id="rId25"/>
    <p:sldId id="284" r:id="rId29"/>
    <p:sldId id="278" r:id="rId23"/>
    <p:sldId id="282" r:id="rId27"/>
    <p:sldId id="281" r:id="rId26"/>
    <p:sldId id="283" r:id="rId28"/>
    <p:sldId id="277" r:id="rId11"/>
    <p:sldId id="265" r:id="rId12"/>
    <p:sldId id="285" r:id="rId24"/>
    <p:sldId id="286" r:id="rId10"/>
    <p:sldId id="287" r:id="rId30"/>
    <p:sldId id="288" r:id="rId31"/>
    <p:sldId id="289" r:id="rId32"/>
    <p:sldId id="290" r:id="rId33"/>
    <p:sldId id="267" r:id="rId13"/>
    <p:sldId id="268" r:id="rId14"/>
    <p:sldId id="269" r:id="rId15"/>
    <p:sldId id="270" r:id="rId16"/>
    <p:sldId id="272" r:id="rId17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10101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428"/>
    <p:restoredTop sz="77273"/>
  </p:normalViewPr>
  <p:slideViewPr>
    <p:cSldViewPr snapToGrid="0" snapToObjects="1">
      <p:cViewPr>
        <p:scale>
          <a:sx n="101" d="100"/>
          <a:sy n="101" d="100"/>
        </p:scale>
        <p:origin x="1616" y="62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18.xml"/><Relationship Id="rId11" Type="http://schemas.openxmlformats.org/officeDocument/2006/relationships/slide" Target="slides/slide15.xml"/><Relationship Id="rId12" Type="http://schemas.openxmlformats.org/officeDocument/2006/relationships/slide" Target="slides/slide16.xml"/><Relationship Id="rId13" Type="http://schemas.openxmlformats.org/officeDocument/2006/relationships/slide" Target="slides/slide23.xml"/><Relationship Id="rId14" Type="http://schemas.openxmlformats.org/officeDocument/2006/relationships/slide" Target="slides/slide24.xml"/><Relationship Id="rId15" Type="http://schemas.openxmlformats.org/officeDocument/2006/relationships/slide" Target="slides/slide25.xml"/><Relationship Id="rId16" Type="http://schemas.openxmlformats.org/officeDocument/2006/relationships/slide" Target="slides/slide26.xml"/><Relationship Id="rId17" Type="http://schemas.openxmlformats.org/officeDocument/2006/relationships/slide" Target="slides/slide27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Relationship Id="rId23" Type="http://schemas.openxmlformats.org/officeDocument/2006/relationships/slide" Target="slides/slide11.xml"/><Relationship Id="rId24" Type="http://schemas.openxmlformats.org/officeDocument/2006/relationships/slide" Target="slides/slide17.xml"/><Relationship Id="rId25" Type="http://schemas.openxmlformats.org/officeDocument/2006/relationships/slide" Target="slides/slide9.xml"/><Relationship Id="rId26" Type="http://schemas.openxmlformats.org/officeDocument/2006/relationships/slide" Target="slides/slide13.xml"/><Relationship Id="rId27" Type="http://schemas.openxmlformats.org/officeDocument/2006/relationships/slide" Target="slides/slide12.xml"/><Relationship Id="rId28" Type="http://schemas.openxmlformats.org/officeDocument/2006/relationships/slide" Target="slides/slide14.xml"/><Relationship Id="rId29" Type="http://schemas.openxmlformats.org/officeDocument/2006/relationships/slide" Target="slides/slide10.xml"/><Relationship Id="rId30" Type="http://schemas.openxmlformats.org/officeDocument/2006/relationships/slide" Target="slides/slide19.xml"/><Relationship Id="rId31" Type="http://schemas.openxmlformats.org/officeDocument/2006/relationships/slide" Target="slides/slide20.xml"/><Relationship Id="rId32" Type="http://schemas.openxmlformats.org/officeDocument/2006/relationships/slide" Target="slides/slide21.xml"/><Relationship Id="rId33" Type="http://schemas.openxmlformats.org/officeDocument/2006/relationships/slide" Target="slides/slide2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AU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118246E-F43B-7844-94AD-6FEDFECFA997}" type="datetimeFigureOut">
              <a:rPr lang="en-AU" smtClean="0"/>
              <a:t>7/6/2026</a:t>
            </a:fld>
            <a:endParaRPr lang="en-AU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AU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A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A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0CB14CE-0691-564D-9B14-1D54B32B15D1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22453272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0CB14CE-0691-564D-9B14-1D54B32B15D1}" type="slidenum">
              <a:rPr lang="en-AU" smtClean="0"/>
              <a:t>8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421592510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6/7/26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6/7/26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6/7/26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6/7/26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6/7/26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6/7/26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6/7/26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28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png"/><Relationship Id="rId6" Type="http://schemas.openxmlformats.org/officeDocument/2006/relationships/image" Target="../media/image7.png"/><Relationship Id="rId7" Type="http://schemas.openxmlformats.org/officeDocument/2006/relationships/image" Target="../media/image8.png"/><Relationship Id="rId8" Type="http://schemas.openxmlformats.org/officeDocument/2006/relationships/image" Target="../media/image9.png"/><Relationship Id="rId9" Type="http://schemas.openxmlformats.org/officeDocument/2006/relationships/image" Target="../media/image10.png"/><Relationship Id="rId10" Type="http://schemas.openxmlformats.org/officeDocument/2006/relationships/image" Target="../media/image11.png"/><Relationship Id="rId11" Type="http://schemas.openxmlformats.org/officeDocument/2006/relationships/image" Target="../media/image12.png"/><Relationship Id="rId12" Type="http://schemas.openxmlformats.org/officeDocument/2006/relationships/image" Target="../media/image13.png"/><Relationship Id="rId13" Type="http://schemas.openxmlformats.org/officeDocument/2006/relationships/image" Target="../media/image14.png"/><Relationship Id="rId14" Type="http://schemas.openxmlformats.org/officeDocument/2006/relationships/image" Target="../media/image15.png"/><Relationship Id="rId15" Type="http://schemas.openxmlformats.org/officeDocument/2006/relationships/image" Target="../media/image16.jpeg"/><Relationship Id="rId16" Type="http://schemas.openxmlformats.org/officeDocument/2006/relationships/image" Target="../media/image17.png"/><Relationship Id="rId17" Type="http://schemas.openxmlformats.org/officeDocument/2006/relationships/image" Target="../media/image18.png"/><Relationship Id="rId18" Type="http://schemas.openxmlformats.org/officeDocument/2006/relationships/image" Target="../media/image19.png"/><Relationship Id="rId19" Type="http://schemas.openxmlformats.org/officeDocument/2006/relationships/image" Target="../media/image20.png"/><Relationship Id="rId20" Type="http://schemas.openxmlformats.org/officeDocument/2006/relationships/image" Target="../media/image21.png"/><Relationship Id="rId21" Type="http://schemas.openxmlformats.org/officeDocument/2006/relationships/image" Target="../media/image22.png"/><Relationship Id="rId22" Type="http://schemas.openxmlformats.org/officeDocument/2006/relationships/image" Target="../media/image23.png"/><Relationship Id="rId23" Type="http://schemas.openxmlformats.org/officeDocument/2006/relationships/image" Target="../media/image24.png"/><Relationship Id="rId24" Type="http://schemas.openxmlformats.org/officeDocument/2006/relationships/image" Target="../media/image25.jpeg"/><Relationship Id="rId25" Type="http://schemas.openxmlformats.org/officeDocument/2006/relationships/image" Target="../media/image26.png"/><Relationship Id="rId26" Type="http://schemas.openxmlformats.org/officeDocument/2006/relationships/image" Target="../media/image27.png"/><Relationship Id="rId27" Type="http://schemas.openxmlformats.org/officeDocument/2006/relationships/image" Target="../media/image28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png"/><Relationship Id="rId6" Type="http://schemas.openxmlformats.org/officeDocument/2006/relationships/image" Target="../media/image7.png"/><Relationship Id="rId7" Type="http://schemas.openxmlformats.org/officeDocument/2006/relationships/image" Target="../media/image8.png"/><Relationship Id="rId8" Type="http://schemas.openxmlformats.org/officeDocument/2006/relationships/image" Target="../media/image9.png"/><Relationship Id="rId9" Type="http://schemas.openxmlformats.org/officeDocument/2006/relationships/image" Target="../media/image10.png"/><Relationship Id="rId10" Type="http://schemas.openxmlformats.org/officeDocument/2006/relationships/image" Target="../media/image11.png"/><Relationship Id="rId11" Type="http://schemas.openxmlformats.org/officeDocument/2006/relationships/image" Target="../media/image12.png"/><Relationship Id="rId12" Type="http://schemas.openxmlformats.org/officeDocument/2006/relationships/image" Target="../media/image13.png"/><Relationship Id="rId13" Type="http://schemas.openxmlformats.org/officeDocument/2006/relationships/image" Target="../media/image14.png"/><Relationship Id="rId14" Type="http://schemas.openxmlformats.org/officeDocument/2006/relationships/image" Target="../media/image15.png"/><Relationship Id="rId15" Type="http://schemas.openxmlformats.org/officeDocument/2006/relationships/image" Target="../media/image16.jpeg"/><Relationship Id="rId16" Type="http://schemas.openxmlformats.org/officeDocument/2006/relationships/image" Target="../media/image17.png"/><Relationship Id="rId17" Type="http://schemas.openxmlformats.org/officeDocument/2006/relationships/image" Target="../media/image18.png"/><Relationship Id="rId18" Type="http://schemas.openxmlformats.org/officeDocument/2006/relationships/image" Target="../media/image19.png"/><Relationship Id="rId19" Type="http://schemas.openxmlformats.org/officeDocument/2006/relationships/image" Target="../media/image20.png"/><Relationship Id="rId20" Type="http://schemas.openxmlformats.org/officeDocument/2006/relationships/image" Target="../media/image21.png"/><Relationship Id="rId21" Type="http://schemas.openxmlformats.org/officeDocument/2006/relationships/image" Target="../media/image22.png"/><Relationship Id="rId22" Type="http://schemas.openxmlformats.org/officeDocument/2006/relationships/image" Target="../media/image23.png"/><Relationship Id="rId23" Type="http://schemas.openxmlformats.org/officeDocument/2006/relationships/image" Target="../media/image24.png"/><Relationship Id="rId24" Type="http://schemas.openxmlformats.org/officeDocument/2006/relationships/image" Target="../media/image25.jpeg"/><Relationship Id="rId25" Type="http://schemas.openxmlformats.org/officeDocument/2006/relationships/image" Target="../media/image28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2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8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28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28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28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8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28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28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28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28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28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28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28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28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29.png"/><Relationship Id="rId4" Type="http://schemas.openxmlformats.org/officeDocument/2006/relationships/image" Target="../media/image28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28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28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1828800" y="3767328"/>
            <a:ext cx="8534095" cy="5486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600" b="1" i="0" spc="0">
                <a:solidFill>
                  <a:srgbClr val="FFFFFF"/>
                </a:solidFill>
                <a:latin typeface="Inter"/>
              </a:rPr>
              <a:t>Technology, </a:t>
            </a:r>
            <a:r>
              <a:rPr lang="en-AU" sz="1600" b="1" i="0" spc="0">
                <a:solidFill>
                  <a:srgbClr val="EA493F"/>
                </a:solidFill>
                <a:latin typeface="Inter"/>
              </a:rPr>
              <a:t>human first.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42215" y="2487168"/>
            <a:ext cx="5907265" cy="896112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877824" y="2331720"/>
            <a:ext cx="9601200" cy="3200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200" b="1" i="0" cap="all" spc="192">
                <a:solidFill>
                  <a:srgbClr val="EA493F"/>
                </a:solidFill>
                <a:latin typeface="Inter"/>
              </a:rPr>
              <a:t>MIVADA · COMPANY OVERVIEW &amp; SERVICES ·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2697480"/>
            <a:ext cx="10607040" cy="292608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5400" b="1" i="0" spc="-135">
                <a:solidFill>
                  <a:srgbClr val="FFFFFF"/>
                </a:solidFill>
                <a:latin typeface="Inter"/>
              </a:rPr>
              <a:t>Technology, </a:t>
            </a:r>
            <a:r>
              <a:rPr lang="en-AU" sz="5400" b="1" i="0" spc="-135">
                <a:solidFill>
                  <a:srgbClr val="EA493F"/>
                </a:solidFill>
                <a:latin typeface="Inter"/>
              </a:rPr>
              <a:t>human first.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877824" y="6163056"/>
            <a:ext cx="10436047" cy="0"/>
          </a:xfrm>
          <a:prstGeom prst="bentConnector3">
            <a:avLst/>
          </a:prstGeom>
          <a:ln w="12700">
            <a:solidFill>
              <a:srgbClr val="3A3A3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877824" y="6272784"/>
            <a:ext cx="6858000" cy="365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150" b="1" i="0" spc="46" dirty="0">
                <a:solidFill>
                  <a:srgbClr val="CFCFCF"/>
                </a:solidFill>
                <a:latin typeface="Inter"/>
              </a:rPr>
              <a:t>ANZ’s largest locally owned Workday partner.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 lang="en-AU" sz="1150" b="1" i="0" spc="46" dirty="0">
              <a:solidFill>
                <a:srgbClr val="AEAEAE"/>
              </a:solidFill>
              <a:latin typeface="Inter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5790895" y="6272784"/>
            <a:ext cx="5522976" cy="365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150" b="1" i="0" spc="46">
                <a:solidFill>
                  <a:srgbClr val="CFCFCF"/>
                </a:solidFill>
                <a:latin typeface="Inter"/>
              </a:rPr>
              <a:t>mivada.com</a:t>
            </a:r>
          </a:p>
        </p:txBody>
      </p:sp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7824" y="749808"/>
            <a:ext cx="2531685" cy="384048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8259775" y="420624"/>
            <a:ext cx="3200400" cy="3200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100" b="1" i="0" cap="all" spc="154">
                <a:solidFill>
                  <a:srgbClr val="EA493F"/>
                </a:solidFill>
                <a:latin typeface="Inter"/>
              </a:rPr>
              <a:t>WHO WE ARE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932688"/>
            <a:ext cx="7040880" cy="246888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4000" b="1" i="0" spc="-87" dirty="0">
                <a:solidFill>
                  <a:srgbClr val="FFFFFF"/>
                </a:solidFill>
                <a:latin typeface="Inter"/>
              </a:rPr>
              <a:t>ANZ’s Largest locally owned Workday </a:t>
            </a:r>
            <a:r>
              <a:rPr lang="en-AU" sz="4000" b="1" i="0" spc="-87" dirty="0">
                <a:solidFill>
                  <a:srgbClr val="EA493F"/>
                </a:solidFill>
                <a:latin typeface="Inter"/>
              </a:rPr>
              <a:t>partner.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877824" y="3995928"/>
            <a:ext cx="10436047" cy="0"/>
          </a:xfrm>
          <a:prstGeom prst="bentConnector3">
            <a:avLst/>
          </a:prstGeom>
          <a:ln w="12700">
            <a:solidFill>
              <a:srgbClr val="3A3A3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877824" y="4160520"/>
            <a:ext cx="3314090" cy="1051560"/>
          </a:xfrm>
          <a:prstGeom prst="rect">
            <a:avLst/>
          </a:prstGeom>
          <a:noFill/>
        </p:spPr>
        <p:txBody>
          <a:bodyPr wrap="square" lIns="0" tIns="0" rIns="0" bIns="0" anchor="b"/>
          <a:lstStyle/>
          <a:p>
            <a:pPr algn="l">
              <a:lnSpc>
                <a:spcPct val="92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5800" b="1" i="0" spc="-203" dirty="0">
                <a:solidFill>
                  <a:srgbClr val="FFFFFF"/>
                </a:solidFill>
                <a:latin typeface="Inter"/>
              </a:rPr>
              <a:t>2014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7824" y="5294376"/>
            <a:ext cx="3250082" cy="64008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050" b="1" i="0" cap="all" spc="126">
                <a:solidFill>
                  <a:srgbClr val="CFCFCF"/>
                </a:solidFill>
                <a:latin typeface="Inter"/>
              </a:rPr>
              <a:t>FOUNDED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4356506" y="4206240"/>
            <a:ext cx="0" cy="1554480"/>
          </a:xfrm>
          <a:prstGeom prst="bentConnector3">
            <a:avLst/>
          </a:prstGeom>
          <a:ln w="12700">
            <a:solidFill>
              <a:srgbClr val="3A3A3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4667402" y="4160520"/>
            <a:ext cx="3003194" cy="1051560"/>
          </a:xfrm>
          <a:prstGeom prst="rect">
            <a:avLst/>
          </a:prstGeom>
          <a:noFill/>
        </p:spPr>
        <p:txBody>
          <a:bodyPr wrap="square" lIns="0" tIns="0" rIns="0" bIns="0" anchor="b"/>
          <a:lstStyle/>
          <a:p>
            <a:pPr algn="l">
              <a:lnSpc>
                <a:spcPct val="92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5800" b="1" i="0" spc="-203" dirty="0">
                <a:solidFill>
                  <a:srgbClr val="FFFFFF"/>
                </a:solidFill>
                <a:latin typeface="Inter"/>
              </a:rPr>
              <a:t>200</a:t>
            </a:r>
            <a:r>
              <a:rPr lang="en-AU" sz="5800" b="1" i="0" spc="-203" dirty="0">
                <a:solidFill>
                  <a:srgbClr val="EA493F"/>
                </a:solidFill>
                <a:latin typeface="Inter"/>
              </a:rPr>
              <a:t>+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67402" y="5294376"/>
            <a:ext cx="2939186" cy="64008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050" b="1" i="0" cap="all" spc="126" dirty="0">
                <a:solidFill>
                  <a:srgbClr val="CFCFCF"/>
                </a:solidFill>
                <a:latin typeface="Inter"/>
              </a:rPr>
              <a:t>Global Scale · AU, US &amp; INDIA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7835188" y="4206240"/>
            <a:ext cx="0" cy="1554480"/>
          </a:xfrm>
          <a:prstGeom prst="bentConnector3">
            <a:avLst/>
          </a:prstGeom>
          <a:ln w="12700">
            <a:solidFill>
              <a:srgbClr val="3A3A3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8146084" y="4160520"/>
            <a:ext cx="3003194" cy="1051560"/>
          </a:xfrm>
          <a:prstGeom prst="rect">
            <a:avLst/>
          </a:prstGeom>
          <a:noFill/>
        </p:spPr>
        <p:txBody>
          <a:bodyPr wrap="square" lIns="0" tIns="0" rIns="0" bIns="0" anchor="b"/>
          <a:lstStyle/>
          <a:p>
            <a:pPr algn="l">
              <a:lnSpc>
                <a:spcPct val="92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5800" b="1" i="0" spc="-203" dirty="0">
                <a:solidFill>
                  <a:srgbClr val="FFFFFF"/>
                </a:solidFill>
                <a:latin typeface="Inter"/>
              </a:rPr>
              <a:t>100</a:t>
            </a:r>
            <a:r>
              <a:rPr lang="en-AU" sz="5800" b="1" i="0" spc="-203" dirty="0">
                <a:solidFill>
                  <a:srgbClr val="EA493F"/>
                </a:solidFill>
                <a:latin typeface="Inter"/>
              </a:rPr>
              <a:t>+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46084" y="5294376"/>
            <a:ext cx="2939186" cy="64008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050" b="1" i="0" cap="all" spc="126" dirty="0">
                <a:solidFill>
                  <a:srgbClr val="CFCFCF"/>
                </a:solidFill>
                <a:latin typeface="Inter"/>
              </a:rPr>
              <a:t>Workday Team</a:t>
            </a:r>
          </a:p>
        </p:txBody>
      </p:sp>
      <p:cxnSp>
        <p:nvCxnSpPr>
          <p:cNvPr id="15" name="Connector 11">
            <a:extLst>
              <a:ext uri="{FF2B5EF4-FFF2-40B4-BE49-F238E27FC236}">
                <a16:creationId xmlns:a16="http://schemas.microsoft.com/office/drawing/2014/main" id="{548C4017-CAC6-57C9-2F4B-7ADBE7776FCB}"/>
              </a:ext>
            </a:extLst>
          </p:cNvPr>
          <p:cNvCxnSpPr>
            <a:cxnSpLocks/>
          </p:cNvCxnSpPr>
          <p:nvPr/>
        </p:nvCxnSpPr>
        <p:spPr>
          <a:xfrm rot="5400000">
            <a:off x="6727207" y="2682242"/>
            <a:ext cx="2209614" cy="6349"/>
          </a:xfrm>
          <a:prstGeom prst="bentConnector3">
            <a:avLst/>
          </a:prstGeom>
          <a:ln w="12700">
            <a:solidFill>
              <a:srgbClr val="3A3A3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>
            <a:extLst>
              <a:ext uri="{FF2B5EF4-FFF2-40B4-BE49-F238E27FC236}">
                <a16:creationId xmlns:a16="http://schemas.microsoft.com/office/drawing/2014/main" id="{8D914FF8-BDF7-2D65-999C-151C0CE683DC}"/>
              </a:ext>
            </a:extLst>
          </p:cNvPr>
          <p:cNvSpPr txBox="1"/>
          <p:nvPr/>
        </p:nvSpPr>
        <p:spPr>
          <a:xfrm>
            <a:off x="8146084" y="1719072"/>
            <a:ext cx="3294083" cy="2286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2000" b="1" i="0" spc="-75" dirty="0">
                <a:solidFill>
                  <a:srgbClr val="FFFFFF"/>
                </a:solidFill>
                <a:latin typeface="Inter"/>
              </a:rPr>
              <a:t>HCM, Payroll</a:t>
            </a:r>
            <a:r>
              <a:rPr lang="en-AU" sz="2000" b="1" spc="-75" dirty="0">
                <a:solidFill>
                  <a:srgbClr val="FFFFFF"/>
                </a:solidFill>
                <a:latin typeface="Inter"/>
              </a:rPr>
              <a:t> &amp; Time</a:t>
            </a:r>
            <a:br>
              <a:rPr lang="en-AU" sz="2000" b="1" spc="-75" dirty="0">
                <a:solidFill>
                  <a:srgbClr val="101010"/>
                </a:solidFill>
                <a:latin typeface="Inter"/>
              </a:rPr>
            </a:br>
            <a:r>
              <a:rPr lang="en-AU" sz="2000" b="1" spc="-75" dirty="0">
                <a:solidFill>
                  <a:srgbClr val="FFFFFF"/>
                </a:solidFill>
                <a:latin typeface="Inter"/>
              </a:rPr>
              <a:t>Finance</a:t>
            </a:r>
            <a:br>
              <a:rPr lang="en-AU" sz="2000" b="1" spc="-75" dirty="0">
                <a:solidFill>
                  <a:srgbClr val="101010"/>
                </a:solidFill>
                <a:latin typeface="Inter"/>
              </a:rPr>
            </a:br>
            <a:r>
              <a:rPr lang="en-AU" sz="2000" b="1" spc="-75" dirty="0">
                <a:solidFill>
                  <a:srgbClr val="FFFFFF"/>
                </a:solidFill>
                <a:latin typeface="Inter"/>
              </a:rPr>
              <a:t>Adaptive Planning</a:t>
            </a:r>
          </a:p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2000" b="1" spc="-75" dirty="0">
                <a:solidFill>
                  <a:srgbClr val="FFFFFF"/>
                </a:solidFill>
                <a:latin typeface="Inter"/>
              </a:rPr>
              <a:t>A.I. &amp; Sana</a:t>
            </a:r>
            <a:endParaRPr lang="en-AU" sz="2000" b="1" i="0" spc="-75" dirty="0">
              <a:solidFill>
                <a:srgbClr val="101010"/>
              </a:solidFill>
              <a:latin typeface="Inter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7CAE8F8E-8618-0D2E-16E7-910AD5EBDC61}"/>
              </a:ext>
            </a:extLst>
          </p:cNvPr>
          <p:cNvSpPr txBox="1"/>
          <p:nvPr/>
        </p:nvSpPr>
        <p:spPr>
          <a:xfrm>
            <a:off x="877824" y="3209544"/>
            <a:ext cx="5509841" cy="5486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600" b="1" i="0" spc="0" dirty="0">
                <a:solidFill>
                  <a:srgbClr val="CFCFCF"/>
                </a:solidFill>
                <a:latin typeface="Inter"/>
              </a:rPr>
              <a:t>Grew out of the customer | Local Accountability | Global Scale</a:t>
            </a:r>
          </a:p>
        </p:txBody>
      </p:sp>
      <p:pic>
        <p:nvPicPr>
          <p:cNvPr id="22" name="Picture 21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7824" y="457200"/>
            <a:ext cx="402032" cy="237744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8259775" y="420624"/>
            <a:ext cx="3200400" cy="3200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100" b="1" i="0" cap="all" spc="154">
                <a:solidFill>
                  <a:srgbClr val="EA493F"/>
                </a:solidFill>
                <a:latin typeface="Inter"/>
              </a:rPr>
              <a:t>CAPABILITY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926374"/>
            <a:ext cx="10436047" cy="10058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3300" b="1" i="0" spc="-72">
                <a:solidFill>
                  <a:srgbClr val="FFFFFF"/>
                </a:solidFill>
                <a:latin typeface="Inter"/>
              </a:rPr>
              <a:t>Proven in </a:t>
            </a:r>
            <a:r>
              <a:rPr lang="en-AU" sz="3300" b="1" i="0" spc="-72">
                <a:solidFill>
                  <a:srgbClr val="EA493F"/>
                </a:solidFill>
                <a:latin typeface="Inter"/>
              </a:rPr>
              <a:t>Workday.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877824" y="3127248"/>
            <a:ext cx="10436047" cy="0"/>
          </a:xfrm>
          <a:prstGeom prst="bentConnector3">
            <a:avLst/>
          </a:prstGeom>
          <a:ln w="12700">
            <a:solidFill>
              <a:srgbClr val="3A3A3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877824" y="3291840"/>
            <a:ext cx="2444419" cy="1051560"/>
          </a:xfrm>
          <a:prstGeom prst="rect">
            <a:avLst/>
          </a:prstGeom>
          <a:noFill/>
        </p:spPr>
        <p:txBody>
          <a:bodyPr wrap="square" lIns="0" tIns="0" rIns="0" bIns="0" anchor="b"/>
          <a:lstStyle/>
          <a:p>
            <a:pPr algn="l">
              <a:lnSpc>
                <a:spcPct val="92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5800" b="1" i="0" spc="-203">
                <a:solidFill>
                  <a:srgbClr val="FFFFFF"/>
                </a:solidFill>
                <a:latin typeface="Inter"/>
              </a:rPr>
              <a:t>3</a:t>
            </a:r>
            <a:r>
              <a:rPr lang="en-AU" sz="5800" b="1" i="0" spc="-203">
                <a:solidFill>
                  <a:srgbClr val="EA493F"/>
                </a:solidFill>
                <a:latin typeface="Inter"/>
              </a:rPr>
              <a:t>+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7824" y="4425696"/>
            <a:ext cx="2380411" cy="64008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050" b="1" i="0" cap="all" spc="126">
                <a:solidFill>
                  <a:srgbClr val="CFCFCF"/>
                </a:solidFill>
                <a:latin typeface="Inter"/>
              </a:rPr>
              <a:t>CERTIFICATIONS / CONSULTANT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3486835" y="3337560"/>
            <a:ext cx="0" cy="1554480"/>
          </a:xfrm>
          <a:prstGeom prst="bentConnector3">
            <a:avLst/>
          </a:prstGeom>
          <a:ln w="12700">
            <a:solidFill>
              <a:srgbClr val="3A3A3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3797731" y="3291840"/>
            <a:ext cx="2133523" cy="1051560"/>
          </a:xfrm>
          <a:prstGeom prst="rect">
            <a:avLst/>
          </a:prstGeom>
          <a:noFill/>
        </p:spPr>
        <p:txBody>
          <a:bodyPr wrap="square" lIns="0" tIns="0" rIns="0" bIns="0" anchor="b"/>
          <a:lstStyle/>
          <a:p>
            <a:pPr algn="l">
              <a:lnSpc>
                <a:spcPct val="92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5800" b="1" i="0" spc="-203">
                <a:solidFill>
                  <a:srgbClr val="FFFFFF"/>
                </a:solidFill>
                <a:latin typeface="Inter"/>
              </a:rPr>
              <a:t>2000</a:t>
            </a:r>
            <a:r>
              <a:rPr lang="en-AU" sz="5800" b="1" i="0" spc="-203">
                <a:solidFill>
                  <a:srgbClr val="EA493F"/>
                </a:solidFill>
                <a:latin typeface="Inter"/>
              </a:rPr>
              <a:t>+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797731" y="4425696"/>
            <a:ext cx="2069515" cy="64008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050" b="1" i="0" cap="all" spc="126">
                <a:solidFill>
                  <a:srgbClr val="CFCFCF"/>
                </a:solidFill>
                <a:latin typeface="Inter"/>
              </a:rPr>
              <a:t>WORKDAY INTEGRATIONS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095847" y="3337560"/>
            <a:ext cx="0" cy="1554480"/>
          </a:xfrm>
          <a:prstGeom prst="bentConnector3">
            <a:avLst/>
          </a:prstGeom>
          <a:ln w="12700">
            <a:solidFill>
              <a:srgbClr val="3A3A3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6406743" y="3291840"/>
            <a:ext cx="2133523" cy="1051560"/>
          </a:xfrm>
          <a:prstGeom prst="rect">
            <a:avLst/>
          </a:prstGeom>
          <a:noFill/>
        </p:spPr>
        <p:txBody>
          <a:bodyPr wrap="square" lIns="0" tIns="0" rIns="0" bIns="0" anchor="b"/>
          <a:lstStyle/>
          <a:p>
            <a:pPr algn="l">
              <a:lnSpc>
                <a:spcPct val="92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5800" b="1" i="0" spc="-203">
                <a:solidFill>
                  <a:srgbClr val="FFFFFF"/>
                </a:solidFill>
                <a:latin typeface="Inter"/>
              </a:rPr>
              <a:t>3000</a:t>
            </a:r>
            <a:r>
              <a:rPr lang="en-AU" sz="5800" b="1" i="0" spc="-203">
                <a:solidFill>
                  <a:srgbClr val="EA493F"/>
                </a:solidFill>
                <a:latin typeface="Inter"/>
              </a:rPr>
              <a:t>+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6743" y="4425696"/>
            <a:ext cx="2069515" cy="64008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050" b="1" i="0" cap="all" spc="126">
                <a:solidFill>
                  <a:srgbClr val="CFCFCF"/>
                </a:solidFill>
                <a:latin typeface="Inter"/>
              </a:rPr>
              <a:t>CUSTOM REPORTS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8704859" y="3337560"/>
            <a:ext cx="0" cy="1554480"/>
          </a:xfrm>
          <a:prstGeom prst="bentConnector3">
            <a:avLst/>
          </a:prstGeom>
          <a:ln w="12700">
            <a:solidFill>
              <a:srgbClr val="3A3A3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9015755" y="3291840"/>
            <a:ext cx="2133523" cy="1051560"/>
          </a:xfrm>
          <a:prstGeom prst="rect">
            <a:avLst/>
          </a:prstGeom>
          <a:noFill/>
        </p:spPr>
        <p:txBody>
          <a:bodyPr wrap="square" lIns="0" tIns="0" rIns="0" bIns="0" anchor="b"/>
          <a:lstStyle/>
          <a:p>
            <a:pPr algn="l">
              <a:lnSpc>
                <a:spcPct val="92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5800" b="1" i="0" spc="-203">
                <a:solidFill>
                  <a:srgbClr val="FFFFFF"/>
                </a:solidFill>
                <a:latin typeface="Inter"/>
              </a:rPr>
              <a:t>30</a:t>
            </a:r>
            <a:r>
              <a:rPr lang="en-AU" sz="5800" b="1" i="0" spc="-203">
                <a:solidFill>
                  <a:srgbClr val="EA493F"/>
                </a:solidFill>
                <a:latin typeface="Inter"/>
              </a:rPr>
              <a:t>+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15755" y="4425696"/>
            <a:ext cx="2069515" cy="64008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050" b="1" i="0" cap="all" spc="126" dirty="0">
                <a:solidFill>
                  <a:srgbClr val="CFCFCF"/>
                </a:solidFill>
                <a:latin typeface="Inter"/>
              </a:rPr>
              <a:t>IMPLEMENTATIONS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877824" y="4956048"/>
            <a:ext cx="10436047" cy="0"/>
          </a:xfrm>
          <a:prstGeom prst="bentConnector3">
            <a:avLst/>
          </a:prstGeom>
          <a:ln w="12700">
            <a:solidFill>
              <a:srgbClr val="3A3A3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4356506" y="5166359"/>
            <a:ext cx="0" cy="1554481"/>
          </a:xfrm>
          <a:prstGeom prst="bentConnector3">
            <a:avLst/>
          </a:prstGeom>
          <a:ln w="12700">
            <a:solidFill>
              <a:srgbClr val="3A3A3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4667402" y="5120640"/>
            <a:ext cx="3003194" cy="1051560"/>
          </a:xfrm>
          <a:prstGeom prst="rect">
            <a:avLst/>
          </a:prstGeom>
          <a:noFill/>
        </p:spPr>
        <p:txBody>
          <a:bodyPr wrap="square" lIns="0" tIns="0" rIns="0" bIns="0" anchor="b"/>
          <a:lstStyle/>
          <a:p>
            <a:pPr algn="l">
              <a:lnSpc>
                <a:spcPct val="92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5800" b="1" i="0" spc="-203">
                <a:solidFill>
                  <a:srgbClr val="FFFFFF"/>
                </a:solidFill>
                <a:latin typeface="Inter"/>
              </a:rPr>
              <a:t>100</a:t>
            </a:r>
            <a:r>
              <a:rPr lang="en-AU" sz="5800" b="1" i="0" spc="-203">
                <a:solidFill>
                  <a:srgbClr val="EA493F"/>
                </a:solidFill>
                <a:latin typeface="Inter"/>
              </a:rPr>
              <a:t>+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667402" y="6254496"/>
            <a:ext cx="2939186" cy="64008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050" b="1" i="0" cap="all" spc="126" dirty="0">
                <a:solidFill>
                  <a:srgbClr val="CFCFCF"/>
                </a:solidFill>
                <a:latin typeface="Inter"/>
              </a:rPr>
              <a:t>Workday Team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7835188" y="5166359"/>
            <a:ext cx="0" cy="1554481"/>
          </a:xfrm>
          <a:prstGeom prst="bentConnector3">
            <a:avLst/>
          </a:prstGeom>
          <a:ln w="12700">
            <a:solidFill>
              <a:srgbClr val="3A3A3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8146084" y="5120640"/>
            <a:ext cx="3003194" cy="1051560"/>
          </a:xfrm>
          <a:prstGeom prst="rect">
            <a:avLst/>
          </a:prstGeom>
          <a:noFill/>
        </p:spPr>
        <p:txBody>
          <a:bodyPr wrap="square" lIns="0" tIns="0" rIns="0" bIns="0" anchor="b"/>
          <a:lstStyle/>
          <a:p>
            <a:pPr algn="l">
              <a:lnSpc>
                <a:spcPct val="92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5800" b="1" i="0" spc="-203">
                <a:solidFill>
                  <a:srgbClr val="FFFFFF"/>
                </a:solidFill>
                <a:latin typeface="Inter"/>
              </a:rPr>
              <a:t>10</a:t>
            </a:r>
            <a:r>
              <a:rPr lang="en-AU" sz="5800" b="1" i="0" spc="-203">
                <a:solidFill>
                  <a:srgbClr val="EA493F"/>
                </a:solidFill>
                <a:latin typeface="Inter"/>
              </a:rPr>
              <a:t>+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146084" y="6254496"/>
            <a:ext cx="2939186" cy="64008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050" b="1" i="0" cap="all" spc="126">
                <a:solidFill>
                  <a:srgbClr val="CFCFCF"/>
                </a:solidFill>
                <a:latin typeface="Inter"/>
              </a:rPr>
              <a:t>YEARS DELIVERING WORKDAY</a:t>
            </a:r>
          </a:p>
        </p:txBody>
      </p:sp>
      <p:grpSp>
        <p:nvGrpSpPr>
          <p:cNvPr id="73" name="Group 72">
            <a:extLst>
              <a:ext uri="{FF2B5EF4-FFF2-40B4-BE49-F238E27FC236}">
                <a16:creationId xmlns:a16="http://schemas.microsoft.com/office/drawing/2014/main" id="{FB70A9E2-1083-947A-1124-925835F03F87}"/>
              </a:ext>
            </a:extLst>
          </p:cNvPr>
          <p:cNvGrpSpPr/>
          <p:nvPr/>
        </p:nvGrpSpPr>
        <p:grpSpPr>
          <a:xfrm>
            <a:off x="-3134921" y="-3835462"/>
            <a:ext cx="8316521" cy="2937890"/>
            <a:chOff x="1078840" y="2748403"/>
            <a:chExt cx="10029039" cy="3542851"/>
          </a:xfrm>
        </p:grpSpPr>
        <p:pic>
          <p:nvPicPr>
            <p:cNvPr id="74" name="Google Shape;676;p21" descr="Picture 4">
              <a:extLst>
                <a:ext uri="{FF2B5EF4-FFF2-40B4-BE49-F238E27FC236}">
                  <a16:creationId xmlns:a16="http://schemas.microsoft.com/office/drawing/2014/main" id="{8C85D48B-68D8-84CF-0E2B-05DE1CC885D2}"/>
                </a:ext>
              </a:extLst>
            </p:cNvPr>
            <p:cNvPicPr preferRelativeResize="0"/>
            <p:nvPr/>
          </p:nvPicPr>
          <p:blipFill rotWithShape="1">
            <a:blip r:embed="rId3">
              <a:alphaModFix/>
            </a:blip>
            <a:srcRect/>
            <a:stretch/>
          </p:blipFill>
          <p:spPr>
            <a:xfrm>
              <a:off x="2840235" y="3772587"/>
              <a:ext cx="1656563" cy="339679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75" name="Google Shape;678;p21" descr="Content Placeholder 10">
              <a:extLst>
                <a:ext uri="{FF2B5EF4-FFF2-40B4-BE49-F238E27FC236}">
                  <a16:creationId xmlns:a16="http://schemas.microsoft.com/office/drawing/2014/main" id="{04DB82FF-387E-1943-81FA-D57CEB3AC6DC}"/>
                </a:ext>
              </a:extLst>
            </p:cNvPr>
            <p:cNvPicPr preferRelativeResize="0"/>
            <p:nvPr/>
          </p:nvPicPr>
          <p:blipFill rotWithShape="1"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alphaModFix/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 t="34343" b="28785"/>
            <a:stretch/>
          </p:blipFill>
          <p:spPr>
            <a:xfrm>
              <a:off x="8349011" y="2828009"/>
              <a:ext cx="1019300" cy="484258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76" name="Google Shape;679;p21" descr="Picture 2">
              <a:extLst>
                <a:ext uri="{FF2B5EF4-FFF2-40B4-BE49-F238E27FC236}">
                  <a16:creationId xmlns:a16="http://schemas.microsoft.com/office/drawing/2014/main" id="{05E3B940-ADBF-D614-5224-ABC41C9200E4}"/>
                </a:ext>
              </a:extLst>
            </p:cNvPr>
            <p:cNvPicPr preferRelativeResize="0"/>
            <p:nvPr/>
          </p:nvPicPr>
          <p:blipFill rotWithShape="1">
            <a:blip r:embed="rId5">
              <a:alphaModFix/>
            </a:blip>
            <a:srcRect/>
            <a:stretch/>
          </p:blipFill>
          <p:spPr>
            <a:xfrm>
              <a:off x="2993742" y="4622751"/>
              <a:ext cx="466033" cy="484258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77" name="Google Shape;680;p21" descr="Picture 4">
              <a:extLst>
                <a:ext uri="{FF2B5EF4-FFF2-40B4-BE49-F238E27FC236}">
                  <a16:creationId xmlns:a16="http://schemas.microsoft.com/office/drawing/2014/main" id="{3E68D501-0736-49B6-E8A1-6D3E15F58B6A}"/>
                </a:ext>
              </a:extLst>
            </p:cNvPr>
            <p:cNvPicPr preferRelativeResize="0"/>
            <p:nvPr/>
          </p:nvPicPr>
          <p:blipFill rotWithShape="1">
            <a:blip r:embed="rId6">
              <a:alphaModFix/>
            </a:blip>
            <a:srcRect/>
            <a:stretch/>
          </p:blipFill>
          <p:spPr>
            <a:xfrm>
              <a:off x="5694861" y="2810354"/>
              <a:ext cx="542425" cy="519568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78" name="Google Shape;682;p21" descr="Picture 8">
              <a:extLst>
                <a:ext uri="{FF2B5EF4-FFF2-40B4-BE49-F238E27FC236}">
                  <a16:creationId xmlns:a16="http://schemas.microsoft.com/office/drawing/2014/main" id="{826844F8-2DB4-7B77-60C2-A77601A4F4E2}"/>
                </a:ext>
              </a:extLst>
            </p:cNvPr>
            <p:cNvPicPr preferRelativeResize="0"/>
            <p:nvPr/>
          </p:nvPicPr>
          <p:blipFill rotWithShape="1">
            <a:blip r:embed="rId7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alphaModFix/>
            </a:blip>
            <a:srcRect t="11277" b="13062"/>
            <a:stretch>
              <a:fillRect/>
            </a:stretch>
          </p:blipFill>
          <p:spPr>
            <a:xfrm>
              <a:off x="8188196" y="3738090"/>
              <a:ext cx="1096541" cy="408673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79" name="Google Shape;684;p21" descr="Picture 2">
              <a:extLst>
                <a:ext uri="{FF2B5EF4-FFF2-40B4-BE49-F238E27FC236}">
                  <a16:creationId xmlns:a16="http://schemas.microsoft.com/office/drawing/2014/main" id="{656575EA-1C0A-0650-DA84-48087CF2FC13}"/>
                </a:ext>
              </a:extLst>
            </p:cNvPr>
            <p:cNvPicPr preferRelativeResize="0"/>
            <p:nvPr/>
          </p:nvPicPr>
          <p:blipFill rotWithShape="1">
            <a:blip r:embed="rId8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alphaModFix/>
            </a:blip>
            <a:srcRect/>
            <a:stretch/>
          </p:blipFill>
          <p:spPr>
            <a:xfrm>
              <a:off x="6296592" y="4614958"/>
              <a:ext cx="987861" cy="499844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80" name="Google Shape;686;p21" descr="Picture 4">
              <a:extLst>
                <a:ext uri="{FF2B5EF4-FFF2-40B4-BE49-F238E27FC236}">
                  <a16:creationId xmlns:a16="http://schemas.microsoft.com/office/drawing/2014/main" id="{3F74D8AB-08B9-3EB4-F829-115C79FADF57}"/>
                </a:ext>
              </a:extLst>
            </p:cNvPr>
            <p:cNvPicPr preferRelativeResize="0"/>
            <p:nvPr/>
          </p:nvPicPr>
          <p:blipFill rotWithShape="1">
            <a:blip r:embed="rId9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alphaModFix/>
            </a:blip>
            <a:srcRect/>
            <a:stretch/>
          </p:blipFill>
          <p:spPr>
            <a:xfrm>
              <a:off x="9999789" y="3844957"/>
              <a:ext cx="824043" cy="194938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81" name="Picture 4" descr="Rio Tinto logo">
              <a:extLst>
                <a:ext uri="{FF2B5EF4-FFF2-40B4-BE49-F238E27FC236}">
                  <a16:creationId xmlns:a16="http://schemas.microsoft.com/office/drawing/2014/main" id="{E6EF3C45-9C66-A373-D1F1-0E90360BCB02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0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4610" t="19566" r="4242" b="27059"/>
            <a:stretch>
              <a:fillRect/>
            </a:stretch>
          </p:blipFill>
          <p:spPr bwMode="auto">
            <a:xfrm>
              <a:off x="1078840" y="4650824"/>
              <a:ext cx="1046343" cy="42811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82" name="Picture 6" descr="Member login">
              <a:extLst>
                <a:ext uri="{FF2B5EF4-FFF2-40B4-BE49-F238E27FC236}">
                  <a16:creationId xmlns:a16="http://schemas.microsoft.com/office/drawing/2014/main" id="{B28E4085-65AC-2CAF-384F-A2D848D2C246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1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6798067" y="2888555"/>
              <a:ext cx="990163" cy="36316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83" name="Picture 8" descr="Articles tagged with 'catering' | Dnata">
              <a:extLst>
                <a:ext uri="{FF2B5EF4-FFF2-40B4-BE49-F238E27FC236}">
                  <a16:creationId xmlns:a16="http://schemas.microsoft.com/office/drawing/2014/main" id="{6ED96ECC-71E4-DE0A-58A4-C800462C85FA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2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328334" y="4602644"/>
              <a:ext cx="1099699" cy="52447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84" name="Picture 2" descr="National Australia Bank brand resources: accessing high ...">
              <a:extLst>
                <a:ext uri="{FF2B5EF4-FFF2-40B4-BE49-F238E27FC236}">
                  <a16:creationId xmlns:a16="http://schemas.microsoft.com/office/drawing/2014/main" id="{2F00174B-E940-69C5-76CD-9CB091F660AB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3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6531261" y="3558011"/>
              <a:ext cx="941883" cy="768831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85" name="Picture 2" descr="Seven West Media | Logopedia | Fandom">
              <a:extLst>
                <a:ext uri="{FF2B5EF4-FFF2-40B4-BE49-F238E27FC236}">
                  <a16:creationId xmlns:a16="http://schemas.microsoft.com/office/drawing/2014/main" id="{6F049F6B-EC08-90E4-6D8C-B395BDA532CD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9989977" y="4648752"/>
              <a:ext cx="1117906" cy="432257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86" name="Picture 6" descr="Canva's Logo gets a New Re-definition">
              <a:extLst>
                <a:ext uri="{FF2B5EF4-FFF2-40B4-BE49-F238E27FC236}">
                  <a16:creationId xmlns:a16="http://schemas.microsoft.com/office/drawing/2014/main" id="{567CB764-ACE0-15F4-AF3F-CC10287AD208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5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4676" t="21623" r="14676" b="22364"/>
            <a:stretch>
              <a:fillRect/>
            </a:stretch>
          </p:blipFill>
          <p:spPr bwMode="auto">
            <a:xfrm>
              <a:off x="9929092" y="2865466"/>
              <a:ext cx="919236" cy="40934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87" name="Picture 12" descr="Anglicare Aged Care &amp; Community Services | Sydney &amp; Surrounds | Anglicare">
              <a:extLst>
                <a:ext uri="{FF2B5EF4-FFF2-40B4-BE49-F238E27FC236}">
                  <a16:creationId xmlns:a16="http://schemas.microsoft.com/office/drawing/2014/main" id="{7261AAD4-E7A6-AEE0-3F62-4B7CCE2EF5E2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940133" y="2748406"/>
              <a:ext cx="559535" cy="64346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88" name="Picture 87" descr="A logo with blue and green lines&#10;&#10;AI-generated content may be incorrect.">
              <a:extLst>
                <a:ext uri="{FF2B5EF4-FFF2-40B4-BE49-F238E27FC236}">
                  <a16:creationId xmlns:a16="http://schemas.microsoft.com/office/drawing/2014/main" id="{F1C67F03-A65C-F00D-36A2-401AD626C6C4}"/>
                </a:ext>
              </a:extLst>
            </p:cNvPr>
            <p:cNvPicPr>
              <a:picLocks noChangeAspect="1"/>
            </p:cNvPicPr>
            <p:nvPr/>
          </p:nvPicPr>
          <p:blipFill>
            <a:blip r:embed="rId17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</a:blip>
            <a:srcRect l="7747" t="13319" r="4612" b="12915"/>
            <a:stretch>
              <a:fillRect/>
            </a:stretch>
          </p:blipFill>
          <p:spPr>
            <a:xfrm>
              <a:off x="4060449" y="2816374"/>
              <a:ext cx="1073631" cy="507529"/>
            </a:xfrm>
            <a:prstGeom prst="rect">
              <a:avLst/>
            </a:prstGeom>
          </p:spPr>
        </p:pic>
        <p:pic>
          <p:nvPicPr>
            <p:cNvPr id="89" name="Picture 88">
              <a:extLst>
                <a:ext uri="{FF2B5EF4-FFF2-40B4-BE49-F238E27FC236}">
                  <a16:creationId xmlns:a16="http://schemas.microsoft.com/office/drawing/2014/main" id="{F00370A5-7EE6-EAFD-31AE-19D85C0175EA}"/>
                </a:ext>
              </a:extLst>
            </p:cNvPr>
            <p:cNvPicPr>
              <a:picLocks noChangeAspect="1"/>
            </p:cNvPicPr>
            <p:nvPr/>
          </p:nvPicPr>
          <p:blipFill>
            <a:blip r:embed="rId18"/>
            <a:stretch>
              <a:fillRect/>
            </a:stretch>
          </p:blipFill>
          <p:spPr>
            <a:xfrm>
              <a:off x="5211850" y="3799605"/>
              <a:ext cx="604359" cy="285642"/>
            </a:xfrm>
            <a:prstGeom prst="rect">
              <a:avLst/>
            </a:prstGeom>
          </p:spPr>
        </p:pic>
        <p:pic>
          <p:nvPicPr>
            <p:cNvPr id="90" name="Picture 4" descr="Kennards Self Storage">
              <a:extLst>
                <a:ext uri="{FF2B5EF4-FFF2-40B4-BE49-F238E27FC236}">
                  <a16:creationId xmlns:a16="http://schemas.microsoft.com/office/drawing/2014/main" id="{FEDE0620-87AA-F7C1-8E74-880782856454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153012" y="4717359"/>
              <a:ext cx="968406" cy="29504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91" name="Picture 2" descr="Resmed | The World Leader in Sleep Health">
              <a:extLst>
                <a:ext uri="{FF2B5EF4-FFF2-40B4-BE49-F238E27FC236}">
                  <a16:creationId xmlns:a16="http://schemas.microsoft.com/office/drawing/2014/main" id="{7C33DA76-B27D-F9D1-4C6C-5F5D6F1B26F3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177338" y="3730222"/>
              <a:ext cx="947845" cy="42440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92" name="Picture 2" descr="Careers - ProPharma">
              <a:extLst>
                <a:ext uri="{FF2B5EF4-FFF2-40B4-BE49-F238E27FC236}">
                  <a16:creationId xmlns:a16="http://schemas.microsoft.com/office/drawing/2014/main" id="{8571BE7A-32F5-B2BB-C305-A2C95E1D182E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111174" y="2963491"/>
              <a:ext cx="1268178" cy="21329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93" name="Picture 6" descr="Housing – Disability Advocacy Pathways">
              <a:extLst>
                <a:ext uri="{FF2B5EF4-FFF2-40B4-BE49-F238E27FC236}">
                  <a16:creationId xmlns:a16="http://schemas.microsoft.com/office/drawing/2014/main" id="{776BD979-78D9-7821-40B4-10A2CA4B191A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696425" y="5156081"/>
              <a:ext cx="2068551" cy="113518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94" name="Picture 14" descr="logo-melbourne-uni - Silverstone Edge">
              <a:extLst>
                <a:ext uri="{FF2B5EF4-FFF2-40B4-BE49-F238E27FC236}">
                  <a16:creationId xmlns:a16="http://schemas.microsoft.com/office/drawing/2014/main" id="{786AD385-D56B-F3F9-7293-DE51B2DB3044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2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20884" b="19420"/>
            <a:stretch>
              <a:fillRect/>
            </a:stretch>
          </p:blipFill>
          <p:spPr bwMode="auto">
            <a:xfrm>
              <a:off x="5496414" y="5496855"/>
              <a:ext cx="1367819" cy="45363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95" name="Picture 18" descr="AS White Global | LinkedIn">
              <a:extLst>
                <a:ext uri="{FF2B5EF4-FFF2-40B4-BE49-F238E27FC236}">
                  <a16:creationId xmlns:a16="http://schemas.microsoft.com/office/drawing/2014/main" id="{3D6C68E9-CAE8-5D65-9899-B2013AEBE9D7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2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5877" t="32565" r="10398" b="37166"/>
            <a:stretch>
              <a:fillRect/>
            </a:stretch>
          </p:blipFill>
          <p:spPr bwMode="auto">
            <a:xfrm>
              <a:off x="7595671" y="5539420"/>
              <a:ext cx="1019301" cy="36850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pic>
        <p:nvPicPr>
          <p:cNvPr id="96" name="Picture 4" descr="CloudRock">
            <a:extLst>
              <a:ext uri="{FF2B5EF4-FFF2-40B4-BE49-F238E27FC236}">
                <a16:creationId xmlns:a16="http://schemas.microsoft.com/office/drawing/2014/main" id="{797BFF79-7C72-5D53-58C7-EB2D6146D40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62236" y="5486401"/>
            <a:ext cx="905383" cy="90538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7" name="Picture 6" descr="Workday Extend Application Development ...">
            <a:extLst>
              <a:ext uri="{FF2B5EF4-FFF2-40B4-BE49-F238E27FC236}">
                <a16:creationId xmlns:a16="http://schemas.microsoft.com/office/drawing/2014/main" id="{C2D2EC2D-C367-7A7B-D3C6-7BF335DB9B6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52854" y="5486401"/>
            <a:ext cx="909424" cy="90538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8" name="Picture 97" descr="image.png"/>
          <p:cNvPicPr>
            <a:picLocks noChangeAspect="1"/>
          </p:cNvPicPr>
          <p:nvPr/>
        </p:nvPicPr>
        <p:blipFill>
          <a:blip r:embed="rId27"/>
          <a:stretch>
            <a:fillRect/>
          </a:stretch>
        </p:blipFill>
        <p:spPr>
          <a:xfrm>
            <a:off x="877824" y="457200"/>
            <a:ext cx="402032" cy="237744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8259775" y="420624"/>
            <a:ext cx="3200400" cy="3200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100" b="1" i="0" cap="all" spc="154">
                <a:solidFill>
                  <a:srgbClr val="EA493F"/>
                </a:solidFill>
                <a:latin typeface="Inter"/>
              </a:rPr>
              <a:t>TRUSTED BY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914400"/>
            <a:ext cx="10436047" cy="10058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3300" b="1" i="0" spc="-72">
                <a:solidFill>
                  <a:srgbClr val="FFFFFF"/>
                </a:solidFill>
                <a:latin typeface="Inter"/>
              </a:rPr>
              <a:t>In good </a:t>
            </a:r>
            <a:r>
              <a:rPr lang="en-AU" sz="3300" b="1" i="0" spc="-72">
                <a:solidFill>
                  <a:srgbClr val="EA493F"/>
                </a:solidFill>
                <a:latin typeface="Inter"/>
              </a:rPr>
              <a:t>company.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77824" y="1874519"/>
            <a:ext cx="10241280" cy="5486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300" b="0" i="0" spc="0" dirty="0">
                <a:solidFill>
                  <a:srgbClr val="CFCFCF"/>
                </a:solidFill>
                <a:latin typeface="Inter"/>
              </a:rPr>
              <a:t>A decade of work with some of Australia's most demanding operations.</a:t>
            </a:r>
          </a:p>
        </p:txBody>
      </p:sp>
      <p:grpSp>
        <p:nvGrpSpPr>
          <p:cNvPr id="75" name="Group 74">
            <a:extLst>
              <a:ext uri="{FF2B5EF4-FFF2-40B4-BE49-F238E27FC236}">
                <a16:creationId xmlns:a16="http://schemas.microsoft.com/office/drawing/2014/main" id="{CB9FC064-FD9A-7FC4-E8D9-438DFD722AC9}"/>
              </a:ext>
            </a:extLst>
          </p:cNvPr>
          <p:cNvGrpSpPr/>
          <p:nvPr/>
        </p:nvGrpSpPr>
        <p:grpSpPr>
          <a:xfrm>
            <a:off x="1081479" y="2748406"/>
            <a:ext cx="10029043" cy="3542855"/>
            <a:chOff x="1078840" y="2748406"/>
            <a:chExt cx="10029043" cy="3542855"/>
          </a:xfrm>
        </p:grpSpPr>
        <p:pic>
          <p:nvPicPr>
            <p:cNvPr id="55" name="Google Shape;676;p21" descr="Picture 4">
              <a:extLst>
                <a:ext uri="{FF2B5EF4-FFF2-40B4-BE49-F238E27FC236}">
                  <a16:creationId xmlns:a16="http://schemas.microsoft.com/office/drawing/2014/main" id="{16304621-3EFA-2824-B6EB-A5D6AB5EF8F9}"/>
                </a:ext>
              </a:extLst>
            </p:cNvPr>
            <p:cNvPicPr preferRelativeResize="0"/>
            <p:nvPr/>
          </p:nvPicPr>
          <p:blipFill rotWithShape="1">
            <a:blip r:embed="rId3">
              <a:alphaModFix/>
            </a:blip>
            <a:srcRect/>
            <a:stretch/>
          </p:blipFill>
          <p:spPr>
            <a:xfrm>
              <a:off x="2840235" y="3772587"/>
              <a:ext cx="1656563" cy="339679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56" name="Google Shape;678;p21" descr="Content Placeholder 10">
              <a:extLst>
                <a:ext uri="{FF2B5EF4-FFF2-40B4-BE49-F238E27FC236}">
                  <a16:creationId xmlns:a16="http://schemas.microsoft.com/office/drawing/2014/main" id="{8072590E-6A01-5B5B-011A-3FDAEA45F960}"/>
                </a:ext>
              </a:extLst>
            </p:cNvPr>
            <p:cNvPicPr preferRelativeResize="0"/>
            <p:nvPr/>
          </p:nvPicPr>
          <p:blipFill rotWithShape="1"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alphaModFix/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 t="34343" b="28785"/>
            <a:stretch/>
          </p:blipFill>
          <p:spPr>
            <a:xfrm>
              <a:off x="8349011" y="2828009"/>
              <a:ext cx="1019300" cy="484258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57" name="Google Shape;679;p21" descr="Picture 2">
              <a:extLst>
                <a:ext uri="{FF2B5EF4-FFF2-40B4-BE49-F238E27FC236}">
                  <a16:creationId xmlns:a16="http://schemas.microsoft.com/office/drawing/2014/main" id="{1492C804-5466-56E0-C49E-E9CC2CAF81AA}"/>
                </a:ext>
              </a:extLst>
            </p:cNvPr>
            <p:cNvPicPr preferRelativeResize="0"/>
            <p:nvPr/>
          </p:nvPicPr>
          <p:blipFill rotWithShape="1">
            <a:blip r:embed="rId5">
              <a:alphaModFix/>
            </a:blip>
            <a:srcRect/>
            <a:stretch/>
          </p:blipFill>
          <p:spPr>
            <a:xfrm>
              <a:off x="2993742" y="4622751"/>
              <a:ext cx="466033" cy="484258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58" name="Google Shape;680;p21" descr="Picture 4">
              <a:extLst>
                <a:ext uri="{FF2B5EF4-FFF2-40B4-BE49-F238E27FC236}">
                  <a16:creationId xmlns:a16="http://schemas.microsoft.com/office/drawing/2014/main" id="{C6F847C2-7547-5BC0-88DC-F3EE4A9C1F51}"/>
                </a:ext>
              </a:extLst>
            </p:cNvPr>
            <p:cNvPicPr preferRelativeResize="0"/>
            <p:nvPr/>
          </p:nvPicPr>
          <p:blipFill rotWithShape="1">
            <a:blip r:embed="rId6">
              <a:alphaModFix/>
            </a:blip>
            <a:srcRect/>
            <a:stretch/>
          </p:blipFill>
          <p:spPr>
            <a:xfrm>
              <a:off x="5694861" y="2810354"/>
              <a:ext cx="542425" cy="519568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60" name="Google Shape;682;p21" descr="Picture 8">
              <a:extLst>
                <a:ext uri="{FF2B5EF4-FFF2-40B4-BE49-F238E27FC236}">
                  <a16:creationId xmlns:a16="http://schemas.microsoft.com/office/drawing/2014/main" id="{AE3B3BFE-B713-7665-2470-A1520CBCDDE5}"/>
                </a:ext>
              </a:extLst>
            </p:cNvPr>
            <p:cNvPicPr preferRelativeResize="0"/>
            <p:nvPr/>
          </p:nvPicPr>
          <p:blipFill rotWithShape="1">
            <a:blip r:embed="rId7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alphaModFix/>
            </a:blip>
            <a:srcRect t="11277" b="13062"/>
            <a:stretch>
              <a:fillRect/>
            </a:stretch>
          </p:blipFill>
          <p:spPr>
            <a:xfrm>
              <a:off x="8188196" y="3738090"/>
              <a:ext cx="1096541" cy="408673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61" name="Google Shape;684;p21" descr="Picture 2">
              <a:extLst>
                <a:ext uri="{FF2B5EF4-FFF2-40B4-BE49-F238E27FC236}">
                  <a16:creationId xmlns:a16="http://schemas.microsoft.com/office/drawing/2014/main" id="{593C88A1-9578-A6E7-53D4-FA511B4B75F2}"/>
                </a:ext>
              </a:extLst>
            </p:cNvPr>
            <p:cNvPicPr preferRelativeResize="0"/>
            <p:nvPr/>
          </p:nvPicPr>
          <p:blipFill rotWithShape="1">
            <a:blip r:embed="rId8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alphaModFix/>
            </a:blip>
            <a:srcRect/>
            <a:stretch/>
          </p:blipFill>
          <p:spPr>
            <a:xfrm>
              <a:off x="6296592" y="4614958"/>
              <a:ext cx="987861" cy="499844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62" name="Google Shape;686;p21" descr="Picture 4">
              <a:extLst>
                <a:ext uri="{FF2B5EF4-FFF2-40B4-BE49-F238E27FC236}">
                  <a16:creationId xmlns:a16="http://schemas.microsoft.com/office/drawing/2014/main" id="{F09E3182-D60A-A868-2D32-E9C262806953}"/>
                </a:ext>
              </a:extLst>
            </p:cNvPr>
            <p:cNvPicPr preferRelativeResize="0"/>
            <p:nvPr/>
          </p:nvPicPr>
          <p:blipFill rotWithShape="1">
            <a:blip r:embed="rId9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alphaModFix/>
            </a:blip>
            <a:srcRect/>
            <a:stretch/>
          </p:blipFill>
          <p:spPr>
            <a:xfrm>
              <a:off x="9999789" y="3844957"/>
              <a:ext cx="824043" cy="194938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63" name="Picture 4" descr="Rio Tinto logo">
              <a:extLst>
                <a:ext uri="{FF2B5EF4-FFF2-40B4-BE49-F238E27FC236}">
                  <a16:creationId xmlns:a16="http://schemas.microsoft.com/office/drawing/2014/main" id="{FC853AAC-0892-7D17-2AEA-D2EA13336D4D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0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4610" t="19566" r="4242" b="27059"/>
            <a:stretch>
              <a:fillRect/>
            </a:stretch>
          </p:blipFill>
          <p:spPr bwMode="auto">
            <a:xfrm>
              <a:off x="1078840" y="4650824"/>
              <a:ext cx="1046343" cy="42811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64" name="Picture 6" descr="Member login">
              <a:extLst>
                <a:ext uri="{FF2B5EF4-FFF2-40B4-BE49-F238E27FC236}">
                  <a16:creationId xmlns:a16="http://schemas.microsoft.com/office/drawing/2014/main" id="{47E3C958-9502-6CE6-25A9-A6D847F97C85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1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6798067" y="2888555"/>
              <a:ext cx="990163" cy="36316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65" name="Picture 8" descr="Articles tagged with 'catering' | Dnata">
              <a:extLst>
                <a:ext uri="{FF2B5EF4-FFF2-40B4-BE49-F238E27FC236}">
                  <a16:creationId xmlns:a16="http://schemas.microsoft.com/office/drawing/2014/main" id="{72732A54-B12E-DF81-9ECB-437D62B7D470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2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328334" y="4602644"/>
              <a:ext cx="1099699" cy="52447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66" name="Picture 2" descr="National Australia Bank brand resources: accessing high ...">
              <a:extLst>
                <a:ext uri="{FF2B5EF4-FFF2-40B4-BE49-F238E27FC236}">
                  <a16:creationId xmlns:a16="http://schemas.microsoft.com/office/drawing/2014/main" id="{1E7B0814-BFE5-E552-2A3B-96AE24E5793C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3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6531261" y="3558011"/>
              <a:ext cx="941883" cy="768831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67" name="Picture 2" descr="Seven West Media | Logopedia | Fandom">
              <a:extLst>
                <a:ext uri="{FF2B5EF4-FFF2-40B4-BE49-F238E27FC236}">
                  <a16:creationId xmlns:a16="http://schemas.microsoft.com/office/drawing/2014/main" id="{D70F523C-FAC2-7872-6E70-06608686FE65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9989977" y="4648752"/>
              <a:ext cx="1117906" cy="432257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68" name="Picture 6" descr="Canva's Logo gets a New Re-definition">
              <a:extLst>
                <a:ext uri="{FF2B5EF4-FFF2-40B4-BE49-F238E27FC236}">
                  <a16:creationId xmlns:a16="http://schemas.microsoft.com/office/drawing/2014/main" id="{27BA2950-A64F-76FF-5FCE-0F4B6C9E7768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5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4676" t="21623" r="14676" b="22364"/>
            <a:stretch>
              <a:fillRect/>
            </a:stretch>
          </p:blipFill>
          <p:spPr bwMode="auto">
            <a:xfrm>
              <a:off x="9929092" y="2865466"/>
              <a:ext cx="919236" cy="40934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69" name="Picture 12" descr="Anglicare Aged Care &amp; Community Services | Sydney &amp; Surrounds | Anglicare">
              <a:extLst>
                <a:ext uri="{FF2B5EF4-FFF2-40B4-BE49-F238E27FC236}">
                  <a16:creationId xmlns:a16="http://schemas.microsoft.com/office/drawing/2014/main" id="{8D6F0194-702A-FD2D-6737-E4B2EFA45311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940133" y="2748406"/>
              <a:ext cx="559535" cy="64346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70" name="Picture 69" descr="A logo with blue and green lines&#10;&#10;AI-generated content may be incorrect.">
              <a:extLst>
                <a:ext uri="{FF2B5EF4-FFF2-40B4-BE49-F238E27FC236}">
                  <a16:creationId xmlns:a16="http://schemas.microsoft.com/office/drawing/2014/main" id="{7C05EB16-ECC7-8A21-631B-B6D9E9F29707}"/>
                </a:ext>
              </a:extLst>
            </p:cNvPr>
            <p:cNvPicPr>
              <a:picLocks noChangeAspect="1"/>
            </p:cNvPicPr>
            <p:nvPr/>
          </p:nvPicPr>
          <p:blipFill>
            <a:blip r:embed="rId17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</a:blip>
            <a:srcRect l="7747" t="13319" r="4612" b="12915"/>
            <a:stretch>
              <a:fillRect/>
            </a:stretch>
          </p:blipFill>
          <p:spPr>
            <a:xfrm>
              <a:off x="4060449" y="2816374"/>
              <a:ext cx="1073631" cy="507529"/>
            </a:xfrm>
            <a:prstGeom prst="rect">
              <a:avLst/>
            </a:prstGeom>
          </p:spPr>
        </p:pic>
        <p:pic>
          <p:nvPicPr>
            <p:cNvPr id="71" name="Picture 70">
              <a:extLst>
                <a:ext uri="{FF2B5EF4-FFF2-40B4-BE49-F238E27FC236}">
                  <a16:creationId xmlns:a16="http://schemas.microsoft.com/office/drawing/2014/main" id="{6517AD38-486B-172B-2946-5D83F6AFE390}"/>
                </a:ext>
              </a:extLst>
            </p:cNvPr>
            <p:cNvPicPr>
              <a:picLocks noChangeAspect="1"/>
            </p:cNvPicPr>
            <p:nvPr/>
          </p:nvPicPr>
          <p:blipFill>
            <a:blip r:embed="rId18"/>
            <a:stretch>
              <a:fillRect/>
            </a:stretch>
          </p:blipFill>
          <p:spPr>
            <a:xfrm>
              <a:off x="5211850" y="3799605"/>
              <a:ext cx="604359" cy="285642"/>
            </a:xfrm>
            <a:prstGeom prst="rect">
              <a:avLst/>
            </a:prstGeom>
          </p:spPr>
        </p:pic>
        <p:pic>
          <p:nvPicPr>
            <p:cNvPr id="72" name="Picture 4" descr="Kennards Self Storage">
              <a:extLst>
                <a:ext uri="{FF2B5EF4-FFF2-40B4-BE49-F238E27FC236}">
                  <a16:creationId xmlns:a16="http://schemas.microsoft.com/office/drawing/2014/main" id="{43C80418-3D3D-D050-D1DD-FCC63419F621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153012" y="4717359"/>
              <a:ext cx="968406" cy="29504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73" name="Picture 2" descr="Resmed | The World Leader in Sleep Health">
              <a:extLst>
                <a:ext uri="{FF2B5EF4-FFF2-40B4-BE49-F238E27FC236}">
                  <a16:creationId xmlns:a16="http://schemas.microsoft.com/office/drawing/2014/main" id="{A15815DD-CFB7-34F5-9664-AFD35F652952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177338" y="3730222"/>
              <a:ext cx="947845" cy="42440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74" name="Picture 2" descr="Careers - ProPharma">
              <a:extLst>
                <a:ext uri="{FF2B5EF4-FFF2-40B4-BE49-F238E27FC236}">
                  <a16:creationId xmlns:a16="http://schemas.microsoft.com/office/drawing/2014/main" id="{5FF5F5F9-232E-43C4-F1E2-97B1F09E3EF7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111174" y="2963491"/>
              <a:ext cx="1268178" cy="21329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030" name="Picture 6" descr="Housing – Disability Advocacy Pathways">
              <a:extLst>
                <a:ext uri="{FF2B5EF4-FFF2-40B4-BE49-F238E27FC236}">
                  <a16:creationId xmlns:a16="http://schemas.microsoft.com/office/drawing/2014/main" id="{6B29799C-B442-8111-B9D3-A107A505B979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696425" y="5156081"/>
              <a:ext cx="2068551" cy="113518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038" name="Picture 14" descr="logo-melbourne-uni - Silverstone Edge">
              <a:extLst>
                <a:ext uri="{FF2B5EF4-FFF2-40B4-BE49-F238E27FC236}">
                  <a16:creationId xmlns:a16="http://schemas.microsoft.com/office/drawing/2014/main" id="{E2517584-38BC-4C3E-81A2-D7D6782B3424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2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20884" b="19420"/>
            <a:stretch>
              <a:fillRect/>
            </a:stretch>
          </p:blipFill>
          <p:spPr bwMode="auto">
            <a:xfrm>
              <a:off x="5496414" y="5496855"/>
              <a:ext cx="1367819" cy="45363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042" name="Picture 18" descr="AS White Global | LinkedIn">
              <a:extLst>
                <a:ext uri="{FF2B5EF4-FFF2-40B4-BE49-F238E27FC236}">
                  <a16:creationId xmlns:a16="http://schemas.microsoft.com/office/drawing/2014/main" id="{758697FA-6FDF-96E9-492A-6C1A5A99E0C5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2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5877" t="32565" r="10398" b="37166"/>
            <a:stretch>
              <a:fillRect/>
            </a:stretch>
          </p:blipFill>
          <p:spPr bwMode="auto">
            <a:xfrm>
              <a:off x="7595671" y="5539420"/>
              <a:ext cx="1019301" cy="36850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pic>
        <p:nvPicPr>
          <p:cNvPr id="1043" name="Picture 1042" descr="image.png"/>
          <p:cNvPicPr>
            <a:picLocks noChangeAspect="1"/>
          </p:cNvPicPr>
          <p:nvPr/>
        </p:nvPicPr>
        <p:blipFill>
          <a:blip r:embed="rId25"/>
          <a:stretch>
            <a:fillRect/>
          </a:stretch>
        </p:blipFill>
        <p:spPr>
          <a:xfrm>
            <a:off x="877824" y="457200"/>
            <a:ext cx="402032" cy="237744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8259775" y="420624"/>
            <a:ext cx="3200400" cy="3200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100" b="1" i="0" cap="all" spc="154">
                <a:solidFill>
                  <a:srgbClr val="EA493F"/>
                </a:solidFill>
                <a:latin typeface="Inter"/>
              </a:rPr>
              <a:t>WHAT WE DO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868680"/>
            <a:ext cx="10058400" cy="10058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3400" b="1" i="0" spc="-74" dirty="0">
                <a:solidFill>
                  <a:srgbClr val="FFFFFF"/>
                </a:solidFill>
                <a:latin typeface="Inter"/>
              </a:rPr>
              <a:t>Across your </a:t>
            </a:r>
            <a:r>
              <a:rPr lang="en-AU" sz="3400" b="1" spc="-74" dirty="0">
                <a:solidFill>
                  <a:srgbClr val="EA493F"/>
                </a:solidFill>
                <a:latin typeface="Inter"/>
              </a:rPr>
              <a:t>ERP</a:t>
            </a:r>
            <a:r>
              <a:rPr lang="en-AU" sz="3400" b="1" i="0" spc="-74" dirty="0">
                <a:solidFill>
                  <a:srgbClr val="EA493F"/>
                </a:solidFill>
                <a:latin typeface="Inter"/>
              </a:rPr>
              <a:t> platform.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877824" y="2395728"/>
            <a:ext cx="10436047" cy="0"/>
          </a:xfrm>
          <a:prstGeom prst="bentConnector3">
            <a:avLst/>
          </a:prstGeom>
          <a:ln w="12700">
            <a:solidFill>
              <a:srgbClr val="3A3A3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877824" y="2523744"/>
            <a:ext cx="1005840" cy="8229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3200" b="1" i="0" spc="-96">
                <a:solidFill>
                  <a:srgbClr val="EA493F"/>
                </a:solidFill>
                <a:latin typeface="Inter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020824" y="2487168"/>
            <a:ext cx="7040880" cy="7772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2100" b="1" spc="-42" dirty="0">
                <a:solidFill>
                  <a:srgbClr val="FFFFFF"/>
                </a:solidFill>
                <a:latin typeface="Inter"/>
              </a:rPr>
              <a:t>ERP </a:t>
            </a:r>
            <a:r>
              <a:rPr lang="en-AU" sz="2100" b="1" i="0" spc="-42" dirty="0">
                <a:solidFill>
                  <a:srgbClr val="FFFFFF"/>
                </a:solidFill>
                <a:latin typeface="Inter"/>
              </a:rPr>
              <a:t>&amp; Transformation</a:t>
            </a:r>
          </a:p>
          <a:p>
            <a:pPr algn="l">
              <a:lnSpc>
                <a:spcPct val="112000"/>
              </a:lnSpc>
              <a:spcBef>
                <a:spcPts val="400"/>
              </a:spcBef>
              <a:spcAft>
                <a:spcPts val="0"/>
              </a:spcAft>
            </a:pPr>
            <a:r>
              <a:rPr lang="en-AU" sz="1200" b="0" i="0" spc="0" dirty="0">
                <a:solidFill>
                  <a:srgbClr val="CFCFCF"/>
                </a:solidFill>
                <a:latin typeface="Inter"/>
              </a:rPr>
              <a:t>HCM, Payroll, Time &amp; Attendance and Finance— implemented and optimised.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722815" y="2578608"/>
            <a:ext cx="1591056" cy="4572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000" b="1" i="0" cap="all" spc="130">
                <a:solidFill>
                  <a:srgbClr val="CFCFCF"/>
                </a:solidFill>
                <a:latin typeface="Inter"/>
              </a:rPr>
              <a:t>WORKDAY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877824" y="3282696"/>
            <a:ext cx="10436047" cy="0"/>
          </a:xfrm>
          <a:prstGeom prst="bentConnector3">
            <a:avLst/>
          </a:prstGeom>
          <a:ln w="12700">
            <a:solidFill>
              <a:srgbClr val="3A3A3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877824" y="3410712"/>
            <a:ext cx="1005840" cy="8229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3200" b="1" i="0" spc="-96">
                <a:solidFill>
                  <a:srgbClr val="EA493F"/>
                </a:solidFill>
                <a:latin typeface="Inter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020824" y="3374136"/>
            <a:ext cx="7040880" cy="7772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2100" b="1" i="0" spc="-42" dirty="0">
                <a:solidFill>
                  <a:srgbClr val="FFFFFF"/>
                </a:solidFill>
                <a:latin typeface="Inter"/>
              </a:rPr>
              <a:t>Data, Analytics &amp; B.I.</a:t>
            </a:r>
          </a:p>
          <a:p>
            <a:pPr algn="l">
              <a:lnSpc>
                <a:spcPct val="112000"/>
              </a:lnSpc>
              <a:spcBef>
                <a:spcPts val="400"/>
              </a:spcBef>
              <a:spcAft>
                <a:spcPts val="0"/>
              </a:spcAft>
            </a:pPr>
            <a:r>
              <a:rPr lang="en-AU" sz="1200" b="0" i="0" spc="0" dirty="0">
                <a:solidFill>
                  <a:srgbClr val="CFCFCF"/>
                </a:solidFill>
                <a:latin typeface="Inter"/>
              </a:rPr>
              <a:t>Reporting, dashboards and governed analytics leaders trust.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722815" y="3465576"/>
            <a:ext cx="1591056" cy="4572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000" b="1" i="0" cap="all" spc="130">
                <a:solidFill>
                  <a:srgbClr val="CFCFCF"/>
                </a:solidFill>
                <a:latin typeface="Inter"/>
              </a:rPr>
              <a:t>INSIGHT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877824" y="4169663"/>
            <a:ext cx="10436047" cy="0"/>
          </a:xfrm>
          <a:prstGeom prst="bentConnector3">
            <a:avLst/>
          </a:prstGeom>
          <a:ln w="12700">
            <a:solidFill>
              <a:srgbClr val="3A3A3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877824" y="4297680"/>
            <a:ext cx="1005840" cy="8229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3200" b="1" i="0" spc="-96">
                <a:solidFill>
                  <a:srgbClr val="EA493F"/>
                </a:solidFill>
                <a:latin typeface="Inter"/>
              </a:rP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020824" y="4261104"/>
            <a:ext cx="7040880" cy="7772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2100" b="1" i="0" spc="-42" dirty="0">
                <a:solidFill>
                  <a:srgbClr val="FFFFFF"/>
                </a:solidFill>
                <a:latin typeface="Inter"/>
              </a:rPr>
              <a:t>Automation &amp; A.I.</a:t>
            </a:r>
          </a:p>
          <a:p>
            <a:pPr algn="l">
              <a:lnSpc>
                <a:spcPct val="112000"/>
              </a:lnSpc>
              <a:spcBef>
                <a:spcPts val="400"/>
              </a:spcBef>
              <a:spcAft>
                <a:spcPts val="0"/>
              </a:spcAft>
            </a:pPr>
            <a:r>
              <a:rPr lang="en-AU" sz="1200" b="0" i="0" spc="0" dirty="0">
                <a:solidFill>
                  <a:srgbClr val="CFCFCF"/>
                </a:solidFill>
                <a:latin typeface="Inter"/>
              </a:rPr>
              <a:t>Redesign, integrations and automation that remove manual work.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722815" y="4352544"/>
            <a:ext cx="1591056" cy="4572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000" b="1" i="0" cap="all" spc="130">
                <a:solidFill>
                  <a:srgbClr val="CFCFCF"/>
                </a:solidFill>
                <a:latin typeface="Inter"/>
              </a:rPr>
              <a:t>EFFICIENCY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877824" y="5056632"/>
            <a:ext cx="10436047" cy="0"/>
          </a:xfrm>
          <a:prstGeom prst="bentConnector3">
            <a:avLst/>
          </a:prstGeom>
          <a:ln w="12700">
            <a:solidFill>
              <a:srgbClr val="3A3A3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877824" y="5184648"/>
            <a:ext cx="1005840" cy="8229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3200" b="1" i="0" spc="-96">
                <a:solidFill>
                  <a:srgbClr val="EA493F"/>
                </a:solidFill>
                <a:latin typeface="Inter"/>
              </a:rPr>
              <a:t>04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020824" y="5148072"/>
            <a:ext cx="7040880" cy="7772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2100" b="1" i="0" spc="-42" dirty="0">
                <a:solidFill>
                  <a:srgbClr val="FFFFFF"/>
                </a:solidFill>
                <a:latin typeface="Inter"/>
              </a:rPr>
              <a:t>Managed Services &amp; Support</a:t>
            </a:r>
          </a:p>
          <a:p>
            <a:pPr algn="l">
              <a:lnSpc>
                <a:spcPct val="112000"/>
              </a:lnSpc>
              <a:spcBef>
                <a:spcPts val="400"/>
              </a:spcBef>
              <a:spcAft>
                <a:spcPts val="0"/>
              </a:spcAft>
            </a:pPr>
            <a:r>
              <a:rPr lang="en-AU" sz="1200" b="0" i="0" spc="0" dirty="0">
                <a:solidFill>
                  <a:srgbClr val="CFCFCF"/>
                </a:solidFill>
                <a:latin typeface="Inter"/>
              </a:rPr>
              <a:t>Application Managed Service, Managed Payroll that keeps delivering value after go-live.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722815" y="5239512"/>
            <a:ext cx="1591056" cy="4572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000" b="1" i="0" cap="all" spc="130">
                <a:solidFill>
                  <a:srgbClr val="CFCFCF"/>
                </a:solidFill>
                <a:latin typeface="Inter"/>
              </a:rPr>
              <a:t>PARTNERSHIP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877824" y="5943600"/>
            <a:ext cx="10436047" cy="0"/>
          </a:xfrm>
          <a:prstGeom prst="bentConnector3">
            <a:avLst/>
          </a:prstGeom>
          <a:ln w="12700">
            <a:solidFill>
              <a:srgbClr val="3A3A3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22" name="Picture 2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7824" y="457200"/>
            <a:ext cx="402032" cy="237744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8259775" y="420624"/>
            <a:ext cx="3200400" cy="3200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100" b="1" i="0" cap="all" spc="154" dirty="0">
                <a:solidFill>
                  <a:srgbClr val="EA493F"/>
                </a:solidFill>
                <a:latin typeface="Inter"/>
              </a:rPr>
              <a:t>Engagement model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914400"/>
            <a:ext cx="10436047" cy="10058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3300" b="1" i="0" spc="-72">
                <a:solidFill>
                  <a:srgbClr val="FFFFFF"/>
                </a:solidFill>
                <a:latin typeface="Inter"/>
              </a:rPr>
              <a:t>Across the whole </a:t>
            </a:r>
            <a:r>
              <a:rPr lang="en-AU" sz="3300" b="1" i="0" spc="-72">
                <a:solidFill>
                  <a:srgbClr val="EA493F"/>
                </a:solidFill>
                <a:latin typeface="Inter"/>
              </a:rPr>
              <a:t>Workday lifecycle.</a:t>
            </a:r>
          </a:p>
        </p:txBody>
      </p:sp>
      <p:sp>
        <p:nvSpPr>
          <p:cNvPr id="5" name="Rectangle 4"/>
          <p:cNvSpPr/>
          <p:nvPr/>
        </p:nvSpPr>
        <p:spPr>
          <a:xfrm>
            <a:off x="3584448" y="2194560"/>
            <a:ext cx="2322576" cy="1783080"/>
          </a:xfrm>
          <a:prstGeom prst="rect">
            <a:avLst/>
          </a:prstGeom>
          <a:solidFill>
            <a:srgbClr val="141414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3858768" y="2468880"/>
            <a:ext cx="1773936" cy="365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400" b="1" i="0" cap="all" spc="112">
                <a:solidFill>
                  <a:srgbClr val="EA493F"/>
                </a:solidFill>
                <a:latin typeface="Inter"/>
              </a:rPr>
              <a:t>IMPLEMENT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858768" y="2962656"/>
            <a:ext cx="1773936" cy="822959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350" b="1" i="0" spc="-13" dirty="0">
                <a:solidFill>
                  <a:srgbClr val="FFFFFF"/>
                </a:solidFill>
                <a:latin typeface="Inter"/>
              </a:rPr>
              <a:t>Deploy Workday HCM, Payroll &amp; Finance.</a:t>
            </a:r>
          </a:p>
        </p:txBody>
      </p:sp>
      <p:sp>
        <p:nvSpPr>
          <p:cNvPr id="8" name="Rectangle 7"/>
          <p:cNvSpPr/>
          <p:nvPr/>
        </p:nvSpPr>
        <p:spPr>
          <a:xfrm>
            <a:off x="6291072" y="2194560"/>
            <a:ext cx="2322576" cy="1783080"/>
          </a:xfrm>
          <a:prstGeom prst="rect">
            <a:avLst/>
          </a:prstGeom>
          <a:solidFill>
            <a:srgbClr val="141414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565392" y="2468880"/>
            <a:ext cx="1773936" cy="365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400" b="1" i="0" cap="all" spc="112">
                <a:solidFill>
                  <a:srgbClr val="EA493F"/>
                </a:solidFill>
                <a:latin typeface="Inter"/>
              </a:rPr>
              <a:t>OPTIMISE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65392" y="2962656"/>
            <a:ext cx="1773936" cy="822959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350" b="1" i="0" spc="-13">
                <a:solidFill>
                  <a:srgbClr val="FFFFFF"/>
                </a:solidFill>
                <a:latin typeface="Inter"/>
              </a:rPr>
              <a:t>Phase 2, integrations &amp; reporting.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997696" y="2194560"/>
            <a:ext cx="2322576" cy="1783080"/>
          </a:xfrm>
          <a:prstGeom prst="rect">
            <a:avLst/>
          </a:prstGeom>
          <a:solidFill>
            <a:srgbClr val="141414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9272016" y="2468880"/>
            <a:ext cx="1773936" cy="365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400" b="1" i="0" cap="all" spc="112">
                <a:solidFill>
                  <a:srgbClr val="EA493F"/>
                </a:solidFill>
                <a:latin typeface="Inter"/>
              </a:rPr>
              <a:t>MANAGE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272016" y="2962656"/>
            <a:ext cx="1773936" cy="822959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350" b="1" i="0" spc="-13">
                <a:solidFill>
                  <a:srgbClr val="FFFFFF"/>
                </a:solidFill>
                <a:latin typeface="Inter"/>
              </a:rPr>
              <a:t>Managed Services &amp; Managed Payroll — 24×7, continuous improvement.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824728" y="2834640"/>
            <a:ext cx="548640" cy="51206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2600" b="1" i="0" spc="0" dirty="0">
                <a:solidFill>
                  <a:srgbClr val="EA493F"/>
                </a:solidFill>
                <a:latin typeface="Inter"/>
              </a:rPr>
              <a:t>›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31351" y="2834640"/>
            <a:ext cx="548640" cy="51206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2600" b="1" i="0" spc="0">
                <a:solidFill>
                  <a:srgbClr val="EA493F"/>
                </a:solidFill>
                <a:latin typeface="Inter"/>
              </a:rPr>
              <a:t>›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584448" y="4389120"/>
            <a:ext cx="5029200" cy="914400"/>
          </a:xfrm>
          <a:prstGeom prst="rect">
            <a:avLst/>
          </a:prstGeom>
          <a:noFill/>
          <a:ln w="19050">
            <a:solidFill>
              <a:srgbClr val="EA49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3858768" y="4572000"/>
            <a:ext cx="4480560" cy="32918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150" b="1" i="0" cap="all" spc="115" dirty="0">
                <a:solidFill>
                  <a:srgbClr val="EA493F"/>
                </a:solidFill>
                <a:latin typeface="Inter"/>
              </a:rPr>
              <a:t>LEAD IMPLEMENTATION PARTNER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858768" y="4901183"/>
            <a:ext cx="4480560" cy="32918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200" b="0" i="0" spc="0" dirty="0">
                <a:solidFill>
                  <a:srgbClr val="CFCFCF"/>
                </a:solidFill>
                <a:latin typeface="Inter"/>
              </a:rPr>
              <a:t>Our certified consultants, leading implementation using Workday best practice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 lang="en-AU" sz="1200" b="0" i="0" spc="0" dirty="0">
              <a:solidFill>
                <a:srgbClr val="D6D6D6"/>
              </a:solidFill>
              <a:latin typeface="Inter"/>
            </a:endParaRPr>
          </a:p>
        </p:txBody>
      </p:sp>
      <p:sp>
        <p:nvSpPr>
          <p:cNvPr id="19" name="Rectangle 18"/>
          <p:cNvSpPr/>
          <p:nvPr/>
        </p:nvSpPr>
        <p:spPr>
          <a:xfrm>
            <a:off x="8997696" y="4389120"/>
            <a:ext cx="2322576" cy="1965960"/>
          </a:xfrm>
          <a:prstGeom prst="rect">
            <a:avLst/>
          </a:prstGeom>
          <a:solidFill>
            <a:srgbClr val="141414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9272016" y="4572000"/>
            <a:ext cx="1773936" cy="32918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150" b="1" i="0" cap="all" spc="115">
                <a:solidFill>
                  <a:srgbClr val="FFFFFF"/>
                </a:solidFill>
                <a:latin typeface="Inter"/>
              </a:rPr>
              <a:t>MANAGED SERVICES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272016" y="4901183"/>
            <a:ext cx="1773936" cy="32918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200" b="1" i="0" spc="0">
                <a:solidFill>
                  <a:srgbClr val="FFFFFF"/>
                </a:solidFill>
                <a:latin typeface="Inter"/>
              </a:rPr>
              <a:t>We own the outcome at Manage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C59DA16E-2A45-15A0-E8CE-0C2B93A91FEA}"/>
              </a:ext>
            </a:extLst>
          </p:cNvPr>
          <p:cNvSpPr/>
          <p:nvPr/>
        </p:nvSpPr>
        <p:spPr>
          <a:xfrm>
            <a:off x="3584448" y="5440680"/>
            <a:ext cx="5029200" cy="914400"/>
          </a:xfrm>
          <a:prstGeom prst="rect">
            <a:avLst/>
          </a:prstGeom>
          <a:noFill/>
          <a:ln w="19050">
            <a:solidFill>
              <a:srgbClr val="EA49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EA5D086C-4790-1E0E-A2ED-959F3DEB7F75}"/>
              </a:ext>
            </a:extLst>
          </p:cNvPr>
          <p:cNvSpPr txBox="1"/>
          <p:nvPr/>
        </p:nvSpPr>
        <p:spPr>
          <a:xfrm>
            <a:off x="3858768" y="5623560"/>
            <a:ext cx="4480560" cy="32918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150" b="1" i="0" cap="all" spc="115">
                <a:solidFill>
                  <a:srgbClr val="EA493F"/>
                </a:solidFill>
                <a:latin typeface="Inter"/>
              </a:rPr>
              <a:t>STAFF AUGMENTATION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86ED5A2-E007-69EC-DC75-4A45FDD9E1AF}"/>
              </a:ext>
            </a:extLst>
          </p:cNvPr>
          <p:cNvSpPr txBox="1"/>
          <p:nvPr/>
        </p:nvSpPr>
        <p:spPr>
          <a:xfrm>
            <a:off x="3858768" y="5952744"/>
            <a:ext cx="4480560" cy="32918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200" b="0" i="0" spc="0">
                <a:solidFill>
                  <a:srgbClr val="CFCFCF"/>
                </a:solidFill>
                <a:latin typeface="Inter"/>
              </a:rPr>
              <a:t>Our certified consultants, embedded in your team — through Implement and Optimise.</a:t>
            </a: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AA60CB8F-AA6E-AE2F-2D3A-34F8235E0AE1}"/>
              </a:ext>
            </a:extLst>
          </p:cNvPr>
          <p:cNvSpPr/>
          <p:nvPr/>
        </p:nvSpPr>
        <p:spPr>
          <a:xfrm>
            <a:off x="877824" y="2194560"/>
            <a:ext cx="2322576" cy="1783080"/>
          </a:xfrm>
          <a:prstGeom prst="rect">
            <a:avLst/>
          </a:prstGeom>
          <a:solidFill>
            <a:srgbClr val="141414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7F529C9C-7D48-0778-48BA-49F267AB2CB4}"/>
              </a:ext>
            </a:extLst>
          </p:cNvPr>
          <p:cNvSpPr txBox="1"/>
          <p:nvPr/>
        </p:nvSpPr>
        <p:spPr>
          <a:xfrm>
            <a:off x="1152144" y="2468880"/>
            <a:ext cx="1773936" cy="365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400" b="1" i="0" cap="all" spc="112" dirty="0">
                <a:solidFill>
                  <a:srgbClr val="EA493F"/>
                </a:solidFill>
                <a:latin typeface="Inter"/>
              </a:rPr>
              <a:t>ADVISE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03A7A7AF-9BD2-7863-DCAB-7516FC26351D}"/>
              </a:ext>
            </a:extLst>
          </p:cNvPr>
          <p:cNvSpPr txBox="1"/>
          <p:nvPr/>
        </p:nvSpPr>
        <p:spPr>
          <a:xfrm>
            <a:off x="1152144" y="2962656"/>
            <a:ext cx="1773936" cy="822959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350" b="1" spc="-13" dirty="0">
                <a:solidFill>
                  <a:srgbClr val="FFFFFF"/>
                </a:solidFill>
                <a:latin typeface="Inter"/>
              </a:rPr>
              <a:t>Roadmap, business case, readiness assessments  and planning</a:t>
            </a:r>
            <a:endParaRPr lang="en-AU" sz="1350" b="1" i="0" spc="-13" dirty="0">
              <a:solidFill>
                <a:srgbClr val="FFFFFF"/>
              </a:solidFill>
              <a:latin typeface="Inter"/>
            </a:endParaRP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D3F36C3F-B242-B1D1-FBDF-A2A4306C420A}"/>
              </a:ext>
            </a:extLst>
          </p:cNvPr>
          <p:cNvSpPr txBox="1"/>
          <p:nvPr/>
        </p:nvSpPr>
        <p:spPr>
          <a:xfrm>
            <a:off x="3118104" y="2834640"/>
            <a:ext cx="548640" cy="51206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2600" b="1" i="0" spc="0" dirty="0">
                <a:solidFill>
                  <a:srgbClr val="EA493F"/>
                </a:solidFill>
                <a:latin typeface="Inter"/>
              </a:rPr>
              <a:t>›</a:t>
            </a:r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67485C6F-21C8-A144-D289-A5CAB920C584}"/>
              </a:ext>
            </a:extLst>
          </p:cNvPr>
          <p:cNvSpPr/>
          <p:nvPr/>
        </p:nvSpPr>
        <p:spPr>
          <a:xfrm>
            <a:off x="877824" y="4389120"/>
            <a:ext cx="2322576" cy="1965960"/>
          </a:xfrm>
          <a:prstGeom prst="rect">
            <a:avLst/>
          </a:prstGeom>
          <a:noFill/>
          <a:ln w="19050">
            <a:solidFill>
              <a:srgbClr val="EA49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99E26CCE-9611-23DC-2480-402EFFEC6326}"/>
              </a:ext>
            </a:extLst>
          </p:cNvPr>
          <p:cNvSpPr txBox="1"/>
          <p:nvPr/>
        </p:nvSpPr>
        <p:spPr>
          <a:xfrm>
            <a:off x="1152144" y="4572000"/>
            <a:ext cx="1773936" cy="32918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150" b="1" i="0" cap="all" spc="115" dirty="0">
                <a:solidFill>
                  <a:srgbClr val="EA493F"/>
                </a:solidFill>
                <a:latin typeface="Inter"/>
              </a:rPr>
              <a:t>ADVISORY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13FA19F4-5A3C-B9AB-C186-20717E5E6650}"/>
              </a:ext>
            </a:extLst>
          </p:cNvPr>
          <p:cNvSpPr txBox="1"/>
          <p:nvPr/>
        </p:nvSpPr>
        <p:spPr>
          <a:xfrm>
            <a:off x="1152144" y="4901183"/>
            <a:ext cx="1773936" cy="32918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200" b="0" i="0" spc="0" dirty="0">
                <a:solidFill>
                  <a:srgbClr val="CFCFCF"/>
                </a:solidFill>
                <a:latin typeface="Inter"/>
              </a:rPr>
              <a:t>Strategic advisory projects</a:t>
            </a:r>
          </a:p>
        </p:txBody>
      </p:sp>
      <p:pic>
        <p:nvPicPr>
          <p:cNvPr id="45" name="Picture 4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7824" y="457200"/>
            <a:ext cx="402032" cy="237744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6FA6E06-FEFB-95D8-6443-278395D979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F281B023-C453-A1C4-349B-A1AEC6DDCCC5}"/>
              </a:ext>
            </a:extLst>
          </p:cNvPr>
          <p:cNvSpPr txBox="1"/>
          <p:nvPr/>
        </p:nvSpPr>
        <p:spPr>
          <a:xfrm>
            <a:off x="8259775" y="420624"/>
            <a:ext cx="3200400" cy="3200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100" b="1" i="0" cap="all" spc="154">
                <a:solidFill>
                  <a:srgbClr val="EA493F"/>
                </a:solidFill>
                <a:latin typeface="Inter"/>
              </a:rPr>
              <a:t>ENGAGEMENT MODELS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74363BB-A8F9-6883-0E80-F0BFD2B8EB21}"/>
              </a:ext>
            </a:extLst>
          </p:cNvPr>
          <p:cNvSpPr txBox="1"/>
          <p:nvPr/>
        </p:nvSpPr>
        <p:spPr>
          <a:xfrm>
            <a:off x="841248" y="914400"/>
            <a:ext cx="10436047" cy="10058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3300" b="1" i="0" spc="-72" dirty="0">
                <a:solidFill>
                  <a:srgbClr val="FFFFFF"/>
                </a:solidFill>
                <a:latin typeface="Inter"/>
              </a:rPr>
              <a:t>Four ways we </a:t>
            </a:r>
            <a:r>
              <a:rPr lang="en-AU" sz="3300" b="1" i="0" spc="-72" dirty="0">
                <a:solidFill>
                  <a:srgbClr val="EA493F"/>
                </a:solidFill>
                <a:latin typeface="Inter"/>
              </a:rPr>
              <a:t>support you.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4C3C0180-A632-D46E-8464-AE171C27DD3A}"/>
              </a:ext>
            </a:extLst>
          </p:cNvPr>
          <p:cNvSpPr/>
          <p:nvPr/>
        </p:nvSpPr>
        <p:spPr>
          <a:xfrm>
            <a:off x="877824" y="2331720"/>
            <a:ext cx="5035143" cy="1097280"/>
          </a:xfrm>
          <a:prstGeom prst="rect">
            <a:avLst/>
          </a:prstGeom>
          <a:solidFill>
            <a:srgbClr val="141414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C57032A-314D-94E0-F4DC-F2364B7E3EAA}"/>
              </a:ext>
            </a:extLst>
          </p:cNvPr>
          <p:cNvSpPr txBox="1"/>
          <p:nvPr/>
        </p:nvSpPr>
        <p:spPr>
          <a:xfrm>
            <a:off x="1152144" y="2569463"/>
            <a:ext cx="4532223" cy="365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250" b="1" i="0" cap="all" spc="150" dirty="0">
                <a:solidFill>
                  <a:srgbClr val="EA493F"/>
                </a:solidFill>
                <a:latin typeface="Inter"/>
              </a:rPr>
              <a:t>Lead implementation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EB90339-5953-E012-DBC5-DAF3A4E9298F}"/>
              </a:ext>
            </a:extLst>
          </p:cNvPr>
          <p:cNvSpPr txBox="1"/>
          <p:nvPr/>
        </p:nvSpPr>
        <p:spPr>
          <a:xfrm>
            <a:off x="1152144" y="2935224"/>
            <a:ext cx="4532223" cy="4572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450" i="0" spc="-14" dirty="0">
                <a:solidFill>
                  <a:srgbClr val="FFFFFF"/>
                </a:solidFill>
                <a:latin typeface="Inter"/>
              </a:rPr>
              <a:t>Our certified consultants, </a:t>
            </a:r>
            <a:r>
              <a:rPr lang="en-AU" sz="1450" spc="-14" dirty="0">
                <a:solidFill>
                  <a:srgbClr val="FFFFFF"/>
                </a:solidFill>
                <a:latin typeface="Inter"/>
              </a:rPr>
              <a:t>leading implementation using Workday best practice</a:t>
            </a:r>
            <a:endParaRPr lang="en-AU" sz="1450" i="0" spc="-14" dirty="0">
              <a:solidFill>
                <a:srgbClr val="FFFFFF"/>
              </a:solidFill>
              <a:latin typeface="Inter"/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E469D60C-FEA9-E529-6D7C-7D43B5F395A4}"/>
              </a:ext>
            </a:extLst>
          </p:cNvPr>
          <p:cNvSpPr/>
          <p:nvPr/>
        </p:nvSpPr>
        <p:spPr>
          <a:xfrm>
            <a:off x="6278727" y="2331720"/>
            <a:ext cx="5035143" cy="1097280"/>
          </a:xfrm>
          <a:prstGeom prst="rect">
            <a:avLst/>
          </a:prstGeom>
          <a:solidFill>
            <a:srgbClr val="141414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355D1168-6354-7EC7-4B2E-2D8FBF92C177}"/>
              </a:ext>
            </a:extLst>
          </p:cNvPr>
          <p:cNvSpPr txBox="1"/>
          <p:nvPr/>
        </p:nvSpPr>
        <p:spPr>
          <a:xfrm>
            <a:off x="6553047" y="2569463"/>
            <a:ext cx="4532223" cy="365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r>
              <a:rPr lang="en-AU" sz="1250" b="1" cap="all" spc="150" dirty="0">
                <a:solidFill>
                  <a:srgbClr val="EA493F"/>
                </a:solidFill>
                <a:latin typeface="Inter"/>
              </a:rPr>
              <a:t>STAFF AUGMENTATION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9E00FE74-4765-EA99-0F78-928CB310EE85}"/>
              </a:ext>
            </a:extLst>
          </p:cNvPr>
          <p:cNvSpPr txBox="1"/>
          <p:nvPr/>
        </p:nvSpPr>
        <p:spPr>
          <a:xfrm>
            <a:off x="6553047" y="2935224"/>
            <a:ext cx="4532223" cy="4572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>
              <a:lnSpc>
                <a:spcPct val="105000"/>
              </a:lnSpc>
            </a:pPr>
            <a:r>
              <a:rPr lang="en-AU" sz="1450" spc="-14" dirty="0">
                <a:solidFill>
                  <a:srgbClr val="FFFFFF"/>
                </a:solidFill>
                <a:latin typeface="Inter"/>
              </a:rPr>
              <a:t>Our certified consultants, embedded in your team</a:t>
            </a:r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41B0CBBA-3CBD-0F91-2EBD-53685AFAE309}"/>
              </a:ext>
            </a:extLst>
          </p:cNvPr>
          <p:cNvSpPr/>
          <p:nvPr/>
        </p:nvSpPr>
        <p:spPr>
          <a:xfrm>
            <a:off x="877824" y="3922776"/>
            <a:ext cx="5035143" cy="1097280"/>
          </a:xfrm>
          <a:prstGeom prst="rect">
            <a:avLst/>
          </a:prstGeom>
          <a:solidFill>
            <a:srgbClr val="141414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DB361499-A0C4-47EB-59C7-4D450E468221}"/>
              </a:ext>
            </a:extLst>
          </p:cNvPr>
          <p:cNvSpPr txBox="1"/>
          <p:nvPr/>
        </p:nvSpPr>
        <p:spPr>
          <a:xfrm>
            <a:off x="1152144" y="4160519"/>
            <a:ext cx="4532223" cy="365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r>
              <a:rPr lang="en-AU" sz="1250" b="1" cap="all" spc="150" dirty="0">
                <a:solidFill>
                  <a:srgbClr val="EA493F"/>
                </a:solidFill>
                <a:latin typeface="Inter"/>
              </a:rPr>
              <a:t>MANAGED SERVICES-  AMS</a:t>
            </a:r>
            <a:endParaRPr lang="en-AU" sz="1250" b="1" i="0" cap="all" spc="150" dirty="0">
              <a:solidFill>
                <a:srgbClr val="EA493F"/>
              </a:solidFill>
              <a:latin typeface="Inter"/>
            </a:endParaRP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C9DFD555-014D-0FF8-D96B-206B9BF58DE9}"/>
              </a:ext>
            </a:extLst>
          </p:cNvPr>
          <p:cNvSpPr txBox="1"/>
          <p:nvPr/>
        </p:nvSpPr>
        <p:spPr>
          <a:xfrm>
            <a:off x="1152144" y="4526280"/>
            <a:ext cx="4532223" cy="4572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>
              <a:lnSpc>
                <a:spcPct val="105000"/>
              </a:lnSpc>
            </a:pPr>
            <a:r>
              <a:rPr lang="en-AU" sz="1450" spc="-14" dirty="0">
                <a:solidFill>
                  <a:srgbClr val="FFFFFF"/>
                </a:solidFill>
                <a:latin typeface="Inter"/>
              </a:rPr>
              <a:t>We own the outcome, end to end</a:t>
            </a:r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9BE47FCB-8A15-6EF6-350B-DE863B2D2467}"/>
              </a:ext>
            </a:extLst>
          </p:cNvPr>
          <p:cNvSpPr/>
          <p:nvPr/>
        </p:nvSpPr>
        <p:spPr>
          <a:xfrm>
            <a:off x="6278727" y="3922776"/>
            <a:ext cx="5035143" cy="1097280"/>
          </a:xfrm>
          <a:prstGeom prst="rect">
            <a:avLst/>
          </a:prstGeom>
          <a:solidFill>
            <a:srgbClr val="141414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20A0EB90-3F05-3D03-34CA-4D07F911B893}"/>
              </a:ext>
            </a:extLst>
          </p:cNvPr>
          <p:cNvSpPr txBox="1"/>
          <p:nvPr/>
        </p:nvSpPr>
        <p:spPr>
          <a:xfrm>
            <a:off x="6553047" y="4160519"/>
            <a:ext cx="4532223" cy="365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250" b="1" i="0" cap="all" spc="150" dirty="0">
                <a:solidFill>
                  <a:srgbClr val="EA493F"/>
                </a:solidFill>
                <a:latin typeface="Inter"/>
              </a:rPr>
              <a:t>MANAGED SERVICES - Managed Payroll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5FF7E83E-9779-A690-5073-8077B485AD57}"/>
              </a:ext>
            </a:extLst>
          </p:cNvPr>
          <p:cNvSpPr txBox="1"/>
          <p:nvPr/>
        </p:nvSpPr>
        <p:spPr>
          <a:xfrm>
            <a:off x="6553047" y="4526280"/>
            <a:ext cx="4532223" cy="4572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450" i="0" spc="-14" dirty="0">
                <a:solidFill>
                  <a:srgbClr val="FFFFFF"/>
                </a:solidFill>
                <a:latin typeface="Inter"/>
              </a:rPr>
              <a:t>We own the system, we managed the payroll</a:t>
            </a:r>
          </a:p>
        </p:txBody>
      </p:sp>
      <p:pic>
        <p:nvPicPr>
          <p:cNvPr id="50" name="Picture 49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7824" y="457200"/>
            <a:ext cx="402032" cy="2377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39716465"/>
      </p:ext>
    </p:extLst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TextBox 2"/>
          <p:cNvSpPr txBox="1"/>
          <p:nvPr/>
        </p:nvSpPr>
        <p:spPr>
          <a:xfrm>
            <a:off x="5943600" y="420624"/>
            <a:ext cx="5486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1">
                <a:solidFill>
                  <a:srgbClr val="EA493F"/>
                </a:solidFill>
                <a:latin typeface="Inter"/>
              </a:rPr>
              <a:t>DELIVERY APPROACH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896112"/>
            <a:ext cx="10433304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300" b="1">
                <a:solidFill>
                  <a:srgbClr val="FFFFFF"/>
                </a:solidFill>
                <a:latin typeface="Inter"/>
              </a:rPr>
              <a:t>Velocity &amp; Value — </a:t>
            </a:r>
            <a:r>
              <a:rPr sz="3300" b="1">
                <a:solidFill>
                  <a:srgbClr val="EA493F"/>
                </a:solidFill>
                <a:latin typeface="Inter"/>
              </a:rPr>
              <a:t>Workday GO.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77824" y="1572768"/>
            <a:ext cx="1044244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>
                <a:solidFill>
                  <a:srgbClr val="CFCFCF"/>
                </a:solidFill>
                <a:latin typeface="Inter"/>
              </a:rPr>
              <a:t>Workday's packaged deployment model — proven, best-practice processes, live fast.</a:t>
            </a:r>
          </a:p>
        </p:txBody>
      </p:sp>
      <p:sp>
        <p:nvSpPr>
          <p:cNvPr id="6" name="Rectangle 5"/>
          <p:cNvSpPr/>
          <p:nvPr/>
        </p:nvSpPr>
        <p:spPr>
          <a:xfrm>
            <a:off x="877824" y="2121408"/>
            <a:ext cx="5029200" cy="1627632"/>
          </a:xfrm>
          <a:prstGeom prst="rect">
            <a:avLst/>
          </a:prstGeom>
          <a:solidFill>
            <a:srgbClr val="141414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7824" y="2121408"/>
            <a:ext cx="91440" cy="1627632"/>
          </a:xfrm>
          <a:prstGeom prst="rect">
            <a:avLst/>
          </a:prstGeom>
          <a:solidFill>
            <a:srgbClr val="EA493F"/>
          </a:solidFill>
          <a:ln>
            <a:solid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88720" y="2267712"/>
            <a:ext cx="45720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000" b="1">
                <a:solidFill>
                  <a:srgbClr val="EA493F"/>
                </a:solidFill>
                <a:latin typeface="Inter"/>
              </a:rPr>
              <a:t>90%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2962656"/>
            <a:ext cx="45720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Inter"/>
              </a:rPr>
              <a:t>Pre-configured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88720" y="3273552"/>
            <a:ext cx="4389120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>
                <a:solidFill>
                  <a:srgbClr val="CFCFCF"/>
                </a:solidFill>
                <a:latin typeface="Inter"/>
              </a:rPr>
              <a:t>All standard HR, payroll &amp; talent processes — prebuilt to Workday's ANZ leading practice.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91072" y="2121408"/>
            <a:ext cx="5029200" cy="1627632"/>
          </a:xfrm>
          <a:prstGeom prst="rect">
            <a:avLst/>
          </a:prstGeom>
          <a:solidFill>
            <a:srgbClr val="141414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91072" y="2121408"/>
            <a:ext cx="91440" cy="1627632"/>
          </a:xfrm>
          <a:prstGeom prst="rect">
            <a:avLst/>
          </a:prstGeom>
          <a:solidFill>
            <a:srgbClr val="FFFFFF"/>
          </a:solidFill>
          <a:ln>
            <a:solid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01968" y="2267712"/>
            <a:ext cx="45720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  <a:latin typeface="Inter"/>
              </a:rPr>
              <a:t>10%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01968" y="2962656"/>
            <a:ext cx="45720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Inter"/>
              </a:rPr>
              <a:t>Unique to you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01968" y="3273552"/>
            <a:ext cx="4389120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>
                <a:solidFill>
                  <a:srgbClr val="CFCFCF"/>
                </a:solidFill>
                <a:latin typeface="Inter"/>
              </a:rPr>
              <a:t>The configuration that flexes Workday to your data, org structure, pay cycles and awards.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77824" y="3968496"/>
            <a:ext cx="10442448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Inter"/>
              </a:rPr>
              <a:t>Five-phase delivery model.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77824" y="4443984"/>
            <a:ext cx="1751990" cy="1170432"/>
          </a:xfrm>
          <a:prstGeom prst="rect">
            <a:avLst/>
          </a:prstGeom>
          <a:solidFill>
            <a:srgbClr val="141414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24127" y="4443984"/>
            <a:ext cx="1459382" cy="11704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1100" b="1">
                <a:solidFill>
                  <a:srgbClr val="EA493F"/>
                </a:solidFill>
                <a:latin typeface="Inter"/>
              </a:rPr>
              <a:t>1. Mobilise</a:t>
            </a:r>
          </a:p>
          <a:p>
            <a:pPr algn="ctr">
              <a:lnSpc>
                <a:spcPct val="105000"/>
              </a:lnSpc>
            </a:pPr>
            <a:r>
              <a:rPr sz="900" b="0">
                <a:solidFill>
                  <a:srgbClr val="CFCFCF"/>
                </a:solidFill>
                <a:latin typeface="Inter"/>
              </a:rPr>
              <a:t>Charter &amp; governance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611526" y="4800600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800" b="1">
                <a:solidFill>
                  <a:srgbClr val="EA493F"/>
                </a:solidFill>
                <a:latin typeface="Inter"/>
              </a:rPr>
              <a:t>→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050438" y="4443984"/>
            <a:ext cx="1751990" cy="1170432"/>
          </a:xfrm>
          <a:prstGeom prst="rect">
            <a:avLst/>
          </a:prstGeom>
          <a:solidFill>
            <a:srgbClr val="141414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196742" y="4443984"/>
            <a:ext cx="1459382" cy="11704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1100" b="1">
                <a:solidFill>
                  <a:srgbClr val="EA493F"/>
                </a:solidFill>
                <a:latin typeface="Inter"/>
              </a:rPr>
              <a:t>2. Architect</a:t>
            </a:r>
          </a:p>
          <a:p>
            <a:pPr algn="ctr">
              <a:lnSpc>
                <a:spcPct val="105000"/>
              </a:lnSpc>
            </a:pPr>
            <a:r>
              <a:rPr sz="900" b="0">
                <a:solidFill>
                  <a:srgbClr val="CFCFCF"/>
                </a:solidFill>
                <a:latin typeface="Inter"/>
              </a:rPr>
              <a:t>Workshops &amp; validation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784140" y="4800600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800" b="1">
                <a:solidFill>
                  <a:srgbClr val="EA493F"/>
                </a:solidFill>
                <a:latin typeface="Inter"/>
              </a:rPr>
              <a:t>→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223052" y="4443984"/>
            <a:ext cx="1751990" cy="1170432"/>
          </a:xfrm>
          <a:prstGeom prst="rect">
            <a:avLst/>
          </a:prstGeom>
          <a:solidFill>
            <a:srgbClr val="141414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369356" y="4443984"/>
            <a:ext cx="1459382" cy="11704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1100" b="1">
                <a:solidFill>
                  <a:srgbClr val="EA493F"/>
                </a:solidFill>
                <a:latin typeface="Inter"/>
              </a:rPr>
              <a:t>3. Configure &amp; Prototype</a:t>
            </a:r>
          </a:p>
          <a:p>
            <a:pPr algn="ctr">
              <a:lnSpc>
                <a:spcPct val="105000"/>
              </a:lnSpc>
            </a:pPr>
            <a:r>
              <a:rPr sz="900" b="0">
                <a:solidFill>
                  <a:srgbClr val="CFCFCF"/>
                </a:solidFill>
                <a:latin typeface="Inter"/>
              </a:rPr>
              <a:t>Build &amp; iterate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956755" y="4800600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800" b="1">
                <a:solidFill>
                  <a:srgbClr val="EA493F"/>
                </a:solidFill>
                <a:latin typeface="Inter"/>
              </a:rPr>
              <a:t>→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395667" y="4443984"/>
            <a:ext cx="1751990" cy="1170432"/>
          </a:xfrm>
          <a:prstGeom prst="rect">
            <a:avLst/>
          </a:prstGeom>
          <a:solidFill>
            <a:srgbClr val="141414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541971" y="4443984"/>
            <a:ext cx="1459382" cy="11704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1100" b="1">
                <a:solidFill>
                  <a:srgbClr val="EA493F"/>
                </a:solidFill>
                <a:latin typeface="Inter"/>
              </a:rPr>
              <a:t>4. Test</a:t>
            </a:r>
          </a:p>
          <a:p>
            <a:pPr algn="ctr">
              <a:lnSpc>
                <a:spcPct val="105000"/>
              </a:lnSpc>
            </a:pPr>
            <a:r>
              <a:rPr sz="900" b="0">
                <a:solidFill>
                  <a:srgbClr val="CFCFCF"/>
                </a:solidFill>
                <a:latin typeface="Inter"/>
              </a:rPr>
              <a:t>End-to-end validation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29369" y="4800600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800" b="1">
                <a:solidFill>
                  <a:srgbClr val="EA493F"/>
                </a:solidFill>
                <a:latin typeface="Inter"/>
              </a:rPr>
              <a:t>→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568281" y="4443984"/>
            <a:ext cx="1751990" cy="1170432"/>
          </a:xfrm>
          <a:prstGeom prst="rect">
            <a:avLst/>
          </a:prstGeom>
          <a:solidFill>
            <a:srgbClr val="141414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714585" y="4443984"/>
            <a:ext cx="1459382" cy="11704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1100" b="1">
                <a:solidFill>
                  <a:srgbClr val="EA493F"/>
                </a:solidFill>
                <a:latin typeface="Inter"/>
              </a:rPr>
              <a:t>5. Deploy</a:t>
            </a:r>
          </a:p>
          <a:p>
            <a:pPr algn="ctr">
              <a:lnSpc>
                <a:spcPct val="105000"/>
              </a:lnSpc>
            </a:pPr>
            <a:r>
              <a:rPr sz="900" b="0">
                <a:solidFill>
                  <a:srgbClr val="CFCFCF"/>
                </a:solidFill>
                <a:latin typeface="Inter"/>
              </a:rPr>
              <a:t>Cutover &amp; hypercare</a:t>
            </a:r>
          </a:p>
        </p:txBody>
      </p:sp>
      <p:pic>
        <p:nvPicPr>
          <p:cNvPr id="31" name="Picture 30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7824" y="457200"/>
            <a:ext cx="402336" cy="237744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TextBox 2"/>
          <p:cNvSpPr txBox="1"/>
          <p:nvPr/>
        </p:nvSpPr>
        <p:spPr>
          <a:xfrm>
            <a:off x="5943600" y="420624"/>
            <a:ext cx="5486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1">
                <a:solidFill>
                  <a:srgbClr val="EA493F"/>
                </a:solidFill>
                <a:latin typeface="Inter"/>
              </a:rPr>
              <a:t>IMPLEMENTATION TIMELINE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896112"/>
            <a:ext cx="10433304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300" b="1">
                <a:solidFill>
                  <a:srgbClr val="FFFFFF"/>
                </a:solidFill>
                <a:latin typeface="Inter"/>
              </a:rPr>
              <a:t>Your implementation </a:t>
            </a:r>
            <a:r>
              <a:rPr sz="3300" b="1">
                <a:solidFill>
                  <a:srgbClr val="EA493F"/>
                </a:solidFill>
                <a:latin typeface="Inter"/>
              </a:rPr>
              <a:t>timeline.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77824" y="1591056"/>
            <a:ext cx="1044244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CFCFCF"/>
                </a:solidFill>
                <a:latin typeface="Inter"/>
              </a:rPr>
              <a:t>A single 20-week delivery brings all your modules live in one go-live — followed by four weeks of Hypercare.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7824" y="2212848"/>
            <a:ext cx="1044244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50" b="1">
                <a:solidFill>
                  <a:srgbClr val="FFFFFF"/>
                </a:solidFill>
                <a:latin typeface="Inter"/>
              </a:rPr>
              <a:t>One phase  ·  20 weeks to go-live  ·  all modules.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7824" y="2743200"/>
            <a:ext cx="1362455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>
                <a:solidFill>
                  <a:srgbClr val="FFFFFF"/>
                </a:solidFill>
                <a:latin typeface="Inter"/>
              </a:rPr>
              <a:t>Mobilise</a:t>
            </a:r>
          </a:p>
        </p:txBody>
      </p:sp>
      <p:sp>
        <p:nvSpPr>
          <p:cNvPr id="8" name="Rectangle 7"/>
          <p:cNvSpPr/>
          <p:nvPr/>
        </p:nvSpPr>
        <p:spPr>
          <a:xfrm>
            <a:off x="2331720" y="2939796"/>
            <a:ext cx="8988552" cy="27432"/>
          </a:xfrm>
          <a:prstGeom prst="rect">
            <a:avLst/>
          </a:prstGeom>
          <a:solidFill>
            <a:srgbClr val="2A2A2A"/>
          </a:solidFill>
          <a:ln>
            <a:solid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331720" y="2788920"/>
            <a:ext cx="746049" cy="329184"/>
          </a:xfrm>
          <a:prstGeom prst="rect">
            <a:avLst/>
          </a:prstGeom>
          <a:solidFill>
            <a:srgbClr val="EA493F"/>
          </a:solidFill>
          <a:ln>
            <a:solid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331720" y="2788920"/>
            <a:ext cx="746049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50" b="1">
                <a:solidFill>
                  <a:srgbClr val="FFFFFF"/>
                </a:solidFill>
                <a:latin typeface="Inter"/>
              </a:rPr>
              <a:t>Wk 1–2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77824" y="3268980"/>
            <a:ext cx="1362455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>
                <a:solidFill>
                  <a:srgbClr val="FFFFFF"/>
                </a:solidFill>
                <a:latin typeface="Inter"/>
              </a:rPr>
              <a:t>Architect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331720" y="3465576"/>
            <a:ext cx="8988552" cy="27432"/>
          </a:xfrm>
          <a:prstGeom prst="rect">
            <a:avLst/>
          </a:prstGeom>
          <a:solidFill>
            <a:srgbClr val="2A2A2A"/>
          </a:solidFill>
          <a:ln>
            <a:solid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077769" y="3314700"/>
            <a:ext cx="1869618" cy="329184"/>
          </a:xfrm>
          <a:prstGeom prst="rect">
            <a:avLst/>
          </a:prstGeom>
          <a:solidFill>
            <a:srgbClr val="EA493F"/>
          </a:solidFill>
          <a:ln>
            <a:solid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077769" y="3314700"/>
            <a:ext cx="1869618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50" b="1">
                <a:solidFill>
                  <a:srgbClr val="FFFFFF"/>
                </a:solidFill>
                <a:latin typeface="Inter"/>
              </a:rPr>
              <a:t>Wk 3–7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77824" y="3794760"/>
            <a:ext cx="1362455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>
                <a:solidFill>
                  <a:srgbClr val="FFFFFF"/>
                </a:solidFill>
                <a:latin typeface="Inter"/>
              </a:rPr>
              <a:t>Configure &amp; Prototype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331720" y="3991356"/>
            <a:ext cx="8988552" cy="27432"/>
          </a:xfrm>
          <a:prstGeom prst="rect">
            <a:avLst/>
          </a:prstGeom>
          <a:solidFill>
            <a:srgbClr val="2A2A2A"/>
          </a:solidFill>
          <a:ln>
            <a:solid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956377" y="3840480"/>
            <a:ext cx="2247138" cy="329184"/>
          </a:xfrm>
          <a:prstGeom prst="rect">
            <a:avLst/>
          </a:prstGeom>
          <a:solidFill>
            <a:srgbClr val="EA493F"/>
          </a:solidFill>
          <a:ln>
            <a:solid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956377" y="3840480"/>
            <a:ext cx="2247138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50" b="1">
                <a:solidFill>
                  <a:srgbClr val="FFFFFF"/>
                </a:solidFill>
                <a:latin typeface="Inter"/>
              </a:rPr>
              <a:t>Wk 8–13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77824" y="4320540"/>
            <a:ext cx="1362455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>
                <a:solidFill>
                  <a:srgbClr val="FFFFFF"/>
                </a:solidFill>
                <a:latin typeface="Inter"/>
              </a:rPr>
              <a:t>Test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331720" y="4517136"/>
            <a:ext cx="8988552" cy="27432"/>
          </a:xfrm>
          <a:prstGeom prst="rect">
            <a:avLst/>
          </a:prstGeom>
          <a:solidFill>
            <a:srgbClr val="2A2A2A"/>
          </a:solidFill>
          <a:ln>
            <a:solid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203515" y="4366259"/>
            <a:ext cx="2247138" cy="329184"/>
          </a:xfrm>
          <a:prstGeom prst="rect">
            <a:avLst/>
          </a:prstGeom>
          <a:solidFill>
            <a:srgbClr val="EA493F"/>
          </a:solidFill>
          <a:ln>
            <a:solid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203515" y="4366259"/>
            <a:ext cx="2247138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50" b="1">
                <a:solidFill>
                  <a:srgbClr val="FFFFFF"/>
                </a:solidFill>
                <a:latin typeface="Inter"/>
              </a:rPr>
              <a:t>Wk 14–19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77824" y="4846320"/>
            <a:ext cx="1362455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>
                <a:solidFill>
                  <a:srgbClr val="EA493F"/>
                </a:solidFill>
                <a:latin typeface="Inter"/>
              </a:rPr>
              <a:t>GO-LIVE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331720" y="5042916"/>
            <a:ext cx="8988552" cy="27432"/>
          </a:xfrm>
          <a:prstGeom prst="rect">
            <a:avLst/>
          </a:prstGeom>
          <a:solidFill>
            <a:srgbClr val="2A2A2A"/>
          </a:solidFill>
          <a:ln>
            <a:solid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9450653" y="4892040"/>
            <a:ext cx="377519" cy="329184"/>
          </a:xfrm>
          <a:prstGeom prst="rect">
            <a:avLst/>
          </a:prstGeom>
          <a:solidFill>
            <a:srgbClr val="1C1C1C"/>
          </a:solidFill>
          <a:ln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901324" y="4846320"/>
            <a:ext cx="109728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50" b="1">
                <a:solidFill>
                  <a:srgbClr val="FFFFFF"/>
                </a:solidFill>
                <a:latin typeface="Inter"/>
              </a:rPr>
              <a:t>Wk 20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77824" y="5372100"/>
            <a:ext cx="1362455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>
                <a:solidFill>
                  <a:srgbClr val="FFFFFF"/>
                </a:solidFill>
                <a:latin typeface="Inter"/>
              </a:rPr>
              <a:t>Hypercare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331720" y="5568696"/>
            <a:ext cx="8988552" cy="27432"/>
          </a:xfrm>
          <a:prstGeom prst="rect">
            <a:avLst/>
          </a:prstGeom>
          <a:solidFill>
            <a:srgbClr val="2A2A2A"/>
          </a:solidFill>
          <a:ln>
            <a:solid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9819183" y="5417820"/>
            <a:ext cx="1501088" cy="329184"/>
          </a:xfrm>
          <a:prstGeom prst="rect">
            <a:avLst/>
          </a:prstGeom>
          <a:solidFill>
            <a:srgbClr val="3A3A3A"/>
          </a:solidFill>
          <a:ln>
            <a:solid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819183" y="5417820"/>
            <a:ext cx="1501088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50" b="1">
                <a:solidFill>
                  <a:srgbClr val="FFFFFF"/>
                </a:solidFill>
                <a:latin typeface="Inter"/>
              </a:rPr>
              <a:t>Wk 21–24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77824" y="5943600"/>
            <a:ext cx="10442448" cy="676656"/>
          </a:xfrm>
          <a:prstGeom prst="rect">
            <a:avLst/>
          </a:prstGeom>
          <a:solidFill>
            <a:srgbClr val="1C1C1C"/>
          </a:solidFill>
          <a:ln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207008" y="5943600"/>
            <a:ext cx="9784080" cy="6766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100" b="1">
                <a:solidFill>
                  <a:srgbClr val="EA493F"/>
                </a:solidFill>
                <a:latin typeface="Inter"/>
              </a:rPr>
              <a:t>One team. One go-live. Twenty weeks.  </a:t>
            </a:r>
            <a:r>
              <a:rPr sz="1100" b="0">
                <a:solidFill>
                  <a:srgbClr val="FFFFFF"/>
                </a:solidFill>
                <a:latin typeface="Inter"/>
              </a:rPr>
              <a:t>Workday GO's preconfigured tenant removes the design overhead — we validate, tailor and stand your team up, all modules live together at week 20.</a:t>
            </a:r>
          </a:p>
        </p:txBody>
      </p:sp>
      <p:pic>
        <p:nvPicPr>
          <p:cNvPr id="33" name="Picture 3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7824" y="457200"/>
            <a:ext cx="402336" cy="237744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TextBox 2"/>
          <p:cNvSpPr txBox="1"/>
          <p:nvPr/>
        </p:nvSpPr>
        <p:spPr>
          <a:xfrm>
            <a:off x="5943600" y="420624"/>
            <a:ext cx="5486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1">
                <a:solidFill>
                  <a:srgbClr val="EA493F"/>
                </a:solidFill>
                <a:latin typeface="Inter"/>
              </a:rPr>
              <a:t>DELIVERY APPROACH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896112"/>
            <a:ext cx="10433304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300" b="1">
                <a:solidFill>
                  <a:srgbClr val="FFFFFF"/>
                </a:solidFill>
                <a:latin typeface="Inter"/>
              </a:rPr>
              <a:t>The Data Handshake: </a:t>
            </a:r>
            <a:r>
              <a:rPr sz="3300" b="1">
                <a:solidFill>
                  <a:srgbClr val="EA493F"/>
                </a:solidFill>
                <a:latin typeface="Inter"/>
              </a:rPr>
              <a:t>ensuring certainty.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77824" y="1627632"/>
            <a:ext cx="10442448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CFCFCF"/>
                </a:solidFill>
                <a:latin typeface="Inter"/>
              </a:rPr>
              <a:t>Data is the fuel for your Workday engine — and accurate data is the only way to ensure operational success. We use a collaborative handshake model that plays to each side's strengths.</a:t>
            </a:r>
          </a:p>
        </p:txBody>
      </p:sp>
      <p:sp>
        <p:nvSpPr>
          <p:cNvPr id="6" name="Rectangle 5"/>
          <p:cNvSpPr/>
          <p:nvPr/>
        </p:nvSpPr>
        <p:spPr>
          <a:xfrm>
            <a:off x="877824" y="2331720"/>
            <a:ext cx="4736592" cy="1243584"/>
          </a:xfrm>
          <a:prstGeom prst="rect">
            <a:avLst/>
          </a:prstGeom>
          <a:solidFill>
            <a:srgbClr val="141414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0" y="2331720"/>
            <a:ext cx="4736592" cy="1243584"/>
          </a:xfrm>
          <a:prstGeom prst="rect">
            <a:avLst/>
          </a:prstGeom>
          <a:solidFill>
            <a:srgbClr val="141414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614416" y="2331720"/>
            <a:ext cx="969264" cy="12435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3200" b="1">
                <a:solidFill>
                  <a:srgbClr val="EA493F"/>
                </a:solidFill>
                <a:latin typeface="Inter"/>
              </a:rPr>
              <a:t>↔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52144" y="2496312"/>
            <a:ext cx="4206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>
                <a:solidFill>
                  <a:srgbClr val="EA493F"/>
                </a:solidFill>
                <a:latin typeface="Inter"/>
              </a:rPr>
              <a:t>YOUR TEAM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52144" y="2752344"/>
            <a:ext cx="42062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Inter"/>
              </a:rPr>
              <a:t>You know your business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52144" y="3063239"/>
            <a:ext cx="42062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>
                <a:solidFill>
                  <a:srgbClr val="CFCFCF"/>
                </a:solidFill>
                <a:latin typeface="Inter"/>
              </a:rPr>
              <a:t>Extract &amp; cleanse legacy data — ensuring only active, accurate records are migrated.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0" y="2496312"/>
            <a:ext cx="4206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>
                <a:solidFill>
                  <a:srgbClr val="EA493F"/>
                </a:solidFill>
                <a:latin typeface="Inter"/>
              </a:rPr>
              <a:t>MIVADA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0" y="2752344"/>
            <a:ext cx="42062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Inter"/>
              </a:rPr>
              <a:t>We know Workday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0" y="3063239"/>
            <a:ext cx="42062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>
                <a:solidFill>
                  <a:srgbClr val="CFCFCF"/>
                </a:solidFill>
                <a:latin typeface="Inter"/>
              </a:rPr>
              <a:t>Provide the mapping templates and technical tooling to load data into Workday's architecture.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77824" y="3822191"/>
            <a:ext cx="1044244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1">
                <a:solidFill>
                  <a:srgbClr val="FFFFFF"/>
                </a:solidFill>
                <a:latin typeface="Inter"/>
              </a:rPr>
              <a:t>Iterative validation — </a:t>
            </a:r>
            <a:r>
              <a:rPr sz="1700" b="1">
                <a:solidFill>
                  <a:srgbClr val="EA493F"/>
                </a:solidFill>
                <a:latin typeface="Inter"/>
              </a:rPr>
              <a:t>no “big-bang” loads.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77824" y="4261104"/>
            <a:ext cx="1044244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0">
                <a:solidFill>
                  <a:srgbClr val="CFCFCF"/>
                </a:solidFill>
                <a:latin typeface="Inter"/>
              </a:rPr>
              <a:t>Three distinct load cycles let your team validate the numbers repeatedly — so the system is commercially accurate on day one.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77824" y="4773168"/>
            <a:ext cx="3236976" cy="1371600"/>
          </a:xfrm>
          <a:prstGeom prst="rect">
            <a:avLst/>
          </a:prstGeom>
          <a:solidFill>
            <a:srgbClr val="141414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133856" y="4919472"/>
            <a:ext cx="1828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>
                <a:solidFill>
                  <a:srgbClr val="EA493F"/>
                </a:solidFill>
                <a:latin typeface="Inter"/>
              </a:rPr>
              <a:t>01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33856" y="5376672"/>
            <a:ext cx="27249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Inter"/>
              </a:rPr>
              <a:t>First load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33856" y="5669279"/>
            <a:ext cx="272491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50" b="0">
                <a:solidFill>
                  <a:srgbClr val="CFCFCF"/>
                </a:solidFill>
                <a:latin typeface="Inter"/>
              </a:rPr>
              <a:t>Initial migration on a sample set — validates mapping templates and surfaces transformation issues early.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480560" y="4773168"/>
            <a:ext cx="3236976" cy="1371600"/>
          </a:xfrm>
          <a:prstGeom prst="rect">
            <a:avLst/>
          </a:prstGeom>
          <a:solidFill>
            <a:srgbClr val="141414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736592" y="4919472"/>
            <a:ext cx="1828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>
                <a:solidFill>
                  <a:srgbClr val="EA493F"/>
                </a:solidFill>
                <a:latin typeface="Inter"/>
              </a:rPr>
              <a:t>02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736592" y="5376672"/>
            <a:ext cx="27249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Inter"/>
              </a:rPr>
              <a:t>Second load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736592" y="5669279"/>
            <a:ext cx="272491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50" b="0">
                <a:solidFill>
                  <a:srgbClr val="CFCFCF"/>
                </a:solidFill>
                <a:latin typeface="Inter"/>
              </a:rPr>
              <a:t>Full dataset migration. Your team validates balances, org structures and employee records against source.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083296" y="4773168"/>
            <a:ext cx="3236976" cy="1371600"/>
          </a:xfrm>
          <a:prstGeom prst="rect">
            <a:avLst/>
          </a:prstGeom>
          <a:solidFill>
            <a:srgbClr val="141414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339327" y="4919472"/>
            <a:ext cx="1828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>
                <a:solidFill>
                  <a:srgbClr val="EA493F"/>
                </a:solidFill>
                <a:latin typeface="Inter"/>
              </a:rPr>
              <a:t>03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339327" y="5376672"/>
            <a:ext cx="27249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Inter"/>
              </a:rPr>
              <a:t>Gold build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339327" y="5669279"/>
            <a:ext cx="272491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50" b="0">
                <a:solidFill>
                  <a:srgbClr val="CFCFCF"/>
                </a:solidFill>
                <a:latin typeface="Inter"/>
              </a:rPr>
              <a:t>Final production load with current-state data — a point-in-time cutover, signed off before go-live.</a:t>
            </a:r>
          </a:p>
        </p:txBody>
      </p:sp>
      <p:pic>
        <p:nvPicPr>
          <p:cNvPr id="29" name="Picture 28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7824" y="457200"/>
            <a:ext cx="402336" cy="237744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TextBox 2"/>
          <p:cNvSpPr txBox="1"/>
          <p:nvPr/>
        </p:nvSpPr>
        <p:spPr>
          <a:xfrm>
            <a:off x="5943600" y="420624"/>
            <a:ext cx="5486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1">
                <a:solidFill>
                  <a:srgbClr val="EA493F"/>
                </a:solidFill>
                <a:latin typeface="Inter"/>
              </a:rPr>
              <a:t>THE ONE TEAM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896112"/>
            <a:ext cx="10433304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300" b="1">
                <a:solidFill>
                  <a:srgbClr val="FFFFFF"/>
                </a:solidFill>
                <a:latin typeface="Inter"/>
              </a:rPr>
              <a:t>Your delivery </a:t>
            </a:r>
            <a:r>
              <a:rPr sz="3300" b="1">
                <a:solidFill>
                  <a:srgbClr val="EA493F"/>
                </a:solidFill>
                <a:latin typeface="Inter"/>
              </a:rPr>
              <a:t>team.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77824" y="1591056"/>
            <a:ext cx="1044244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CFCFCF"/>
                </a:solidFill>
                <a:latin typeface="Inter"/>
              </a:rPr>
              <a:t>Defined expertise across every layer of delivery — clear ownership, no gaps, no ambiguity, built on a “one team” model.</a:t>
            </a:r>
          </a:p>
        </p:txBody>
      </p:sp>
      <p:sp>
        <p:nvSpPr>
          <p:cNvPr id="6" name="Rectangle 5"/>
          <p:cNvSpPr/>
          <p:nvPr/>
        </p:nvSpPr>
        <p:spPr>
          <a:xfrm>
            <a:off x="877824" y="2194560"/>
            <a:ext cx="5029200" cy="2395728"/>
          </a:xfrm>
          <a:prstGeom prst="rect">
            <a:avLst/>
          </a:prstGeom>
          <a:solidFill>
            <a:srgbClr val="141414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2144" y="2377440"/>
            <a:ext cx="44805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50" b="1">
                <a:solidFill>
                  <a:srgbClr val="EA493F"/>
                </a:solidFill>
                <a:latin typeface="Inter"/>
              </a:rPr>
              <a:t>MIVADA DELIVERY TEAM</a:t>
            </a:r>
          </a:p>
        </p:txBody>
      </p:sp>
      <p:sp>
        <p:nvSpPr>
          <p:cNvPr id="8" name="Rectangle 7"/>
          <p:cNvSpPr/>
          <p:nvPr/>
        </p:nvSpPr>
        <p:spPr>
          <a:xfrm>
            <a:off x="2249424" y="2761488"/>
            <a:ext cx="2286000" cy="457200"/>
          </a:xfrm>
          <a:prstGeom prst="rect">
            <a:avLst/>
          </a:prstGeom>
          <a:solidFill>
            <a:srgbClr val="EA493F"/>
          </a:solidFill>
          <a:ln>
            <a:solid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249424" y="2761488"/>
            <a:ext cx="22860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Inter"/>
              </a:rPr>
              <a:t>Client Partner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3392424" y="3218688"/>
            <a:ext cx="0" cy="256032"/>
          </a:xfrm>
          <a:prstGeom prst="line">
            <a:avLst/>
          </a:prstGeom>
          <a:ln w="12700">
            <a:solidFill>
              <a:srgbClr val="3A3A3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1653920" y="3474720"/>
            <a:ext cx="3477007" cy="0"/>
          </a:xfrm>
          <a:prstGeom prst="line">
            <a:avLst/>
          </a:prstGeom>
          <a:ln w="12700">
            <a:solidFill>
              <a:srgbClr val="3A3A3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1653920" y="3474720"/>
            <a:ext cx="0" cy="347471"/>
          </a:xfrm>
          <a:prstGeom prst="line">
            <a:avLst/>
          </a:prstGeom>
          <a:ln w="12700">
            <a:solidFill>
              <a:srgbClr val="3A3A3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ectangle 12"/>
          <p:cNvSpPr/>
          <p:nvPr/>
        </p:nvSpPr>
        <p:spPr>
          <a:xfrm>
            <a:off x="1133856" y="3822191"/>
            <a:ext cx="1040130" cy="566928"/>
          </a:xfrm>
          <a:prstGeom prst="rect">
            <a:avLst/>
          </a:prstGeom>
          <a:solidFill>
            <a:srgbClr val="141414"/>
          </a:solidFill>
          <a:ln w="12700">
            <a:solidFill>
              <a:srgbClr val="EA49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70432" y="3822191"/>
            <a:ext cx="966977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95000"/>
              </a:lnSpc>
            </a:pPr>
            <a:r>
              <a:rPr sz="850" b="1">
                <a:solidFill>
                  <a:srgbClr val="FFFFFF"/>
                </a:solidFill>
                <a:latin typeface="Inter"/>
              </a:rPr>
              <a:t>Engagement Manager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2812923" y="3474720"/>
            <a:ext cx="0" cy="347471"/>
          </a:xfrm>
          <a:prstGeom prst="line">
            <a:avLst/>
          </a:prstGeom>
          <a:ln w="12700">
            <a:solidFill>
              <a:srgbClr val="3A3A3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ectangle 15"/>
          <p:cNvSpPr/>
          <p:nvPr/>
        </p:nvSpPr>
        <p:spPr>
          <a:xfrm>
            <a:off x="2292858" y="3822191"/>
            <a:ext cx="1040130" cy="566928"/>
          </a:xfrm>
          <a:prstGeom prst="rect">
            <a:avLst/>
          </a:prstGeom>
          <a:solidFill>
            <a:srgbClr val="141414"/>
          </a:solidFill>
          <a:ln w="12700">
            <a:solidFill>
              <a:srgbClr val="EA49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329434" y="3822191"/>
            <a:ext cx="966977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95000"/>
              </a:lnSpc>
            </a:pPr>
            <a:r>
              <a:rPr sz="850" b="1">
                <a:solidFill>
                  <a:srgbClr val="FFFFFF"/>
                </a:solidFill>
                <a:latin typeface="Inter"/>
              </a:rPr>
              <a:t>Functional Lead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3971925" y="3474720"/>
            <a:ext cx="0" cy="347471"/>
          </a:xfrm>
          <a:prstGeom prst="line">
            <a:avLst/>
          </a:prstGeom>
          <a:ln w="12700">
            <a:solidFill>
              <a:srgbClr val="3A3A3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ectangle 18"/>
          <p:cNvSpPr/>
          <p:nvPr/>
        </p:nvSpPr>
        <p:spPr>
          <a:xfrm>
            <a:off x="3451860" y="3822191"/>
            <a:ext cx="1040130" cy="566928"/>
          </a:xfrm>
          <a:prstGeom prst="rect">
            <a:avLst/>
          </a:prstGeom>
          <a:solidFill>
            <a:srgbClr val="141414"/>
          </a:solidFill>
          <a:ln w="12700">
            <a:solidFill>
              <a:srgbClr val="EA49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488436" y="3822191"/>
            <a:ext cx="966977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95000"/>
              </a:lnSpc>
            </a:pPr>
            <a:r>
              <a:rPr sz="850" b="1">
                <a:solidFill>
                  <a:srgbClr val="FFFFFF"/>
                </a:solidFill>
                <a:latin typeface="Inter"/>
              </a:rPr>
              <a:t>Functional Consultants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5130927" y="3474720"/>
            <a:ext cx="0" cy="347471"/>
          </a:xfrm>
          <a:prstGeom prst="line">
            <a:avLst/>
          </a:prstGeom>
          <a:ln w="12700">
            <a:solidFill>
              <a:srgbClr val="3A3A3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ectangle 21"/>
          <p:cNvSpPr/>
          <p:nvPr/>
        </p:nvSpPr>
        <p:spPr>
          <a:xfrm>
            <a:off x="4610862" y="3822191"/>
            <a:ext cx="1040130" cy="566928"/>
          </a:xfrm>
          <a:prstGeom prst="rect">
            <a:avLst/>
          </a:prstGeom>
          <a:solidFill>
            <a:srgbClr val="141414"/>
          </a:solidFill>
          <a:ln w="12700">
            <a:solidFill>
              <a:srgbClr val="EA49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647438" y="3822191"/>
            <a:ext cx="966977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95000"/>
              </a:lnSpc>
            </a:pPr>
            <a:r>
              <a:rPr sz="850" b="1">
                <a:solidFill>
                  <a:srgbClr val="FFFFFF"/>
                </a:solidFill>
                <a:latin typeface="Inter"/>
              </a:rPr>
              <a:t>Data &amp; Integration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291072" y="2194560"/>
            <a:ext cx="5029200" cy="2395728"/>
          </a:xfrm>
          <a:prstGeom prst="rect">
            <a:avLst/>
          </a:prstGeom>
          <a:solidFill>
            <a:srgbClr val="141414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565392" y="2377440"/>
            <a:ext cx="44805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CUSTOMER TEAM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662671" y="2761488"/>
            <a:ext cx="2286000" cy="457200"/>
          </a:xfrm>
          <a:prstGeom prst="rect">
            <a:avLst/>
          </a:prstGeom>
          <a:solidFill>
            <a:srgbClr val="1C1C1C"/>
          </a:solidFill>
          <a:ln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662671" y="2761488"/>
            <a:ext cx="22860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Inter"/>
              </a:rPr>
              <a:t>Executive Sponsor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8805672" y="3218688"/>
            <a:ext cx="0" cy="256032"/>
          </a:xfrm>
          <a:prstGeom prst="line">
            <a:avLst/>
          </a:prstGeom>
          <a:ln w="12700">
            <a:solidFill>
              <a:srgbClr val="3A3A3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6951268" y="3474720"/>
            <a:ext cx="3708807" cy="0"/>
          </a:xfrm>
          <a:prstGeom prst="line">
            <a:avLst/>
          </a:prstGeom>
          <a:ln w="12700">
            <a:solidFill>
              <a:srgbClr val="3A3A3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6951268" y="3474720"/>
            <a:ext cx="0" cy="347471"/>
          </a:xfrm>
          <a:prstGeom prst="line">
            <a:avLst/>
          </a:prstGeom>
          <a:ln w="12700">
            <a:solidFill>
              <a:srgbClr val="3A3A3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Rectangle 30"/>
          <p:cNvSpPr/>
          <p:nvPr/>
        </p:nvSpPr>
        <p:spPr>
          <a:xfrm>
            <a:off x="6547104" y="3822191"/>
            <a:ext cx="808329" cy="566928"/>
          </a:xfrm>
          <a:prstGeom prst="rect">
            <a:avLst/>
          </a:prstGeom>
          <a:solidFill>
            <a:srgbClr val="141414"/>
          </a:solidFill>
          <a:ln w="12700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583680" y="3822191"/>
            <a:ext cx="735177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95000"/>
              </a:lnSpc>
            </a:pPr>
            <a:r>
              <a:rPr sz="850" b="1">
                <a:solidFill>
                  <a:srgbClr val="FFFFFF"/>
                </a:solidFill>
                <a:latin typeface="Inter"/>
              </a:rPr>
              <a:t>Project Manager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7878470" y="3474720"/>
            <a:ext cx="0" cy="347471"/>
          </a:xfrm>
          <a:prstGeom prst="line">
            <a:avLst/>
          </a:prstGeom>
          <a:ln w="12700">
            <a:solidFill>
              <a:srgbClr val="3A3A3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Rectangle 33"/>
          <p:cNvSpPr/>
          <p:nvPr/>
        </p:nvSpPr>
        <p:spPr>
          <a:xfrm>
            <a:off x="7474305" y="3822191"/>
            <a:ext cx="808329" cy="566928"/>
          </a:xfrm>
          <a:prstGeom prst="rect">
            <a:avLst/>
          </a:prstGeom>
          <a:solidFill>
            <a:srgbClr val="141414"/>
          </a:solidFill>
          <a:ln w="12700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510881" y="3822191"/>
            <a:ext cx="735177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95000"/>
              </a:lnSpc>
            </a:pPr>
            <a:r>
              <a:rPr sz="850" b="1">
                <a:solidFill>
                  <a:srgbClr val="FFFFFF"/>
                </a:solidFill>
                <a:latin typeface="Inter"/>
              </a:rPr>
              <a:t>Change Manager</a:t>
            </a:r>
          </a:p>
        </p:txBody>
      </p:sp>
      <p:cxnSp>
        <p:nvCxnSpPr>
          <p:cNvPr id="36" name="Connector 35"/>
          <p:cNvCxnSpPr/>
          <p:nvPr/>
        </p:nvCxnSpPr>
        <p:spPr>
          <a:xfrm>
            <a:off x="8805672" y="3474720"/>
            <a:ext cx="0" cy="347471"/>
          </a:xfrm>
          <a:prstGeom prst="line">
            <a:avLst/>
          </a:prstGeom>
          <a:ln w="12700">
            <a:solidFill>
              <a:srgbClr val="3A3A3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Rectangle 36"/>
          <p:cNvSpPr/>
          <p:nvPr/>
        </p:nvSpPr>
        <p:spPr>
          <a:xfrm>
            <a:off x="8401507" y="3822191"/>
            <a:ext cx="808329" cy="566928"/>
          </a:xfrm>
          <a:prstGeom prst="rect">
            <a:avLst/>
          </a:prstGeom>
          <a:solidFill>
            <a:srgbClr val="141414"/>
          </a:solidFill>
          <a:ln w="12700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438083" y="3822191"/>
            <a:ext cx="735177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95000"/>
              </a:lnSpc>
            </a:pPr>
            <a:r>
              <a:rPr sz="850" b="1">
                <a:solidFill>
                  <a:srgbClr val="FFFFFF"/>
                </a:solidFill>
                <a:latin typeface="Inter"/>
              </a:rPr>
              <a:t>Functional Leads &amp; SMEs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9732873" y="3474720"/>
            <a:ext cx="0" cy="347471"/>
          </a:xfrm>
          <a:prstGeom prst="line">
            <a:avLst/>
          </a:prstGeom>
          <a:ln w="12700">
            <a:solidFill>
              <a:srgbClr val="3A3A3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Rectangle 39"/>
          <p:cNvSpPr/>
          <p:nvPr/>
        </p:nvSpPr>
        <p:spPr>
          <a:xfrm>
            <a:off x="9328708" y="3822191"/>
            <a:ext cx="808329" cy="566928"/>
          </a:xfrm>
          <a:prstGeom prst="rect">
            <a:avLst/>
          </a:prstGeom>
          <a:solidFill>
            <a:srgbClr val="141414"/>
          </a:solidFill>
          <a:ln w="12700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365284" y="3822191"/>
            <a:ext cx="735177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95000"/>
              </a:lnSpc>
            </a:pPr>
            <a:r>
              <a:rPr sz="850" b="1">
                <a:solidFill>
                  <a:srgbClr val="FFFFFF"/>
                </a:solidFill>
                <a:latin typeface="Inter"/>
              </a:rPr>
              <a:t>Testing Lead</a:t>
            </a:r>
          </a:p>
        </p:txBody>
      </p:sp>
      <p:cxnSp>
        <p:nvCxnSpPr>
          <p:cNvPr id="42" name="Connector 41"/>
          <p:cNvCxnSpPr/>
          <p:nvPr/>
        </p:nvCxnSpPr>
        <p:spPr>
          <a:xfrm>
            <a:off x="10660075" y="3474720"/>
            <a:ext cx="0" cy="347471"/>
          </a:xfrm>
          <a:prstGeom prst="line">
            <a:avLst/>
          </a:prstGeom>
          <a:ln w="12700">
            <a:solidFill>
              <a:srgbClr val="3A3A3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Rectangle 42"/>
          <p:cNvSpPr/>
          <p:nvPr/>
        </p:nvSpPr>
        <p:spPr>
          <a:xfrm>
            <a:off x="10255910" y="3822191"/>
            <a:ext cx="808329" cy="566928"/>
          </a:xfrm>
          <a:prstGeom prst="rect">
            <a:avLst/>
          </a:prstGeom>
          <a:solidFill>
            <a:srgbClr val="141414"/>
          </a:solidFill>
          <a:ln w="12700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10292486" y="3822191"/>
            <a:ext cx="735177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95000"/>
              </a:lnSpc>
            </a:pPr>
            <a:r>
              <a:rPr sz="850" b="1">
                <a:solidFill>
                  <a:srgbClr val="FFFFFF"/>
                </a:solidFill>
                <a:latin typeface="Inter"/>
              </a:rPr>
              <a:t>Data Champions</a:t>
            </a:r>
          </a:p>
        </p:txBody>
      </p:sp>
      <p:sp>
        <p:nvSpPr>
          <p:cNvPr id="45" name="Rectangle 44"/>
          <p:cNvSpPr/>
          <p:nvPr/>
        </p:nvSpPr>
        <p:spPr>
          <a:xfrm>
            <a:off x="877824" y="4882896"/>
            <a:ext cx="10442448" cy="1024128"/>
          </a:xfrm>
          <a:prstGeom prst="rect">
            <a:avLst/>
          </a:prstGeom>
          <a:solidFill>
            <a:srgbClr val="1C1C1C"/>
          </a:solidFill>
          <a:ln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1207008" y="4882896"/>
            <a:ext cx="9784080" cy="10241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1150" b="1">
                <a:solidFill>
                  <a:srgbClr val="EA493F"/>
                </a:solidFill>
                <a:latin typeface="Inter"/>
              </a:rPr>
              <a:t>A note on your team — </a:t>
            </a:r>
            <a:r>
              <a:rPr sz="1150" b="0">
                <a:solidFill>
                  <a:srgbClr val="FFFFFF"/>
                </a:solidFill>
                <a:latin typeface="Inter"/>
              </a:rPr>
              <a:t>these roles don't have to be separate individuals. In many organisations the same people play multiple roles; what matters is that every role is owned by someone with the authority and time to fulfil it.</a:t>
            </a:r>
          </a:p>
        </p:txBody>
      </p:sp>
      <p:pic>
        <p:nvPicPr>
          <p:cNvPr id="47" name="Picture 46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7824" y="457200"/>
            <a:ext cx="402336" cy="237744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TextBox 2"/>
          <p:cNvSpPr txBox="1"/>
          <p:nvPr/>
        </p:nvSpPr>
        <p:spPr>
          <a:xfrm>
            <a:off x="5943600" y="420624"/>
            <a:ext cx="5486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1">
                <a:solidFill>
                  <a:srgbClr val="EA493F"/>
                </a:solidFill>
                <a:latin typeface="Inter"/>
              </a:rPr>
              <a:t>GETTING PAYROLL RIGHT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896112"/>
            <a:ext cx="10433304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300" b="1">
                <a:solidFill>
                  <a:srgbClr val="FFFFFF"/>
                </a:solidFill>
                <a:latin typeface="Inter"/>
              </a:rPr>
              <a:t>Payroll testing </a:t>
            </a:r>
            <a:r>
              <a:rPr sz="3300" b="1">
                <a:solidFill>
                  <a:srgbClr val="EA493F"/>
                </a:solidFill>
                <a:latin typeface="Inter"/>
              </a:rPr>
              <a:t>rigour.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77824" y="1572768"/>
            <a:ext cx="10442448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250" b="0">
                <a:solidFill>
                  <a:srgbClr val="CFCFCF"/>
                </a:solidFill>
                <a:latin typeface="Inter"/>
              </a:rPr>
              <a:t>Payroll is the one thing every employee notices on day one — so we prove it with structured, evidence-based parallel testing before any go-live decision.</a:t>
            </a:r>
          </a:p>
        </p:txBody>
      </p:sp>
      <p:sp>
        <p:nvSpPr>
          <p:cNvPr id="6" name="Rectangle 5"/>
          <p:cNvSpPr/>
          <p:nvPr/>
        </p:nvSpPr>
        <p:spPr>
          <a:xfrm>
            <a:off x="877824" y="2212848"/>
            <a:ext cx="3236975" cy="1078992"/>
          </a:xfrm>
          <a:prstGeom prst="rect">
            <a:avLst/>
          </a:prstGeom>
          <a:solidFill>
            <a:srgbClr val="141414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7824" y="2212848"/>
            <a:ext cx="91440" cy="1078992"/>
          </a:xfrm>
          <a:prstGeom prst="rect">
            <a:avLst/>
          </a:prstGeom>
          <a:solidFill>
            <a:srgbClr val="EA493F"/>
          </a:solidFill>
          <a:ln>
            <a:solid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70432" y="2340864"/>
            <a:ext cx="277977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>
                <a:solidFill>
                  <a:srgbClr val="EA493F"/>
                </a:solidFill>
                <a:latin typeface="Inter"/>
              </a:rPr>
              <a:t>2+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70432" y="2816352"/>
            <a:ext cx="2779775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Inter"/>
              </a:rPr>
              <a:t>Full parallel cycles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70432" y="3072384"/>
            <a:ext cx="277977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50" b="0">
                <a:solidFill>
                  <a:srgbClr val="CFCFCF"/>
                </a:solidFill>
                <a:latin typeface="Inter"/>
              </a:rPr>
              <a:t>minimum — never just one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480559" y="2212848"/>
            <a:ext cx="3236975" cy="1078992"/>
          </a:xfrm>
          <a:prstGeom prst="rect">
            <a:avLst/>
          </a:prstGeom>
          <a:solidFill>
            <a:srgbClr val="141414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480559" y="2212848"/>
            <a:ext cx="91440" cy="1078992"/>
          </a:xfrm>
          <a:prstGeom prst="rect">
            <a:avLst/>
          </a:prstGeom>
          <a:solidFill>
            <a:srgbClr val="EA493F"/>
          </a:solidFill>
          <a:ln>
            <a:solid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773168" y="2340864"/>
            <a:ext cx="277977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>
                <a:solidFill>
                  <a:srgbClr val="EA493F"/>
                </a:solidFill>
                <a:latin typeface="Inter"/>
              </a:rPr>
              <a:t>Line-level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73168" y="2816352"/>
            <a:ext cx="2779775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Inter"/>
              </a:rPr>
              <a:t>Variance analysis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73168" y="3072384"/>
            <a:ext cx="277977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50" b="0">
                <a:solidFill>
                  <a:srgbClr val="CFCFCF"/>
                </a:solidFill>
                <a:latin typeface="Inter"/>
              </a:rPr>
              <a:t>every earning, deduction &amp; super — not gross-to-gross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83296" y="2212848"/>
            <a:ext cx="3236975" cy="1078992"/>
          </a:xfrm>
          <a:prstGeom prst="rect">
            <a:avLst/>
          </a:prstGeom>
          <a:solidFill>
            <a:srgbClr val="141414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083296" y="2212848"/>
            <a:ext cx="91440" cy="1078992"/>
          </a:xfrm>
          <a:prstGeom prst="rect">
            <a:avLst/>
          </a:prstGeom>
          <a:solidFill>
            <a:srgbClr val="EA493F"/>
          </a:solidFill>
          <a:ln>
            <a:solid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375904" y="2340864"/>
            <a:ext cx="277977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>
                <a:solidFill>
                  <a:srgbClr val="EA493F"/>
                </a:solidFill>
                <a:latin typeface="Inter"/>
              </a:rPr>
              <a:t>$0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75904" y="2816352"/>
            <a:ext cx="2779775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Inter"/>
              </a:rPr>
              <a:t>Net-pay variance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75904" y="3072384"/>
            <a:ext cx="277977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50" b="0">
                <a:solidFill>
                  <a:srgbClr val="CFCFCF"/>
                </a:solidFill>
                <a:latin typeface="Inter"/>
              </a:rPr>
              <a:t>target tolerance for sign-off — explained variances only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77824" y="3621024"/>
            <a:ext cx="10442448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Inter"/>
              </a:rPr>
              <a:t>Parallel testing cycle.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77824" y="4059936"/>
            <a:ext cx="1481328" cy="841248"/>
          </a:xfrm>
          <a:prstGeom prst="rect">
            <a:avLst/>
          </a:prstGeom>
          <a:solidFill>
            <a:srgbClr val="141414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24127" y="4059936"/>
            <a:ext cx="1188720" cy="8412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1100" b="1">
                <a:solidFill>
                  <a:srgbClr val="EA493F"/>
                </a:solidFill>
                <a:latin typeface="Inter"/>
              </a:rPr>
              <a:t>Legacy pay run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286000" y="4251960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800" b="1">
                <a:solidFill>
                  <a:srgbClr val="EA493F"/>
                </a:solidFill>
                <a:latin typeface="Inter"/>
              </a:rPr>
              <a:t>→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670048" y="4059936"/>
            <a:ext cx="1481328" cy="841248"/>
          </a:xfrm>
          <a:prstGeom prst="rect">
            <a:avLst/>
          </a:prstGeom>
          <a:solidFill>
            <a:srgbClr val="141414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816352" y="4059936"/>
            <a:ext cx="1188720" cy="8412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1100" b="1">
                <a:solidFill>
                  <a:srgbClr val="EA493F"/>
                </a:solidFill>
                <a:latin typeface="Inter"/>
              </a:rPr>
              <a:t>Workday mirror run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078224" y="4251960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800" b="1">
                <a:solidFill>
                  <a:srgbClr val="EA493F"/>
                </a:solidFill>
                <a:latin typeface="Inter"/>
              </a:rPr>
              <a:t>→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462272" y="4059936"/>
            <a:ext cx="1481328" cy="841248"/>
          </a:xfrm>
          <a:prstGeom prst="rect">
            <a:avLst/>
          </a:prstGeom>
          <a:solidFill>
            <a:srgbClr val="EA493F"/>
          </a:solidFill>
          <a:ln>
            <a:solid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608576" y="4059936"/>
            <a:ext cx="1188720" cy="8412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1100" b="1">
                <a:solidFill>
                  <a:srgbClr val="FFFFFF"/>
                </a:solidFill>
                <a:latin typeface="Inter"/>
              </a:rPr>
              <a:t>Line-level variance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870448" y="4251960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800" b="1">
                <a:solidFill>
                  <a:srgbClr val="EA493F"/>
                </a:solidFill>
                <a:latin typeface="Inter"/>
              </a:rPr>
              <a:t>→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254496" y="4059936"/>
            <a:ext cx="1481328" cy="841248"/>
          </a:xfrm>
          <a:prstGeom prst="rect">
            <a:avLst/>
          </a:prstGeom>
          <a:solidFill>
            <a:srgbClr val="141414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400800" y="4059936"/>
            <a:ext cx="1188720" cy="8412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1100" b="1">
                <a:solidFill>
                  <a:srgbClr val="EA493F"/>
                </a:solidFill>
                <a:latin typeface="Inter"/>
              </a:rPr>
              <a:t>Root-cause analysis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662672" y="4251960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800" b="1">
                <a:solidFill>
                  <a:srgbClr val="EA493F"/>
                </a:solidFill>
                <a:latin typeface="Inter"/>
              </a:rPr>
              <a:t>→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046720" y="4059936"/>
            <a:ext cx="1481328" cy="841248"/>
          </a:xfrm>
          <a:prstGeom prst="rect">
            <a:avLst/>
          </a:prstGeom>
          <a:solidFill>
            <a:srgbClr val="141414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193024" y="4059936"/>
            <a:ext cx="1188720" cy="8412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1100" b="1">
                <a:solidFill>
                  <a:srgbClr val="EA493F"/>
                </a:solidFill>
                <a:latin typeface="Inter"/>
              </a:rPr>
              <a:t>Resolve &amp; document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454896" y="4251960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800" b="1">
                <a:solidFill>
                  <a:srgbClr val="EA493F"/>
                </a:solidFill>
                <a:latin typeface="Inter"/>
              </a:rPr>
              <a:t>→</a:t>
            </a:r>
          </a:p>
        </p:txBody>
      </p:sp>
      <p:sp>
        <p:nvSpPr>
          <p:cNvPr id="37" name="Rectangle 36"/>
          <p:cNvSpPr/>
          <p:nvPr/>
        </p:nvSpPr>
        <p:spPr>
          <a:xfrm>
            <a:off x="9838944" y="4059936"/>
            <a:ext cx="1481328" cy="841248"/>
          </a:xfrm>
          <a:prstGeom prst="rect">
            <a:avLst/>
          </a:prstGeom>
          <a:solidFill>
            <a:srgbClr val="EA493F"/>
          </a:solidFill>
          <a:ln>
            <a:solid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985248" y="4059936"/>
            <a:ext cx="1188720" cy="8412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1100" b="1">
                <a:solidFill>
                  <a:srgbClr val="FFFFFF"/>
                </a:solidFill>
                <a:latin typeface="Inter"/>
              </a:rPr>
              <a:t>Formal sign-off</a:t>
            </a:r>
          </a:p>
        </p:txBody>
      </p:sp>
      <p:sp>
        <p:nvSpPr>
          <p:cNvPr id="39" name="Rectangle 38"/>
          <p:cNvSpPr/>
          <p:nvPr/>
        </p:nvSpPr>
        <p:spPr>
          <a:xfrm>
            <a:off x="877824" y="5248656"/>
            <a:ext cx="10442448" cy="658368"/>
          </a:xfrm>
          <a:prstGeom prst="rect">
            <a:avLst/>
          </a:prstGeom>
          <a:solidFill>
            <a:srgbClr val="1C1C1C"/>
          </a:solidFill>
          <a:ln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188720" y="5248656"/>
            <a:ext cx="9820656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EA493F"/>
                </a:solidFill>
                <a:latin typeface="Inter"/>
              </a:rPr>
              <a:t>Built for Australian complexity   </a:t>
            </a:r>
            <a:r>
              <a:rPr sz="1100" b="0">
                <a:solidFill>
                  <a:srgbClr val="FFFFFF"/>
                </a:solidFill>
                <a:latin typeface="Inter"/>
              </a:rPr>
              <a:t>modern awards &amp; EAs  ·  super &amp; STP  ·  leave loading &amp; Long Service Leave  ·  termination &amp; back-pay</a:t>
            </a:r>
          </a:p>
        </p:txBody>
      </p:sp>
      <p:pic>
        <p:nvPicPr>
          <p:cNvPr id="41" name="Picture 40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7824" y="457200"/>
            <a:ext cx="402336" cy="237744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TextBox 2"/>
          <p:cNvSpPr txBox="1"/>
          <p:nvPr/>
        </p:nvSpPr>
        <p:spPr>
          <a:xfrm>
            <a:off x="5943600" y="420624"/>
            <a:ext cx="5486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1">
                <a:solidFill>
                  <a:srgbClr val="EA493F"/>
                </a:solidFill>
                <a:latin typeface="Inter"/>
              </a:rPr>
              <a:t>CONSULTANT COVERAGE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896112"/>
            <a:ext cx="10433304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300" b="1">
                <a:solidFill>
                  <a:srgbClr val="FFFFFF"/>
                </a:solidFill>
                <a:latin typeface="Inter"/>
              </a:rPr>
              <a:t>Full-stack Workday, </a:t>
            </a:r>
            <a:r>
              <a:rPr sz="3300" b="1">
                <a:solidFill>
                  <a:srgbClr val="EA493F"/>
                </a:solidFill>
                <a:latin typeface="Inter"/>
              </a:rPr>
              <a:t>FIN &amp; HCM.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77824" y="1572768"/>
            <a:ext cx="1044244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>
                <a:solidFill>
                  <a:srgbClr val="CFCFCF"/>
                </a:solidFill>
                <a:latin typeface="Inter"/>
              </a:rPr>
              <a:t>Full-stack Workday functional and integration expertise across both suites.</a:t>
            </a:r>
          </a:p>
        </p:txBody>
      </p:sp>
      <p:sp>
        <p:nvSpPr>
          <p:cNvPr id="6" name="Rectangle 5"/>
          <p:cNvSpPr/>
          <p:nvPr/>
        </p:nvSpPr>
        <p:spPr>
          <a:xfrm>
            <a:off x="877824" y="2139696"/>
            <a:ext cx="5029200" cy="384048"/>
          </a:xfrm>
          <a:prstGeom prst="rect">
            <a:avLst/>
          </a:prstGeom>
          <a:solidFill>
            <a:srgbClr val="EA493F"/>
          </a:solidFill>
          <a:ln>
            <a:solid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78992" y="2139696"/>
            <a:ext cx="4626864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Inter"/>
              </a:rPr>
              <a:t>HCM</a:t>
            </a:r>
          </a:p>
        </p:txBody>
      </p:sp>
      <p:sp>
        <p:nvSpPr>
          <p:cNvPr id="8" name="Rectangle 7"/>
          <p:cNvSpPr/>
          <p:nvPr/>
        </p:nvSpPr>
        <p:spPr>
          <a:xfrm>
            <a:off x="877824" y="2670048"/>
            <a:ext cx="2441448" cy="420624"/>
          </a:xfrm>
          <a:prstGeom prst="rect">
            <a:avLst/>
          </a:prstGeom>
          <a:solidFill>
            <a:srgbClr val="141414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77824" y="2670048"/>
            <a:ext cx="54864" cy="420624"/>
          </a:xfrm>
          <a:prstGeom prst="rect">
            <a:avLst/>
          </a:prstGeom>
          <a:solidFill>
            <a:srgbClr val="EA493F"/>
          </a:solidFill>
          <a:ln>
            <a:solid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42415" y="2670048"/>
            <a:ext cx="2221991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>
                <a:solidFill>
                  <a:srgbClr val="FFFFFF"/>
                </a:solidFill>
                <a:latin typeface="Inter"/>
              </a:rPr>
              <a:t>Core HCM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465576" y="2670048"/>
            <a:ext cx="2441448" cy="420624"/>
          </a:xfrm>
          <a:prstGeom prst="rect">
            <a:avLst/>
          </a:prstGeom>
          <a:solidFill>
            <a:srgbClr val="141414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465576" y="2670048"/>
            <a:ext cx="54864" cy="420624"/>
          </a:xfrm>
          <a:prstGeom prst="rect">
            <a:avLst/>
          </a:prstGeom>
          <a:solidFill>
            <a:srgbClr val="EA493F"/>
          </a:solidFill>
          <a:ln>
            <a:solid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30168" y="2670048"/>
            <a:ext cx="2221991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>
                <a:solidFill>
                  <a:srgbClr val="FFFFFF"/>
                </a:solidFill>
                <a:latin typeface="Inter"/>
              </a:rPr>
              <a:t>Absence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77824" y="3168396"/>
            <a:ext cx="2441448" cy="420624"/>
          </a:xfrm>
          <a:prstGeom prst="rect">
            <a:avLst/>
          </a:prstGeom>
          <a:solidFill>
            <a:srgbClr val="141414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77824" y="3168396"/>
            <a:ext cx="54864" cy="420624"/>
          </a:xfrm>
          <a:prstGeom prst="rect">
            <a:avLst/>
          </a:prstGeom>
          <a:solidFill>
            <a:srgbClr val="EA493F"/>
          </a:solidFill>
          <a:ln>
            <a:solid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42415" y="3168396"/>
            <a:ext cx="2221991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>
                <a:solidFill>
                  <a:srgbClr val="FFFFFF"/>
                </a:solidFill>
                <a:latin typeface="Inter"/>
              </a:rPr>
              <a:t>Time Tracking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465576" y="3168396"/>
            <a:ext cx="2441448" cy="420624"/>
          </a:xfrm>
          <a:prstGeom prst="rect">
            <a:avLst/>
          </a:prstGeom>
          <a:solidFill>
            <a:srgbClr val="141414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465576" y="3168396"/>
            <a:ext cx="54864" cy="420624"/>
          </a:xfrm>
          <a:prstGeom prst="rect">
            <a:avLst/>
          </a:prstGeom>
          <a:solidFill>
            <a:srgbClr val="EA493F"/>
          </a:solidFill>
          <a:ln>
            <a:solid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630168" y="3168396"/>
            <a:ext cx="2221991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>
                <a:solidFill>
                  <a:srgbClr val="FFFFFF"/>
                </a:solidFill>
                <a:latin typeface="Inter"/>
              </a:rPr>
              <a:t>Recruiting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77824" y="3666744"/>
            <a:ext cx="2441448" cy="420624"/>
          </a:xfrm>
          <a:prstGeom prst="rect">
            <a:avLst/>
          </a:prstGeom>
          <a:solidFill>
            <a:srgbClr val="141414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77824" y="3666744"/>
            <a:ext cx="54864" cy="420624"/>
          </a:xfrm>
          <a:prstGeom prst="rect">
            <a:avLst/>
          </a:prstGeom>
          <a:solidFill>
            <a:srgbClr val="EA493F"/>
          </a:solidFill>
          <a:ln>
            <a:solid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42415" y="3666744"/>
            <a:ext cx="2221991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>
                <a:solidFill>
                  <a:srgbClr val="FFFFFF"/>
                </a:solidFill>
                <a:latin typeface="Inter"/>
              </a:rPr>
              <a:t>Talent &amp; Performance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465576" y="3666744"/>
            <a:ext cx="2441448" cy="420624"/>
          </a:xfrm>
          <a:prstGeom prst="rect">
            <a:avLst/>
          </a:prstGeom>
          <a:solidFill>
            <a:srgbClr val="141414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3465576" y="3666744"/>
            <a:ext cx="54864" cy="420624"/>
          </a:xfrm>
          <a:prstGeom prst="rect">
            <a:avLst/>
          </a:prstGeom>
          <a:solidFill>
            <a:srgbClr val="EA493F"/>
          </a:solidFill>
          <a:ln>
            <a:solid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630168" y="3666744"/>
            <a:ext cx="2221991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>
                <a:solidFill>
                  <a:srgbClr val="FFFFFF"/>
                </a:solidFill>
                <a:latin typeface="Inter"/>
              </a:rPr>
              <a:t>Compensation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77824" y="4165091"/>
            <a:ext cx="2441448" cy="420624"/>
          </a:xfrm>
          <a:prstGeom prst="rect">
            <a:avLst/>
          </a:prstGeom>
          <a:solidFill>
            <a:srgbClr val="141414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877824" y="4165091"/>
            <a:ext cx="54864" cy="420624"/>
          </a:xfrm>
          <a:prstGeom prst="rect">
            <a:avLst/>
          </a:prstGeom>
          <a:solidFill>
            <a:srgbClr val="EA493F"/>
          </a:solidFill>
          <a:ln>
            <a:solid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42415" y="4165091"/>
            <a:ext cx="2221991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>
                <a:solidFill>
                  <a:srgbClr val="FFFFFF"/>
                </a:solidFill>
                <a:latin typeface="Inter"/>
              </a:rPr>
              <a:t>Benefits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465576" y="4165091"/>
            <a:ext cx="2441448" cy="420624"/>
          </a:xfrm>
          <a:prstGeom prst="rect">
            <a:avLst/>
          </a:prstGeom>
          <a:solidFill>
            <a:srgbClr val="141414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3465576" y="4165091"/>
            <a:ext cx="54864" cy="420624"/>
          </a:xfrm>
          <a:prstGeom prst="rect">
            <a:avLst/>
          </a:prstGeom>
          <a:solidFill>
            <a:srgbClr val="EA493F"/>
          </a:solidFill>
          <a:ln>
            <a:solid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630168" y="4165091"/>
            <a:ext cx="2221991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>
                <a:solidFill>
                  <a:srgbClr val="FFFFFF"/>
                </a:solidFill>
                <a:latin typeface="Inter"/>
              </a:rPr>
              <a:t>Payroll (AU / global)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77824" y="4663440"/>
            <a:ext cx="2441448" cy="420624"/>
          </a:xfrm>
          <a:prstGeom prst="rect">
            <a:avLst/>
          </a:prstGeom>
          <a:solidFill>
            <a:srgbClr val="141414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877824" y="4663440"/>
            <a:ext cx="54864" cy="420624"/>
          </a:xfrm>
          <a:prstGeom prst="rect">
            <a:avLst/>
          </a:prstGeom>
          <a:solidFill>
            <a:srgbClr val="EA493F"/>
          </a:solidFill>
          <a:ln>
            <a:solid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42415" y="4663440"/>
            <a:ext cx="2221991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>
                <a:solidFill>
                  <a:srgbClr val="FFFFFF"/>
                </a:solidFill>
                <a:latin typeface="Inter"/>
              </a:rPr>
              <a:t>Learning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465576" y="4663440"/>
            <a:ext cx="2441448" cy="420624"/>
          </a:xfrm>
          <a:prstGeom prst="rect">
            <a:avLst/>
          </a:prstGeom>
          <a:solidFill>
            <a:srgbClr val="141414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3465576" y="4663440"/>
            <a:ext cx="54864" cy="420624"/>
          </a:xfrm>
          <a:prstGeom prst="rect">
            <a:avLst/>
          </a:prstGeom>
          <a:solidFill>
            <a:srgbClr val="EA493F"/>
          </a:solidFill>
          <a:ln>
            <a:solid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630168" y="4663440"/>
            <a:ext cx="2221991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>
                <a:solidFill>
                  <a:srgbClr val="FFFFFF"/>
                </a:solidFill>
                <a:latin typeface="Inter"/>
              </a:rPr>
              <a:t>Security &amp; BP config</a:t>
            </a:r>
          </a:p>
        </p:txBody>
      </p:sp>
      <p:sp>
        <p:nvSpPr>
          <p:cNvPr id="38" name="Rectangle 37"/>
          <p:cNvSpPr/>
          <p:nvPr/>
        </p:nvSpPr>
        <p:spPr>
          <a:xfrm>
            <a:off x="877824" y="5161788"/>
            <a:ext cx="2441448" cy="420624"/>
          </a:xfrm>
          <a:prstGeom prst="rect">
            <a:avLst/>
          </a:prstGeom>
          <a:solidFill>
            <a:srgbClr val="141414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877824" y="5161788"/>
            <a:ext cx="54864" cy="420624"/>
          </a:xfrm>
          <a:prstGeom prst="rect">
            <a:avLst/>
          </a:prstGeom>
          <a:solidFill>
            <a:srgbClr val="EA493F"/>
          </a:solidFill>
          <a:ln>
            <a:solid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042415" y="5161788"/>
            <a:ext cx="2221991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>
                <a:solidFill>
                  <a:srgbClr val="FFFFFF"/>
                </a:solidFill>
                <a:latin typeface="Inter"/>
              </a:rPr>
              <a:t>Integrations (EIB, CC, Studio)</a:t>
            </a:r>
          </a:p>
        </p:txBody>
      </p:sp>
      <p:sp>
        <p:nvSpPr>
          <p:cNvPr id="41" name="Rectangle 40"/>
          <p:cNvSpPr/>
          <p:nvPr/>
        </p:nvSpPr>
        <p:spPr>
          <a:xfrm>
            <a:off x="3465576" y="5161788"/>
            <a:ext cx="2441448" cy="420624"/>
          </a:xfrm>
          <a:prstGeom prst="rect">
            <a:avLst/>
          </a:prstGeom>
          <a:solidFill>
            <a:srgbClr val="141414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3465576" y="5161788"/>
            <a:ext cx="54864" cy="420624"/>
          </a:xfrm>
          <a:prstGeom prst="rect">
            <a:avLst/>
          </a:prstGeom>
          <a:solidFill>
            <a:srgbClr val="EA493F"/>
          </a:solidFill>
          <a:ln>
            <a:solid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3630168" y="5161788"/>
            <a:ext cx="2221991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>
                <a:solidFill>
                  <a:srgbClr val="FFFFFF"/>
                </a:solidFill>
                <a:latin typeface="Inter"/>
              </a:rPr>
              <a:t>Advanced &amp; Composite Reporting</a:t>
            </a:r>
          </a:p>
        </p:txBody>
      </p:sp>
      <p:sp>
        <p:nvSpPr>
          <p:cNvPr id="44" name="Rectangle 43"/>
          <p:cNvSpPr/>
          <p:nvPr/>
        </p:nvSpPr>
        <p:spPr>
          <a:xfrm>
            <a:off x="6291072" y="2139696"/>
            <a:ext cx="5029200" cy="384048"/>
          </a:xfrm>
          <a:prstGeom prst="rect">
            <a:avLst/>
          </a:prstGeom>
          <a:solidFill>
            <a:srgbClr val="EA493F"/>
          </a:solidFill>
          <a:ln>
            <a:solid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492240" y="2139696"/>
            <a:ext cx="4626864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Inter"/>
              </a:rPr>
              <a:t>FIN</a:t>
            </a:r>
          </a:p>
        </p:txBody>
      </p:sp>
      <p:sp>
        <p:nvSpPr>
          <p:cNvPr id="46" name="Rectangle 45"/>
          <p:cNvSpPr/>
          <p:nvPr/>
        </p:nvSpPr>
        <p:spPr>
          <a:xfrm>
            <a:off x="6291072" y="2670048"/>
            <a:ext cx="2441448" cy="420624"/>
          </a:xfrm>
          <a:prstGeom prst="rect">
            <a:avLst/>
          </a:prstGeom>
          <a:solidFill>
            <a:srgbClr val="141414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6291072" y="2670048"/>
            <a:ext cx="54864" cy="420624"/>
          </a:xfrm>
          <a:prstGeom prst="rect">
            <a:avLst/>
          </a:prstGeom>
          <a:solidFill>
            <a:srgbClr val="EA493F"/>
          </a:solidFill>
          <a:ln>
            <a:solid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455664" y="2670048"/>
            <a:ext cx="2221991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>
                <a:solidFill>
                  <a:srgbClr val="FFFFFF"/>
                </a:solidFill>
                <a:latin typeface="Inter"/>
              </a:rPr>
              <a:t>Financial Accounting (GL)</a:t>
            </a:r>
          </a:p>
        </p:txBody>
      </p:sp>
      <p:sp>
        <p:nvSpPr>
          <p:cNvPr id="49" name="Rectangle 48"/>
          <p:cNvSpPr/>
          <p:nvPr/>
        </p:nvSpPr>
        <p:spPr>
          <a:xfrm>
            <a:off x="8878824" y="2670048"/>
            <a:ext cx="2441448" cy="420624"/>
          </a:xfrm>
          <a:prstGeom prst="rect">
            <a:avLst/>
          </a:prstGeom>
          <a:solidFill>
            <a:srgbClr val="141414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8878824" y="2670048"/>
            <a:ext cx="54864" cy="420624"/>
          </a:xfrm>
          <a:prstGeom prst="rect">
            <a:avLst/>
          </a:prstGeom>
          <a:solidFill>
            <a:srgbClr val="EA493F"/>
          </a:solidFill>
          <a:ln>
            <a:solid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9043416" y="2670048"/>
            <a:ext cx="2221991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>
                <a:solidFill>
                  <a:srgbClr val="FFFFFF"/>
                </a:solidFill>
                <a:latin typeface="Inter"/>
              </a:rPr>
              <a:t>Accounting Center</a:t>
            </a:r>
          </a:p>
        </p:txBody>
      </p:sp>
      <p:sp>
        <p:nvSpPr>
          <p:cNvPr id="52" name="Rectangle 51"/>
          <p:cNvSpPr/>
          <p:nvPr/>
        </p:nvSpPr>
        <p:spPr>
          <a:xfrm>
            <a:off x="6291072" y="3168396"/>
            <a:ext cx="2441448" cy="420624"/>
          </a:xfrm>
          <a:prstGeom prst="rect">
            <a:avLst/>
          </a:prstGeom>
          <a:solidFill>
            <a:srgbClr val="141414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6291072" y="3168396"/>
            <a:ext cx="54864" cy="420624"/>
          </a:xfrm>
          <a:prstGeom prst="rect">
            <a:avLst/>
          </a:prstGeom>
          <a:solidFill>
            <a:srgbClr val="EA493F"/>
          </a:solidFill>
          <a:ln>
            <a:solid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6455664" y="3168396"/>
            <a:ext cx="2221991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>
                <a:solidFill>
                  <a:srgbClr val="FFFFFF"/>
                </a:solidFill>
                <a:latin typeface="Inter"/>
              </a:rPr>
              <a:t>Accounts Payable / Suppliers</a:t>
            </a:r>
          </a:p>
        </p:txBody>
      </p:sp>
      <p:sp>
        <p:nvSpPr>
          <p:cNvPr id="55" name="Rectangle 54"/>
          <p:cNvSpPr/>
          <p:nvPr/>
        </p:nvSpPr>
        <p:spPr>
          <a:xfrm>
            <a:off x="8878824" y="3168396"/>
            <a:ext cx="2441448" cy="420624"/>
          </a:xfrm>
          <a:prstGeom prst="rect">
            <a:avLst/>
          </a:prstGeom>
          <a:solidFill>
            <a:srgbClr val="141414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8878824" y="3168396"/>
            <a:ext cx="54864" cy="420624"/>
          </a:xfrm>
          <a:prstGeom prst="rect">
            <a:avLst/>
          </a:prstGeom>
          <a:solidFill>
            <a:srgbClr val="EA493F"/>
          </a:solidFill>
          <a:ln>
            <a:solid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9043416" y="3168396"/>
            <a:ext cx="2221991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>
                <a:solidFill>
                  <a:srgbClr val="FFFFFF"/>
                </a:solidFill>
                <a:latin typeface="Inter"/>
              </a:rPr>
              <a:t>Accounts Receivable / Customers</a:t>
            </a:r>
          </a:p>
        </p:txBody>
      </p:sp>
      <p:sp>
        <p:nvSpPr>
          <p:cNvPr id="58" name="Rectangle 57"/>
          <p:cNvSpPr/>
          <p:nvPr/>
        </p:nvSpPr>
        <p:spPr>
          <a:xfrm>
            <a:off x="6291072" y="3666744"/>
            <a:ext cx="2441448" cy="420624"/>
          </a:xfrm>
          <a:prstGeom prst="rect">
            <a:avLst/>
          </a:prstGeom>
          <a:solidFill>
            <a:srgbClr val="141414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6291072" y="3666744"/>
            <a:ext cx="54864" cy="420624"/>
          </a:xfrm>
          <a:prstGeom prst="rect">
            <a:avLst/>
          </a:prstGeom>
          <a:solidFill>
            <a:srgbClr val="EA493F"/>
          </a:solidFill>
          <a:ln>
            <a:solid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6455664" y="3666744"/>
            <a:ext cx="2221991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>
                <a:solidFill>
                  <a:srgbClr val="FFFFFF"/>
                </a:solidFill>
                <a:latin typeface="Inter"/>
              </a:rPr>
              <a:t>Procurement</a:t>
            </a:r>
          </a:p>
        </p:txBody>
      </p:sp>
      <p:sp>
        <p:nvSpPr>
          <p:cNvPr id="61" name="Rectangle 60"/>
          <p:cNvSpPr/>
          <p:nvPr/>
        </p:nvSpPr>
        <p:spPr>
          <a:xfrm>
            <a:off x="8878824" y="3666744"/>
            <a:ext cx="2441448" cy="420624"/>
          </a:xfrm>
          <a:prstGeom prst="rect">
            <a:avLst/>
          </a:prstGeom>
          <a:solidFill>
            <a:srgbClr val="141414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8878824" y="3666744"/>
            <a:ext cx="54864" cy="420624"/>
          </a:xfrm>
          <a:prstGeom prst="rect">
            <a:avLst/>
          </a:prstGeom>
          <a:solidFill>
            <a:srgbClr val="EA493F"/>
          </a:solidFill>
          <a:ln>
            <a:solid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9043416" y="3666744"/>
            <a:ext cx="2221991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>
                <a:solidFill>
                  <a:srgbClr val="FFFFFF"/>
                </a:solidFill>
                <a:latin typeface="Inter"/>
              </a:rPr>
              <a:t>Expenses</a:t>
            </a:r>
          </a:p>
        </p:txBody>
      </p:sp>
      <p:sp>
        <p:nvSpPr>
          <p:cNvPr id="64" name="Rectangle 63"/>
          <p:cNvSpPr/>
          <p:nvPr/>
        </p:nvSpPr>
        <p:spPr>
          <a:xfrm>
            <a:off x="6291072" y="4165091"/>
            <a:ext cx="2441448" cy="420624"/>
          </a:xfrm>
          <a:prstGeom prst="rect">
            <a:avLst/>
          </a:prstGeom>
          <a:solidFill>
            <a:srgbClr val="141414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6291072" y="4165091"/>
            <a:ext cx="54864" cy="420624"/>
          </a:xfrm>
          <a:prstGeom prst="rect">
            <a:avLst/>
          </a:prstGeom>
          <a:solidFill>
            <a:srgbClr val="EA493F"/>
          </a:solidFill>
          <a:ln>
            <a:solid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6455664" y="4165091"/>
            <a:ext cx="2221991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>
                <a:solidFill>
                  <a:srgbClr val="FFFFFF"/>
                </a:solidFill>
                <a:latin typeface="Inter"/>
              </a:rPr>
              <a:t>Banking &amp; Settlement</a:t>
            </a:r>
          </a:p>
        </p:txBody>
      </p:sp>
      <p:sp>
        <p:nvSpPr>
          <p:cNvPr id="67" name="Rectangle 66"/>
          <p:cNvSpPr/>
          <p:nvPr/>
        </p:nvSpPr>
        <p:spPr>
          <a:xfrm>
            <a:off x="8878824" y="4165091"/>
            <a:ext cx="2441448" cy="420624"/>
          </a:xfrm>
          <a:prstGeom prst="rect">
            <a:avLst/>
          </a:prstGeom>
          <a:solidFill>
            <a:srgbClr val="141414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8878824" y="4165091"/>
            <a:ext cx="54864" cy="420624"/>
          </a:xfrm>
          <a:prstGeom prst="rect">
            <a:avLst/>
          </a:prstGeom>
          <a:solidFill>
            <a:srgbClr val="EA493F"/>
          </a:solidFill>
          <a:ln>
            <a:solid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9043416" y="4165091"/>
            <a:ext cx="2221991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>
                <a:solidFill>
                  <a:srgbClr val="FFFFFF"/>
                </a:solidFill>
                <a:latin typeface="Inter"/>
              </a:rPr>
              <a:t>Business Assets</a:t>
            </a:r>
          </a:p>
        </p:txBody>
      </p:sp>
      <p:sp>
        <p:nvSpPr>
          <p:cNvPr id="70" name="Rectangle 69"/>
          <p:cNvSpPr/>
          <p:nvPr/>
        </p:nvSpPr>
        <p:spPr>
          <a:xfrm>
            <a:off x="6291072" y="4663440"/>
            <a:ext cx="2441448" cy="420624"/>
          </a:xfrm>
          <a:prstGeom prst="rect">
            <a:avLst/>
          </a:prstGeom>
          <a:solidFill>
            <a:srgbClr val="141414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6291072" y="4663440"/>
            <a:ext cx="54864" cy="420624"/>
          </a:xfrm>
          <a:prstGeom prst="rect">
            <a:avLst/>
          </a:prstGeom>
          <a:solidFill>
            <a:srgbClr val="EA493F"/>
          </a:solidFill>
          <a:ln>
            <a:solid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6455664" y="4663440"/>
            <a:ext cx="2221991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>
                <a:solidFill>
                  <a:srgbClr val="FFFFFF"/>
                </a:solidFill>
                <a:latin typeface="Inter"/>
              </a:rPr>
              <a:t>Financial Reporting</a:t>
            </a:r>
          </a:p>
        </p:txBody>
      </p:sp>
      <p:sp>
        <p:nvSpPr>
          <p:cNvPr id="73" name="Rectangle 72"/>
          <p:cNvSpPr/>
          <p:nvPr/>
        </p:nvSpPr>
        <p:spPr>
          <a:xfrm>
            <a:off x="8878824" y="4663440"/>
            <a:ext cx="2441448" cy="420624"/>
          </a:xfrm>
          <a:prstGeom prst="rect">
            <a:avLst/>
          </a:prstGeom>
          <a:solidFill>
            <a:srgbClr val="141414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8878824" y="4663440"/>
            <a:ext cx="54864" cy="420624"/>
          </a:xfrm>
          <a:prstGeom prst="rect">
            <a:avLst/>
          </a:prstGeom>
          <a:solidFill>
            <a:srgbClr val="EA493F"/>
          </a:solidFill>
          <a:ln>
            <a:solid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9043416" y="4663440"/>
            <a:ext cx="2221991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>
                <a:solidFill>
                  <a:srgbClr val="FFFFFF"/>
                </a:solidFill>
                <a:latin typeface="Inter"/>
              </a:rPr>
              <a:t>Prism Analytics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291072" y="5161788"/>
            <a:ext cx="2441448" cy="420624"/>
          </a:xfrm>
          <a:prstGeom prst="rect">
            <a:avLst/>
          </a:prstGeom>
          <a:solidFill>
            <a:srgbClr val="141414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6291072" y="5161788"/>
            <a:ext cx="54864" cy="420624"/>
          </a:xfrm>
          <a:prstGeom prst="rect">
            <a:avLst/>
          </a:prstGeom>
          <a:solidFill>
            <a:srgbClr val="EA493F"/>
          </a:solidFill>
          <a:ln>
            <a:solid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6455664" y="5161788"/>
            <a:ext cx="2221991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>
                <a:solidFill>
                  <a:srgbClr val="FFFFFF"/>
                </a:solidFill>
                <a:latin typeface="Inter"/>
              </a:rPr>
              <a:t>Security &amp; BP config</a:t>
            </a:r>
          </a:p>
        </p:txBody>
      </p:sp>
      <p:sp>
        <p:nvSpPr>
          <p:cNvPr id="79" name="Rectangle 78"/>
          <p:cNvSpPr/>
          <p:nvPr/>
        </p:nvSpPr>
        <p:spPr>
          <a:xfrm>
            <a:off x="8878824" y="5161788"/>
            <a:ext cx="2441448" cy="420624"/>
          </a:xfrm>
          <a:prstGeom prst="rect">
            <a:avLst/>
          </a:prstGeom>
          <a:solidFill>
            <a:srgbClr val="141414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8878824" y="5161788"/>
            <a:ext cx="54864" cy="420624"/>
          </a:xfrm>
          <a:prstGeom prst="rect">
            <a:avLst/>
          </a:prstGeom>
          <a:solidFill>
            <a:srgbClr val="EA493F"/>
          </a:solidFill>
          <a:ln>
            <a:solid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9043416" y="5161788"/>
            <a:ext cx="2221991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>
                <a:solidFill>
                  <a:srgbClr val="FFFFFF"/>
                </a:solidFill>
                <a:latin typeface="Inter"/>
              </a:rPr>
              <a:t>Integrations (EIB, CC, Studio)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877824" y="6053328"/>
            <a:ext cx="10442448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>
                <a:solidFill>
                  <a:srgbClr val="CFCFCF"/>
                </a:solidFill>
                <a:latin typeface="Inter"/>
              </a:rPr>
              <a:t>Adaptive Planning — all modules.    ·    Cross-skilled across both suites — one team, two suites.</a:t>
            </a:r>
          </a:p>
        </p:txBody>
      </p:sp>
      <p:pic>
        <p:nvPicPr>
          <p:cNvPr id="83" name="Picture 8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7824" y="457200"/>
            <a:ext cx="402336" cy="237744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8259775" y="420624"/>
            <a:ext cx="3200400" cy="3200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100" b="1" i="0" cap="all" spc="154">
                <a:solidFill>
                  <a:srgbClr val="EA493F"/>
                </a:solidFill>
                <a:latin typeface="Inter"/>
              </a:rPr>
              <a:t>AMS FRAMEWORK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914400"/>
            <a:ext cx="10436047" cy="10058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3300" b="1" i="0" spc="-72">
                <a:solidFill>
                  <a:srgbClr val="FFFFFF"/>
                </a:solidFill>
                <a:latin typeface="Inter"/>
              </a:rPr>
              <a:t>AMS, built on </a:t>
            </a:r>
            <a:r>
              <a:rPr lang="en-AU" sz="3300" b="1" i="0" spc="-72">
                <a:solidFill>
                  <a:srgbClr val="EA493F"/>
                </a:solidFill>
                <a:latin typeface="Inter"/>
              </a:rPr>
              <a:t>ITIL.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77824" y="1737360"/>
            <a:ext cx="10241280" cy="5486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300" b="0" i="0" spc="0">
                <a:solidFill>
                  <a:srgbClr val="CFCFCF"/>
                </a:solidFill>
                <a:latin typeface="Inter"/>
              </a:rPr>
              <a:t>We run Workday on ITIL — the global standard for IT service management.</a:t>
            </a:r>
          </a:p>
        </p:txBody>
      </p:sp>
      <p:sp>
        <p:nvSpPr>
          <p:cNvPr id="6" name="Rectangle 5"/>
          <p:cNvSpPr/>
          <p:nvPr/>
        </p:nvSpPr>
        <p:spPr>
          <a:xfrm>
            <a:off x="877824" y="2514600"/>
            <a:ext cx="3234842" cy="3017520"/>
          </a:xfrm>
          <a:prstGeom prst="rect">
            <a:avLst/>
          </a:prstGeom>
          <a:solidFill>
            <a:srgbClr val="141414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152144" y="2807208"/>
            <a:ext cx="2731922" cy="365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250" b="1" i="0" cap="all" spc="125">
                <a:solidFill>
                  <a:srgbClr val="EA493F"/>
                </a:solidFill>
                <a:latin typeface="Inter"/>
              </a:rPr>
              <a:t>WHAT IT IS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2144" y="3355848"/>
            <a:ext cx="2686202" cy="1920239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300" b="0" i="0" spc="0">
                <a:solidFill>
                  <a:srgbClr val="CFCFCF"/>
                </a:solidFill>
                <a:latin typeface="Inter"/>
              </a:rPr>
              <a:t>The proven framework for running IT services — incident, problem, change and release management, done to a recognised standard.</a:t>
            </a:r>
          </a:p>
        </p:txBody>
      </p:sp>
      <p:sp>
        <p:nvSpPr>
          <p:cNvPr id="9" name="Rectangle 8"/>
          <p:cNvSpPr/>
          <p:nvPr/>
        </p:nvSpPr>
        <p:spPr>
          <a:xfrm>
            <a:off x="4478426" y="2514600"/>
            <a:ext cx="3234842" cy="3017520"/>
          </a:xfrm>
          <a:prstGeom prst="rect">
            <a:avLst/>
          </a:prstGeom>
          <a:solidFill>
            <a:srgbClr val="141414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752746" y="2807208"/>
            <a:ext cx="2731922" cy="365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250" b="1" i="0" cap="all" spc="125">
                <a:solidFill>
                  <a:srgbClr val="EA493F"/>
                </a:solidFill>
                <a:latin typeface="Inter"/>
              </a:rPr>
              <a:t>WHY IT MATTERS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52746" y="3355848"/>
            <a:ext cx="2686202" cy="1920239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300" b="0" i="0" spc="0">
                <a:solidFill>
                  <a:srgbClr val="CFCFCF"/>
                </a:solidFill>
                <a:latin typeface="Inter"/>
              </a:rPr>
              <a:t>Predictable, SLA-backed support: fewer incidents, faster resolution, controlled change and continuous improvement.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079028" y="2514600"/>
            <a:ext cx="3234842" cy="3017520"/>
          </a:xfrm>
          <a:prstGeom prst="rect">
            <a:avLst/>
          </a:prstGeom>
          <a:solidFill>
            <a:srgbClr val="141414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353348" y="2807208"/>
            <a:ext cx="2731922" cy="365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250" b="1" i="0" cap="all" spc="125">
                <a:solidFill>
                  <a:srgbClr val="EA493F"/>
                </a:solidFill>
                <a:latin typeface="Inter"/>
              </a:rPr>
              <a:t>HOW WE APPLY IT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53348" y="3355848"/>
            <a:ext cx="2686202" cy="1920239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300" b="0" i="0" spc="0">
                <a:solidFill>
                  <a:srgbClr val="CFCFCF"/>
                </a:solidFill>
                <a:latin typeface="Inter"/>
              </a:rPr>
              <a:t>Governed run operations · 24×7 P1/P2 on-call · change &amp; release control · continuous improvement.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77824" y="5943600"/>
            <a:ext cx="10436047" cy="365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200" b="1" i="0" spc="24">
                <a:solidFill>
                  <a:srgbClr val="CFCFCF"/>
                </a:solidFill>
                <a:latin typeface="Inter"/>
              </a:rPr>
              <a:t>Operational excellence, by design.</a:t>
            </a:r>
          </a:p>
        </p:txBody>
      </p:sp>
      <p:pic>
        <p:nvPicPr>
          <p:cNvPr id="16" name="Picture 1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7824" y="457200"/>
            <a:ext cx="402032" cy="237744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8259775" y="420624"/>
            <a:ext cx="3200400" cy="3200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100" b="1" i="0" cap="all" spc="154">
                <a:solidFill>
                  <a:srgbClr val="EA493F"/>
                </a:solidFill>
                <a:latin typeface="Inter"/>
              </a:rPr>
              <a:t>AMS FRAMEWORK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914400"/>
            <a:ext cx="10436047" cy="10058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3300" b="1" i="0" spc="-72">
                <a:solidFill>
                  <a:srgbClr val="FFFFFF"/>
                </a:solidFill>
                <a:latin typeface="Inter"/>
              </a:rPr>
              <a:t>AMS operating </a:t>
            </a:r>
            <a:r>
              <a:rPr lang="en-AU" sz="3300" b="1" i="0" spc="-72">
                <a:solidFill>
                  <a:srgbClr val="EA493F"/>
                </a:solidFill>
                <a:latin typeface="Inter"/>
              </a:rPr>
              <a:t>framework.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77824" y="1737360"/>
            <a:ext cx="10241280" cy="5486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300" b="0" i="0" spc="0">
                <a:solidFill>
                  <a:srgbClr val="CFCFCF"/>
                </a:solidFill>
                <a:latin typeface="Inter"/>
              </a:rPr>
              <a:t>Driving operational excellence through governance, integration and continuous improvement.</a:t>
            </a:r>
          </a:p>
        </p:txBody>
      </p:sp>
      <p:sp>
        <p:nvSpPr>
          <p:cNvPr id="6" name="Rectangle 5"/>
          <p:cNvSpPr/>
          <p:nvPr/>
        </p:nvSpPr>
        <p:spPr>
          <a:xfrm>
            <a:off x="877824" y="2286000"/>
            <a:ext cx="10436047" cy="310896"/>
          </a:xfrm>
          <a:prstGeom prst="rect">
            <a:avLst/>
          </a:prstGeom>
          <a:solidFill>
            <a:srgbClr val="EA493F"/>
          </a:solidFill>
          <a:ln>
            <a:solid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106424" y="2286000"/>
            <a:ext cx="9978847" cy="31089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150" b="1" i="0" cap="all" spc="115">
                <a:solidFill>
                  <a:srgbClr val="FFFFFF"/>
                </a:solidFill>
                <a:latin typeface="Inter"/>
              </a:rPr>
              <a:t>CONTINUOUS IMPROVEMENT</a:t>
            </a:r>
          </a:p>
        </p:txBody>
      </p:sp>
      <p:sp>
        <p:nvSpPr>
          <p:cNvPr id="8" name="Rectangle 7"/>
          <p:cNvSpPr/>
          <p:nvPr/>
        </p:nvSpPr>
        <p:spPr>
          <a:xfrm>
            <a:off x="877824" y="2633472"/>
            <a:ext cx="10436047" cy="420624"/>
          </a:xfrm>
          <a:prstGeom prst="rect">
            <a:avLst/>
          </a:prstGeom>
          <a:solidFill>
            <a:srgbClr val="1C1C1C"/>
          </a:solidFill>
          <a:ln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106424" y="2633472"/>
            <a:ext cx="9978847" cy="4206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150" b="1" i="0" cap="all" spc="115">
                <a:solidFill>
                  <a:srgbClr val="FFFFFF"/>
                </a:solidFill>
                <a:latin typeface="Inter"/>
              </a:rPr>
              <a:t>GOVERNANCE</a:t>
            </a:r>
            <a:r>
              <a:rPr lang="en-AU" sz="1000" b="0" i="0" spc="0">
                <a:solidFill>
                  <a:srgbClr val="FFFFFF"/>
                </a:solidFill>
                <a:latin typeface="Inter"/>
              </a:rPr>
              <a:t>    Thought leadership · Product &amp; vendor relationship · Technical-debt reduction · WD bi-annual release management</a:t>
            </a:r>
          </a:p>
        </p:txBody>
      </p:sp>
      <p:sp>
        <p:nvSpPr>
          <p:cNvPr id="10" name="Rectangle 9"/>
          <p:cNvSpPr/>
          <p:nvPr/>
        </p:nvSpPr>
        <p:spPr>
          <a:xfrm>
            <a:off x="877824" y="3200400"/>
            <a:ext cx="2512999" cy="457200"/>
          </a:xfrm>
          <a:prstGeom prst="rect">
            <a:avLst/>
          </a:prstGeom>
          <a:solidFill>
            <a:srgbClr val="141414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950976" y="3200400"/>
            <a:ext cx="2366695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950" b="1" i="0" spc="-4">
                <a:solidFill>
                  <a:srgbClr val="FFFFFF"/>
                </a:solidFill>
                <a:latin typeface="Inter"/>
              </a:rPr>
              <a:t>Incident management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518839" y="3200400"/>
            <a:ext cx="2512999" cy="457200"/>
          </a:xfrm>
          <a:prstGeom prst="rect">
            <a:avLst/>
          </a:prstGeom>
          <a:solidFill>
            <a:srgbClr val="141414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3591991" y="3200400"/>
            <a:ext cx="2366695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950" b="1" i="0" spc="-4">
                <a:solidFill>
                  <a:srgbClr val="FFFFFF"/>
                </a:solidFill>
                <a:latin typeface="Inter"/>
              </a:rPr>
              <a:t>Problem management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59855" y="3200400"/>
            <a:ext cx="2512999" cy="457200"/>
          </a:xfrm>
          <a:prstGeom prst="rect">
            <a:avLst/>
          </a:prstGeom>
          <a:solidFill>
            <a:srgbClr val="141414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233007" y="3200400"/>
            <a:ext cx="2366695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950" b="1" i="0" spc="-4">
                <a:solidFill>
                  <a:srgbClr val="FFFFFF"/>
                </a:solidFill>
                <a:latin typeface="Inter"/>
              </a:rPr>
              <a:t>Change management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800871" y="3200400"/>
            <a:ext cx="2512999" cy="457200"/>
          </a:xfrm>
          <a:prstGeom prst="rect">
            <a:avLst/>
          </a:prstGeom>
          <a:solidFill>
            <a:srgbClr val="141414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8874023" y="3200400"/>
            <a:ext cx="2366695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950" b="1" i="0" spc="-4">
                <a:solidFill>
                  <a:srgbClr val="FFFFFF"/>
                </a:solidFill>
                <a:latin typeface="Inter"/>
              </a:rPr>
              <a:t>Release management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77824" y="3785615"/>
            <a:ext cx="2512999" cy="457200"/>
          </a:xfrm>
          <a:prstGeom prst="rect">
            <a:avLst/>
          </a:prstGeom>
          <a:solidFill>
            <a:srgbClr val="141414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950976" y="3785615"/>
            <a:ext cx="2366695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950" b="1" i="0" spc="-4">
                <a:solidFill>
                  <a:srgbClr val="FFFFFF"/>
                </a:solidFill>
                <a:latin typeface="Inter"/>
              </a:rPr>
              <a:t>Service requests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518839" y="3785615"/>
            <a:ext cx="2512999" cy="457200"/>
          </a:xfrm>
          <a:prstGeom prst="rect">
            <a:avLst/>
          </a:prstGeom>
          <a:solidFill>
            <a:srgbClr val="141414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3591991" y="3785615"/>
            <a:ext cx="2366695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950" b="1" i="0" spc="-4">
                <a:solidFill>
                  <a:srgbClr val="FFFFFF"/>
                </a:solidFill>
                <a:latin typeface="Inter"/>
              </a:rPr>
              <a:t>Change Advisory Board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159855" y="3785615"/>
            <a:ext cx="2512999" cy="457200"/>
          </a:xfrm>
          <a:prstGeom prst="rect">
            <a:avLst/>
          </a:prstGeom>
          <a:solidFill>
            <a:srgbClr val="141414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6233007" y="3785615"/>
            <a:ext cx="2366695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950" b="1" i="0" spc="-4">
                <a:solidFill>
                  <a:srgbClr val="FFFFFF"/>
                </a:solidFill>
                <a:latin typeface="Inter"/>
              </a:rPr>
              <a:t>SLAs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800871" y="3785615"/>
            <a:ext cx="2512999" cy="457200"/>
          </a:xfrm>
          <a:prstGeom prst="rect">
            <a:avLst/>
          </a:prstGeom>
          <a:solidFill>
            <a:srgbClr val="141414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8874023" y="3785615"/>
            <a:ext cx="2366695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950" b="1" i="0" spc="-4">
                <a:solidFill>
                  <a:srgbClr val="FFFFFF"/>
                </a:solidFill>
                <a:latin typeface="Inter"/>
              </a:rPr>
              <a:t>Metrics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77824" y="4370832"/>
            <a:ext cx="2512999" cy="457200"/>
          </a:xfrm>
          <a:prstGeom prst="rect">
            <a:avLst/>
          </a:prstGeom>
          <a:solidFill>
            <a:srgbClr val="141414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950976" y="4370832"/>
            <a:ext cx="2366695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950" b="1" i="0" spc="-4">
                <a:solidFill>
                  <a:srgbClr val="FFFFFF"/>
                </a:solidFill>
                <a:latin typeface="Inter"/>
              </a:rPr>
              <a:t>Integration health checks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518839" y="4370832"/>
            <a:ext cx="2512999" cy="457200"/>
          </a:xfrm>
          <a:prstGeom prst="rect">
            <a:avLst/>
          </a:prstGeom>
          <a:solidFill>
            <a:srgbClr val="141414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3591991" y="4370832"/>
            <a:ext cx="2366695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950" b="1" i="0" spc="-4">
                <a:solidFill>
                  <a:srgbClr val="FFFFFF"/>
                </a:solidFill>
                <a:latin typeface="Inter"/>
              </a:rPr>
              <a:t>Backlog management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159855" y="4370832"/>
            <a:ext cx="2512999" cy="457200"/>
          </a:xfrm>
          <a:prstGeom prst="rect">
            <a:avLst/>
          </a:prstGeom>
          <a:solidFill>
            <a:srgbClr val="141414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6233007" y="4370832"/>
            <a:ext cx="2366695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950" b="1" i="0" spc="-4">
                <a:solidFill>
                  <a:srgbClr val="FFFFFF"/>
                </a:solidFill>
                <a:latin typeface="Inter"/>
              </a:rPr>
              <a:t>Prioritisation forum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800871" y="4370832"/>
            <a:ext cx="2512999" cy="457200"/>
          </a:xfrm>
          <a:prstGeom prst="rect">
            <a:avLst/>
          </a:prstGeom>
          <a:solidFill>
            <a:srgbClr val="141414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8874023" y="4370832"/>
            <a:ext cx="2366695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950" b="1" i="0" spc="-4">
                <a:solidFill>
                  <a:srgbClr val="FFFFFF"/>
                </a:solidFill>
                <a:latin typeface="Inter"/>
              </a:rPr>
              <a:t>Capacity management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77824" y="4956048"/>
            <a:ext cx="2512999" cy="457200"/>
          </a:xfrm>
          <a:prstGeom prst="rect">
            <a:avLst/>
          </a:prstGeom>
          <a:solidFill>
            <a:srgbClr val="141414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950976" y="4956048"/>
            <a:ext cx="2366695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950" b="1" i="0" spc="-4">
                <a:solidFill>
                  <a:srgbClr val="FFFFFF"/>
                </a:solidFill>
                <a:latin typeface="Inter"/>
              </a:rPr>
              <a:t>Enhancements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518839" y="4956048"/>
            <a:ext cx="2512999" cy="457200"/>
          </a:xfrm>
          <a:prstGeom prst="rect">
            <a:avLst/>
          </a:prstGeom>
          <a:solidFill>
            <a:srgbClr val="141414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3591991" y="4956048"/>
            <a:ext cx="2366695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950" b="1" i="0" spc="-4">
                <a:solidFill>
                  <a:srgbClr val="FFFFFF"/>
                </a:solidFill>
                <a:latin typeface="Inter"/>
              </a:rPr>
              <a:t>Knowledge base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159855" y="4956048"/>
            <a:ext cx="2512999" cy="457200"/>
          </a:xfrm>
          <a:prstGeom prst="rect">
            <a:avLst/>
          </a:prstGeom>
          <a:solidFill>
            <a:srgbClr val="141414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6233007" y="4956048"/>
            <a:ext cx="2366695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950" b="1" i="0" spc="-4">
                <a:solidFill>
                  <a:srgbClr val="FFFFFF"/>
                </a:solidFill>
                <a:latin typeface="Inter"/>
              </a:rPr>
              <a:t>Cyber security</a:t>
            </a:r>
          </a:p>
        </p:txBody>
      </p:sp>
      <p:sp>
        <p:nvSpPr>
          <p:cNvPr id="40" name="Rectangle 39"/>
          <p:cNvSpPr/>
          <p:nvPr/>
        </p:nvSpPr>
        <p:spPr>
          <a:xfrm>
            <a:off x="8800871" y="4956048"/>
            <a:ext cx="2512999" cy="457200"/>
          </a:xfrm>
          <a:prstGeom prst="rect">
            <a:avLst/>
          </a:prstGeom>
          <a:solidFill>
            <a:srgbClr val="141414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8874023" y="4956048"/>
            <a:ext cx="2366695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950" b="1" i="0" spc="-4">
                <a:solidFill>
                  <a:srgbClr val="FFFFFF"/>
                </a:solidFill>
                <a:latin typeface="Inter"/>
              </a:rPr>
              <a:t>BP &amp; security config</a:t>
            </a:r>
          </a:p>
        </p:txBody>
      </p:sp>
      <p:sp>
        <p:nvSpPr>
          <p:cNvPr id="42" name="Rectangle 41"/>
          <p:cNvSpPr/>
          <p:nvPr/>
        </p:nvSpPr>
        <p:spPr>
          <a:xfrm>
            <a:off x="877824" y="5541264"/>
            <a:ext cx="10436047" cy="384048"/>
          </a:xfrm>
          <a:prstGeom prst="rect">
            <a:avLst/>
          </a:prstGeom>
          <a:solidFill>
            <a:srgbClr val="EA493F"/>
          </a:solidFill>
          <a:ln>
            <a:solid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1106424" y="5541264"/>
            <a:ext cx="9978847" cy="38404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150" b="1" i="0" cap="all" spc="115">
                <a:solidFill>
                  <a:srgbClr val="FFFFFF"/>
                </a:solidFill>
                <a:latin typeface="Inter"/>
              </a:rPr>
              <a:t>SERVICE INTEGRATION · ITSM</a:t>
            </a:r>
          </a:p>
        </p:txBody>
      </p:sp>
      <p:sp>
        <p:nvSpPr>
          <p:cNvPr id="44" name="Rectangle 43"/>
          <p:cNvSpPr/>
          <p:nvPr/>
        </p:nvSpPr>
        <p:spPr>
          <a:xfrm>
            <a:off x="877824" y="6016752"/>
            <a:ext cx="3387242" cy="365760"/>
          </a:xfrm>
          <a:prstGeom prst="rect">
            <a:avLst/>
          </a:prstGeom>
          <a:solidFill>
            <a:srgbClr val="1A1A1A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950976" y="6016752"/>
            <a:ext cx="3240938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000" b="1" i="0" spc="-5">
                <a:solidFill>
                  <a:srgbClr val="EA493F"/>
                </a:solidFill>
                <a:latin typeface="Inter"/>
              </a:rPr>
              <a:t>OPERATIONS AS A PRIORITY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402226" y="6016752"/>
            <a:ext cx="3387242" cy="365760"/>
          </a:xfrm>
          <a:prstGeom prst="rect">
            <a:avLst/>
          </a:prstGeom>
          <a:solidFill>
            <a:srgbClr val="1A1A1A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TextBox 46"/>
          <p:cNvSpPr txBox="1"/>
          <p:nvPr/>
        </p:nvSpPr>
        <p:spPr>
          <a:xfrm>
            <a:off x="4475378" y="6016752"/>
            <a:ext cx="3240938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000" b="1" i="0" spc="-5">
                <a:solidFill>
                  <a:srgbClr val="EA493F"/>
                </a:solidFill>
                <a:latin typeface="Inter"/>
              </a:rPr>
              <a:t>BUSINESS VALUE REALISATION</a:t>
            </a:r>
          </a:p>
        </p:txBody>
      </p:sp>
      <p:sp>
        <p:nvSpPr>
          <p:cNvPr id="48" name="Rectangle 47"/>
          <p:cNvSpPr/>
          <p:nvPr/>
        </p:nvSpPr>
        <p:spPr>
          <a:xfrm>
            <a:off x="7926628" y="6016752"/>
            <a:ext cx="3387242" cy="365760"/>
          </a:xfrm>
          <a:prstGeom prst="rect">
            <a:avLst/>
          </a:prstGeom>
          <a:solidFill>
            <a:srgbClr val="1A1A1A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TextBox 48"/>
          <p:cNvSpPr txBox="1"/>
          <p:nvPr/>
        </p:nvSpPr>
        <p:spPr>
          <a:xfrm>
            <a:off x="7999780" y="6016752"/>
            <a:ext cx="3240938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000" b="1" i="0" spc="-5">
                <a:solidFill>
                  <a:srgbClr val="EA493F"/>
                </a:solidFill>
                <a:latin typeface="Inter"/>
              </a:rPr>
              <a:t>OPERATIONAL EXCELLENCE · ITIL</a:t>
            </a:r>
          </a:p>
        </p:txBody>
      </p:sp>
      <p:pic>
        <p:nvPicPr>
          <p:cNvPr id="50" name="Picture 49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7824" y="457200"/>
            <a:ext cx="402032" cy="237744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TextBox 2"/>
          <p:cNvSpPr txBox="1"/>
          <p:nvPr/>
        </p:nvSpPr>
        <p:spPr>
          <a:xfrm>
            <a:off x="5943600" y="420624"/>
            <a:ext cx="5486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1">
                <a:solidFill>
                  <a:srgbClr val="EA493F"/>
                </a:solidFill>
                <a:latin typeface="Inter"/>
              </a:rPr>
              <a:t>COVERAGE MODEL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896112"/>
            <a:ext cx="10433304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300" b="1">
                <a:solidFill>
                  <a:srgbClr val="FFFFFF"/>
                </a:solidFill>
                <a:latin typeface="Inter"/>
              </a:rPr>
              <a:t>Seamless onshore–offshore </a:t>
            </a:r>
            <a:r>
              <a:rPr sz="3300" b="1">
                <a:solidFill>
                  <a:srgbClr val="EA493F"/>
                </a:solidFill>
                <a:latin typeface="Inter"/>
              </a:rPr>
              <a:t>coverage.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77824" y="1591056"/>
            <a:ext cx="1044244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250" b="0">
                <a:solidFill>
                  <a:srgbClr val="CFCFCF"/>
                </a:solidFill>
                <a:latin typeface="Inter"/>
              </a:rPr>
              <a:t>Continuous support across time zones — onshore by day, offshore through the overlap, 24×7 on-call for P1/P2.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7824" y="219456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>
                <a:solidFill>
                  <a:srgbClr val="CFCFCF"/>
                </a:solidFill>
                <a:latin typeface="Inter"/>
              </a:rPr>
              <a:t>AEST</a:t>
            </a:r>
          </a:p>
        </p:txBody>
      </p:sp>
      <p:sp>
        <p:nvSpPr>
          <p:cNvPr id="7" name="Rectangle 6"/>
          <p:cNvSpPr/>
          <p:nvPr/>
        </p:nvSpPr>
        <p:spPr>
          <a:xfrm>
            <a:off x="2103120" y="2212848"/>
            <a:ext cx="9217152" cy="18288"/>
          </a:xfrm>
          <a:prstGeom prst="rect">
            <a:avLst/>
          </a:prstGeom>
          <a:solidFill>
            <a:srgbClr val="E4E4E0"/>
          </a:solidFill>
          <a:ln>
            <a:solid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868265" y="2286000"/>
            <a:ext cx="3686860" cy="310896"/>
          </a:xfrm>
          <a:prstGeom prst="rect">
            <a:avLst/>
          </a:prstGeom>
          <a:solidFill>
            <a:srgbClr val="EA493F"/>
          </a:solidFill>
          <a:ln>
            <a:solid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868265" y="2286000"/>
            <a:ext cx="368686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Inter"/>
              </a:rPr>
              <a:t>ONSHORE · AU</a:t>
            </a:r>
          </a:p>
        </p:txBody>
      </p:sp>
      <p:sp>
        <p:nvSpPr>
          <p:cNvPr id="10" name="Rectangle 9"/>
          <p:cNvSpPr/>
          <p:nvPr/>
        </p:nvSpPr>
        <p:spPr>
          <a:xfrm>
            <a:off x="6711696" y="2670048"/>
            <a:ext cx="3871203" cy="310896"/>
          </a:xfrm>
          <a:prstGeom prst="rect">
            <a:avLst/>
          </a:prstGeom>
          <a:solidFill>
            <a:srgbClr val="1C1C1C"/>
          </a:solidFill>
          <a:ln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711696" y="2670048"/>
            <a:ext cx="3871203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Inter"/>
              </a:rPr>
              <a:t>OFFSHORE · IN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711696" y="3017520"/>
            <a:ext cx="3871203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00" b="0">
                <a:solidFill>
                  <a:srgbClr val="CFCFCF"/>
                </a:solidFill>
                <a:latin typeface="Inter"/>
              </a:rPr>
              <a:t>warm handover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77824" y="3429000"/>
            <a:ext cx="5029200" cy="1417320"/>
          </a:xfrm>
          <a:prstGeom prst="rect">
            <a:avLst/>
          </a:prstGeom>
          <a:solidFill>
            <a:srgbClr val="141414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77824" y="3429000"/>
            <a:ext cx="91440" cy="1417320"/>
          </a:xfrm>
          <a:prstGeom prst="rect">
            <a:avLst/>
          </a:prstGeom>
          <a:solidFill>
            <a:srgbClr val="EA493F"/>
          </a:solidFill>
          <a:ln>
            <a:solid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70432" y="3593592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Inter"/>
              </a:rPr>
              <a:t>ONSHORE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70432" y="3904487"/>
            <a:ext cx="45720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EA493F"/>
                </a:solidFill>
                <a:latin typeface="Inter"/>
              </a:rPr>
              <a:t>Australia · 8:30–17:30 AEST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70432" y="4197096"/>
            <a:ext cx="448056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>
                <a:solidFill>
                  <a:srgbClr val="CFCFCF"/>
                </a:solidFill>
                <a:latin typeface="Inter"/>
              </a:rPr>
              <a:t>Governance &amp; stakeholder engagement · P1/P2 incident resolution · application health checks &amp; start-of-day triage.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291072" y="3429000"/>
            <a:ext cx="5029200" cy="1417320"/>
          </a:xfrm>
          <a:prstGeom prst="rect">
            <a:avLst/>
          </a:prstGeom>
          <a:solidFill>
            <a:srgbClr val="141414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291072" y="3429000"/>
            <a:ext cx="91440" cy="1417320"/>
          </a:xfrm>
          <a:prstGeom prst="rect">
            <a:avLst/>
          </a:prstGeom>
          <a:solidFill>
            <a:srgbClr val="FFFFFF"/>
          </a:solidFill>
          <a:ln>
            <a:solid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83680" y="3593592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Inter"/>
              </a:rPr>
              <a:t>OFFSHORE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83680" y="3904487"/>
            <a:ext cx="45720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EA493F"/>
                </a:solidFill>
                <a:latin typeface="Inter"/>
              </a:rPr>
              <a:t>India · 8:00–17:00 IST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83680" y="4197096"/>
            <a:ext cx="448056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>
                <a:solidFill>
                  <a:srgbClr val="CFCFCF"/>
                </a:solidFill>
                <a:latin typeface="Inter"/>
              </a:rPr>
              <a:t>Day-to-day incident management · routine incidents &amp; service requests · monitoring &amp; backlog resolution per SLA.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77824" y="5074920"/>
            <a:ext cx="10442448" cy="841248"/>
          </a:xfrm>
          <a:prstGeom prst="rect">
            <a:avLst/>
          </a:prstGeom>
          <a:solidFill>
            <a:srgbClr val="1C1C1C"/>
          </a:solidFill>
          <a:ln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207008" y="5074920"/>
            <a:ext cx="9784080" cy="8412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200" b="1">
                <a:solidFill>
                  <a:srgbClr val="EA493F"/>
                </a:solidFill>
                <a:latin typeface="Inter"/>
              </a:rPr>
              <a:t>24×7 on-call · P1 &amp; P2  </a:t>
            </a:r>
            <a:r>
              <a:rPr sz="1100" b="0">
                <a:solidFill>
                  <a:srgbClr val="FFFFFF"/>
                </a:solidFill>
                <a:latin typeface="Inter"/>
              </a:rPr>
              <a:t>incident support covered on-call, irrespective of tracking — an always-on safety net aligned to monthly hours.</a:t>
            </a:r>
          </a:p>
        </p:txBody>
      </p:sp>
      <p:pic>
        <p:nvPicPr>
          <p:cNvPr id="25" name="Picture 24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7824" y="457200"/>
            <a:ext cx="402336" cy="237744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TextBox 2"/>
          <p:cNvSpPr txBox="1"/>
          <p:nvPr/>
        </p:nvSpPr>
        <p:spPr>
          <a:xfrm>
            <a:off x="5943600" y="420624"/>
            <a:ext cx="5486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1">
                <a:solidFill>
                  <a:srgbClr val="EA493F"/>
                </a:solidFill>
                <a:latin typeface="Inter"/>
              </a:rPr>
              <a:t>GOVERNANCE MODEL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896112"/>
            <a:ext cx="10433304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300" b="1">
                <a:solidFill>
                  <a:srgbClr val="FFFFFF"/>
                </a:solidFill>
                <a:latin typeface="Inter"/>
              </a:rPr>
              <a:t>Strong governance, </a:t>
            </a:r>
            <a:r>
              <a:rPr sz="3300" b="1">
                <a:solidFill>
                  <a:srgbClr val="EA493F"/>
                </a:solidFill>
                <a:latin typeface="Inter"/>
              </a:rPr>
              <a:t>aligned teams.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77824" y="1591056"/>
            <a:ext cx="1044244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250" b="0">
                <a:solidFill>
                  <a:srgbClr val="CFCFCF"/>
                </a:solidFill>
                <a:latin typeface="Inter"/>
              </a:rPr>
              <a:t>Transparent reporting · escalation by exception · decisions at the right tier · continuous improvement built in.</a:t>
            </a:r>
          </a:p>
        </p:txBody>
      </p:sp>
      <p:sp>
        <p:nvSpPr>
          <p:cNvPr id="6" name="Rectangle 5"/>
          <p:cNvSpPr/>
          <p:nvPr/>
        </p:nvSpPr>
        <p:spPr>
          <a:xfrm>
            <a:off x="877824" y="2194560"/>
            <a:ext cx="1371600" cy="365760"/>
          </a:xfrm>
          <a:prstGeom prst="rect">
            <a:avLst/>
          </a:prstGeom>
          <a:solidFill>
            <a:srgbClr val="EA493F"/>
          </a:solidFill>
          <a:ln>
            <a:solid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194560"/>
            <a:ext cx="1115568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1000" b="1">
                <a:solidFill>
                  <a:srgbClr val="FFFFFF"/>
                </a:solidFill>
                <a:latin typeface="Inter"/>
              </a:rPr>
              <a:t>TIER</a:t>
            </a:r>
          </a:p>
        </p:txBody>
      </p:sp>
      <p:sp>
        <p:nvSpPr>
          <p:cNvPr id="8" name="Rectangle 7"/>
          <p:cNvSpPr/>
          <p:nvPr/>
        </p:nvSpPr>
        <p:spPr>
          <a:xfrm>
            <a:off x="2249424" y="2194560"/>
            <a:ext cx="3063240" cy="365760"/>
          </a:xfrm>
          <a:prstGeom prst="rect">
            <a:avLst/>
          </a:prstGeom>
          <a:solidFill>
            <a:srgbClr val="EA493F"/>
          </a:solidFill>
          <a:ln>
            <a:solid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377440" y="2194560"/>
            <a:ext cx="2807208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1000" b="1">
                <a:solidFill>
                  <a:srgbClr val="FFFFFF"/>
                </a:solidFill>
                <a:latin typeface="Inter"/>
              </a:rPr>
              <a:t>CUSTOMER</a:t>
            </a:r>
          </a:p>
        </p:txBody>
      </p:sp>
      <p:sp>
        <p:nvSpPr>
          <p:cNvPr id="10" name="Rectangle 9"/>
          <p:cNvSpPr/>
          <p:nvPr/>
        </p:nvSpPr>
        <p:spPr>
          <a:xfrm>
            <a:off x="5312664" y="2194560"/>
            <a:ext cx="3063240" cy="365760"/>
          </a:xfrm>
          <a:prstGeom prst="rect">
            <a:avLst/>
          </a:prstGeom>
          <a:solidFill>
            <a:srgbClr val="EA493F"/>
          </a:solidFill>
          <a:ln>
            <a:solid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40680" y="2194560"/>
            <a:ext cx="2807208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1000" b="1">
                <a:solidFill>
                  <a:srgbClr val="FFFFFF"/>
                </a:solidFill>
                <a:latin typeface="Inter"/>
              </a:rPr>
              <a:t>ACTIVITIES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375904" y="2194560"/>
            <a:ext cx="1783080" cy="365760"/>
          </a:xfrm>
          <a:prstGeom prst="rect">
            <a:avLst/>
          </a:prstGeom>
          <a:solidFill>
            <a:srgbClr val="EA493F"/>
          </a:solidFill>
          <a:ln>
            <a:solid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503920" y="2194560"/>
            <a:ext cx="1527048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1000" b="1">
                <a:solidFill>
                  <a:srgbClr val="FFFFFF"/>
                </a:solidFill>
                <a:latin typeface="Inter"/>
              </a:rPr>
              <a:t>MIVADA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158984" y="2194560"/>
            <a:ext cx="1161288" cy="365760"/>
          </a:xfrm>
          <a:prstGeom prst="rect">
            <a:avLst/>
          </a:prstGeom>
          <a:solidFill>
            <a:srgbClr val="EA493F"/>
          </a:solidFill>
          <a:ln>
            <a:solid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87000" y="2194560"/>
            <a:ext cx="905256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1000" b="1">
                <a:solidFill>
                  <a:srgbClr val="FFFFFF"/>
                </a:solidFill>
                <a:latin typeface="Inter"/>
              </a:rPr>
              <a:t>CADENCE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77824" y="2615184"/>
            <a:ext cx="1371600" cy="1078992"/>
          </a:xfrm>
          <a:prstGeom prst="rect">
            <a:avLst/>
          </a:prstGeom>
          <a:solidFill>
            <a:srgbClr val="141414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05840" y="2615184"/>
            <a:ext cx="1115568" cy="10789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1">
                <a:solidFill>
                  <a:srgbClr val="EA493F"/>
                </a:solidFill>
                <a:latin typeface="Inter"/>
              </a:rPr>
              <a:t>STRATEGIC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249424" y="2615184"/>
            <a:ext cx="3063240" cy="1078992"/>
          </a:xfrm>
          <a:prstGeom prst="rect">
            <a:avLst/>
          </a:prstGeom>
          <a:solidFill>
            <a:srgbClr val="141414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377440" y="2615184"/>
            <a:ext cx="2807208" cy="10789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950" b="0">
                <a:solidFill>
                  <a:srgbClr val="CFCFCF"/>
                </a:solidFill>
                <a:latin typeface="Inter"/>
              </a:rPr>
              <a:t>Executive Sponsor · CIO / IT Exec · Head of HR / Payroll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312664" y="2615184"/>
            <a:ext cx="3063240" cy="1078992"/>
          </a:xfrm>
          <a:prstGeom prst="rect">
            <a:avLst/>
          </a:prstGeom>
          <a:solidFill>
            <a:srgbClr val="141414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440680" y="2615184"/>
            <a:ext cx="2807208" cy="10789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950" b="0">
                <a:solidFill>
                  <a:srgbClr val="CFCFCF"/>
                </a:solidFill>
                <a:latin typeface="Inter"/>
              </a:rPr>
              <a:t>Strategic direction · innovation &amp; roadmap · investment alignment · relationship health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375904" y="2615184"/>
            <a:ext cx="1783080" cy="1078992"/>
          </a:xfrm>
          <a:prstGeom prst="rect">
            <a:avLst/>
          </a:prstGeom>
          <a:solidFill>
            <a:srgbClr val="141414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503920" y="2615184"/>
            <a:ext cx="1527048" cy="10789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950" b="1">
                <a:solidFill>
                  <a:srgbClr val="FFFFFF"/>
                </a:solidFill>
                <a:latin typeface="Inter"/>
              </a:rPr>
              <a:t>CEO · Client Partner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0158984" y="2615184"/>
            <a:ext cx="1161288" cy="1078992"/>
          </a:xfrm>
          <a:prstGeom prst="rect">
            <a:avLst/>
          </a:prstGeom>
          <a:solidFill>
            <a:srgbClr val="141414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287000" y="2615184"/>
            <a:ext cx="905256" cy="10789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1000" b="1">
                <a:solidFill>
                  <a:srgbClr val="EA493F"/>
                </a:solidFill>
                <a:latin typeface="Inter"/>
              </a:rPr>
              <a:t>Quarterly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77824" y="3749039"/>
            <a:ext cx="1371600" cy="1078992"/>
          </a:xfrm>
          <a:prstGeom prst="rect">
            <a:avLst/>
          </a:prstGeom>
          <a:solidFill>
            <a:srgbClr val="141414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05840" y="3749039"/>
            <a:ext cx="1115568" cy="10789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1">
                <a:solidFill>
                  <a:srgbClr val="EA493F"/>
                </a:solidFill>
                <a:latin typeface="Inter"/>
              </a:rPr>
              <a:t>TACTICAL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249424" y="3749039"/>
            <a:ext cx="3063240" cy="1078992"/>
          </a:xfrm>
          <a:prstGeom prst="rect">
            <a:avLst/>
          </a:prstGeom>
          <a:solidFill>
            <a:srgbClr val="141414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377440" y="3749039"/>
            <a:ext cx="2807208" cy="10789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950" b="0">
                <a:solidFill>
                  <a:srgbClr val="CFCFCF"/>
                </a:solidFill>
                <a:latin typeface="Inter"/>
              </a:rPr>
              <a:t>Business / Product Owner · IT Service Owner · Risk, Security &amp; Compliance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312664" y="3749039"/>
            <a:ext cx="3063240" cy="1078992"/>
          </a:xfrm>
          <a:prstGeom prst="rect">
            <a:avLst/>
          </a:prstGeom>
          <a:solidFill>
            <a:srgbClr val="141414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440680" y="3749039"/>
            <a:ext cx="2807208" cy="10789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950" b="0">
                <a:solidFill>
                  <a:srgbClr val="CFCFCF"/>
                </a:solidFill>
                <a:latin typeface="Inter"/>
              </a:rPr>
              <a:t>Service &amp; SLA review · risk, security &amp; compliance · release planning · improvement backlog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375904" y="3749039"/>
            <a:ext cx="1783080" cy="1078992"/>
          </a:xfrm>
          <a:prstGeom prst="rect">
            <a:avLst/>
          </a:prstGeom>
          <a:solidFill>
            <a:srgbClr val="141414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503920" y="3749039"/>
            <a:ext cx="1527048" cy="10789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950" b="1">
                <a:solidFill>
                  <a:srgbClr val="FFFFFF"/>
                </a:solidFill>
                <a:latin typeface="Inter"/>
              </a:rPr>
              <a:t>Client Partner · Service Delivery Lead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0158984" y="3749039"/>
            <a:ext cx="1161288" cy="1078992"/>
          </a:xfrm>
          <a:prstGeom prst="rect">
            <a:avLst/>
          </a:prstGeom>
          <a:solidFill>
            <a:srgbClr val="141414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0287000" y="3749039"/>
            <a:ext cx="905256" cy="10789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1000" b="1">
                <a:solidFill>
                  <a:srgbClr val="EA493F"/>
                </a:solidFill>
                <a:latin typeface="Inter"/>
              </a:rPr>
              <a:t>Monthly</a:t>
            </a:r>
          </a:p>
        </p:txBody>
      </p:sp>
      <p:sp>
        <p:nvSpPr>
          <p:cNvPr id="36" name="Rectangle 35"/>
          <p:cNvSpPr/>
          <p:nvPr/>
        </p:nvSpPr>
        <p:spPr>
          <a:xfrm>
            <a:off x="877824" y="4882896"/>
            <a:ext cx="1371600" cy="1078992"/>
          </a:xfrm>
          <a:prstGeom prst="rect">
            <a:avLst/>
          </a:prstGeom>
          <a:solidFill>
            <a:srgbClr val="141414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005840" y="4882896"/>
            <a:ext cx="1115568" cy="10789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1">
                <a:solidFill>
                  <a:srgbClr val="EA493F"/>
                </a:solidFill>
                <a:latin typeface="Inter"/>
              </a:rPr>
              <a:t>OPERATIONAL</a:t>
            </a:r>
          </a:p>
        </p:txBody>
      </p:sp>
      <p:sp>
        <p:nvSpPr>
          <p:cNvPr id="38" name="Rectangle 37"/>
          <p:cNvSpPr/>
          <p:nvPr/>
        </p:nvSpPr>
        <p:spPr>
          <a:xfrm>
            <a:off x="2249424" y="4882896"/>
            <a:ext cx="3063240" cy="1078992"/>
          </a:xfrm>
          <a:prstGeom prst="rect">
            <a:avLst/>
          </a:prstGeom>
          <a:solidFill>
            <a:srgbClr val="141414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2377440" y="4882896"/>
            <a:ext cx="2807208" cy="10789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950" b="0">
                <a:solidFill>
                  <a:srgbClr val="CFCFCF"/>
                </a:solidFill>
                <a:latin typeface="Inter"/>
              </a:rPr>
              <a:t>IT App Support / AMS team · Change &amp; Release · Super Users / SMEs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312664" y="4882896"/>
            <a:ext cx="3063240" cy="1078992"/>
          </a:xfrm>
          <a:prstGeom prst="rect">
            <a:avLst/>
          </a:prstGeom>
          <a:solidFill>
            <a:srgbClr val="141414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440680" y="4882896"/>
            <a:ext cx="2807208" cy="10789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950" b="0">
                <a:solidFill>
                  <a:srgbClr val="CFCFCF"/>
                </a:solidFill>
                <a:latin typeface="Inter"/>
              </a:rPr>
              <a:t>Incident triage &amp; resolution · change &amp; release execution · UX &amp; support · ops performance</a:t>
            </a:r>
          </a:p>
        </p:txBody>
      </p:sp>
      <p:sp>
        <p:nvSpPr>
          <p:cNvPr id="42" name="Rectangle 41"/>
          <p:cNvSpPr/>
          <p:nvPr/>
        </p:nvSpPr>
        <p:spPr>
          <a:xfrm>
            <a:off x="8375904" y="4882896"/>
            <a:ext cx="1783080" cy="1078992"/>
          </a:xfrm>
          <a:prstGeom prst="rect">
            <a:avLst/>
          </a:prstGeom>
          <a:solidFill>
            <a:srgbClr val="141414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503920" y="4882896"/>
            <a:ext cx="1527048" cy="10789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950" b="1">
                <a:solidFill>
                  <a:srgbClr val="FFFFFF"/>
                </a:solidFill>
                <a:latin typeface="Inter"/>
              </a:rPr>
              <a:t>Service Delivery Lead · Consultants</a:t>
            </a:r>
          </a:p>
        </p:txBody>
      </p:sp>
      <p:sp>
        <p:nvSpPr>
          <p:cNvPr id="44" name="Rectangle 43"/>
          <p:cNvSpPr/>
          <p:nvPr/>
        </p:nvSpPr>
        <p:spPr>
          <a:xfrm>
            <a:off x="10158984" y="4882896"/>
            <a:ext cx="1161288" cy="1078992"/>
          </a:xfrm>
          <a:prstGeom prst="rect">
            <a:avLst/>
          </a:prstGeom>
          <a:solidFill>
            <a:srgbClr val="141414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0287000" y="4882896"/>
            <a:ext cx="905256" cy="10789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1000" b="1">
                <a:solidFill>
                  <a:srgbClr val="EA493F"/>
                </a:solidFill>
                <a:latin typeface="Inter"/>
              </a:rPr>
              <a:t>Weekly / Daily</a:t>
            </a:r>
          </a:p>
        </p:txBody>
      </p:sp>
      <p:pic>
        <p:nvPicPr>
          <p:cNvPr id="46" name="Picture 45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7824" y="457200"/>
            <a:ext cx="402336" cy="237744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TextBox 2"/>
          <p:cNvSpPr txBox="1"/>
          <p:nvPr/>
        </p:nvSpPr>
        <p:spPr>
          <a:xfrm>
            <a:off x="5943600" y="420624"/>
            <a:ext cx="5486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1">
                <a:solidFill>
                  <a:srgbClr val="EA493F"/>
                </a:solidFill>
                <a:latin typeface="Inter"/>
              </a:rPr>
              <a:t>TRANSITION APPROACH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896112"/>
            <a:ext cx="10433304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300" b="1">
                <a:solidFill>
                  <a:srgbClr val="FFFFFF"/>
                </a:solidFill>
                <a:latin typeface="Inter"/>
              </a:rPr>
              <a:t>Minimising risk, </a:t>
            </a:r>
            <a:r>
              <a:rPr sz="3300" b="1">
                <a:solidFill>
                  <a:srgbClr val="EA493F"/>
                </a:solidFill>
                <a:latin typeface="Inter"/>
              </a:rPr>
              <a:t>maximising readiness.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77824" y="1591056"/>
            <a:ext cx="1044244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250" b="0">
                <a:solidFill>
                  <a:srgbClr val="CFCFCF"/>
                </a:solidFill>
                <a:latin typeface="Inter"/>
              </a:rPr>
              <a:t>A four-week transition to a confident go-live — governance live, knowledge transferred, parallel-run proven, then we lead.</a:t>
            </a:r>
          </a:p>
        </p:txBody>
      </p:sp>
      <p:sp>
        <p:nvSpPr>
          <p:cNvPr id="6" name="Rectangle 5"/>
          <p:cNvSpPr/>
          <p:nvPr/>
        </p:nvSpPr>
        <p:spPr>
          <a:xfrm>
            <a:off x="877824" y="2240280"/>
            <a:ext cx="2432304" cy="3063240"/>
          </a:xfrm>
          <a:prstGeom prst="rect">
            <a:avLst/>
          </a:prstGeom>
          <a:solidFill>
            <a:srgbClr val="141414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7824" y="2240280"/>
            <a:ext cx="2432304" cy="420624"/>
          </a:xfrm>
          <a:prstGeom prst="rect">
            <a:avLst/>
          </a:prstGeom>
          <a:solidFill>
            <a:srgbClr val="1C1C1C"/>
          </a:solidFill>
          <a:ln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60704" y="2240280"/>
            <a:ext cx="2066544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>
                <a:solidFill>
                  <a:srgbClr val="EA493F"/>
                </a:solidFill>
                <a:latin typeface="Inter"/>
              </a:rPr>
              <a:t>WEEK 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992" y="2807208"/>
            <a:ext cx="2048256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1">
                <a:solidFill>
                  <a:srgbClr val="FFFFFF"/>
                </a:solidFill>
                <a:latin typeface="Inter"/>
              </a:rPr>
              <a:t>Mobilise &amp; operating framework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8992" y="3447288"/>
            <a:ext cx="2048256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50" b="0">
                <a:solidFill>
                  <a:srgbClr val="CFCFCF"/>
                </a:solidFill>
                <a:latin typeface="Inter"/>
              </a:rPr>
              <a:t>•  Finalise AMS resourcing &amp; roles</a:t>
            </a:r>
          </a:p>
          <a:p>
            <a:pPr algn="l">
              <a:lnSpc>
                <a:spcPct val="110000"/>
              </a:lnSpc>
            </a:pPr>
            <a:r>
              <a:rPr sz="950" b="0">
                <a:solidFill>
                  <a:srgbClr val="CFCFCF"/>
                </a:solidFill>
                <a:latin typeface="Inter"/>
              </a:rPr>
              <a:t>•  Kickoff, governance &amp; cadences</a:t>
            </a:r>
          </a:p>
          <a:p>
            <a:pPr algn="l">
              <a:lnSpc>
                <a:spcPct val="110000"/>
              </a:lnSpc>
            </a:pPr>
            <a:r>
              <a:rPr sz="950" b="0">
                <a:solidFill>
                  <a:srgbClr val="CFCFCF"/>
                </a:solidFill>
                <a:latin typeface="Inter"/>
              </a:rPr>
              <a:t>•  ITSM access &amp; workflows · RACI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078992" y="4846320"/>
            <a:ext cx="2029968" cy="310896"/>
          </a:xfrm>
          <a:prstGeom prst="rect">
            <a:avLst/>
          </a:prstGeom>
          <a:solidFill>
            <a:srgbClr val="EA493F"/>
          </a:solidFill>
          <a:ln>
            <a:solid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78992" y="4846320"/>
            <a:ext cx="2029968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Governance live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328416" y="2240280"/>
            <a:ext cx="347472" cy="3063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600" b="1">
                <a:solidFill>
                  <a:srgbClr val="EA493F"/>
                </a:solidFill>
                <a:latin typeface="Inter"/>
              </a:rPr>
              <a:t>→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94176" y="2240280"/>
            <a:ext cx="2432304" cy="3063240"/>
          </a:xfrm>
          <a:prstGeom prst="rect">
            <a:avLst/>
          </a:prstGeom>
          <a:solidFill>
            <a:srgbClr val="141414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694176" y="2240280"/>
            <a:ext cx="2432304" cy="420624"/>
          </a:xfrm>
          <a:prstGeom prst="rect">
            <a:avLst/>
          </a:prstGeom>
          <a:solidFill>
            <a:srgbClr val="1C1C1C"/>
          </a:solidFill>
          <a:ln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877056" y="2240280"/>
            <a:ext cx="2066544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>
                <a:solidFill>
                  <a:srgbClr val="EA493F"/>
                </a:solidFill>
                <a:latin typeface="Inter"/>
              </a:rPr>
              <a:t>WEEK 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895344" y="2807208"/>
            <a:ext cx="2048256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1">
                <a:solidFill>
                  <a:srgbClr val="FFFFFF"/>
                </a:solidFill>
                <a:latin typeface="Inter"/>
              </a:rPr>
              <a:t>Knowledge transfer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895344" y="3447288"/>
            <a:ext cx="2048256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50" b="0">
                <a:solidFill>
                  <a:srgbClr val="CFCFCF"/>
                </a:solidFill>
                <a:latin typeface="Inter"/>
              </a:rPr>
              <a:t>•  Deep-dive KT across all modules</a:t>
            </a:r>
          </a:p>
          <a:p>
            <a:pPr algn="l">
              <a:lnSpc>
                <a:spcPct val="110000"/>
              </a:lnSpc>
            </a:pPr>
            <a:r>
              <a:rPr sz="950" b="0">
                <a:solidFill>
                  <a:srgbClr val="CFCFCF"/>
                </a:solidFill>
                <a:latin typeface="Inter"/>
              </a:rPr>
              <a:t>•  Review open items &amp; project plan</a:t>
            </a:r>
          </a:p>
          <a:p>
            <a:pPr algn="l">
              <a:lnSpc>
                <a:spcPct val="110000"/>
              </a:lnSpc>
            </a:pPr>
            <a:r>
              <a:rPr sz="950" b="0">
                <a:solidFill>
                  <a:srgbClr val="CFCFCF"/>
                </a:solidFill>
                <a:latin typeface="Inter"/>
              </a:rPr>
              <a:t>•  Reference docs · shadow internal teams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895344" y="4846320"/>
            <a:ext cx="2029968" cy="310896"/>
          </a:xfrm>
          <a:prstGeom prst="rect">
            <a:avLst/>
          </a:prstGeom>
          <a:solidFill>
            <a:srgbClr val="EA493F"/>
          </a:solidFill>
          <a:ln>
            <a:solid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895344" y="4846320"/>
            <a:ext cx="2029968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KT complete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144768" y="2240280"/>
            <a:ext cx="347472" cy="3063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600" b="1">
                <a:solidFill>
                  <a:srgbClr val="EA493F"/>
                </a:solidFill>
                <a:latin typeface="Inter"/>
              </a:rPr>
              <a:t>→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510528" y="2240280"/>
            <a:ext cx="2432304" cy="3063240"/>
          </a:xfrm>
          <a:prstGeom prst="rect">
            <a:avLst/>
          </a:prstGeom>
          <a:solidFill>
            <a:srgbClr val="141414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510528" y="2240280"/>
            <a:ext cx="2432304" cy="420624"/>
          </a:xfrm>
          <a:prstGeom prst="rect">
            <a:avLst/>
          </a:prstGeom>
          <a:solidFill>
            <a:srgbClr val="1C1C1C"/>
          </a:solidFill>
          <a:ln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693408" y="2240280"/>
            <a:ext cx="2066544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>
                <a:solidFill>
                  <a:srgbClr val="EA493F"/>
                </a:solidFill>
                <a:latin typeface="Inter"/>
              </a:rPr>
              <a:t>WEEK 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711696" y="2807208"/>
            <a:ext cx="2048256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1">
                <a:solidFill>
                  <a:srgbClr val="FFFFFF"/>
                </a:solidFill>
                <a:latin typeface="Inter"/>
              </a:rPr>
              <a:t>Process alignment &amp; parallel run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11696" y="3447288"/>
            <a:ext cx="2048256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50" b="0">
                <a:solidFill>
                  <a:srgbClr val="CFCFCF"/>
                </a:solidFill>
                <a:latin typeface="Inter"/>
              </a:rPr>
              <a:t>•  Align AMS to client ITSM</a:t>
            </a:r>
          </a:p>
          <a:p>
            <a:pPr algn="l">
              <a:lnSpc>
                <a:spcPct val="110000"/>
              </a:lnSpc>
            </a:pPr>
            <a:r>
              <a:rPr sz="950" b="0">
                <a:solidFill>
                  <a:srgbClr val="CFCFCF"/>
                </a:solidFill>
                <a:latin typeface="Inter"/>
              </a:rPr>
              <a:t>•  AMS runs tickets under supervision</a:t>
            </a:r>
          </a:p>
          <a:p>
            <a:pPr algn="l">
              <a:lnSpc>
                <a:spcPct val="110000"/>
              </a:lnSpc>
            </a:pPr>
            <a:r>
              <a:rPr sz="950" b="0">
                <a:solidFill>
                  <a:srgbClr val="CFCFCF"/>
                </a:solidFill>
                <a:latin typeface="Inter"/>
              </a:rPr>
              <a:t>•  Test escalation · measure SLA adherence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711696" y="4846320"/>
            <a:ext cx="2029968" cy="310896"/>
          </a:xfrm>
          <a:prstGeom prst="rect">
            <a:avLst/>
          </a:prstGeom>
          <a:solidFill>
            <a:srgbClr val="EA493F"/>
          </a:solidFill>
          <a:ln>
            <a:solid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711696" y="4846320"/>
            <a:ext cx="2029968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Cutover ready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961120" y="2240280"/>
            <a:ext cx="347472" cy="3063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600" b="1">
                <a:solidFill>
                  <a:srgbClr val="EA493F"/>
                </a:solidFill>
                <a:latin typeface="Inter"/>
              </a:rPr>
              <a:t>→</a:t>
            </a:r>
          </a:p>
        </p:txBody>
      </p:sp>
      <p:sp>
        <p:nvSpPr>
          <p:cNvPr id="30" name="Rectangle 29"/>
          <p:cNvSpPr/>
          <p:nvPr/>
        </p:nvSpPr>
        <p:spPr>
          <a:xfrm>
            <a:off x="9326880" y="2240280"/>
            <a:ext cx="2432304" cy="3063240"/>
          </a:xfrm>
          <a:prstGeom prst="rect">
            <a:avLst/>
          </a:prstGeom>
          <a:solidFill>
            <a:srgbClr val="141414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9326880" y="2240280"/>
            <a:ext cx="2432304" cy="420624"/>
          </a:xfrm>
          <a:prstGeom prst="rect">
            <a:avLst/>
          </a:prstGeom>
          <a:solidFill>
            <a:srgbClr val="1C1C1C"/>
          </a:solidFill>
          <a:ln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509759" y="2240280"/>
            <a:ext cx="2066544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>
                <a:solidFill>
                  <a:srgbClr val="EA493F"/>
                </a:solidFill>
                <a:latin typeface="Inter"/>
              </a:rPr>
              <a:t>WEEK 4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528048" y="2807208"/>
            <a:ext cx="2048256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1">
                <a:solidFill>
                  <a:srgbClr val="FFFFFF"/>
                </a:solidFill>
                <a:latin typeface="Inter"/>
              </a:rPr>
              <a:t>Go-live readiness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528048" y="3447288"/>
            <a:ext cx="2048256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50" b="0">
                <a:solidFill>
                  <a:srgbClr val="CFCFCF"/>
                </a:solidFill>
                <a:latin typeface="Inter"/>
              </a:rPr>
              <a:t>•  Mivada leads AMS operations</a:t>
            </a:r>
          </a:p>
          <a:p>
            <a:pPr algn="l">
              <a:lnSpc>
                <a:spcPct val="110000"/>
              </a:lnSpc>
            </a:pPr>
            <a:r>
              <a:rPr sz="950" b="0">
                <a:solidFill>
                  <a:srgbClr val="CFCFCF"/>
                </a:solidFill>
                <a:latin typeface="Inter"/>
              </a:rPr>
              <a:t>•  Escalation &amp; major-incident mgmt</a:t>
            </a:r>
          </a:p>
          <a:p>
            <a:pPr algn="l">
              <a:lnSpc>
                <a:spcPct val="110000"/>
              </a:lnSpc>
            </a:pPr>
            <a:r>
              <a:rPr sz="950" b="0">
                <a:solidFill>
                  <a:srgbClr val="CFCFCF"/>
                </a:solidFill>
                <a:latin typeface="Inter"/>
              </a:rPr>
              <a:t>•  Daily reporting · acceptance sign-off</a:t>
            </a:r>
          </a:p>
        </p:txBody>
      </p:sp>
      <p:sp>
        <p:nvSpPr>
          <p:cNvPr id="35" name="Rectangle 34"/>
          <p:cNvSpPr/>
          <p:nvPr/>
        </p:nvSpPr>
        <p:spPr>
          <a:xfrm>
            <a:off x="9528048" y="4846320"/>
            <a:ext cx="2029968" cy="310896"/>
          </a:xfrm>
          <a:prstGeom prst="rect">
            <a:avLst/>
          </a:prstGeom>
          <a:solidFill>
            <a:srgbClr val="EA493F"/>
          </a:solidFill>
          <a:ln>
            <a:solid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528048" y="4846320"/>
            <a:ext cx="2029968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Go-live &amp; sign-off</a:t>
            </a:r>
          </a:p>
        </p:txBody>
      </p:sp>
      <p:pic>
        <p:nvPicPr>
          <p:cNvPr id="37" name="Picture 36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7824" y="457200"/>
            <a:ext cx="402336" cy="237744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TextBox 2"/>
          <p:cNvSpPr txBox="1"/>
          <p:nvPr/>
        </p:nvSpPr>
        <p:spPr>
          <a:xfrm>
            <a:off x="5943600" y="420624"/>
            <a:ext cx="5486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1">
                <a:solidFill>
                  <a:srgbClr val="EA493F"/>
                </a:solidFill>
                <a:latin typeface="Inter"/>
              </a:rPr>
              <a:t>SERVICE LEVELS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896112"/>
            <a:ext cx="10433304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300" b="1">
                <a:solidFill>
                  <a:srgbClr val="FFFFFF"/>
                </a:solidFill>
                <a:latin typeface="Inter"/>
              </a:rPr>
              <a:t>Measurable </a:t>
            </a:r>
            <a:r>
              <a:rPr sz="3300" b="1">
                <a:solidFill>
                  <a:srgbClr val="EA493F"/>
                </a:solidFill>
                <a:latin typeface="Inter"/>
              </a:rPr>
              <a:t>service levels.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77824" y="1591056"/>
            <a:ext cx="1044244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250" b="0">
                <a:solidFill>
                  <a:srgbClr val="CFCFCF"/>
                </a:solidFill>
                <a:latin typeface="Inter"/>
              </a:rPr>
              <a:t>Operational excellence through clear priorities, acknowledgement and resolution targets.</a:t>
            </a:r>
          </a:p>
        </p:txBody>
      </p:sp>
      <p:sp>
        <p:nvSpPr>
          <p:cNvPr id="6" name="Rectangle 5"/>
          <p:cNvSpPr/>
          <p:nvPr/>
        </p:nvSpPr>
        <p:spPr>
          <a:xfrm>
            <a:off x="877824" y="2240280"/>
            <a:ext cx="1371600" cy="384048"/>
          </a:xfrm>
          <a:prstGeom prst="rect">
            <a:avLst/>
          </a:prstGeom>
          <a:solidFill>
            <a:srgbClr val="EA493F"/>
          </a:solidFill>
          <a:ln>
            <a:solid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240280"/>
            <a:ext cx="111556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1000" b="1">
                <a:solidFill>
                  <a:srgbClr val="FFFFFF"/>
                </a:solidFill>
                <a:latin typeface="Inter"/>
              </a:rPr>
              <a:t>PRIORITY</a:t>
            </a:r>
          </a:p>
        </p:txBody>
      </p:sp>
      <p:sp>
        <p:nvSpPr>
          <p:cNvPr id="8" name="Rectangle 7"/>
          <p:cNvSpPr/>
          <p:nvPr/>
        </p:nvSpPr>
        <p:spPr>
          <a:xfrm>
            <a:off x="2249424" y="2240280"/>
            <a:ext cx="4956048" cy="384048"/>
          </a:xfrm>
          <a:prstGeom prst="rect">
            <a:avLst/>
          </a:prstGeom>
          <a:solidFill>
            <a:srgbClr val="EA493F"/>
          </a:solidFill>
          <a:ln>
            <a:solid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377440" y="2240280"/>
            <a:ext cx="4700016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1000" b="1">
                <a:solidFill>
                  <a:srgbClr val="FFFFFF"/>
                </a:solidFill>
                <a:latin typeface="Inter"/>
              </a:rPr>
              <a:t>DEFINITION</a:t>
            </a:r>
          </a:p>
        </p:txBody>
      </p:sp>
      <p:sp>
        <p:nvSpPr>
          <p:cNvPr id="10" name="Rectangle 9"/>
          <p:cNvSpPr/>
          <p:nvPr/>
        </p:nvSpPr>
        <p:spPr>
          <a:xfrm>
            <a:off x="7205472" y="2240280"/>
            <a:ext cx="2011680" cy="384048"/>
          </a:xfrm>
          <a:prstGeom prst="rect">
            <a:avLst/>
          </a:prstGeom>
          <a:solidFill>
            <a:srgbClr val="EA493F"/>
          </a:solidFill>
          <a:ln>
            <a:solid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33488" y="2240280"/>
            <a:ext cx="17556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1000" b="1">
                <a:solidFill>
                  <a:srgbClr val="FFFFFF"/>
                </a:solidFill>
                <a:latin typeface="Inter"/>
              </a:rPr>
              <a:t>ACKNOWLEDGE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217152" y="2240280"/>
            <a:ext cx="2103120" cy="384048"/>
          </a:xfrm>
          <a:prstGeom prst="rect">
            <a:avLst/>
          </a:prstGeom>
          <a:solidFill>
            <a:srgbClr val="EA493F"/>
          </a:solidFill>
          <a:ln>
            <a:solid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345168" y="2240280"/>
            <a:ext cx="1847087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1000" b="1">
                <a:solidFill>
                  <a:srgbClr val="FFFFFF"/>
                </a:solidFill>
                <a:latin typeface="Inter"/>
              </a:rPr>
              <a:t>TARGET RESOLUTION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77824" y="2679192"/>
            <a:ext cx="1371600" cy="841248"/>
          </a:xfrm>
          <a:prstGeom prst="rect">
            <a:avLst/>
          </a:prstGeom>
          <a:solidFill>
            <a:srgbClr val="141414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05840" y="2679192"/>
            <a:ext cx="1115568" cy="8412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1">
                <a:solidFill>
                  <a:srgbClr val="EA493F"/>
                </a:solidFill>
                <a:latin typeface="Inter"/>
              </a:rPr>
              <a:t>Priority 1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249424" y="2679192"/>
            <a:ext cx="4956048" cy="841248"/>
          </a:xfrm>
          <a:prstGeom prst="rect">
            <a:avLst/>
          </a:prstGeom>
          <a:solidFill>
            <a:srgbClr val="141414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377440" y="2679192"/>
            <a:ext cx="4700016" cy="8412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>
                <a:solidFill>
                  <a:srgbClr val="CFCFCF"/>
                </a:solidFill>
                <a:latin typeface="Inter"/>
              </a:rPr>
              <a:t>Critical system issue with major impact, or preventing a vital business process (e.g. payroll unable to process).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205472" y="2679192"/>
            <a:ext cx="2011680" cy="841248"/>
          </a:xfrm>
          <a:prstGeom prst="rect">
            <a:avLst/>
          </a:prstGeom>
          <a:solidFill>
            <a:srgbClr val="141414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33488" y="2679192"/>
            <a:ext cx="1755648" cy="8412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2000"/>
              </a:lnSpc>
            </a:pPr>
            <a:r>
              <a:rPr sz="1100" b="1">
                <a:solidFill>
                  <a:srgbClr val="FFFFFF"/>
                </a:solidFill>
                <a:latin typeface="Inter"/>
              </a:rPr>
              <a:t>30 minutes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217152" y="2679192"/>
            <a:ext cx="2103120" cy="841248"/>
          </a:xfrm>
          <a:prstGeom prst="rect">
            <a:avLst/>
          </a:prstGeom>
          <a:solidFill>
            <a:srgbClr val="141414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345168" y="2679192"/>
            <a:ext cx="1847087" cy="8412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2000"/>
              </a:lnSpc>
            </a:pPr>
            <a:r>
              <a:rPr sz="1100" b="1">
                <a:solidFill>
                  <a:srgbClr val="FFFFFF"/>
                </a:solidFill>
                <a:latin typeface="Inter"/>
              </a:rPr>
              <a:t>4 hours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77824" y="3566160"/>
            <a:ext cx="1371600" cy="841248"/>
          </a:xfrm>
          <a:prstGeom prst="rect">
            <a:avLst/>
          </a:prstGeom>
          <a:solidFill>
            <a:srgbClr val="141414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05840" y="3566160"/>
            <a:ext cx="1115568" cy="8412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1">
                <a:solidFill>
                  <a:srgbClr val="EA493F"/>
                </a:solidFill>
                <a:latin typeface="Inter"/>
              </a:rPr>
              <a:t>Priority 2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249424" y="3566160"/>
            <a:ext cx="4956048" cy="841248"/>
          </a:xfrm>
          <a:prstGeom prst="rect">
            <a:avLst/>
          </a:prstGeom>
          <a:solidFill>
            <a:srgbClr val="141414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377440" y="3566160"/>
            <a:ext cx="4700016" cy="8412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>
                <a:solidFill>
                  <a:srgbClr val="CFCFCF"/>
                </a:solidFill>
                <a:latin typeface="Inter"/>
              </a:rPr>
              <a:t>Critical-severity issue with moderate impact, or an urgent issue with major business impact.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205472" y="3566160"/>
            <a:ext cx="2011680" cy="841248"/>
          </a:xfrm>
          <a:prstGeom prst="rect">
            <a:avLst/>
          </a:prstGeom>
          <a:solidFill>
            <a:srgbClr val="141414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333488" y="3566160"/>
            <a:ext cx="1755648" cy="8412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2000"/>
              </a:lnSpc>
            </a:pPr>
            <a:r>
              <a:rPr sz="1100" b="1">
                <a:solidFill>
                  <a:srgbClr val="FFFFFF"/>
                </a:solidFill>
                <a:latin typeface="Inter"/>
              </a:rPr>
              <a:t>1 hour</a:t>
            </a:r>
          </a:p>
        </p:txBody>
      </p:sp>
      <p:sp>
        <p:nvSpPr>
          <p:cNvPr id="28" name="Rectangle 27"/>
          <p:cNvSpPr/>
          <p:nvPr/>
        </p:nvSpPr>
        <p:spPr>
          <a:xfrm>
            <a:off x="9217152" y="3566160"/>
            <a:ext cx="2103120" cy="841248"/>
          </a:xfrm>
          <a:prstGeom prst="rect">
            <a:avLst/>
          </a:prstGeom>
          <a:solidFill>
            <a:srgbClr val="141414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345168" y="3566160"/>
            <a:ext cx="1847087" cy="8412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2000"/>
              </a:lnSpc>
            </a:pPr>
            <a:r>
              <a:rPr sz="1100" b="1">
                <a:solidFill>
                  <a:srgbClr val="FFFFFF"/>
                </a:solidFill>
                <a:latin typeface="Inter"/>
              </a:rPr>
              <a:t>8 hours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77824" y="4453128"/>
            <a:ext cx="1371600" cy="841248"/>
          </a:xfrm>
          <a:prstGeom prst="rect">
            <a:avLst/>
          </a:prstGeom>
          <a:solidFill>
            <a:srgbClr val="141414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05840" y="4453128"/>
            <a:ext cx="1115568" cy="8412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1">
                <a:solidFill>
                  <a:srgbClr val="EA493F"/>
                </a:solidFill>
                <a:latin typeface="Inter"/>
              </a:rPr>
              <a:t>Priority 3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249424" y="4453128"/>
            <a:ext cx="4956048" cy="841248"/>
          </a:xfrm>
          <a:prstGeom prst="rect">
            <a:avLst/>
          </a:prstGeom>
          <a:solidFill>
            <a:srgbClr val="141414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377440" y="4453128"/>
            <a:ext cx="4700016" cy="8412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>
                <a:solidFill>
                  <a:srgbClr val="CFCFCF"/>
                </a:solidFill>
                <a:latin typeface="Inter"/>
              </a:rPr>
              <a:t>Moderate impact on system performance where a workaround is known and available.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7205472" y="4453128"/>
            <a:ext cx="2011680" cy="841248"/>
          </a:xfrm>
          <a:prstGeom prst="rect">
            <a:avLst/>
          </a:prstGeom>
          <a:solidFill>
            <a:srgbClr val="141414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333488" y="4453128"/>
            <a:ext cx="1755648" cy="8412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2000"/>
              </a:lnSpc>
            </a:pPr>
            <a:r>
              <a:rPr sz="1100" b="1">
                <a:solidFill>
                  <a:srgbClr val="FFFFFF"/>
                </a:solidFill>
                <a:latin typeface="Inter"/>
              </a:rPr>
              <a:t>4 hours</a:t>
            </a:r>
          </a:p>
        </p:txBody>
      </p:sp>
      <p:sp>
        <p:nvSpPr>
          <p:cNvPr id="36" name="Rectangle 35"/>
          <p:cNvSpPr/>
          <p:nvPr/>
        </p:nvSpPr>
        <p:spPr>
          <a:xfrm>
            <a:off x="9217152" y="4453128"/>
            <a:ext cx="2103120" cy="841248"/>
          </a:xfrm>
          <a:prstGeom prst="rect">
            <a:avLst/>
          </a:prstGeom>
          <a:solidFill>
            <a:srgbClr val="141414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345168" y="4453128"/>
            <a:ext cx="1847087" cy="8412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2000"/>
              </a:lnSpc>
            </a:pPr>
            <a:r>
              <a:rPr sz="1100" b="1">
                <a:solidFill>
                  <a:srgbClr val="FFFFFF"/>
                </a:solidFill>
                <a:latin typeface="Inter"/>
              </a:rPr>
              <a:t>3 business days</a:t>
            </a:r>
          </a:p>
        </p:txBody>
      </p:sp>
      <p:sp>
        <p:nvSpPr>
          <p:cNvPr id="38" name="Rectangle 37"/>
          <p:cNvSpPr/>
          <p:nvPr/>
        </p:nvSpPr>
        <p:spPr>
          <a:xfrm>
            <a:off x="877824" y="5340096"/>
            <a:ext cx="1371600" cy="841248"/>
          </a:xfrm>
          <a:prstGeom prst="rect">
            <a:avLst/>
          </a:prstGeom>
          <a:solidFill>
            <a:srgbClr val="141414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005840" y="5340096"/>
            <a:ext cx="1115568" cy="8412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1">
                <a:solidFill>
                  <a:srgbClr val="EA493F"/>
                </a:solidFill>
                <a:latin typeface="Inter"/>
              </a:rPr>
              <a:t>Priority 4</a:t>
            </a:r>
          </a:p>
        </p:txBody>
      </p:sp>
      <p:sp>
        <p:nvSpPr>
          <p:cNvPr id="40" name="Rectangle 39"/>
          <p:cNvSpPr/>
          <p:nvPr/>
        </p:nvSpPr>
        <p:spPr>
          <a:xfrm>
            <a:off x="2249424" y="5340096"/>
            <a:ext cx="4956048" cy="841248"/>
          </a:xfrm>
          <a:prstGeom prst="rect">
            <a:avLst/>
          </a:prstGeom>
          <a:solidFill>
            <a:srgbClr val="141414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2377440" y="5340096"/>
            <a:ext cx="4700016" cy="8412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>
                <a:solidFill>
                  <a:srgbClr val="CFCFCF"/>
                </a:solidFill>
                <a:latin typeface="Inter"/>
              </a:rPr>
              <a:t>Low impact and/or low urgency; no significant impact on business performance.</a:t>
            </a:r>
          </a:p>
        </p:txBody>
      </p:sp>
      <p:sp>
        <p:nvSpPr>
          <p:cNvPr id="42" name="Rectangle 41"/>
          <p:cNvSpPr/>
          <p:nvPr/>
        </p:nvSpPr>
        <p:spPr>
          <a:xfrm>
            <a:off x="7205472" y="5340096"/>
            <a:ext cx="2011680" cy="841248"/>
          </a:xfrm>
          <a:prstGeom prst="rect">
            <a:avLst/>
          </a:prstGeom>
          <a:solidFill>
            <a:srgbClr val="141414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7333488" y="5340096"/>
            <a:ext cx="1755648" cy="8412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2000"/>
              </a:lnSpc>
            </a:pPr>
            <a:r>
              <a:rPr sz="1100" b="1">
                <a:solidFill>
                  <a:srgbClr val="FFFFFF"/>
                </a:solidFill>
                <a:latin typeface="Inter"/>
              </a:rPr>
              <a:t>1 business day</a:t>
            </a:r>
          </a:p>
        </p:txBody>
      </p:sp>
      <p:sp>
        <p:nvSpPr>
          <p:cNvPr id="44" name="Rectangle 43"/>
          <p:cNvSpPr/>
          <p:nvPr/>
        </p:nvSpPr>
        <p:spPr>
          <a:xfrm>
            <a:off x="9217152" y="5340096"/>
            <a:ext cx="2103120" cy="841248"/>
          </a:xfrm>
          <a:prstGeom prst="rect">
            <a:avLst/>
          </a:prstGeom>
          <a:solidFill>
            <a:srgbClr val="141414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9345168" y="5340096"/>
            <a:ext cx="1847087" cy="8412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2000"/>
              </a:lnSpc>
            </a:pPr>
            <a:r>
              <a:rPr sz="1100" b="1">
                <a:solidFill>
                  <a:srgbClr val="FFFFFF"/>
                </a:solidFill>
                <a:latin typeface="Inter"/>
              </a:rPr>
              <a:t>5 business days</a:t>
            </a:r>
          </a:p>
        </p:txBody>
      </p:sp>
      <p:pic>
        <p:nvPicPr>
          <p:cNvPr id="46" name="Picture 45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7824" y="457200"/>
            <a:ext cx="402336" cy="237744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TextBox 2"/>
          <p:cNvSpPr txBox="1"/>
          <p:nvPr/>
        </p:nvSpPr>
        <p:spPr>
          <a:xfrm>
            <a:off x="5943600" y="420624"/>
            <a:ext cx="5486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1">
                <a:solidFill>
                  <a:srgbClr val="EA493F"/>
                </a:solidFill>
                <a:latin typeface="Inter"/>
              </a:rPr>
              <a:t>COMMERCIALS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896112"/>
            <a:ext cx="10433304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300" b="1">
                <a:solidFill>
                  <a:srgbClr val="FFFFFF"/>
                </a:solidFill>
                <a:latin typeface="Inter"/>
              </a:rPr>
              <a:t>Engagement </a:t>
            </a:r>
            <a:r>
              <a:rPr sz="3300" b="1">
                <a:solidFill>
                  <a:srgbClr val="EA493F"/>
                </a:solidFill>
                <a:latin typeface="Inter"/>
              </a:rPr>
              <a:t>pricing.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77824" y="1591056"/>
            <a:ext cx="1044244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250" b="0">
                <a:solidFill>
                  <a:srgbClr val="CFCFCF"/>
                </a:solidFill>
                <a:latin typeface="Inter"/>
              </a:rPr>
              <a:t>A blended onshore–offshore managed service — predictable monthly cost, flexible hours.</a:t>
            </a:r>
          </a:p>
        </p:txBody>
      </p:sp>
      <p:sp>
        <p:nvSpPr>
          <p:cNvPr id="6" name="Rectangle 5"/>
          <p:cNvSpPr/>
          <p:nvPr/>
        </p:nvSpPr>
        <p:spPr>
          <a:xfrm>
            <a:off x="877824" y="2194560"/>
            <a:ext cx="3236975" cy="1234440"/>
          </a:xfrm>
          <a:prstGeom prst="rect">
            <a:avLst/>
          </a:prstGeom>
          <a:solidFill>
            <a:srgbClr val="141414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7824" y="2194560"/>
            <a:ext cx="91440" cy="1234440"/>
          </a:xfrm>
          <a:prstGeom prst="rect">
            <a:avLst/>
          </a:prstGeom>
          <a:solidFill>
            <a:srgbClr val="EA493F"/>
          </a:solidFill>
          <a:ln>
            <a:solid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52144" y="2322576"/>
            <a:ext cx="2779775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>
                <a:solidFill>
                  <a:srgbClr val="EA493F"/>
                </a:solidFill>
                <a:latin typeface="Inter"/>
              </a:rPr>
              <a:t>100 hrs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52144" y="2852928"/>
            <a:ext cx="2779775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Inter"/>
              </a:rPr>
              <a:t>Per month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52144" y="3127248"/>
            <a:ext cx="2779775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>
                <a:solidFill>
                  <a:srgbClr val="CFCFCF"/>
                </a:solidFill>
                <a:latin typeface="Inter"/>
              </a:rPr>
              <a:t>allocated AMS capacity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480559" y="2194560"/>
            <a:ext cx="3236975" cy="1234440"/>
          </a:xfrm>
          <a:prstGeom prst="rect">
            <a:avLst/>
          </a:prstGeom>
          <a:solidFill>
            <a:srgbClr val="141414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480559" y="2194560"/>
            <a:ext cx="91440" cy="1234440"/>
          </a:xfrm>
          <a:prstGeom prst="rect">
            <a:avLst/>
          </a:prstGeom>
          <a:solidFill>
            <a:srgbClr val="EA493F"/>
          </a:solidFill>
          <a:ln>
            <a:solid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754879" y="2322576"/>
            <a:ext cx="2779775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>
                <a:solidFill>
                  <a:srgbClr val="EA493F"/>
                </a:solidFill>
                <a:latin typeface="Inter"/>
              </a:rPr>
              <a:t>$15,000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54879" y="2852928"/>
            <a:ext cx="2779775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Inter"/>
              </a:rPr>
              <a:t>Per month (AUD)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54879" y="3127248"/>
            <a:ext cx="2779775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>
                <a:solidFill>
                  <a:srgbClr val="CFCFCF"/>
                </a:solidFill>
                <a:latin typeface="Inter"/>
              </a:rPr>
              <a:t>predictable managed-service fee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83296" y="2194560"/>
            <a:ext cx="3236975" cy="1234440"/>
          </a:xfrm>
          <a:prstGeom prst="rect">
            <a:avLst/>
          </a:prstGeom>
          <a:solidFill>
            <a:srgbClr val="141414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083296" y="2194560"/>
            <a:ext cx="91440" cy="1234440"/>
          </a:xfrm>
          <a:prstGeom prst="rect">
            <a:avLst/>
          </a:prstGeom>
          <a:solidFill>
            <a:srgbClr val="EA493F"/>
          </a:solidFill>
          <a:ln>
            <a:solid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357616" y="2322576"/>
            <a:ext cx="2779775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>
                <a:solidFill>
                  <a:srgbClr val="EA493F"/>
                </a:solidFill>
                <a:latin typeface="Inter"/>
              </a:rPr>
              <a:t>$180,000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57616" y="2852928"/>
            <a:ext cx="2779775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Inter"/>
              </a:rPr>
              <a:t>Per year (AUD)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57616" y="3127248"/>
            <a:ext cx="2779775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>
                <a:solidFill>
                  <a:srgbClr val="CFCFCF"/>
                </a:solidFill>
                <a:latin typeface="Inter"/>
              </a:rPr>
              <a:t>total annual commitment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77824" y="3703320"/>
            <a:ext cx="10442448" cy="713232"/>
          </a:xfrm>
          <a:prstGeom prst="rect">
            <a:avLst/>
          </a:prstGeom>
          <a:solidFill>
            <a:srgbClr val="1C1C1C"/>
          </a:solidFill>
          <a:ln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207008" y="3703320"/>
            <a:ext cx="9784080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600" b="1">
                <a:solidFill>
                  <a:srgbClr val="EA493F"/>
                </a:solidFill>
                <a:latin typeface="Inter"/>
              </a:rPr>
              <a:t>$150 AUD / hour   </a:t>
            </a:r>
            <a:r>
              <a:rPr sz="1200" b="0">
                <a:solidFill>
                  <a:srgbClr val="FFFFFF"/>
                </a:solidFill>
                <a:latin typeface="Inter"/>
              </a:rPr>
              <a:t>blended onshore–offshore rate · 40 / 60 split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77824" y="4617720"/>
            <a:ext cx="10442448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Inter"/>
              </a:rPr>
              <a:t>Key considerations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77824" y="4956048"/>
            <a:ext cx="10442448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>
                <a:solidFill>
                  <a:srgbClr val="CFCFCF"/>
                </a:solidFill>
                <a:latin typeface="Inter"/>
              </a:rPr>
              <a:t>—  Up to 20% of monthly hours can carry forward to the next month (unused hours only).</a:t>
            </a:r>
          </a:p>
          <a:p>
            <a:pPr algn="l">
              <a:lnSpc>
                <a:spcPct val="120000"/>
              </a:lnSpc>
            </a:pPr>
            <a:r>
              <a:rPr sz="1050" b="0">
                <a:solidFill>
                  <a:srgbClr val="CFCFCF"/>
                </a:solidFill>
                <a:latin typeface="Inter"/>
              </a:rPr>
              <a:t>—  Hours flex up or down with requirements, reviewed against actual utilisation every six months.</a:t>
            </a:r>
          </a:p>
          <a:p>
            <a:pPr algn="l">
              <a:lnSpc>
                <a:spcPct val="120000"/>
              </a:lnSpc>
            </a:pPr>
            <a:r>
              <a:rPr sz="1050" b="0">
                <a:solidFill>
                  <a:srgbClr val="CFCFCF"/>
                </a:solidFill>
                <a:latin typeface="Inter"/>
              </a:rPr>
              <a:t>—  Not restricted to any ticket type or Workday module — you decide how hours are used.</a:t>
            </a:r>
          </a:p>
          <a:p>
            <a:pPr algn="l">
              <a:lnSpc>
                <a:spcPct val="120000"/>
              </a:lnSpc>
            </a:pPr>
            <a:r>
              <a:rPr sz="1050" b="0">
                <a:solidFill>
                  <a:srgbClr val="CFCFCF"/>
                </a:solidFill>
                <a:latin typeface="Inter"/>
              </a:rPr>
              <a:t>—  Onshore manages critical P1/P2 issues until the offshore team is online.</a:t>
            </a:r>
          </a:p>
        </p:txBody>
      </p:sp>
      <p:pic>
        <p:nvPicPr>
          <p:cNvPr id="25" name="Picture 24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7824" y="457200"/>
            <a:ext cx="402336" cy="237744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TextBox 2"/>
          <p:cNvSpPr txBox="1"/>
          <p:nvPr/>
        </p:nvSpPr>
        <p:spPr>
          <a:xfrm>
            <a:off x="5943600" y="420624"/>
            <a:ext cx="5486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1">
                <a:solidFill>
                  <a:srgbClr val="EA493F"/>
                </a:solidFill>
                <a:latin typeface="Inter"/>
              </a:rPr>
              <a:t>AUGMENTATION CAPABILITY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896112"/>
            <a:ext cx="10433304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300" b="1">
                <a:solidFill>
                  <a:srgbClr val="FFFFFF"/>
                </a:solidFill>
                <a:latin typeface="Inter"/>
              </a:rPr>
              <a:t>Certified consultants, </a:t>
            </a:r>
            <a:r>
              <a:rPr sz="3300" b="1">
                <a:solidFill>
                  <a:srgbClr val="EA493F"/>
                </a:solidFill>
                <a:latin typeface="Inter"/>
              </a:rPr>
              <a:t>ready to mobilise.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77824" y="1591056"/>
            <a:ext cx="1044244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250" b="0">
                <a:solidFill>
                  <a:srgbClr val="CFCFCF"/>
                </a:solidFill>
                <a:latin typeface="Inter"/>
              </a:rPr>
              <a:t>Certified FIN and HCM consultants available to augment your team — onshore, offshore or blended.</a:t>
            </a:r>
          </a:p>
        </p:txBody>
      </p:sp>
      <p:sp>
        <p:nvSpPr>
          <p:cNvPr id="6" name="Rectangle 5"/>
          <p:cNvSpPr/>
          <p:nvPr/>
        </p:nvSpPr>
        <p:spPr>
          <a:xfrm>
            <a:off x="877824" y="2157984"/>
            <a:ext cx="3236975" cy="1024128"/>
          </a:xfrm>
          <a:prstGeom prst="rect">
            <a:avLst/>
          </a:prstGeom>
          <a:solidFill>
            <a:srgbClr val="141414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7824" y="2157984"/>
            <a:ext cx="91440" cy="1024128"/>
          </a:xfrm>
          <a:prstGeom prst="rect">
            <a:avLst/>
          </a:prstGeom>
          <a:solidFill>
            <a:srgbClr val="EA493F"/>
          </a:solidFill>
          <a:ln>
            <a:solid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52144" y="2267712"/>
            <a:ext cx="277977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>
                <a:solidFill>
                  <a:srgbClr val="EA493F"/>
                </a:solidFill>
                <a:latin typeface="Inter"/>
              </a:rPr>
              <a:t>[X]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52144" y="2706624"/>
            <a:ext cx="2779775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Inter"/>
              </a:rPr>
              <a:t>FIN consultants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52144" y="2944368"/>
            <a:ext cx="277977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>
                <a:solidFill>
                  <a:srgbClr val="CFCFCF"/>
                </a:solidFill>
                <a:latin typeface="Inter"/>
              </a:rPr>
              <a:t>available to mobilise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480559" y="2157984"/>
            <a:ext cx="3236975" cy="1024128"/>
          </a:xfrm>
          <a:prstGeom prst="rect">
            <a:avLst/>
          </a:prstGeom>
          <a:solidFill>
            <a:srgbClr val="141414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480559" y="2157984"/>
            <a:ext cx="91440" cy="1024128"/>
          </a:xfrm>
          <a:prstGeom prst="rect">
            <a:avLst/>
          </a:prstGeom>
          <a:solidFill>
            <a:srgbClr val="EA493F"/>
          </a:solidFill>
          <a:ln>
            <a:solid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754879" y="2267712"/>
            <a:ext cx="277977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>
                <a:solidFill>
                  <a:srgbClr val="EA493F"/>
                </a:solidFill>
                <a:latin typeface="Inter"/>
              </a:rPr>
              <a:t>[Y]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54879" y="2706624"/>
            <a:ext cx="2779775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Inter"/>
              </a:rPr>
              <a:t>HCM consultants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54879" y="2944368"/>
            <a:ext cx="277977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>
                <a:solidFill>
                  <a:srgbClr val="CFCFCF"/>
                </a:solidFill>
                <a:latin typeface="Inter"/>
              </a:rPr>
              <a:t>available to mobilise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83296" y="2157984"/>
            <a:ext cx="3236975" cy="1024128"/>
          </a:xfrm>
          <a:prstGeom prst="rect">
            <a:avLst/>
          </a:prstGeom>
          <a:solidFill>
            <a:srgbClr val="141414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083296" y="2157984"/>
            <a:ext cx="91440" cy="1024128"/>
          </a:xfrm>
          <a:prstGeom prst="rect">
            <a:avLst/>
          </a:prstGeom>
          <a:solidFill>
            <a:srgbClr val="EA493F"/>
          </a:solidFill>
          <a:ln>
            <a:solid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357616" y="2267712"/>
            <a:ext cx="277977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>
                <a:solidFill>
                  <a:srgbClr val="EA493F"/>
                </a:solidFill>
                <a:latin typeface="Inter"/>
              </a:rPr>
              <a:t>[date]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57616" y="2706624"/>
            <a:ext cx="2779775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Inter"/>
              </a:rPr>
              <a:t>Earliest start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57616" y="2944368"/>
            <a:ext cx="277977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>
                <a:solidFill>
                  <a:srgbClr val="CFCFCF"/>
                </a:solidFill>
                <a:latin typeface="Inter"/>
              </a:rPr>
              <a:t>onshore / offshore / blended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77824" y="3456432"/>
            <a:ext cx="960120" cy="365760"/>
          </a:xfrm>
          <a:prstGeom prst="rect">
            <a:avLst/>
          </a:prstGeom>
          <a:solidFill>
            <a:srgbClr val="EA493F"/>
          </a:solidFill>
          <a:ln>
            <a:solid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05840" y="3456432"/>
            <a:ext cx="704088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>
                <a:solidFill>
                  <a:srgbClr val="FFFFFF"/>
                </a:solidFill>
                <a:latin typeface="Inter"/>
              </a:rPr>
              <a:t>STREAM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837943" y="3456432"/>
            <a:ext cx="3520440" cy="365760"/>
          </a:xfrm>
          <a:prstGeom prst="rect">
            <a:avLst/>
          </a:prstGeom>
          <a:solidFill>
            <a:srgbClr val="EA493F"/>
          </a:solidFill>
          <a:ln>
            <a:solid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965960" y="3456432"/>
            <a:ext cx="3264408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>
                <a:solidFill>
                  <a:srgbClr val="FFFFFF"/>
                </a:solidFill>
                <a:latin typeface="Inter"/>
              </a:rPr>
              <a:t>CONSULTANT FOCUS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358383" y="3456432"/>
            <a:ext cx="1691640" cy="365760"/>
          </a:xfrm>
          <a:prstGeom prst="rect">
            <a:avLst/>
          </a:prstGeom>
          <a:solidFill>
            <a:srgbClr val="EA493F"/>
          </a:solidFill>
          <a:ln>
            <a:solid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486399" y="3456432"/>
            <a:ext cx="1435608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>
                <a:solidFill>
                  <a:srgbClr val="FFFFFF"/>
                </a:solidFill>
                <a:latin typeface="Inter"/>
              </a:rPr>
              <a:t>CERTIFICATION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050023" y="3456432"/>
            <a:ext cx="1463040" cy="365760"/>
          </a:xfrm>
          <a:prstGeom prst="rect">
            <a:avLst/>
          </a:prstGeom>
          <a:solidFill>
            <a:srgbClr val="EA493F"/>
          </a:solidFill>
          <a:ln>
            <a:solid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178039" y="3456432"/>
            <a:ext cx="1207008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>
                <a:solidFill>
                  <a:srgbClr val="FFFFFF"/>
                </a:solidFill>
                <a:latin typeface="Inter"/>
              </a:rPr>
              <a:t>LOCATION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513063" y="3456432"/>
            <a:ext cx="1371600" cy="365760"/>
          </a:xfrm>
          <a:prstGeom prst="rect">
            <a:avLst/>
          </a:prstGeom>
          <a:solidFill>
            <a:srgbClr val="EA493F"/>
          </a:solidFill>
          <a:ln>
            <a:solid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641080" y="3456432"/>
            <a:ext cx="1115568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>
                <a:solidFill>
                  <a:srgbClr val="FFFFFF"/>
                </a:solidFill>
                <a:latin typeface="Inter"/>
              </a:rPr>
              <a:t>AVAILABLE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884663" y="3456432"/>
            <a:ext cx="1435608" cy="365760"/>
          </a:xfrm>
          <a:prstGeom prst="rect">
            <a:avLst/>
          </a:prstGeom>
          <a:solidFill>
            <a:srgbClr val="EA493F"/>
          </a:solidFill>
          <a:ln>
            <a:solid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0012680" y="3456432"/>
            <a:ext cx="1179576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>
                <a:solidFill>
                  <a:srgbClr val="FFFFFF"/>
                </a:solidFill>
                <a:latin typeface="Inter"/>
              </a:rPr>
              <a:t>ALLOCATION</a:t>
            </a:r>
          </a:p>
        </p:txBody>
      </p:sp>
      <p:sp>
        <p:nvSpPr>
          <p:cNvPr id="33" name="Rectangle 32"/>
          <p:cNvSpPr/>
          <p:nvPr/>
        </p:nvSpPr>
        <p:spPr>
          <a:xfrm>
            <a:off x="877824" y="3840480"/>
            <a:ext cx="960120" cy="365760"/>
          </a:xfrm>
          <a:prstGeom prst="rect">
            <a:avLst/>
          </a:prstGeom>
          <a:solidFill>
            <a:srgbClr val="141414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05840" y="3840480"/>
            <a:ext cx="704088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1000" b="1">
                <a:solidFill>
                  <a:srgbClr val="EA493F"/>
                </a:solidFill>
                <a:latin typeface="Inter"/>
              </a:rPr>
              <a:t>HCM</a:t>
            </a:r>
          </a:p>
        </p:txBody>
      </p:sp>
      <p:sp>
        <p:nvSpPr>
          <p:cNvPr id="35" name="Rectangle 34"/>
          <p:cNvSpPr/>
          <p:nvPr/>
        </p:nvSpPr>
        <p:spPr>
          <a:xfrm>
            <a:off x="1837943" y="3840480"/>
            <a:ext cx="3520440" cy="365760"/>
          </a:xfrm>
          <a:prstGeom prst="rect">
            <a:avLst/>
          </a:prstGeom>
          <a:solidFill>
            <a:srgbClr val="141414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965960" y="3840480"/>
            <a:ext cx="3264408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0">
                <a:solidFill>
                  <a:srgbClr val="CFCFCF"/>
                </a:solidFill>
                <a:latin typeface="Inter"/>
              </a:rPr>
              <a:t>Core HCM, Absence, Time Tracking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358383" y="3840480"/>
            <a:ext cx="1691640" cy="365760"/>
          </a:xfrm>
          <a:prstGeom prst="rect">
            <a:avLst/>
          </a:prstGeom>
          <a:solidFill>
            <a:srgbClr val="141414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486399" y="3840480"/>
            <a:ext cx="1435608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0">
                <a:solidFill>
                  <a:srgbClr val="FFFFFF"/>
                </a:solidFill>
                <a:latin typeface="Inter"/>
              </a:rPr>
              <a:t>[Pro / Certified]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050023" y="3840480"/>
            <a:ext cx="1463040" cy="365760"/>
          </a:xfrm>
          <a:prstGeom prst="rect">
            <a:avLst/>
          </a:prstGeom>
          <a:solidFill>
            <a:srgbClr val="141414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178039" y="3840480"/>
            <a:ext cx="1207008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0">
                <a:solidFill>
                  <a:srgbClr val="FFFFFF"/>
                </a:solidFill>
                <a:latin typeface="Inter"/>
              </a:rPr>
              <a:t>[Onshore – AU]</a:t>
            </a:r>
          </a:p>
        </p:txBody>
      </p:sp>
      <p:sp>
        <p:nvSpPr>
          <p:cNvPr id="41" name="Rectangle 40"/>
          <p:cNvSpPr/>
          <p:nvPr/>
        </p:nvSpPr>
        <p:spPr>
          <a:xfrm>
            <a:off x="8513063" y="3840480"/>
            <a:ext cx="1371600" cy="365760"/>
          </a:xfrm>
          <a:prstGeom prst="rect">
            <a:avLst/>
          </a:prstGeom>
          <a:solidFill>
            <a:srgbClr val="141414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641080" y="3840480"/>
            <a:ext cx="1115568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0">
                <a:solidFill>
                  <a:srgbClr val="FFFFFF"/>
                </a:solidFill>
                <a:latin typeface="Inter"/>
              </a:rPr>
              <a:t>[wk of __]</a:t>
            </a:r>
          </a:p>
        </p:txBody>
      </p:sp>
      <p:sp>
        <p:nvSpPr>
          <p:cNvPr id="43" name="Rectangle 42"/>
          <p:cNvSpPr/>
          <p:nvPr/>
        </p:nvSpPr>
        <p:spPr>
          <a:xfrm>
            <a:off x="9884663" y="3840480"/>
            <a:ext cx="1435608" cy="365760"/>
          </a:xfrm>
          <a:prstGeom prst="rect">
            <a:avLst/>
          </a:prstGeom>
          <a:solidFill>
            <a:srgbClr val="141414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10012680" y="3840480"/>
            <a:ext cx="1179576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0">
                <a:solidFill>
                  <a:srgbClr val="FFFFFF"/>
                </a:solidFill>
                <a:latin typeface="Inter"/>
              </a:rPr>
              <a:t>[__ days p/w]</a:t>
            </a:r>
          </a:p>
        </p:txBody>
      </p:sp>
      <p:sp>
        <p:nvSpPr>
          <p:cNvPr id="45" name="Rectangle 44"/>
          <p:cNvSpPr/>
          <p:nvPr/>
        </p:nvSpPr>
        <p:spPr>
          <a:xfrm>
            <a:off x="877824" y="4233672"/>
            <a:ext cx="960120" cy="365760"/>
          </a:xfrm>
          <a:prstGeom prst="rect">
            <a:avLst/>
          </a:prstGeom>
          <a:solidFill>
            <a:srgbClr val="141414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1005840" y="4233672"/>
            <a:ext cx="704088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1000" b="1">
                <a:solidFill>
                  <a:srgbClr val="EA493F"/>
                </a:solidFill>
                <a:latin typeface="Inter"/>
              </a:rPr>
              <a:t>HCM</a:t>
            </a:r>
          </a:p>
        </p:txBody>
      </p:sp>
      <p:sp>
        <p:nvSpPr>
          <p:cNvPr id="47" name="Rectangle 46"/>
          <p:cNvSpPr/>
          <p:nvPr/>
        </p:nvSpPr>
        <p:spPr>
          <a:xfrm>
            <a:off x="1837943" y="4233672"/>
            <a:ext cx="3520440" cy="365760"/>
          </a:xfrm>
          <a:prstGeom prst="rect">
            <a:avLst/>
          </a:prstGeom>
          <a:solidFill>
            <a:srgbClr val="141414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1965960" y="4233672"/>
            <a:ext cx="3264408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0">
                <a:solidFill>
                  <a:srgbClr val="CFCFCF"/>
                </a:solidFill>
                <a:latin typeface="Inter"/>
              </a:rPr>
              <a:t>Recruiting, Talent, Compensation</a:t>
            </a:r>
          </a:p>
        </p:txBody>
      </p:sp>
      <p:sp>
        <p:nvSpPr>
          <p:cNvPr id="49" name="Rectangle 48"/>
          <p:cNvSpPr/>
          <p:nvPr/>
        </p:nvSpPr>
        <p:spPr>
          <a:xfrm>
            <a:off x="5358383" y="4233672"/>
            <a:ext cx="1691640" cy="365760"/>
          </a:xfrm>
          <a:prstGeom prst="rect">
            <a:avLst/>
          </a:prstGeom>
          <a:solidFill>
            <a:srgbClr val="141414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5486399" y="4233672"/>
            <a:ext cx="1435608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0">
                <a:solidFill>
                  <a:srgbClr val="FFFFFF"/>
                </a:solidFill>
                <a:latin typeface="Inter"/>
              </a:rPr>
              <a:t>[Pro / Certified]</a:t>
            </a:r>
          </a:p>
        </p:txBody>
      </p:sp>
      <p:sp>
        <p:nvSpPr>
          <p:cNvPr id="51" name="Rectangle 50"/>
          <p:cNvSpPr/>
          <p:nvPr/>
        </p:nvSpPr>
        <p:spPr>
          <a:xfrm>
            <a:off x="7050023" y="4233672"/>
            <a:ext cx="1463040" cy="365760"/>
          </a:xfrm>
          <a:prstGeom prst="rect">
            <a:avLst/>
          </a:prstGeom>
          <a:solidFill>
            <a:srgbClr val="141414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7178039" y="4233672"/>
            <a:ext cx="1207008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0">
                <a:solidFill>
                  <a:srgbClr val="FFFFFF"/>
                </a:solidFill>
                <a:latin typeface="Inter"/>
              </a:rPr>
              <a:t>[Offshore – IN]</a:t>
            </a:r>
          </a:p>
        </p:txBody>
      </p:sp>
      <p:sp>
        <p:nvSpPr>
          <p:cNvPr id="53" name="Rectangle 52"/>
          <p:cNvSpPr/>
          <p:nvPr/>
        </p:nvSpPr>
        <p:spPr>
          <a:xfrm>
            <a:off x="8513063" y="4233672"/>
            <a:ext cx="1371600" cy="365760"/>
          </a:xfrm>
          <a:prstGeom prst="rect">
            <a:avLst/>
          </a:prstGeom>
          <a:solidFill>
            <a:srgbClr val="141414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8641080" y="4233672"/>
            <a:ext cx="1115568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0">
                <a:solidFill>
                  <a:srgbClr val="FFFFFF"/>
                </a:solidFill>
                <a:latin typeface="Inter"/>
              </a:rPr>
              <a:t>[wk of __]</a:t>
            </a:r>
          </a:p>
        </p:txBody>
      </p:sp>
      <p:sp>
        <p:nvSpPr>
          <p:cNvPr id="55" name="Rectangle 54"/>
          <p:cNvSpPr/>
          <p:nvPr/>
        </p:nvSpPr>
        <p:spPr>
          <a:xfrm>
            <a:off x="9884663" y="4233672"/>
            <a:ext cx="1435608" cy="365760"/>
          </a:xfrm>
          <a:prstGeom prst="rect">
            <a:avLst/>
          </a:prstGeom>
          <a:solidFill>
            <a:srgbClr val="141414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10012680" y="4233672"/>
            <a:ext cx="1179576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0">
                <a:solidFill>
                  <a:srgbClr val="FFFFFF"/>
                </a:solidFill>
                <a:latin typeface="Inter"/>
              </a:rPr>
              <a:t>[__ days p/w]</a:t>
            </a:r>
          </a:p>
        </p:txBody>
      </p:sp>
      <p:sp>
        <p:nvSpPr>
          <p:cNvPr id="57" name="Rectangle 56"/>
          <p:cNvSpPr/>
          <p:nvPr/>
        </p:nvSpPr>
        <p:spPr>
          <a:xfrm>
            <a:off x="877824" y="4626864"/>
            <a:ext cx="960120" cy="365760"/>
          </a:xfrm>
          <a:prstGeom prst="rect">
            <a:avLst/>
          </a:prstGeom>
          <a:solidFill>
            <a:srgbClr val="141414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1005840" y="4626864"/>
            <a:ext cx="704088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1000" b="1">
                <a:solidFill>
                  <a:srgbClr val="EA493F"/>
                </a:solidFill>
                <a:latin typeface="Inter"/>
              </a:rPr>
              <a:t>HCM</a:t>
            </a:r>
          </a:p>
        </p:txBody>
      </p:sp>
      <p:sp>
        <p:nvSpPr>
          <p:cNvPr id="59" name="Rectangle 58"/>
          <p:cNvSpPr/>
          <p:nvPr/>
        </p:nvSpPr>
        <p:spPr>
          <a:xfrm>
            <a:off x="1837943" y="4626864"/>
            <a:ext cx="3520440" cy="365760"/>
          </a:xfrm>
          <a:prstGeom prst="rect">
            <a:avLst/>
          </a:prstGeom>
          <a:solidFill>
            <a:srgbClr val="141414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1965960" y="4626864"/>
            <a:ext cx="3264408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0">
                <a:solidFill>
                  <a:srgbClr val="CFCFCF"/>
                </a:solidFill>
                <a:latin typeface="Inter"/>
              </a:rPr>
              <a:t>Payroll &amp; HCM integrations</a:t>
            </a:r>
          </a:p>
        </p:txBody>
      </p:sp>
      <p:sp>
        <p:nvSpPr>
          <p:cNvPr id="61" name="Rectangle 60"/>
          <p:cNvSpPr/>
          <p:nvPr/>
        </p:nvSpPr>
        <p:spPr>
          <a:xfrm>
            <a:off x="5358383" y="4626864"/>
            <a:ext cx="1691640" cy="365760"/>
          </a:xfrm>
          <a:prstGeom prst="rect">
            <a:avLst/>
          </a:prstGeom>
          <a:solidFill>
            <a:srgbClr val="141414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5486399" y="4626864"/>
            <a:ext cx="1435608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0">
                <a:solidFill>
                  <a:srgbClr val="FFFFFF"/>
                </a:solidFill>
                <a:latin typeface="Inter"/>
              </a:rPr>
              <a:t>[Pro / Certified]</a:t>
            </a:r>
          </a:p>
        </p:txBody>
      </p:sp>
      <p:sp>
        <p:nvSpPr>
          <p:cNvPr id="63" name="Rectangle 62"/>
          <p:cNvSpPr/>
          <p:nvPr/>
        </p:nvSpPr>
        <p:spPr>
          <a:xfrm>
            <a:off x="7050023" y="4626864"/>
            <a:ext cx="1463040" cy="365760"/>
          </a:xfrm>
          <a:prstGeom prst="rect">
            <a:avLst/>
          </a:prstGeom>
          <a:solidFill>
            <a:srgbClr val="141414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7178039" y="4626864"/>
            <a:ext cx="1207008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0">
                <a:solidFill>
                  <a:srgbClr val="FFFFFF"/>
                </a:solidFill>
                <a:latin typeface="Inter"/>
              </a:rPr>
              <a:t>[AU / IN]</a:t>
            </a:r>
          </a:p>
        </p:txBody>
      </p:sp>
      <p:sp>
        <p:nvSpPr>
          <p:cNvPr id="65" name="Rectangle 64"/>
          <p:cNvSpPr/>
          <p:nvPr/>
        </p:nvSpPr>
        <p:spPr>
          <a:xfrm>
            <a:off x="8513063" y="4626864"/>
            <a:ext cx="1371600" cy="365760"/>
          </a:xfrm>
          <a:prstGeom prst="rect">
            <a:avLst/>
          </a:prstGeom>
          <a:solidFill>
            <a:srgbClr val="141414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8641080" y="4626864"/>
            <a:ext cx="1115568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0">
                <a:solidFill>
                  <a:srgbClr val="FFFFFF"/>
                </a:solidFill>
                <a:latin typeface="Inter"/>
              </a:rPr>
              <a:t>[wk of __]</a:t>
            </a:r>
          </a:p>
        </p:txBody>
      </p:sp>
      <p:sp>
        <p:nvSpPr>
          <p:cNvPr id="67" name="Rectangle 66"/>
          <p:cNvSpPr/>
          <p:nvPr/>
        </p:nvSpPr>
        <p:spPr>
          <a:xfrm>
            <a:off x="9884663" y="4626864"/>
            <a:ext cx="1435608" cy="365760"/>
          </a:xfrm>
          <a:prstGeom prst="rect">
            <a:avLst/>
          </a:prstGeom>
          <a:solidFill>
            <a:srgbClr val="141414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10012680" y="4626864"/>
            <a:ext cx="1179576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0">
                <a:solidFill>
                  <a:srgbClr val="FFFFFF"/>
                </a:solidFill>
                <a:latin typeface="Inter"/>
              </a:rPr>
              <a:t>[__ days p/w]</a:t>
            </a:r>
          </a:p>
        </p:txBody>
      </p:sp>
      <p:sp>
        <p:nvSpPr>
          <p:cNvPr id="69" name="Rectangle 68"/>
          <p:cNvSpPr/>
          <p:nvPr/>
        </p:nvSpPr>
        <p:spPr>
          <a:xfrm>
            <a:off x="877824" y="5020055"/>
            <a:ext cx="960120" cy="365760"/>
          </a:xfrm>
          <a:prstGeom prst="rect">
            <a:avLst/>
          </a:prstGeom>
          <a:solidFill>
            <a:srgbClr val="141414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1005840" y="5020055"/>
            <a:ext cx="704088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1000" b="1">
                <a:solidFill>
                  <a:srgbClr val="EA493F"/>
                </a:solidFill>
                <a:latin typeface="Inter"/>
              </a:rPr>
              <a:t>FIN</a:t>
            </a:r>
          </a:p>
        </p:txBody>
      </p:sp>
      <p:sp>
        <p:nvSpPr>
          <p:cNvPr id="71" name="Rectangle 70"/>
          <p:cNvSpPr/>
          <p:nvPr/>
        </p:nvSpPr>
        <p:spPr>
          <a:xfrm>
            <a:off x="1837943" y="5020055"/>
            <a:ext cx="3520440" cy="365760"/>
          </a:xfrm>
          <a:prstGeom prst="rect">
            <a:avLst/>
          </a:prstGeom>
          <a:solidFill>
            <a:srgbClr val="141414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1965960" y="5020055"/>
            <a:ext cx="3264408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0">
                <a:solidFill>
                  <a:srgbClr val="CFCFCF"/>
                </a:solidFill>
                <a:latin typeface="Inter"/>
              </a:rPr>
              <a:t>Core Financials, GL, Accounting</a:t>
            </a:r>
          </a:p>
        </p:txBody>
      </p:sp>
      <p:sp>
        <p:nvSpPr>
          <p:cNvPr id="73" name="Rectangle 72"/>
          <p:cNvSpPr/>
          <p:nvPr/>
        </p:nvSpPr>
        <p:spPr>
          <a:xfrm>
            <a:off x="5358383" y="5020055"/>
            <a:ext cx="1691640" cy="365760"/>
          </a:xfrm>
          <a:prstGeom prst="rect">
            <a:avLst/>
          </a:prstGeom>
          <a:solidFill>
            <a:srgbClr val="141414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5486399" y="5020055"/>
            <a:ext cx="1435608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0">
                <a:solidFill>
                  <a:srgbClr val="FFFFFF"/>
                </a:solidFill>
                <a:latin typeface="Inter"/>
              </a:rPr>
              <a:t>[Pro / Certified]</a:t>
            </a:r>
          </a:p>
        </p:txBody>
      </p:sp>
      <p:sp>
        <p:nvSpPr>
          <p:cNvPr id="75" name="Rectangle 74"/>
          <p:cNvSpPr/>
          <p:nvPr/>
        </p:nvSpPr>
        <p:spPr>
          <a:xfrm>
            <a:off x="7050023" y="5020055"/>
            <a:ext cx="1463040" cy="365760"/>
          </a:xfrm>
          <a:prstGeom prst="rect">
            <a:avLst/>
          </a:prstGeom>
          <a:solidFill>
            <a:srgbClr val="141414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7178039" y="5020055"/>
            <a:ext cx="1207008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0">
                <a:solidFill>
                  <a:srgbClr val="FFFFFF"/>
                </a:solidFill>
                <a:latin typeface="Inter"/>
              </a:rPr>
              <a:t>[Onshore – AU]</a:t>
            </a:r>
          </a:p>
        </p:txBody>
      </p:sp>
      <p:sp>
        <p:nvSpPr>
          <p:cNvPr id="77" name="Rectangle 76"/>
          <p:cNvSpPr/>
          <p:nvPr/>
        </p:nvSpPr>
        <p:spPr>
          <a:xfrm>
            <a:off x="8513063" y="5020055"/>
            <a:ext cx="1371600" cy="365760"/>
          </a:xfrm>
          <a:prstGeom prst="rect">
            <a:avLst/>
          </a:prstGeom>
          <a:solidFill>
            <a:srgbClr val="141414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8641080" y="5020055"/>
            <a:ext cx="1115568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0">
                <a:solidFill>
                  <a:srgbClr val="FFFFFF"/>
                </a:solidFill>
                <a:latin typeface="Inter"/>
              </a:rPr>
              <a:t>[wk of __]</a:t>
            </a:r>
          </a:p>
        </p:txBody>
      </p:sp>
      <p:sp>
        <p:nvSpPr>
          <p:cNvPr id="79" name="Rectangle 78"/>
          <p:cNvSpPr/>
          <p:nvPr/>
        </p:nvSpPr>
        <p:spPr>
          <a:xfrm>
            <a:off x="9884663" y="5020055"/>
            <a:ext cx="1435608" cy="365760"/>
          </a:xfrm>
          <a:prstGeom prst="rect">
            <a:avLst/>
          </a:prstGeom>
          <a:solidFill>
            <a:srgbClr val="141414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10012680" y="5020055"/>
            <a:ext cx="1179576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0">
                <a:solidFill>
                  <a:srgbClr val="FFFFFF"/>
                </a:solidFill>
                <a:latin typeface="Inter"/>
              </a:rPr>
              <a:t>[__ days p/w]</a:t>
            </a:r>
          </a:p>
        </p:txBody>
      </p:sp>
      <p:sp>
        <p:nvSpPr>
          <p:cNvPr id="81" name="Rectangle 80"/>
          <p:cNvSpPr/>
          <p:nvPr/>
        </p:nvSpPr>
        <p:spPr>
          <a:xfrm>
            <a:off x="877824" y="5413247"/>
            <a:ext cx="960120" cy="365760"/>
          </a:xfrm>
          <a:prstGeom prst="rect">
            <a:avLst/>
          </a:prstGeom>
          <a:solidFill>
            <a:srgbClr val="141414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1005840" y="5413247"/>
            <a:ext cx="704088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1000" b="1">
                <a:solidFill>
                  <a:srgbClr val="EA493F"/>
                </a:solidFill>
                <a:latin typeface="Inter"/>
              </a:rPr>
              <a:t>FIN</a:t>
            </a:r>
          </a:p>
        </p:txBody>
      </p:sp>
      <p:sp>
        <p:nvSpPr>
          <p:cNvPr id="83" name="Rectangle 82"/>
          <p:cNvSpPr/>
          <p:nvPr/>
        </p:nvSpPr>
        <p:spPr>
          <a:xfrm>
            <a:off x="1837943" y="5413247"/>
            <a:ext cx="3520440" cy="365760"/>
          </a:xfrm>
          <a:prstGeom prst="rect">
            <a:avLst/>
          </a:prstGeom>
          <a:solidFill>
            <a:srgbClr val="141414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1965960" y="5413247"/>
            <a:ext cx="3264408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0">
                <a:solidFill>
                  <a:srgbClr val="CFCFCF"/>
                </a:solidFill>
                <a:latin typeface="Inter"/>
              </a:rPr>
              <a:t>Procurement, Expenses, AP / AR</a:t>
            </a:r>
          </a:p>
        </p:txBody>
      </p:sp>
      <p:sp>
        <p:nvSpPr>
          <p:cNvPr id="85" name="Rectangle 84"/>
          <p:cNvSpPr/>
          <p:nvPr/>
        </p:nvSpPr>
        <p:spPr>
          <a:xfrm>
            <a:off x="5358383" y="5413247"/>
            <a:ext cx="1691640" cy="365760"/>
          </a:xfrm>
          <a:prstGeom prst="rect">
            <a:avLst/>
          </a:prstGeom>
          <a:solidFill>
            <a:srgbClr val="141414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5486399" y="5413247"/>
            <a:ext cx="1435608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0">
                <a:solidFill>
                  <a:srgbClr val="FFFFFF"/>
                </a:solidFill>
                <a:latin typeface="Inter"/>
              </a:rPr>
              <a:t>[Pro / Certified]</a:t>
            </a:r>
          </a:p>
        </p:txBody>
      </p:sp>
      <p:sp>
        <p:nvSpPr>
          <p:cNvPr id="87" name="Rectangle 86"/>
          <p:cNvSpPr/>
          <p:nvPr/>
        </p:nvSpPr>
        <p:spPr>
          <a:xfrm>
            <a:off x="7050023" y="5413247"/>
            <a:ext cx="1463040" cy="365760"/>
          </a:xfrm>
          <a:prstGeom prst="rect">
            <a:avLst/>
          </a:prstGeom>
          <a:solidFill>
            <a:srgbClr val="141414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7178039" y="5413247"/>
            <a:ext cx="1207008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0">
                <a:solidFill>
                  <a:srgbClr val="FFFFFF"/>
                </a:solidFill>
                <a:latin typeface="Inter"/>
              </a:rPr>
              <a:t>[Offshore – IN]</a:t>
            </a:r>
          </a:p>
        </p:txBody>
      </p:sp>
      <p:sp>
        <p:nvSpPr>
          <p:cNvPr id="89" name="Rectangle 88"/>
          <p:cNvSpPr/>
          <p:nvPr/>
        </p:nvSpPr>
        <p:spPr>
          <a:xfrm>
            <a:off x="8513063" y="5413247"/>
            <a:ext cx="1371600" cy="365760"/>
          </a:xfrm>
          <a:prstGeom prst="rect">
            <a:avLst/>
          </a:prstGeom>
          <a:solidFill>
            <a:srgbClr val="141414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8641080" y="5413247"/>
            <a:ext cx="1115568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0">
                <a:solidFill>
                  <a:srgbClr val="FFFFFF"/>
                </a:solidFill>
                <a:latin typeface="Inter"/>
              </a:rPr>
              <a:t>[wk of __]</a:t>
            </a:r>
          </a:p>
        </p:txBody>
      </p:sp>
      <p:sp>
        <p:nvSpPr>
          <p:cNvPr id="91" name="Rectangle 90"/>
          <p:cNvSpPr/>
          <p:nvPr/>
        </p:nvSpPr>
        <p:spPr>
          <a:xfrm>
            <a:off x="9884663" y="5413247"/>
            <a:ext cx="1435608" cy="365760"/>
          </a:xfrm>
          <a:prstGeom prst="rect">
            <a:avLst/>
          </a:prstGeom>
          <a:solidFill>
            <a:srgbClr val="141414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10012680" y="5413247"/>
            <a:ext cx="1179576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0">
                <a:solidFill>
                  <a:srgbClr val="FFFFFF"/>
                </a:solidFill>
                <a:latin typeface="Inter"/>
              </a:rPr>
              <a:t>[__ days p/w]</a:t>
            </a:r>
          </a:p>
        </p:txBody>
      </p:sp>
      <p:sp>
        <p:nvSpPr>
          <p:cNvPr id="93" name="Rectangle 92"/>
          <p:cNvSpPr/>
          <p:nvPr/>
        </p:nvSpPr>
        <p:spPr>
          <a:xfrm>
            <a:off x="877824" y="5806439"/>
            <a:ext cx="960120" cy="365760"/>
          </a:xfrm>
          <a:prstGeom prst="rect">
            <a:avLst/>
          </a:prstGeom>
          <a:solidFill>
            <a:srgbClr val="141414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1005840" y="5806439"/>
            <a:ext cx="704088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1000" b="1">
                <a:solidFill>
                  <a:srgbClr val="EA493F"/>
                </a:solidFill>
                <a:latin typeface="Inter"/>
              </a:rPr>
              <a:t>FIN</a:t>
            </a:r>
          </a:p>
        </p:txBody>
      </p:sp>
      <p:sp>
        <p:nvSpPr>
          <p:cNvPr id="95" name="Rectangle 94"/>
          <p:cNvSpPr/>
          <p:nvPr/>
        </p:nvSpPr>
        <p:spPr>
          <a:xfrm>
            <a:off x="1837943" y="5806439"/>
            <a:ext cx="3520440" cy="365760"/>
          </a:xfrm>
          <a:prstGeom prst="rect">
            <a:avLst/>
          </a:prstGeom>
          <a:solidFill>
            <a:srgbClr val="141414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1965960" y="5806439"/>
            <a:ext cx="3264408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0">
                <a:solidFill>
                  <a:srgbClr val="CFCFCF"/>
                </a:solidFill>
                <a:latin typeface="Inter"/>
              </a:rPr>
              <a:t>FIN integrations &amp; Reporting / Prism</a:t>
            </a:r>
          </a:p>
        </p:txBody>
      </p:sp>
      <p:sp>
        <p:nvSpPr>
          <p:cNvPr id="97" name="Rectangle 96"/>
          <p:cNvSpPr/>
          <p:nvPr/>
        </p:nvSpPr>
        <p:spPr>
          <a:xfrm>
            <a:off x="5358383" y="5806439"/>
            <a:ext cx="1691640" cy="365760"/>
          </a:xfrm>
          <a:prstGeom prst="rect">
            <a:avLst/>
          </a:prstGeom>
          <a:solidFill>
            <a:srgbClr val="141414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5486399" y="5806439"/>
            <a:ext cx="1435608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0">
                <a:solidFill>
                  <a:srgbClr val="FFFFFF"/>
                </a:solidFill>
                <a:latin typeface="Inter"/>
              </a:rPr>
              <a:t>[Pro / Certified]</a:t>
            </a:r>
          </a:p>
        </p:txBody>
      </p:sp>
      <p:sp>
        <p:nvSpPr>
          <p:cNvPr id="99" name="Rectangle 98"/>
          <p:cNvSpPr/>
          <p:nvPr/>
        </p:nvSpPr>
        <p:spPr>
          <a:xfrm>
            <a:off x="7050023" y="5806439"/>
            <a:ext cx="1463040" cy="365760"/>
          </a:xfrm>
          <a:prstGeom prst="rect">
            <a:avLst/>
          </a:prstGeom>
          <a:solidFill>
            <a:srgbClr val="141414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100" name="TextBox 99"/>
          <p:cNvSpPr txBox="1"/>
          <p:nvPr/>
        </p:nvSpPr>
        <p:spPr>
          <a:xfrm>
            <a:off x="7178039" y="5806439"/>
            <a:ext cx="1207008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0">
                <a:solidFill>
                  <a:srgbClr val="FFFFFF"/>
                </a:solidFill>
                <a:latin typeface="Inter"/>
              </a:rPr>
              <a:t>[AU / IN]</a:t>
            </a:r>
          </a:p>
        </p:txBody>
      </p:sp>
      <p:sp>
        <p:nvSpPr>
          <p:cNvPr id="101" name="Rectangle 100"/>
          <p:cNvSpPr/>
          <p:nvPr/>
        </p:nvSpPr>
        <p:spPr>
          <a:xfrm>
            <a:off x="8513063" y="5806439"/>
            <a:ext cx="1371600" cy="365760"/>
          </a:xfrm>
          <a:prstGeom prst="rect">
            <a:avLst/>
          </a:prstGeom>
          <a:solidFill>
            <a:srgbClr val="141414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102" name="TextBox 101"/>
          <p:cNvSpPr txBox="1"/>
          <p:nvPr/>
        </p:nvSpPr>
        <p:spPr>
          <a:xfrm>
            <a:off x="8641080" y="5806439"/>
            <a:ext cx="1115568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0">
                <a:solidFill>
                  <a:srgbClr val="FFFFFF"/>
                </a:solidFill>
                <a:latin typeface="Inter"/>
              </a:rPr>
              <a:t>[wk of __]</a:t>
            </a:r>
          </a:p>
        </p:txBody>
      </p:sp>
      <p:sp>
        <p:nvSpPr>
          <p:cNvPr id="103" name="Rectangle 102"/>
          <p:cNvSpPr/>
          <p:nvPr/>
        </p:nvSpPr>
        <p:spPr>
          <a:xfrm>
            <a:off x="9884663" y="5806439"/>
            <a:ext cx="1435608" cy="365760"/>
          </a:xfrm>
          <a:prstGeom prst="rect">
            <a:avLst/>
          </a:prstGeom>
          <a:solidFill>
            <a:srgbClr val="141414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104" name="TextBox 103"/>
          <p:cNvSpPr txBox="1"/>
          <p:nvPr/>
        </p:nvSpPr>
        <p:spPr>
          <a:xfrm>
            <a:off x="10012680" y="5806439"/>
            <a:ext cx="1179576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0">
                <a:solidFill>
                  <a:srgbClr val="FFFFFF"/>
                </a:solidFill>
                <a:latin typeface="Inter"/>
              </a:rPr>
              <a:t>[__ days p/w]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877824" y="6272784"/>
            <a:ext cx="1044244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CFCFCF"/>
                </a:solidFill>
                <a:latin typeface="Inter"/>
              </a:rPr>
              <a:t>Placeholder capacity — to be confirmed against the live FIN / HCM bench.</a:t>
            </a:r>
          </a:p>
        </p:txBody>
      </p:sp>
      <p:pic>
        <p:nvPicPr>
          <p:cNvPr id="106" name="Picture 105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7824" y="457200"/>
            <a:ext cx="402336" cy="237744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8259775" y="420624"/>
            <a:ext cx="3200400" cy="3200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100" b="1" i="0" cap="all" spc="154">
                <a:solidFill>
                  <a:srgbClr val="EA493F"/>
                </a:solidFill>
                <a:latin typeface="Inter"/>
              </a:rPr>
              <a:t>GOVERNANCE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914400"/>
            <a:ext cx="10436047" cy="10058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3300" b="1" i="0" spc="-72">
                <a:solidFill>
                  <a:srgbClr val="FFFFFF"/>
                </a:solidFill>
                <a:latin typeface="Inter"/>
              </a:rPr>
              <a:t>Governance — </a:t>
            </a:r>
            <a:r>
              <a:rPr lang="en-AU" sz="3300" b="1" i="0" spc="-72">
                <a:solidFill>
                  <a:srgbClr val="EA493F"/>
                </a:solidFill>
                <a:latin typeface="Inter"/>
              </a:rPr>
              <a:t>aligned at every tier.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1946926" y="1755648"/>
            <a:ext cx="8298147" cy="4522362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5" name="Picture 34" descr="A screen shot of a diagram&#10;&#10;AI-generated content may be incorrect.">
            <a:extLst>
              <a:ext uri="{FF2B5EF4-FFF2-40B4-BE49-F238E27FC236}">
                <a16:creationId xmlns:a16="http://schemas.microsoft.com/office/drawing/2014/main" id="{B076234D-C9BC-A483-757A-14C1E71951E7}"/>
              </a:ext>
            </a:extLst>
          </p:cNvPr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2687" b="4759"/>
          <a:stretch>
            <a:fillRect/>
          </a:stretch>
        </p:blipFill>
        <p:spPr bwMode="auto">
          <a:xfrm>
            <a:off x="2111518" y="1920240"/>
            <a:ext cx="7968963" cy="4193178"/>
          </a:xfrm>
          <a:prstGeom prst="rect">
            <a:avLst/>
          </a:prstGeom>
          <a:noFill/>
          <a:ln>
            <a:noFill/>
          </a:ln>
          <a:extLst>
            <a:ext uri="{53640926-AAD7-44D8-BBD7-CCE9431645EC}">
              <a14:shadowObscured xmlns:a14="http://schemas.microsoft.com/office/drawing/2010/main"/>
            </a:ext>
          </a:extLst>
        </p:spPr>
      </p:pic>
      <p:pic>
        <p:nvPicPr>
          <p:cNvPr id="36" name="Picture 35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7824" y="457200"/>
            <a:ext cx="402032" cy="237744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4" name="Connector 13"/>
          <p:cNvCxnSpPr>
            <a:cxnSpLocks/>
          </p:cNvCxnSpPr>
          <p:nvPr/>
        </p:nvCxnSpPr>
        <p:spPr>
          <a:xfrm>
            <a:off x="6096000" y="4716999"/>
            <a:ext cx="0" cy="274320"/>
          </a:xfrm>
          <a:prstGeom prst="bentConnector3">
            <a:avLst/>
          </a:prstGeom>
          <a:ln w="12700">
            <a:solidFill>
              <a:srgbClr val="3A3A3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13">
            <a:extLst>
              <a:ext uri="{FF2B5EF4-FFF2-40B4-BE49-F238E27FC236}">
                <a16:creationId xmlns:a16="http://schemas.microsoft.com/office/drawing/2014/main" id="{9FBE9EEB-F172-D844-4773-AE08CB561A7E}"/>
              </a:ext>
            </a:extLst>
          </p:cNvPr>
          <p:cNvCxnSpPr>
            <a:cxnSpLocks/>
          </p:cNvCxnSpPr>
          <p:nvPr/>
        </p:nvCxnSpPr>
        <p:spPr>
          <a:xfrm>
            <a:off x="6096000" y="3594466"/>
            <a:ext cx="0" cy="274320"/>
          </a:xfrm>
          <a:prstGeom prst="bentConnector3">
            <a:avLst>
              <a:gd name="adj1" fmla="val 2147483646"/>
            </a:avLst>
          </a:prstGeom>
          <a:ln w="12700">
            <a:solidFill>
              <a:srgbClr val="3A3A3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TextBox 2"/>
          <p:cNvSpPr txBox="1"/>
          <p:nvPr/>
        </p:nvSpPr>
        <p:spPr>
          <a:xfrm>
            <a:off x="8259775" y="420624"/>
            <a:ext cx="3200400" cy="3200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100" b="1" i="0" cap="all" spc="154">
                <a:solidFill>
                  <a:srgbClr val="EA493F"/>
                </a:solidFill>
                <a:latin typeface="Inter"/>
              </a:rPr>
              <a:t>TEAM STRUCTURE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914400"/>
            <a:ext cx="10436047" cy="10058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3300" b="1" i="0" spc="-72" dirty="0">
                <a:solidFill>
                  <a:srgbClr val="FFFFFF"/>
                </a:solidFill>
                <a:latin typeface="Inter"/>
              </a:rPr>
              <a:t>One integrated AMS team — </a:t>
            </a:r>
            <a:r>
              <a:rPr lang="en-AU" sz="3300" b="1" i="0" spc="-72" dirty="0">
                <a:solidFill>
                  <a:srgbClr val="EA493F"/>
                </a:solidFill>
                <a:latin typeface="Inter"/>
              </a:rPr>
              <a:t>onshore + offshore.</a:t>
            </a:r>
          </a:p>
        </p:txBody>
      </p:sp>
      <p:grpSp>
        <p:nvGrpSpPr>
          <p:cNvPr id="27" name="Group 26">
            <a:extLst>
              <a:ext uri="{FF2B5EF4-FFF2-40B4-BE49-F238E27FC236}">
                <a16:creationId xmlns:a16="http://schemas.microsoft.com/office/drawing/2014/main" id="{88637977-9C98-501F-1EAE-B376020457A1}"/>
              </a:ext>
            </a:extLst>
          </p:cNvPr>
          <p:cNvGrpSpPr/>
          <p:nvPr/>
        </p:nvGrpSpPr>
        <p:grpSpPr>
          <a:xfrm>
            <a:off x="3566890" y="2679192"/>
            <a:ext cx="4989423" cy="1115568"/>
            <a:chOff x="877824" y="2286000"/>
            <a:chExt cx="4989423" cy="1115568"/>
          </a:xfrm>
        </p:grpSpPr>
        <p:sp>
          <p:nvSpPr>
            <p:cNvPr id="5" name="Rectangle 4"/>
            <p:cNvSpPr/>
            <p:nvPr/>
          </p:nvSpPr>
          <p:spPr>
            <a:xfrm>
              <a:off x="877824" y="2286000"/>
              <a:ext cx="4989423" cy="960120"/>
            </a:xfrm>
            <a:prstGeom prst="rect">
              <a:avLst/>
            </a:prstGeom>
            <a:solidFill>
              <a:srgbClr val="141414"/>
            </a:solidFill>
            <a:ln w="12700">
              <a:solidFill>
                <a:srgbClr val="3A3A3A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1133856" y="2468880"/>
              <a:ext cx="4532223" cy="365760"/>
            </a:xfrm>
            <a:prstGeom prst="rect">
              <a:avLst/>
            </a:prstGeom>
            <a:noFill/>
          </p:spPr>
          <p:txBody>
            <a:bodyPr wrap="square" lIns="0" tIns="0" rIns="0" bIns="0" anchor="t"/>
            <a:lstStyle/>
            <a:p>
              <a:pPr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lang="en-AU" sz="1500" b="1" i="0" spc="-15">
                  <a:solidFill>
                    <a:srgbClr val="FFFFFF"/>
                  </a:solidFill>
                  <a:latin typeface="Inter"/>
                </a:rPr>
                <a:t>Client Partner</a:t>
              </a:r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1133856" y="2852928"/>
              <a:ext cx="4532223" cy="548640"/>
            </a:xfrm>
            <a:prstGeom prst="rect">
              <a:avLst/>
            </a:prstGeom>
            <a:noFill/>
          </p:spPr>
          <p:txBody>
            <a:bodyPr wrap="square" lIns="0" tIns="0" rIns="0" bIns="0" anchor="t"/>
            <a:lstStyle/>
            <a:p>
              <a:pPr algn="l">
                <a:lnSpc>
                  <a:spcPct val="118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lang="en-AU" sz="1050" b="0" i="0" spc="0">
                  <a:solidFill>
                    <a:srgbClr val="CFCFCF"/>
                  </a:solidFill>
                  <a:latin typeface="Inter"/>
                </a:rPr>
                <a:t>Strategic relationship &amp; sponsorship</a:t>
              </a:r>
            </a:p>
          </p:txBody>
        </p:sp>
      </p:grpSp>
      <p:grpSp>
        <p:nvGrpSpPr>
          <p:cNvPr id="28" name="Group 27">
            <a:extLst>
              <a:ext uri="{FF2B5EF4-FFF2-40B4-BE49-F238E27FC236}">
                <a16:creationId xmlns:a16="http://schemas.microsoft.com/office/drawing/2014/main" id="{3A18E2A6-043C-A0B7-9EFC-90A24DAF5DA2}"/>
              </a:ext>
            </a:extLst>
          </p:cNvPr>
          <p:cNvGrpSpPr/>
          <p:nvPr/>
        </p:nvGrpSpPr>
        <p:grpSpPr>
          <a:xfrm>
            <a:off x="3566889" y="3818927"/>
            <a:ext cx="4989423" cy="1115568"/>
            <a:chOff x="6324447" y="2351315"/>
            <a:chExt cx="4989423" cy="1115568"/>
          </a:xfrm>
        </p:grpSpPr>
        <p:sp>
          <p:nvSpPr>
            <p:cNvPr id="8" name="Rectangle 7"/>
            <p:cNvSpPr/>
            <p:nvPr/>
          </p:nvSpPr>
          <p:spPr>
            <a:xfrm>
              <a:off x="6324447" y="2351315"/>
              <a:ext cx="4989423" cy="960120"/>
            </a:xfrm>
            <a:prstGeom prst="rect">
              <a:avLst/>
            </a:prstGeom>
            <a:solidFill>
              <a:srgbClr val="141414"/>
            </a:solidFill>
            <a:ln w="12700">
              <a:solidFill>
                <a:srgbClr val="3A3A3A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9" name="TextBox 8"/>
            <p:cNvSpPr txBox="1"/>
            <p:nvPr/>
          </p:nvSpPr>
          <p:spPr>
            <a:xfrm>
              <a:off x="6580479" y="2534195"/>
              <a:ext cx="4532223" cy="365760"/>
            </a:xfrm>
            <a:prstGeom prst="rect">
              <a:avLst/>
            </a:prstGeom>
            <a:noFill/>
          </p:spPr>
          <p:txBody>
            <a:bodyPr wrap="square" lIns="0" tIns="0" rIns="0" bIns="0" anchor="t"/>
            <a:lstStyle/>
            <a:p>
              <a:pPr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lang="en-AU" sz="1500" b="1" i="0" spc="-15">
                  <a:solidFill>
                    <a:srgbClr val="FFFFFF"/>
                  </a:solidFill>
                  <a:latin typeface="Inter"/>
                </a:rPr>
                <a:t>Service Delivery Lead</a:t>
              </a:r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6580479" y="2918243"/>
              <a:ext cx="4532223" cy="548640"/>
            </a:xfrm>
            <a:prstGeom prst="rect">
              <a:avLst/>
            </a:prstGeom>
            <a:noFill/>
          </p:spPr>
          <p:txBody>
            <a:bodyPr wrap="square" lIns="0" tIns="0" rIns="0" bIns="0" anchor="t"/>
            <a:lstStyle/>
            <a:p>
              <a:pPr algn="l">
                <a:lnSpc>
                  <a:spcPct val="118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lang="en-AU" sz="1050" b="0" i="0" spc="0">
                  <a:solidFill>
                    <a:srgbClr val="CFCFCF"/>
                  </a:solidFill>
                  <a:latin typeface="Inter"/>
                </a:rPr>
                <a:t>Day-to-day AMS operations &amp; SLAs</a:t>
              </a:r>
            </a:p>
          </p:txBody>
        </p:sp>
      </p:grpSp>
      <p:cxnSp>
        <p:nvCxnSpPr>
          <p:cNvPr id="11" name="Connector 10"/>
          <p:cNvCxnSpPr/>
          <p:nvPr/>
        </p:nvCxnSpPr>
        <p:spPr>
          <a:xfrm>
            <a:off x="3374866" y="4991315"/>
            <a:ext cx="0" cy="320040"/>
          </a:xfrm>
          <a:prstGeom prst="bentConnector3">
            <a:avLst>
              <a:gd name="adj1" fmla="val 2147483646"/>
            </a:avLst>
          </a:prstGeom>
          <a:ln w="12700">
            <a:solidFill>
              <a:srgbClr val="3A3A3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>
            <a:cxnSpLocks/>
          </p:cNvCxnSpPr>
          <p:nvPr/>
        </p:nvCxnSpPr>
        <p:spPr>
          <a:xfrm>
            <a:off x="8821490" y="4991315"/>
            <a:ext cx="0" cy="320040"/>
          </a:xfrm>
          <a:prstGeom prst="bentConnector3">
            <a:avLst/>
          </a:prstGeom>
          <a:ln w="12700">
            <a:solidFill>
              <a:srgbClr val="3A3A3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3377477" y="4991315"/>
            <a:ext cx="5446624" cy="0"/>
          </a:xfrm>
          <a:prstGeom prst="bentConnector3">
            <a:avLst/>
          </a:prstGeom>
          <a:ln w="12700">
            <a:solidFill>
              <a:srgbClr val="3A3A3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ectangle 14"/>
          <p:cNvSpPr/>
          <p:nvPr/>
        </p:nvSpPr>
        <p:spPr>
          <a:xfrm>
            <a:off x="880155" y="5344013"/>
            <a:ext cx="4989423" cy="1051560"/>
          </a:xfrm>
          <a:prstGeom prst="rect">
            <a:avLst/>
          </a:prstGeom>
          <a:solidFill>
            <a:srgbClr val="141414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1136187" y="5526893"/>
            <a:ext cx="4532223" cy="365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500" b="1" i="0" spc="-15">
                <a:solidFill>
                  <a:srgbClr val="FFFFFF"/>
                </a:solidFill>
                <a:latin typeface="Inter"/>
              </a:rPr>
              <a:t>Onshore · Australia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36187" y="5910941"/>
            <a:ext cx="4532223" cy="5486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050" b="0" i="0" spc="0">
                <a:solidFill>
                  <a:srgbClr val="CFCFCF"/>
                </a:solidFill>
                <a:latin typeface="Inter"/>
              </a:rPr>
              <a:t>Functional / Integration Consultants — Core HCM · Financials · Integrations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26778" y="5344013"/>
            <a:ext cx="4989423" cy="1051560"/>
          </a:xfrm>
          <a:prstGeom prst="rect">
            <a:avLst/>
          </a:prstGeom>
          <a:solidFill>
            <a:srgbClr val="141414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6582810" y="5526893"/>
            <a:ext cx="4532223" cy="365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500" b="1" i="0" spc="-15">
                <a:solidFill>
                  <a:srgbClr val="FFFFFF"/>
                </a:solidFill>
                <a:latin typeface="Inter"/>
              </a:rPr>
              <a:t>Offshore · India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82810" y="5910941"/>
            <a:ext cx="4532223" cy="5486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050" b="0" i="0" spc="0">
                <a:solidFill>
                  <a:srgbClr val="CFCFCF"/>
                </a:solidFill>
                <a:latin typeface="Inter"/>
              </a:rPr>
              <a:t>Functional / Integration Consultants — Core HCM · Financials · Integrations</a:t>
            </a:r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76305A14-AEBE-8779-B93F-7B2941E5C937}"/>
              </a:ext>
            </a:extLst>
          </p:cNvPr>
          <p:cNvGrpSpPr/>
          <p:nvPr/>
        </p:nvGrpSpPr>
        <p:grpSpPr>
          <a:xfrm>
            <a:off x="3566889" y="1708620"/>
            <a:ext cx="4989422" cy="815123"/>
            <a:chOff x="877824" y="5845628"/>
            <a:chExt cx="4989423" cy="815123"/>
          </a:xfrm>
        </p:grpSpPr>
        <p:sp>
          <p:nvSpPr>
            <p:cNvPr id="21" name="Rectangle 20"/>
            <p:cNvSpPr/>
            <p:nvPr/>
          </p:nvSpPr>
          <p:spPr>
            <a:xfrm>
              <a:off x="877824" y="5845628"/>
              <a:ext cx="4989423" cy="815123"/>
            </a:xfrm>
            <a:prstGeom prst="rect">
              <a:avLst/>
            </a:prstGeom>
            <a:solidFill>
              <a:srgbClr val="EA493F"/>
            </a:solidFill>
            <a:ln>
              <a:solid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22" name="TextBox 21"/>
            <p:cNvSpPr txBox="1"/>
            <p:nvPr/>
          </p:nvSpPr>
          <p:spPr>
            <a:xfrm>
              <a:off x="1133856" y="5925312"/>
              <a:ext cx="4532223" cy="365760"/>
            </a:xfrm>
            <a:prstGeom prst="rect">
              <a:avLst/>
            </a:prstGeom>
            <a:noFill/>
          </p:spPr>
          <p:txBody>
            <a:bodyPr wrap="square" lIns="0" tIns="0" rIns="0" bIns="0" anchor="t"/>
            <a:lstStyle/>
            <a:p>
              <a:pPr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lang="en-AU" sz="1100" b="1" i="0" cap="all" spc="110" dirty="0">
                  <a:solidFill>
                    <a:srgbClr val="FFFFFF"/>
                  </a:solidFill>
                  <a:latin typeface="Inter"/>
                </a:rPr>
                <a:t>THOUGHT LEADERSHIP</a:t>
              </a:r>
              <a:br>
                <a:rPr lang="en-AU" sz="1100" b="1" i="0" cap="all" spc="110" dirty="0">
                  <a:solidFill>
                    <a:srgbClr val="FFFFFF"/>
                  </a:solidFill>
                  <a:latin typeface="Inter"/>
                </a:rPr>
              </a:br>
              <a:endParaRPr lang="en-AU" sz="1100" b="1" i="0" cap="all" spc="110" dirty="0">
                <a:solidFill>
                  <a:srgbClr val="FFFFFF"/>
                </a:solidFill>
                <a:latin typeface="Inter"/>
              </a:endParaRPr>
            </a:p>
            <a:p>
              <a:pPr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endParaRPr lang="en-AU" sz="1100" b="1" i="0" cap="all" spc="110" dirty="0">
                <a:solidFill>
                  <a:srgbClr val="FFFFFF"/>
                </a:solidFill>
                <a:latin typeface="Inter"/>
              </a:endParaRPr>
            </a:p>
          </p:txBody>
        </p:sp>
        <p:sp>
          <p:nvSpPr>
            <p:cNvPr id="23" name="TextBox 22"/>
            <p:cNvSpPr txBox="1"/>
            <p:nvPr/>
          </p:nvSpPr>
          <p:spPr>
            <a:xfrm>
              <a:off x="1133856" y="6110803"/>
              <a:ext cx="4532223" cy="448710"/>
            </a:xfrm>
            <a:prstGeom prst="rect">
              <a:avLst/>
            </a:prstGeom>
            <a:noFill/>
          </p:spPr>
          <p:txBody>
            <a:bodyPr wrap="square" lIns="0" tIns="0" rIns="0" bIns="0" anchor="t"/>
            <a:lstStyle/>
            <a:p>
              <a:pPr algn="l">
                <a:lnSpc>
                  <a:spcPct val="112000"/>
                </a:lnSpc>
                <a:spcBef>
                  <a:spcPts val="0"/>
                </a:spcBef>
                <a:spcAft>
                  <a:spcPts val="0"/>
                </a:spcAft>
              </a:pPr>
              <a:br>
                <a:rPr lang="en-AU" sz="1050" b="1" i="0" spc="0" dirty="0">
                  <a:solidFill>
                    <a:srgbClr val="FFFFFF"/>
                  </a:solidFill>
                  <a:latin typeface="Inter"/>
                </a:rPr>
              </a:br>
              <a:r>
                <a:rPr lang="en-AU" sz="1050" b="1" i="0" spc="0" dirty="0">
                  <a:solidFill>
                    <a:srgbClr val="FFFFFF"/>
                  </a:solidFill>
                  <a:latin typeface="Inter"/>
                </a:rPr>
                <a:t>Strategic advisory · direct CEO access for escalation &amp; sponsorship.</a:t>
              </a:r>
            </a:p>
          </p:txBody>
        </p:sp>
      </p:grpSp>
      <p:pic>
        <p:nvPicPr>
          <p:cNvPr id="39" name="Picture 38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7824" y="457200"/>
            <a:ext cx="402032" cy="237744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8259775" y="420624"/>
            <a:ext cx="3200400" cy="3200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100" b="1" i="0" cap="all" spc="154">
                <a:solidFill>
                  <a:srgbClr val="EA493F"/>
                </a:solidFill>
                <a:latin typeface="Inter"/>
              </a:rPr>
              <a:t>OUTCOMES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914400"/>
            <a:ext cx="10436047" cy="10058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3300" b="1" i="0" spc="-72">
                <a:solidFill>
                  <a:srgbClr val="FFFFFF"/>
                </a:solidFill>
                <a:latin typeface="Inter"/>
              </a:rPr>
              <a:t>Proven Workday </a:t>
            </a:r>
            <a:r>
              <a:rPr lang="en-AU" sz="3300" b="1" i="0" spc="-72">
                <a:solidFill>
                  <a:srgbClr val="EA493F"/>
                </a:solidFill>
                <a:latin typeface="Inter"/>
              </a:rPr>
              <a:t>outcomes.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77824" y="1828800"/>
            <a:ext cx="10241280" cy="5486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300" b="0" i="0" spc="0">
                <a:solidFill>
                  <a:srgbClr val="CFCFCF"/>
                </a:solidFill>
                <a:latin typeface="Inter"/>
              </a:rPr>
              <a:t>Long-term partnerships with some of Australia's most demanding operations.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7824" y="2651760"/>
            <a:ext cx="3250082" cy="4572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200" b="1" i="0" cap="all" spc="72">
                <a:solidFill>
                  <a:srgbClr val="EA493F"/>
                </a:solidFill>
                <a:latin typeface="Inter"/>
              </a:rPr>
              <a:t>QANTAS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7824" y="3154680"/>
            <a:ext cx="3222650" cy="31089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050" b="0" i="0" spc="0">
                <a:solidFill>
                  <a:srgbClr val="CFCFCF"/>
                </a:solidFill>
                <a:latin typeface="Inter"/>
              </a:rPr>
              <a:t>A partner since 2014 — taking over Workday support in 2017 and growing into a strategic partner across HR, Payroll, Digital, Automation, Data and Analytics. We scaled integrations, modernised architectures and embedded automation, evolving into a long-term enterprise partner.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356506" y="2697480"/>
            <a:ext cx="0" cy="3474720"/>
          </a:xfrm>
          <a:prstGeom prst="bentConnector3">
            <a:avLst/>
          </a:prstGeom>
          <a:ln w="12700">
            <a:solidFill>
              <a:srgbClr val="3A3A3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4649114" y="2651760"/>
            <a:ext cx="2957474" cy="4572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200" b="1" i="0" cap="all" spc="72">
                <a:solidFill>
                  <a:srgbClr val="EA493F"/>
                </a:solidFill>
                <a:latin typeface="Inter"/>
              </a:rPr>
              <a:t>GUZMAN Y GOMEZ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49114" y="3154680"/>
            <a:ext cx="2930042" cy="31089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050" b="0" i="0" spc="0">
                <a:solidFill>
                  <a:srgbClr val="CFCFCF"/>
                </a:solidFill>
                <a:latin typeface="Inter"/>
              </a:rPr>
              <a:t>Stabilised and optimised Workday post–go-live across modules, reporting, security and compliance. Agile delivery onboarded 150+ franchisees, shipped new reporting and a redesigned security model, and lifted performance across HCM, Absence and Learning.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7835188" y="2697480"/>
            <a:ext cx="0" cy="3474720"/>
          </a:xfrm>
          <a:prstGeom prst="bentConnector3">
            <a:avLst/>
          </a:prstGeom>
          <a:ln w="12700">
            <a:solidFill>
              <a:srgbClr val="3A3A3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8127796" y="2651760"/>
            <a:ext cx="2957474" cy="4572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200" b="1" i="0" cap="all" spc="72">
                <a:solidFill>
                  <a:srgbClr val="EA493F"/>
                </a:solidFill>
                <a:latin typeface="Inter"/>
              </a:rPr>
              <a:t>WESTERN SYDNEY INTL AIRPORT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127796" y="3154680"/>
            <a:ext cx="2930042" cy="31089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050" b="0" i="0" spc="0">
                <a:solidFill>
                  <a:srgbClr val="CFCFCF"/>
                </a:solidFill>
                <a:latin typeface="Inter"/>
              </a:rPr>
              <a:t>Delivered a card-management system, then expanded into a strategic role on WSI's Workday program. By resolving functional and integration issues and assuming full AMS ownership, we stabilised HR, Payroll, Finance and Procurement.</a:t>
            </a:r>
          </a:p>
        </p:txBody>
      </p:sp>
      <p:pic>
        <p:nvPicPr>
          <p:cNvPr id="14" name="Picture 13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7824" y="457200"/>
            <a:ext cx="402032" cy="237744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8259775" y="420624"/>
            <a:ext cx="3200400" cy="3200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100" b="1" i="0" cap="all" spc="154">
                <a:solidFill>
                  <a:srgbClr val="EA493F"/>
                </a:solidFill>
                <a:latin typeface="Inter"/>
              </a:rPr>
              <a:t>WHY MIVADA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914400"/>
            <a:ext cx="10058400" cy="10058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3400" b="1" i="0" spc="-74">
                <a:solidFill>
                  <a:srgbClr val="FFFFFF"/>
                </a:solidFill>
                <a:latin typeface="Inter"/>
              </a:rPr>
              <a:t>A partner, </a:t>
            </a:r>
            <a:r>
              <a:rPr lang="en-AU" sz="3400" b="1" i="0" spc="-74">
                <a:solidFill>
                  <a:srgbClr val="EA493F"/>
                </a:solidFill>
                <a:latin typeface="Inter"/>
              </a:rPr>
              <a:t>not a vendor.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77824" y="2971800"/>
            <a:ext cx="3204362" cy="23774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300" b="1" i="0" spc="182" dirty="0">
                <a:solidFill>
                  <a:srgbClr val="EA493F"/>
                </a:solidFill>
                <a:latin typeface="Inter"/>
              </a:rPr>
              <a:t>01</a:t>
            </a:r>
          </a:p>
          <a:p>
            <a:pPr algn="l">
              <a:lnSpc>
                <a:spcPct val="102000"/>
              </a:lnSpc>
              <a:spcBef>
                <a:spcPts val="1200"/>
              </a:spcBef>
              <a:spcAft>
                <a:spcPts val="0"/>
              </a:spcAft>
            </a:pPr>
            <a:r>
              <a:rPr lang="en-AU" sz="2300" b="1" i="0" spc="-57" dirty="0">
                <a:solidFill>
                  <a:srgbClr val="FFFFFF"/>
                </a:solidFill>
                <a:latin typeface="Inter"/>
              </a:rPr>
              <a:t>We grew out of a customer</a:t>
            </a:r>
          </a:p>
          <a:p>
            <a:pPr algn="l">
              <a:lnSpc>
                <a:spcPct val="128000"/>
              </a:lnSpc>
              <a:spcBef>
                <a:spcPts val="1200"/>
              </a:spcBef>
              <a:spcAft>
                <a:spcPts val="0"/>
              </a:spcAft>
            </a:pPr>
            <a:r>
              <a:rPr lang="en-AU" sz="1250" b="0" i="0" spc="0" dirty="0">
                <a:solidFill>
                  <a:srgbClr val="CFCFCF"/>
                </a:solidFill>
                <a:latin typeface="Inter"/>
              </a:rPr>
              <a:t>So we understand your challenges from the inside — and we're not a Big 4.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4356506" y="2971800"/>
            <a:ext cx="0" cy="2331720"/>
          </a:xfrm>
          <a:prstGeom prst="bentConnector3">
            <a:avLst/>
          </a:prstGeom>
          <a:ln w="12700">
            <a:solidFill>
              <a:srgbClr val="3A3A3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4685690" y="2971800"/>
            <a:ext cx="2875178" cy="23774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300" b="1" i="0" spc="182">
                <a:solidFill>
                  <a:srgbClr val="EA493F"/>
                </a:solidFill>
                <a:latin typeface="Inter"/>
              </a:rPr>
              <a:t>02</a:t>
            </a:r>
          </a:p>
          <a:p>
            <a:pPr algn="l">
              <a:lnSpc>
                <a:spcPct val="102000"/>
              </a:lnSpc>
              <a:spcBef>
                <a:spcPts val="1200"/>
              </a:spcBef>
              <a:spcAft>
                <a:spcPts val="0"/>
              </a:spcAft>
            </a:pPr>
            <a:r>
              <a:rPr lang="en-AU" sz="2300" b="1" i="0" spc="-57">
                <a:solidFill>
                  <a:srgbClr val="FFFFFF"/>
                </a:solidFill>
                <a:latin typeface="Inter"/>
              </a:rPr>
              <a:t>Senior, local, accountable</a:t>
            </a:r>
          </a:p>
          <a:p>
            <a:pPr algn="l">
              <a:lnSpc>
                <a:spcPct val="128000"/>
              </a:lnSpc>
              <a:spcBef>
                <a:spcPts val="1200"/>
              </a:spcBef>
              <a:spcAft>
                <a:spcPts val="0"/>
              </a:spcAft>
            </a:pPr>
            <a:r>
              <a:rPr lang="en-AU" sz="1250" b="0" i="0" spc="0">
                <a:solidFill>
                  <a:srgbClr val="CFCFCF"/>
                </a:solidFill>
                <a:latin typeface="Inter"/>
              </a:rPr>
              <a:t>Australian-owned, with direct access to our CEO and a dedicated engagement manager.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7835188" y="2971800"/>
            <a:ext cx="0" cy="2331720"/>
          </a:xfrm>
          <a:prstGeom prst="bentConnector3">
            <a:avLst/>
          </a:prstGeom>
          <a:ln w="12700">
            <a:solidFill>
              <a:srgbClr val="3A3A3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8164372" y="2971800"/>
            <a:ext cx="2875178" cy="23774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300" b="1" i="0" spc="182">
                <a:solidFill>
                  <a:srgbClr val="EA493F"/>
                </a:solidFill>
                <a:latin typeface="Inter"/>
              </a:rPr>
              <a:t>03</a:t>
            </a:r>
          </a:p>
          <a:p>
            <a:pPr algn="l">
              <a:lnSpc>
                <a:spcPct val="102000"/>
              </a:lnSpc>
              <a:spcBef>
                <a:spcPts val="1200"/>
              </a:spcBef>
              <a:spcAft>
                <a:spcPts val="0"/>
              </a:spcAft>
            </a:pPr>
            <a:r>
              <a:rPr lang="en-AU" sz="2300" b="1" i="0" spc="-57">
                <a:solidFill>
                  <a:srgbClr val="FFFFFF"/>
                </a:solidFill>
                <a:latin typeface="Inter"/>
              </a:rPr>
              <a:t>In it for the long term</a:t>
            </a:r>
          </a:p>
          <a:p>
            <a:pPr algn="l">
              <a:lnSpc>
                <a:spcPct val="128000"/>
              </a:lnSpc>
              <a:spcBef>
                <a:spcPts val="1200"/>
              </a:spcBef>
              <a:spcAft>
                <a:spcPts val="0"/>
              </a:spcAft>
            </a:pPr>
            <a:r>
              <a:rPr lang="en-AU" sz="1250" b="0" i="0" spc="0">
                <a:solidFill>
                  <a:srgbClr val="CFCFCF"/>
                </a:solidFill>
                <a:latin typeface="Inter"/>
              </a:rPr>
              <a:t>From go-live into managed services — we grow with you.</a:t>
            </a:r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7824" y="457200"/>
            <a:ext cx="402032" cy="237744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877824" y="2194560"/>
            <a:ext cx="9601200" cy="3200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200" b="1" i="0" cap="all" spc="192">
                <a:solidFill>
                  <a:srgbClr val="EA493F"/>
                </a:solidFill>
                <a:latin typeface="Inter"/>
              </a:rPr>
              <a:t>LET'S TALK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2606040"/>
            <a:ext cx="10241280" cy="27432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4400" b="1" i="0" spc="-110">
                <a:solidFill>
                  <a:srgbClr val="FFFFFF"/>
                </a:solidFill>
                <a:latin typeface="Inter"/>
              </a:rPr>
              <a:t>Let's build something </a:t>
            </a:r>
            <a:r>
              <a:rPr lang="en-AU" sz="4400" b="1" i="0" spc="-110">
                <a:solidFill>
                  <a:srgbClr val="EA493F"/>
                </a:solidFill>
                <a:latin typeface="Inter"/>
              </a:rPr>
              <a:t>human.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877824" y="5852160"/>
            <a:ext cx="10436047" cy="0"/>
          </a:xfrm>
          <a:prstGeom prst="bentConnector3">
            <a:avLst/>
          </a:prstGeom>
          <a:ln w="12700">
            <a:solidFill>
              <a:srgbClr val="3A3A3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877824" y="5989320"/>
            <a:ext cx="7315200" cy="4572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250" b="1" i="0" spc="25">
                <a:solidFill>
                  <a:srgbClr val="CFCFCF"/>
                </a:solidFill>
                <a:latin typeface="Inter"/>
              </a:rPr>
              <a:t>hello@mivada.com · mivada.com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90895" y="5989320"/>
            <a:ext cx="5522976" cy="4572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250" b="0" i="0" spc="25">
                <a:solidFill>
                  <a:srgbClr val="CFCFCF"/>
                </a:solidFill>
                <a:latin typeface="Inter"/>
              </a:rPr>
              <a:t>Sydney · Melbourne · AU &amp; India</a:t>
            </a:r>
          </a:p>
        </p:txBody>
      </p:sp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7824" y="749808"/>
            <a:ext cx="2531685" cy="384048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164</TotalTime>
  <Words>992</Words>
  <Application>Microsoft Macintosh PowerPoint</Application>
  <PresentationFormat>Widescreen</PresentationFormat>
  <Paragraphs>186</Paragraphs>
  <Slides>16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21" baseType="lpstr">
      <vt:lpstr>Aptos</vt:lpstr>
      <vt:lpstr>Arial</vt:lpstr>
      <vt:lpstr>Calibri</vt:lpstr>
      <vt:lpstr>Inter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Daniel Zrno</cp:lastModifiedBy>
  <cp:revision>4</cp:revision>
  <dcterms:created xsi:type="dcterms:W3CDTF">2013-01-27T09:14:16Z</dcterms:created>
  <dcterms:modified xsi:type="dcterms:W3CDTF">2026-06-07T05:34:34Z</dcterms:modified>
  <cp:category/>
</cp:coreProperties>
</file>