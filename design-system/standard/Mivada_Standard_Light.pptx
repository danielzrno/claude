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4" r:id="rId8"/>
    <p:sldId id="276" r:id="rId9"/>
    <p:sldId id="280" r:id="rId25"/>
    <p:sldId id="284" r:id="rId29"/>
    <p:sldId id="278" r:id="rId23"/>
    <p:sldId id="282" r:id="rId27"/>
    <p:sldId id="281" r:id="rId26"/>
    <p:sldId id="283" r:id="rId28"/>
    <p:sldId id="277" r:id="rId11"/>
    <p:sldId id="265" r:id="rId12"/>
    <p:sldId id="285" r:id="rId24"/>
    <p:sldId id="286" r:id="rId10"/>
    <p:sldId id="287" r:id="rId30"/>
    <p:sldId id="288" r:id="rId31"/>
    <p:sldId id="289" r:id="rId32"/>
    <p:sldId id="290" r:id="rId33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77273"/>
  </p:normalViewPr>
  <p:slideViewPr>
    <p:cSldViewPr snapToGrid="0" snapToObjects="1">
      <p:cViewPr>
        <p:scale>
          <a:sx n="101" d="100"/>
          <a:sy n="101" d="100"/>
        </p:scale>
        <p:origin x="1616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8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23.xml"/><Relationship Id="rId14" Type="http://schemas.openxmlformats.org/officeDocument/2006/relationships/slide" Target="slides/slide24.xml"/><Relationship Id="rId15" Type="http://schemas.openxmlformats.org/officeDocument/2006/relationships/slide" Target="slides/slide25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17.xml"/><Relationship Id="rId25" Type="http://schemas.openxmlformats.org/officeDocument/2006/relationships/slide" Target="slides/slide9.xml"/><Relationship Id="rId26" Type="http://schemas.openxmlformats.org/officeDocument/2006/relationships/slide" Target="slides/slide13.xml"/><Relationship Id="rId27" Type="http://schemas.openxmlformats.org/officeDocument/2006/relationships/slide" Target="slides/slide12.xml"/><Relationship Id="rId28" Type="http://schemas.openxmlformats.org/officeDocument/2006/relationships/slide" Target="slides/slide14.xml"/><Relationship Id="rId29" Type="http://schemas.openxmlformats.org/officeDocument/2006/relationships/slide" Target="slides/slide10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8246E-F43B-7844-94AD-6FEDFECFA997}" type="datetimeFigureOut">
              <a:rPr lang="en-AU" smtClean="0"/>
              <a:t>7/6/2026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B14CE-0691-564D-9B14-1D54B32B15D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53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B14CE-0691-564D-9B14-1D54B32B15D1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5925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6.png"/><Relationship Id="rId26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>
                <a:solidFill>
                  <a:srgbClr val="111111"/>
                </a:solidFill>
                <a:latin typeface="Inter"/>
              </a:rPr>
              <a:t>Technology, </a:t>
            </a:r>
            <a:r>
              <a:rPr lang="en-AU" sz="1600" b="1" i="0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400" b="1" i="0" spc="-135">
                <a:solidFill>
                  <a:srgbClr val="111111"/>
                </a:solidFill>
                <a:latin typeface="Inter"/>
              </a:rPr>
              <a:t>Technology, </a:t>
            </a:r>
            <a:r>
              <a:rPr lang="en-AU" sz="5400" b="1" i="0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 dirty="0">
                <a:solidFill>
                  <a:srgbClr val="323232"/>
                </a:solidFill>
                <a:latin typeface="Inter"/>
              </a:rPr>
              <a:t>ANZ’s largest locally owned Workday partner.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150" b="1" i="0" spc="46" dirty="0">
              <a:solidFill>
                <a:srgbClr val="AEAEAE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>
                <a:solidFill>
                  <a:srgbClr val="323232"/>
                </a:solidFill>
                <a:latin typeface="Inter"/>
              </a:rPr>
              <a:t>mivada.com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000" b="1" i="0" spc="-87" dirty="0">
                <a:solidFill>
                  <a:srgbClr val="111111"/>
                </a:solidFill>
                <a:latin typeface="Inter"/>
              </a:rPr>
              <a:t>ANZ’s Largest locally owned Workday </a:t>
            </a:r>
            <a:r>
              <a:rPr lang="en-AU" sz="4000" b="1" i="0" spc="-87" dirty="0">
                <a:solidFill>
                  <a:srgbClr val="EA493F"/>
                </a:solidFill>
                <a:latin typeface="Inter"/>
              </a:rPr>
              <a:t>partner.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Global Scale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Workday Team</a:t>
            </a:r>
          </a:p>
        </p:txBody>
      </p:sp>
      <p:cxnSp>
        <p:nvCxnSpPr>
          <p:cNvPr id="15" name="Connector 11">
            <a:extLst>
              <a:ext uri="{FF2B5EF4-FFF2-40B4-BE49-F238E27FC236}">
                <a16:creationId xmlns:a16="http://schemas.microsoft.com/office/drawing/2014/main" id="{548C4017-CAC6-57C9-2F4B-7ADBE7776FCB}"/>
              </a:ext>
            </a:extLst>
          </p:cNvPr>
          <p:cNvCxnSpPr>
            <a:cxnSpLocks/>
          </p:cNvCxnSpPr>
          <p:nvPr/>
        </p:nvCxnSpPr>
        <p:spPr>
          <a:xfrm rot="5400000">
            <a:off x="6727207" y="2682242"/>
            <a:ext cx="2209614" cy="6349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914FF8-BDF7-2D65-999C-151C0CE683DC}"/>
              </a:ext>
            </a:extLst>
          </p:cNvPr>
          <p:cNvSpPr txBox="1"/>
          <p:nvPr/>
        </p:nvSpPr>
        <p:spPr>
          <a:xfrm>
            <a:off x="8146084" y="1719072"/>
            <a:ext cx="32940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75" dirty="0">
                <a:solidFill>
                  <a:srgbClr val="111111"/>
                </a:solidFill>
                <a:latin typeface="Inter"/>
              </a:rPr>
              <a:t>HCM, Payroll</a:t>
            </a: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 &amp; Time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Finance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Adaptive Planning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spc="-75" dirty="0">
                <a:solidFill>
                  <a:srgbClr val="111111"/>
                </a:solidFill>
                <a:latin typeface="Inter"/>
              </a:rPr>
              <a:t>A.I. &amp; Sana</a:t>
            </a:r>
            <a:endParaRPr lang="en-AU" sz="2000" b="1" i="0" spc="-75" dirty="0">
              <a:solidFill>
                <a:srgbClr val="101010"/>
              </a:solidFill>
              <a:latin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E8F8E-8618-0D2E-16E7-910AD5EBDC61}"/>
              </a:ext>
            </a:extLst>
          </p:cNvPr>
          <p:cNvSpPr txBox="1"/>
          <p:nvPr/>
        </p:nvSpPr>
        <p:spPr>
          <a:xfrm>
            <a:off x="877824" y="3209544"/>
            <a:ext cx="550984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 dirty="0">
                <a:solidFill>
                  <a:srgbClr val="323232"/>
                </a:solidFill>
                <a:latin typeface="Inter"/>
              </a:rPr>
              <a:t>Grew out of the customer | Local Accountability | Global Scale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26374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in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2000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IMPLEMENTATIONS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323232"/>
                </a:solidFill>
                <a:latin typeface="Inter"/>
              </a:rPr>
              <a:t>Workday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323232"/>
                </a:solidFill>
                <a:latin typeface="Inter"/>
              </a:rPr>
              <a:t>YEARS DELIVERING WORKDAY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B70A9E2-1083-947A-1124-925835F03F87}"/>
              </a:ext>
            </a:extLst>
          </p:cNvPr>
          <p:cNvGrpSpPr/>
          <p:nvPr/>
        </p:nvGrpSpPr>
        <p:grpSpPr>
          <a:xfrm>
            <a:off x="-3134921" y="-3835462"/>
            <a:ext cx="8316521" cy="2937890"/>
            <a:chOff x="1078840" y="2748403"/>
            <a:chExt cx="10029039" cy="3542851"/>
          </a:xfrm>
        </p:grpSpPr>
        <p:pic>
          <p:nvPicPr>
            <p:cNvPr id="74" name="Google Shape;676;p21" descr="Picture 4">
              <a:extLst>
                <a:ext uri="{FF2B5EF4-FFF2-40B4-BE49-F238E27FC236}">
                  <a16:creationId xmlns:a16="http://schemas.microsoft.com/office/drawing/2014/main" id="{8C85D48B-68D8-84CF-0E2B-05DE1CC885D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678;p21" descr="Content Placeholder 10">
              <a:extLst>
                <a:ext uri="{FF2B5EF4-FFF2-40B4-BE49-F238E27FC236}">
                  <a16:creationId xmlns:a16="http://schemas.microsoft.com/office/drawing/2014/main" id="{04DB82FF-387E-1943-81FA-D57CEB3AC6DC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679;p21" descr="Picture 2">
              <a:extLst>
                <a:ext uri="{FF2B5EF4-FFF2-40B4-BE49-F238E27FC236}">
                  <a16:creationId xmlns:a16="http://schemas.microsoft.com/office/drawing/2014/main" id="{05E3B940-ADBF-D614-5224-ABC41C9200E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680;p21" descr="Picture 4">
              <a:extLst>
                <a:ext uri="{FF2B5EF4-FFF2-40B4-BE49-F238E27FC236}">
                  <a16:creationId xmlns:a16="http://schemas.microsoft.com/office/drawing/2014/main" id="{3E68D501-0736-49B6-E8A1-6D3E15F58B6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682;p21" descr="Picture 8">
              <a:extLst>
                <a:ext uri="{FF2B5EF4-FFF2-40B4-BE49-F238E27FC236}">
                  <a16:creationId xmlns:a16="http://schemas.microsoft.com/office/drawing/2014/main" id="{826844F8-2DB4-7B77-60C2-A77601A4F4E2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684;p21" descr="Picture 2">
              <a:extLst>
                <a:ext uri="{FF2B5EF4-FFF2-40B4-BE49-F238E27FC236}">
                  <a16:creationId xmlns:a16="http://schemas.microsoft.com/office/drawing/2014/main" id="{656575EA-1C0A-0650-DA84-48087CF2FC13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686;p21" descr="Picture 4">
              <a:extLst>
                <a:ext uri="{FF2B5EF4-FFF2-40B4-BE49-F238E27FC236}">
                  <a16:creationId xmlns:a16="http://schemas.microsoft.com/office/drawing/2014/main" id="{3F74D8AB-08B9-3EB4-F829-115C79FADF57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Picture 4" descr="Rio Tinto logo">
              <a:extLst>
                <a:ext uri="{FF2B5EF4-FFF2-40B4-BE49-F238E27FC236}">
                  <a16:creationId xmlns:a16="http://schemas.microsoft.com/office/drawing/2014/main" id="{E6EF3C45-9C66-A373-D1F1-0E90360BCB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" descr="Member login">
              <a:extLst>
                <a:ext uri="{FF2B5EF4-FFF2-40B4-BE49-F238E27FC236}">
                  <a16:creationId xmlns:a16="http://schemas.microsoft.com/office/drawing/2014/main" id="{B28E4085-65AC-2CAF-384F-A2D848D2C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8" descr="Articles tagged with 'catering' | Dnata">
              <a:extLst>
                <a:ext uri="{FF2B5EF4-FFF2-40B4-BE49-F238E27FC236}">
                  <a16:creationId xmlns:a16="http://schemas.microsoft.com/office/drawing/2014/main" id="{6ED96ECC-71E4-DE0A-58A4-C800462C85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2F00174B-E940-69C5-76CD-9CB091F660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 descr="Seven West Media | Logopedia | Fandom">
              <a:extLst>
                <a:ext uri="{FF2B5EF4-FFF2-40B4-BE49-F238E27FC236}">
                  <a16:creationId xmlns:a16="http://schemas.microsoft.com/office/drawing/2014/main" id="{6F049F6B-EC08-90E4-6D8C-B395BDA53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6" descr="Canva's Logo gets a New Re-definition">
              <a:extLst>
                <a:ext uri="{FF2B5EF4-FFF2-40B4-BE49-F238E27FC236}">
                  <a16:creationId xmlns:a16="http://schemas.microsoft.com/office/drawing/2014/main" id="{567CB764-ACE0-15F4-AF3F-CC10287AD2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7261AAD4-E7A6-AEE0-3F62-4B7CCE2EF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F1C67F03-A65C-F00D-36A2-401AD626C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00370A5-7EE6-EAFD-31AE-19D85C017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90" name="Picture 4" descr="Kennards Self Storage">
              <a:extLst>
                <a:ext uri="{FF2B5EF4-FFF2-40B4-BE49-F238E27FC236}">
                  <a16:creationId xmlns:a16="http://schemas.microsoft.com/office/drawing/2014/main" id="{FEDE0620-87AA-F7C1-8E74-880782856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2" descr="Resmed | The World Leader in Sleep Health">
              <a:extLst>
                <a:ext uri="{FF2B5EF4-FFF2-40B4-BE49-F238E27FC236}">
                  <a16:creationId xmlns:a16="http://schemas.microsoft.com/office/drawing/2014/main" id="{7C33DA76-B27D-F9D1-4C6C-5F5D6F1B26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2" descr="Careers - ProPharma">
              <a:extLst>
                <a:ext uri="{FF2B5EF4-FFF2-40B4-BE49-F238E27FC236}">
                  <a16:creationId xmlns:a16="http://schemas.microsoft.com/office/drawing/2014/main" id="{8571BE7A-32F5-B2BB-C305-A2C95E1D1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6" descr="Housing – Disability Advocacy Pathways">
              <a:extLst>
                <a:ext uri="{FF2B5EF4-FFF2-40B4-BE49-F238E27FC236}">
                  <a16:creationId xmlns:a16="http://schemas.microsoft.com/office/drawing/2014/main" id="{776BD979-78D9-7821-40B4-10A2CA4B19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14" descr="logo-melbourne-uni - Silverstone Edge">
              <a:extLst>
                <a:ext uri="{FF2B5EF4-FFF2-40B4-BE49-F238E27FC236}">
                  <a16:creationId xmlns:a16="http://schemas.microsoft.com/office/drawing/2014/main" id="{786AD385-D56B-F3F9-7293-DE51B2DB30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8" descr="AS White Global | LinkedIn">
              <a:extLst>
                <a:ext uri="{FF2B5EF4-FFF2-40B4-BE49-F238E27FC236}">
                  <a16:creationId xmlns:a16="http://schemas.microsoft.com/office/drawing/2014/main" id="{3D6C68E9-CAE8-5D65-9899-B2013AEBE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96" name="Picture 4" descr="CloudRock">
            <a:extLst>
              <a:ext uri="{FF2B5EF4-FFF2-40B4-BE49-F238E27FC236}">
                <a16:creationId xmlns:a16="http://schemas.microsoft.com/office/drawing/2014/main" id="{797BFF79-7C72-5D53-58C7-EB2D6146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236" y="5486401"/>
            <a:ext cx="905383" cy="9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6" descr="Workday Extend Application Development ...">
            <a:extLst>
              <a:ext uri="{FF2B5EF4-FFF2-40B4-BE49-F238E27FC236}">
                <a16:creationId xmlns:a16="http://schemas.microsoft.com/office/drawing/2014/main" id="{C2D2EC2D-C367-7A7B-D3C6-7BF335DB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854" y="5486401"/>
            <a:ext cx="909424" cy="90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In good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 dirty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B9FC064-FD9A-7FC4-E8D9-438DFD722AC9}"/>
              </a:ext>
            </a:extLst>
          </p:cNvPr>
          <p:cNvGrpSpPr/>
          <p:nvPr/>
        </p:nvGrpSpPr>
        <p:grpSpPr>
          <a:xfrm>
            <a:off x="1081479" y="2748406"/>
            <a:ext cx="10029043" cy="3542855"/>
            <a:chOff x="1078840" y="2748406"/>
            <a:chExt cx="10029043" cy="3542855"/>
          </a:xfrm>
        </p:grpSpPr>
        <p:pic>
          <p:nvPicPr>
            <p:cNvPr id="55" name="Google Shape;676;p21" descr="Picture 4">
              <a:extLst>
                <a:ext uri="{FF2B5EF4-FFF2-40B4-BE49-F238E27FC236}">
                  <a16:creationId xmlns:a16="http://schemas.microsoft.com/office/drawing/2014/main" id="{16304621-3EFA-2824-B6EB-A5D6AB5EF8F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678;p21" descr="Content Placeholder 10">
              <a:extLst>
                <a:ext uri="{FF2B5EF4-FFF2-40B4-BE49-F238E27FC236}">
                  <a16:creationId xmlns:a16="http://schemas.microsoft.com/office/drawing/2014/main" id="{8072590E-6A01-5B5B-011A-3FDAEA45F960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679;p21" descr="Picture 2">
              <a:extLst>
                <a:ext uri="{FF2B5EF4-FFF2-40B4-BE49-F238E27FC236}">
                  <a16:creationId xmlns:a16="http://schemas.microsoft.com/office/drawing/2014/main" id="{1492C804-5466-56E0-C49E-E9CC2CAF81A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680;p21" descr="Picture 4">
              <a:extLst>
                <a:ext uri="{FF2B5EF4-FFF2-40B4-BE49-F238E27FC236}">
                  <a16:creationId xmlns:a16="http://schemas.microsoft.com/office/drawing/2014/main" id="{C6F847C2-7547-5BC0-88DC-F3EE4A9C1F5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82;p21" descr="Picture 8">
              <a:extLst>
                <a:ext uri="{FF2B5EF4-FFF2-40B4-BE49-F238E27FC236}">
                  <a16:creationId xmlns:a16="http://schemas.microsoft.com/office/drawing/2014/main" id="{AE3B3BFE-B713-7665-2470-A1520CBCDDE5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84;p21" descr="Picture 2">
              <a:extLst>
                <a:ext uri="{FF2B5EF4-FFF2-40B4-BE49-F238E27FC236}">
                  <a16:creationId xmlns:a16="http://schemas.microsoft.com/office/drawing/2014/main" id="{593C88A1-9578-A6E7-53D4-FA511B4B75F2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86;p21" descr="Picture 4">
              <a:extLst>
                <a:ext uri="{FF2B5EF4-FFF2-40B4-BE49-F238E27FC236}">
                  <a16:creationId xmlns:a16="http://schemas.microsoft.com/office/drawing/2014/main" id="{F09E3182-D60A-A868-2D32-E9C262806953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Picture 4" descr="Rio Tinto logo">
              <a:extLst>
                <a:ext uri="{FF2B5EF4-FFF2-40B4-BE49-F238E27FC236}">
                  <a16:creationId xmlns:a16="http://schemas.microsoft.com/office/drawing/2014/main" id="{FC853AAC-0892-7D17-2AEA-D2EA13336D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6" descr="Member login">
              <a:extLst>
                <a:ext uri="{FF2B5EF4-FFF2-40B4-BE49-F238E27FC236}">
                  <a16:creationId xmlns:a16="http://schemas.microsoft.com/office/drawing/2014/main" id="{47E3C958-9502-6CE6-25A9-A6D847F9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8" descr="Articles tagged with 'catering' | Dnata">
              <a:extLst>
                <a:ext uri="{FF2B5EF4-FFF2-40B4-BE49-F238E27FC236}">
                  <a16:creationId xmlns:a16="http://schemas.microsoft.com/office/drawing/2014/main" id="{72732A54-B12E-DF81-9ECB-437D62B7D4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1E7B0814-BFE5-E552-2A3B-96AE24E579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Seven West Media | Logopedia | Fandom">
              <a:extLst>
                <a:ext uri="{FF2B5EF4-FFF2-40B4-BE49-F238E27FC236}">
                  <a16:creationId xmlns:a16="http://schemas.microsoft.com/office/drawing/2014/main" id="{D70F523C-FAC2-7872-6E70-06608686F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6" descr="Canva's Logo gets a New Re-definition">
              <a:extLst>
                <a:ext uri="{FF2B5EF4-FFF2-40B4-BE49-F238E27FC236}">
                  <a16:creationId xmlns:a16="http://schemas.microsoft.com/office/drawing/2014/main" id="{27BA2950-A64F-76FF-5FCE-0F4B6C9E77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8D6F0194-702A-FD2D-6737-E4B2EFA45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69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7C05EB16-ECC7-8A21-631B-B6D9E9F29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517AD38-486B-172B-2946-5D83F6AFE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72" name="Picture 4" descr="Kennards Self Storage">
              <a:extLst>
                <a:ext uri="{FF2B5EF4-FFF2-40B4-BE49-F238E27FC236}">
                  <a16:creationId xmlns:a16="http://schemas.microsoft.com/office/drawing/2014/main" id="{43C80418-3D3D-D050-D1DD-FCC63419F6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Resmed | The World Leader in Sleep Health">
              <a:extLst>
                <a:ext uri="{FF2B5EF4-FFF2-40B4-BE49-F238E27FC236}">
                  <a16:creationId xmlns:a16="http://schemas.microsoft.com/office/drawing/2014/main" id="{A15815DD-CFB7-34F5-9664-AFD35F6529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Careers - ProPharma">
              <a:extLst>
                <a:ext uri="{FF2B5EF4-FFF2-40B4-BE49-F238E27FC236}">
                  <a16:creationId xmlns:a16="http://schemas.microsoft.com/office/drawing/2014/main" id="{5FF5F5F9-232E-43C4-F1E2-97B1F09E3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ousing – Disability Advocacy Pathways">
              <a:extLst>
                <a:ext uri="{FF2B5EF4-FFF2-40B4-BE49-F238E27FC236}">
                  <a16:creationId xmlns:a16="http://schemas.microsoft.com/office/drawing/2014/main" id="{6B29799C-B442-8111-B9D3-A107A505B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logo-melbourne-uni - Silverstone Edge">
              <a:extLst>
                <a:ext uri="{FF2B5EF4-FFF2-40B4-BE49-F238E27FC236}">
                  <a16:creationId xmlns:a16="http://schemas.microsoft.com/office/drawing/2014/main" id="{E2517584-38BC-4C3E-81A2-D7D6782B3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AS White Global | LinkedIn">
              <a:extLst>
                <a:ext uri="{FF2B5EF4-FFF2-40B4-BE49-F238E27FC236}">
                  <a16:creationId xmlns:a16="http://schemas.microsoft.com/office/drawing/2014/main" id="{758697FA-6FDF-96E9-492A-6C1A5A99E0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43" name="Picture 10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 dirty="0">
                <a:solidFill>
                  <a:srgbClr val="111111"/>
                </a:solidFill>
                <a:latin typeface="Inter"/>
              </a:rPr>
              <a:t>Across your </a:t>
            </a:r>
            <a:r>
              <a:rPr lang="en-AU" sz="3400" b="1" spc="-74" dirty="0">
                <a:solidFill>
                  <a:srgbClr val="EA493F"/>
                </a:solidFill>
                <a:latin typeface="Inter"/>
              </a:rPr>
              <a:t>ERP</a:t>
            </a:r>
            <a:r>
              <a:rPr lang="en-AU" sz="3400" b="1" i="0" spc="-74" dirty="0">
                <a:solidFill>
                  <a:srgbClr val="EA493F"/>
                </a:solidFill>
                <a:latin typeface="Inter"/>
              </a:rPr>
              <a:t>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spc="-42" dirty="0">
                <a:solidFill>
                  <a:srgbClr val="111111"/>
                </a:solidFill>
                <a:latin typeface="Inter"/>
              </a:rPr>
              <a:t>ERP </a:t>
            </a: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HCM, Payroll, Time &amp; Attendance and Finance—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Data, Analytics &amp; B.I.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Automation &amp; A.I.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111111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Application Managed Service, Managed Payroll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323232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 dirty="0">
                <a:solidFill>
                  <a:srgbClr val="EA493F"/>
                </a:solidFill>
                <a:latin typeface="Inter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Across the whole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 dirty="0">
                <a:solidFill>
                  <a:srgbClr val="111111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1072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111111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7696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2016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111111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1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438912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8768" y="457200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LEAD IMPLEMENTATION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901183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Our certified consultants, leading implementation using Workday best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200" b="0" i="0" spc="0" dirty="0">
              <a:solidFill>
                <a:srgbClr val="D6D6D6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97696" y="4389120"/>
            <a:ext cx="2322576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2016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111111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0">
                <a:solidFill>
                  <a:srgbClr val="111111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9DA16E-2A45-15A0-E8CE-0C2B93A91FEA}"/>
              </a:ext>
            </a:extLst>
          </p:cNvPr>
          <p:cNvSpPr/>
          <p:nvPr/>
        </p:nvSpPr>
        <p:spPr>
          <a:xfrm>
            <a:off x="3584448" y="544068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D086C-4790-1E0E-A2ED-959F3DEB7F75}"/>
              </a:ext>
            </a:extLst>
          </p:cNvPr>
          <p:cNvSpPr txBox="1"/>
          <p:nvPr/>
        </p:nvSpPr>
        <p:spPr>
          <a:xfrm>
            <a:off x="3858768" y="562356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6ED5A2-E007-69EC-DC75-4A45FDD9E1AF}"/>
              </a:ext>
            </a:extLst>
          </p:cNvPr>
          <p:cNvSpPr txBox="1"/>
          <p:nvPr/>
        </p:nvSpPr>
        <p:spPr>
          <a:xfrm>
            <a:off x="3858768" y="595274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>
                <a:solidFill>
                  <a:srgbClr val="323232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60CB8F-AA6E-AE2F-2D3A-34F8235E0AE1}"/>
              </a:ext>
            </a:extLst>
          </p:cNvPr>
          <p:cNvSpPr/>
          <p:nvPr/>
        </p:nvSpPr>
        <p:spPr>
          <a:xfrm>
            <a:off x="877824" y="2194560"/>
            <a:ext cx="232257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529C9C-7D48-0778-48BA-49F267AB2CB4}"/>
              </a:ext>
            </a:extLst>
          </p:cNvPr>
          <p:cNvSpPr txBox="1"/>
          <p:nvPr/>
        </p:nvSpPr>
        <p:spPr>
          <a:xfrm>
            <a:off x="1152144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 dirty="0">
                <a:solidFill>
                  <a:srgbClr val="EA493F"/>
                </a:solidFill>
                <a:latin typeface="Inter"/>
              </a:rPr>
              <a:t>ADVISE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7A7AF-9BD2-7863-DCAB-7516FC26351D}"/>
              </a:ext>
            </a:extLst>
          </p:cNvPr>
          <p:cNvSpPr txBox="1"/>
          <p:nvPr/>
        </p:nvSpPr>
        <p:spPr>
          <a:xfrm>
            <a:off x="1152144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spc="-13" dirty="0">
                <a:solidFill>
                  <a:srgbClr val="111111"/>
                </a:solidFill>
                <a:latin typeface="Inter"/>
              </a:rPr>
              <a:t>Roadmap, business case, readiness assessments  and planning</a:t>
            </a:r>
            <a:endParaRPr lang="en-AU" sz="1350" b="1" i="0" spc="-13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36C3F-B242-B1D1-FBDF-A2A4306C420A}"/>
              </a:ext>
            </a:extLst>
          </p:cNvPr>
          <p:cNvSpPr txBox="1"/>
          <p:nvPr/>
        </p:nvSpPr>
        <p:spPr>
          <a:xfrm>
            <a:off x="3118104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485C6F-21C8-A144-D289-A5CAB920C584}"/>
              </a:ext>
            </a:extLst>
          </p:cNvPr>
          <p:cNvSpPr/>
          <p:nvPr/>
        </p:nvSpPr>
        <p:spPr>
          <a:xfrm>
            <a:off x="877824" y="4389120"/>
            <a:ext cx="2322576" cy="196596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E26CCE-9611-23DC-2480-402EFFEC6326}"/>
              </a:ext>
            </a:extLst>
          </p:cNvPr>
          <p:cNvSpPr txBox="1"/>
          <p:nvPr/>
        </p:nvSpPr>
        <p:spPr>
          <a:xfrm>
            <a:off x="1152144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ADVISORY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FA19F4-5A3C-B9AB-C186-20717E5E6650}"/>
              </a:ext>
            </a:extLst>
          </p:cNvPr>
          <p:cNvSpPr txBox="1"/>
          <p:nvPr/>
        </p:nvSpPr>
        <p:spPr>
          <a:xfrm>
            <a:off x="1152144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323232"/>
                </a:solidFill>
                <a:latin typeface="Inter"/>
              </a:rPr>
              <a:t>Strategic advisory projects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A6E06-FEFB-95D8-6443-278395D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81B023-C453-A1C4-349B-A1AEC6DDCCC5}"/>
              </a:ext>
            </a:extLst>
          </p:cNvPr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363BB-A8F9-6883-0E80-F0BFD2B8EB21}"/>
              </a:ext>
            </a:extLst>
          </p:cNvPr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111111"/>
                </a:solidFill>
                <a:latin typeface="Inter"/>
              </a:rPr>
              <a:t>Four ways we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3C0180-A632-D46E-8464-AE171C27DD3A}"/>
              </a:ext>
            </a:extLst>
          </p:cNvPr>
          <p:cNvSpPr/>
          <p:nvPr/>
        </p:nvSpPr>
        <p:spPr>
          <a:xfrm>
            <a:off x="877824" y="2331720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57032A-314D-94E0-F4DC-F2364B7E3EAA}"/>
              </a:ext>
            </a:extLst>
          </p:cNvPr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Lead 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0339-5953-E012-DBC5-DAF3A4E9298F}"/>
              </a:ext>
            </a:extLst>
          </p:cNvPr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111111"/>
                </a:solidFill>
                <a:latin typeface="Inter"/>
              </a:rPr>
              <a:t>Our certified consultants, </a:t>
            </a:r>
            <a:r>
              <a:rPr lang="en-AU" sz="1450" spc="-14" dirty="0">
                <a:solidFill>
                  <a:srgbClr val="111111"/>
                </a:solidFill>
                <a:latin typeface="Inter"/>
              </a:rPr>
              <a:t>leading implementation using Workday best practice</a:t>
            </a:r>
            <a:endParaRPr lang="en-AU" sz="1450" i="0" spc="-14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69D60C-FEA9-E529-6D7C-7D43B5F395A4}"/>
              </a:ext>
            </a:extLst>
          </p:cNvPr>
          <p:cNvSpPr/>
          <p:nvPr/>
        </p:nvSpPr>
        <p:spPr>
          <a:xfrm>
            <a:off x="6278727" y="2331720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5D1168-6354-7EC7-4B2E-2D8FBF92C177}"/>
              </a:ext>
            </a:extLst>
          </p:cNvPr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0FE74-4765-EA99-0F78-928CB310EE85}"/>
              </a:ext>
            </a:extLst>
          </p:cNvPr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111111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B0CBBA-3CBD-0F91-2EBD-53685AFAE309}"/>
              </a:ext>
            </a:extLst>
          </p:cNvPr>
          <p:cNvSpPr/>
          <p:nvPr/>
        </p:nvSpPr>
        <p:spPr>
          <a:xfrm>
            <a:off x="877824" y="3922776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361499-A0C4-47EB-59C7-4D450E468221}"/>
              </a:ext>
            </a:extLst>
          </p:cNvPr>
          <p:cNvSpPr txBox="1"/>
          <p:nvPr/>
        </p:nvSpPr>
        <p:spPr>
          <a:xfrm>
            <a:off x="1152144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MANAGED SERVICES-  AMS</a:t>
            </a:r>
            <a:endParaRPr lang="en-AU" sz="1250" b="1" i="0" cap="all" spc="150" dirty="0">
              <a:solidFill>
                <a:srgbClr val="EA493F"/>
              </a:solidFill>
              <a:latin typeface="Inter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FD555-014D-0FF8-D96B-206B9BF58DE9}"/>
              </a:ext>
            </a:extLst>
          </p:cNvPr>
          <p:cNvSpPr txBox="1"/>
          <p:nvPr/>
        </p:nvSpPr>
        <p:spPr>
          <a:xfrm>
            <a:off x="1152144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111111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47FCB-8A15-6EF6-350B-DE863B2D2467}"/>
              </a:ext>
            </a:extLst>
          </p:cNvPr>
          <p:cNvSpPr/>
          <p:nvPr/>
        </p:nvSpPr>
        <p:spPr>
          <a:xfrm>
            <a:off x="6278727" y="3922776"/>
            <a:ext cx="5035143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0EB90-3F05-3D03-34CA-4D07F911B893}"/>
              </a:ext>
            </a:extLst>
          </p:cNvPr>
          <p:cNvSpPr txBox="1"/>
          <p:nvPr/>
        </p:nvSpPr>
        <p:spPr>
          <a:xfrm>
            <a:off x="6553047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MANAGED SERVICES - Managed Payroll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F7E83E-9779-A690-5073-8077B485AD57}"/>
              </a:ext>
            </a:extLst>
          </p:cNvPr>
          <p:cNvSpPr txBox="1"/>
          <p:nvPr/>
        </p:nvSpPr>
        <p:spPr>
          <a:xfrm>
            <a:off x="6553047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111111"/>
                </a:solidFill>
                <a:latin typeface="Inter"/>
              </a:rPr>
              <a:t>We own the system, we managed the payroll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71646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Velocity &amp; Value — </a:t>
            </a:r>
            <a:r>
              <a:rPr sz="3300" b="1">
                <a:solidFill>
                  <a:srgbClr val="EA493F"/>
                </a:solidFill>
                <a:latin typeface="Inter"/>
              </a:rPr>
              <a:t>Workday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Workday's packaged deployment model — proven, best-practice processes, live fast.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A493F"/>
                </a:solidFill>
                <a:latin typeface="Inter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Pre-configured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All standard HR, payroll &amp; talent processes — prebuilt to Workday's ANZ leading practice.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Inter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Unique to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The configuration that flexes Workday to your data, org structure, pay cycles and awards.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968496"/>
            <a:ext cx="104424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Five-phase delivery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1. Mobilise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Charter &amp;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1526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50438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96742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2. Architect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Workshops &amp;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414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3052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9356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3. Configure &amp; Prototype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Build &amp; iterate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755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95667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1971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4. Test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End-to-end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369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68281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4585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5. Deploy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Cutover &amp; hypercare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IMPLEMENTATION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implementation </a:t>
            </a:r>
            <a:r>
              <a:rPr sz="3300" b="1">
                <a:solidFill>
                  <a:srgbClr val="EA493F"/>
                </a:solidFill>
                <a:latin typeface="Inter"/>
              </a:rPr>
              <a:t>timeline.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single 20-week delivery brings all your modules live in one go-live — followed by four weeks of Hypercare.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212848"/>
            <a:ext cx="10442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11111"/>
                </a:solidFill>
                <a:latin typeface="Inter"/>
              </a:rPr>
              <a:t>One phase  ·  20 weeks to go-live  ·  all modules.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Mobilise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293979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6898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Architect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346557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3–7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9476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Configure &amp; Prototype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99135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8–13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32054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451713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14–19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84632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EA493F"/>
                </a:solidFill>
                <a:latin typeface="Inter"/>
              </a:rPr>
              <a:t>GO-LIVE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1720" y="504291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50653" y="4892040"/>
            <a:ext cx="377519" cy="32918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1324" y="484632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11111"/>
                </a:solidFill>
                <a:latin typeface="Inter"/>
              </a:rPr>
              <a:t>Wk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3721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Hypercare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31720" y="5568696"/>
            <a:ext cx="8988552" cy="27432"/>
          </a:xfrm>
          <a:prstGeom prst="rect">
            <a:avLst/>
          </a:prstGeom>
          <a:solidFill>
            <a:srgbClr val="EFEFE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solidFill>
            <a:srgbClr val="E4E4E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111111"/>
                </a:solidFill>
                <a:latin typeface="Inter"/>
              </a:rPr>
              <a:t>Wk 21–24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5943600"/>
            <a:ext cx="10442448" cy="676656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8" y="5943600"/>
            <a:ext cx="9784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One team. One go-live. Twenty weeks.  </a:t>
            </a:r>
            <a:r>
              <a:rPr sz="1100" b="0">
                <a:solidFill>
                  <a:srgbClr val="FFFFFF"/>
                </a:solidFill>
                <a:latin typeface="Inter"/>
              </a:rPr>
              <a:t>Workday GO's preconfigured tenant removes the design overhead — we validate, tailor and stand your team up, all modules live together at week 20.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The Data Handshake: </a:t>
            </a:r>
            <a:r>
              <a:rPr sz="3300" b="1">
                <a:solidFill>
                  <a:srgbClr val="EA493F"/>
                </a:solidFill>
                <a:latin typeface="Inter"/>
              </a:rPr>
              <a:t>ensuring certainty.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627632"/>
            <a:ext cx="104424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Data is the fuel for your Workday engine — and accurate data is the only way to ensure operational success. We use a collaborative handshake model that plays to each side's strengths.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14416" y="2331720"/>
            <a:ext cx="969264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EA493F"/>
                </a:solidFill>
                <a:latin typeface="Inter"/>
              </a:rPr>
              <a:t>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You know your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Extract &amp; cleanse legacy data — ensuring only active, accurate records are migrated.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MIVADA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We know Workday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Provide the mapping templates and technical tooling to load data into Workday's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822191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Inter"/>
              </a:rPr>
              <a:t>Iterative validation — </a:t>
            </a:r>
            <a:r>
              <a:rPr sz="1700" b="1">
                <a:solidFill>
                  <a:srgbClr val="EA493F"/>
                </a:solidFill>
                <a:latin typeface="Inter"/>
              </a:rPr>
              <a:t>no “big-bang” loads.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261104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23232"/>
                </a:solidFill>
                <a:latin typeface="Inter"/>
              </a:rPr>
              <a:t>Three distinct load cycles let your team validate the numbers repeatedly — so the system is commercially accurate on day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First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Initial migration on a sample set — validates mapping templates and surfaces transformation issues early.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Second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Full dataset migration. Your team validates balances, org structures and employee records against source.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7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Gold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Final production load with current-state data — a point-in-time cutover, signed off before go-live.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THE ONE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delivery </a:t>
            </a:r>
            <a:r>
              <a:rPr sz="3300" b="1">
                <a:solidFill>
                  <a:srgbClr val="EA493F"/>
                </a:solidFill>
                <a:latin typeface="Inter"/>
              </a:rPr>
              <a:t>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Defined expertise across every layer of delivery — clear ownership, no gaps, no ambiguity, built on a “one team”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EA493F"/>
                </a:solidFill>
                <a:latin typeface="Inter"/>
              </a:rPr>
              <a:t>MIVADA DELIVERY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53920" y="3474720"/>
            <a:ext cx="34770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5392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133856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Engagement Manager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1292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292858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9434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7192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451860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88436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Consultants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0927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610862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7438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&amp; Integration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1072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11111"/>
                </a:solidFill>
                <a:latin typeface="Inter"/>
              </a:rPr>
              <a:t>CUSTOMER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Executive Sponsor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05672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51268" y="3474720"/>
            <a:ext cx="37088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51268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47104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Project Manager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7847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474305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0881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Change Manager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05672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401507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8083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Leads &amp; SMEs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3287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328708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65284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Testing Lead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66007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0255910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92486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Champions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882896"/>
            <a:ext cx="10442448" cy="1024128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" y="4882896"/>
            <a:ext cx="9784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EA493F"/>
                </a:solidFill>
                <a:latin typeface="Inter"/>
              </a:rPr>
              <a:t>A note on your team — </a:t>
            </a:r>
            <a:r>
              <a:rPr sz="1150" b="0">
                <a:solidFill>
                  <a:srgbClr val="FFFFFF"/>
                </a:solidFill>
                <a:latin typeface="Inter"/>
              </a:rPr>
              <a:t>these roles don't have to be separate individuals. In many organisations the same people play multiple roles; what matters is that every role is owned by someone with the authority and time to fulfil it.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GETTING PAYROLL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Payroll testing </a:t>
            </a:r>
            <a:r>
              <a:rPr sz="3300" b="1">
                <a:solidFill>
                  <a:srgbClr val="EA493F"/>
                </a:solidFill>
                <a:latin typeface="Inter"/>
              </a:rPr>
              <a:t>rigour.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Payroll is the one thing every employee notices on day one — so we prove it with structured, evidence-based parallel testing before any go-live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Full parallel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minimum — never just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Line-level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Variance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every earning, deduction &amp; super — not gross-to-gross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Net-pay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target tolerance for sign-off — explained variances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10442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Parallel testing cycle.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7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Legacy pay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Workday mirror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8224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2272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Line-level variance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0448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Root-cause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3024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Resolve &amp; document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54896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38944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85248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Formal sign-off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7824" y="5248656"/>
            <a:ext cx="10442448" cy="658368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8720" y="5248656"/>
            <a:ext cx="982065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Built for Australian complexity   </a:t>
            </a:r>
            <a:r>
              <a:rPr sz="1100" b="0">
                <a:solidFill>
                  <a:srgbClr val="FFFFFF"/>
                </a:solidFill>
                <a:latin typeface="Inter"/>
              </a:rPr>
              <a:t>modern awards &amp; EAs  ·  super &amp; STP  ·  leave loading &amp; Long Service Leave  ·  termination &amp; back-pay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Core HCM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5576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Absence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5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Time Tracking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5576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Recruiting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5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Talent &amp; Performance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65576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Compensation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5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Benefits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65576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0168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Payroll (AU / global)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Learning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76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Security &amp; BP config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5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65576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30168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Advanced &amp; Composite Reporting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91072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Financial Accounting (GL)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78824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43416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Accounting Center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91072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55664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78824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43416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91072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Procurement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78824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43416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Expenses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91072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5664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Banking &amp; Settlement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78824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3416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Business Assets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91072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4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Financial Reporting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78824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43416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Prism Analytics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91072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55664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Security &amp; BP config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878824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43416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7824" y="605332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323232"/>
                </a:solidFill>
                <a:latin typeface="Inter"/>
              </a:rPr>
              <a:t>Adaptive Planning — all modules.    ·    Cross-skilled across both suites — one team, two suites.</a:t>
            </a:r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AMS, built on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24">
                <a:solidFill>
                  <a:srgbClr val="323232"/>
                </a:solidFill>
                <a:latin typeface="Inter"/>
              </a:rPr>
              <a:t>Operational excellence, by design.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GOVERNANCE</a:t>
            </a:r>
            <a:r>
              <a:rPr lang="en-AU" sz="1000" b="0" i="0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Seamless onshore–offshore </a:t>
            </a:r>
            <a:r>
              <a:rPr sz="3300" b="1">
                <a:solidFill>
                  <a:srgbClr val="EA493F"/>
                </a:solidFill>
                <a:latin typeface="Inter"/>
              </a:rPr>
              <a:t>coverage.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Continuous support across time zones — onshore by day, offshore through the overlap, 24×7 on-call for P1/P2.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94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23232"/>
                </a:solidFill>
                <a:latin typeface="Inter"/>
              </a:rPr>
              <a:t>AEST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2212848"/>
            <a:ext cx="9217152" cy="18288"/>
          </a:xfrm>
          <a:prstGeom prst="rect">
            <a:avLst/>
          </a:prstGeom>
          <a:solidFill>
            <a:srgbClr val="E4E4E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ONSHORE · 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OFFSHORE ·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1696" y="3017520"/>
            <a:ext cx="3871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23232"/>
                </a:solidFill>
                <a:latin typeface="Inter"/>
              </a:rPr>
              <a:t>warm handover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3429000"/>
            <a:ext cx="5029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ONSHORE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Australia · 8:30–17:30 AEST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Governance &amp; stakeholder engagement · P1/P2 incident resolution · application health checks &amp; start-of-day triage.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429000"/>
            <a:ext cx="5029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OFFSHORE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India · 8:00–17:00 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Day-to-day incident management · routine incidents &amp; service requests · monitoring &amp; backlog resolution per SLA.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" y="5074920"/>
            <a:ext cx="10442448" cy="841248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074920"/>
            <a:ext cx="978408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EA493F"/>
                </a:solidFill>
                <a:latin typeface="Inter"/>
              </a:rPr>
              <a:t>24×7 on-call · P1 &amp; P2  </a:t>
            </a:r>
            <a:r>
              <a:rPr sz="1100" b="0">
                <a:solidFill>
                  <a:srgbClr val="FFFFFF"/>
                </a:solidFill>
                <a:latin typeface="Inter"/>
              </a:rPr>
              <a:t>incident support covered on-call, irrespective of tracking — an always-on safety net aligned to monthly hours.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GOVERNANCE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Strong governance, </a:t>
            </a:r>
            <a:r>
              <a:rPr sz="3300" b="1">
                <a:solidFill>
                  <a:srgbClr val="EA493F"/>
                </a:solidFill>
                <a:latin typeface="Inter"/>
              </a:rPr>
              <a:t>aligned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Transparent reporting · escalation by exception · decisions at the right tier · continuous improvement built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137160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CUSTOMER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1266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ACTIVITIES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75904" y="2194560"/>
            <a:ext cx="178308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194560"/>
            <a:ext cx="15270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MIVADA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58984" y="2194560"/>
            <a:ext cx="1161288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0" y="2194560"/>
            <a:ext cx="9052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CADENCE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" y="2615184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15184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STRATEGIC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424" y="2615184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12664" y="2615184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Strategic direction · innovation &amp; roadmap · investment alignment · relationship health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75904" y="2615184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615184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CEO · Client Partner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58984" y="2615184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0" y="2615184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3749039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749039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TACTICAL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9424" y="3749039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Business / Product Owner · IT Service Owner · Risk, Security &amp; Compliance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12664" y="3749039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68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Service &amp; SLA review · risk, security &amp; compliance · release planning · improvement backlog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75904" y="3749039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749039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58984" y="3749039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87000" y="3749039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" y="4882896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882896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OPERATIONAL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49424" y="4882896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744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IT App Support / AMS team · Change &amp; Release · Super Users / SMEs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12664" y="4882896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Incident triage &amp; resolution · change &amp; release execution · UX &amp; support · ops performance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75904" y="4882896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0" y="4882896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58984" y="4882896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87000" y="4882896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TRANSITION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Minimising risk, </a:t>
            </a:r>
            <a:r>
              <a:rPr sz="3300" b="1">
                <a:solidFill>
                  <a:srgbClr val="EA493F"/>
                </a:solidFill>
                <a:latin typeface="Inter"/>
              </a:rPr>
              <a:t>maximising readiness.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four-week transition to a confident go-live — governance live, knowledge transferred, parallel-run proven, then we lead.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Mobilise &amp; operating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Finalise AMS resourcing &amp; roles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Kickoff, governance &amp; cadences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ITSM access &amp; workflows · RACI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Governance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8416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4176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94176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Knowledge transfer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5344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Deep-dive KT across all modules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Review open items &amp; project plan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Reference docs · shadow internal teams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KT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8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10528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Process alignment &amp; parallel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1696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Align AMS to client ITSM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AMS runs tickets under supervision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Test escalation · measure SLA adherence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Cutover ready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0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26880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59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8048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Go-live readiness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Mivada leads AMS operations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Escalation &amp; major-incident mgmt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Daily reporting · acceptance sign-off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Go-live &amp; sign-off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SERVICE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Measurable </a:t>
            </a:r>
            <a:r>
              <a:rPr sz="3300" b="1">
                <a:solidFill>
                  <a:srgbClr val="EA493F"/>
                </a:solidFill>
                <a:latin typeface="Inter"/>
              </a:rPr>
              <a:t>service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Operational excellence through clear priorities, acknowledgement and resolution targets.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13716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1155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PRIORITY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240280"/>
            <a:ext cx="4956048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240280"/>
            <a:ext cx="4700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5472" y="2240280"/>
            <a:ext cx="201168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33488" y="224028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ACKNOWLEDGE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17152" y="2240280"/>
            <a:ext cx="210312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45168" y="2240280"/>
            <a:ext cx="1847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TARGET RESOLUTION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2679192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679192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9424" y="2679192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679192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Critical system issue with major impact, or preventing a vital business process (e.g. payroll unable to process).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5472" y="2679192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3488" y="2679192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30 minutes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2679192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2679192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4 hours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3566160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566160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49424" y="3566160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566160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Critical-severity issue with moderate impact, or an urgent issue with major business impact.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5472" y="3566160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3566160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1 hour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7152" y="3566160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3566160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8 hours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7824" y="4453128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53128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9424" y="4453128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4453128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Moderate impact on system performance where a workaround is known and available.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05472" y="4453128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33488" y="4453128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4 hours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17152" y="4453128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5168" y="4453128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3 business days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340096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340096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49424" y="5340096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77440" y="5340096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Low impact and/or low urgency; no significant impact on business performance.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05472" y="5340096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33488" y="5340096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1 business day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5340096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45168" y="5340096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5 business days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COMMERCIALS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Engagement </a:t>
            </a:r>
            <a:r>
              <a:rPr sz="3300" b="1">
                <a:solidFill>
                  <a:srgbClr val="EA493F"/>
                </a:solidFill>
                <a:latin typeface="Inter"/>
              </a:rPr>
              <a:t>pricing.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blended onshore–offshore managed service — predictable monthly cost, flexible hours.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100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allocated AMS capacity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month (AUD)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predictable managed-service fee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$180,000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year (AUD)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total annual commitment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703320"/>
            <a:ext cx="10442448" cy="713232"/>
          </a:xfrm>
          <a:prstGeom prst="rect">
            <a:avLst/>
          </a:prstGeom>
          <a:solidFill>
            <a:srgbClr val="111111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8" y="3703320"/>
            <a:ext cx="9784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A493F"/>
                </a:solidFill>
                <a:latin typeface="Inter"/>
              </a:rPr>
              <a:t>$150 AUD / hour   </a:t>
            </a:r>
            <a:r>
              <a:rPr sz="1200" b="0">
                <a:solidFill>
                  <a:srgbClr val="FFFFFF"/>
                </a:solidFill>
                <a:latin typeface="Inter"/>
              </a:rPr>
              <a:t>blended onshore–offshore rate · 40 / 60 split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617720"/>
            <a:ext cx="104424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Key considerations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956048"/>
            <a:ext cx="104424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Up to 20% of monthly hours can carry forward to the next month (unused hours only).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Hours flex up or down with requirements, reviewed against actual utilisation every six months.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Not restricted to any ticket type or Workday module — you decide how hours are used.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Onshore manages critical P1/P2 issues until the offshore team is online.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AUGMENTATION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Certified consultants, </a:t>
            </a:r>
            <a:r>
              <a:rPr sz="3300" b="1">
                <a:solidFill>
                  <a:srgbClr val="EA493F"/>
                </a:solidFill>
                <a:latin typeface="Inter"/>
              </a:rPr>
              <a:t>ready to mobilise.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Certified FIN and HCM consultants available to augment your team — onshore, offshore or blended.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[X]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FIN consultants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available to mobilise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HCM consultants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available to mobilise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Earliest 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onshore / offshore / blended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456432"/>
            <a:ext cx="96012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45643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STREAM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37943" y="3456432"/>
            <a:ext cx="35204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345643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CONSULTANT FOCUS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58383" y="3456432"/>
            <a:ext cx="16916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399" y="345643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CERTIFICATION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50023" y="3456432"/>
            <a:ext cx="14630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39" y="345643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LOCATION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13063" y="3456432"/>
            <a:ext cx="137160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1080" y="345643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AVAILABLE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84663" y="3456432"/>
            <a:ext cx="1435608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345643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ALLOCATION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" y="3840480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3840480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37943" y="3840480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5960" y="3840480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Core HCM, Absence, Time Tracking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58383" y="3840480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399" y="3840480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50023" y="3840480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78039" y="3840480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[Onshore – AU]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13063" y="3840480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384048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84663" y="3840480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12680" y="3840480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233672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423367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37943" y="4233672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65960" y="423367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Recruiting, Talent, Compensation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58383" y="4233672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399" y="423367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50023" y="4233672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78039" y="423367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[Offshore – IN]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13063" y="4233672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41080" y="423367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84663" y="4233672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2680" y="423367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7824" y="4626864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40" y="4626864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37943" y="4626864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65960" y="4626864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Payroll &amp; HCM integrations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58383" y="4626864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399" y="4626864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0023" y="4626864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78039" y="4626864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[AU / IN]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13063" y="4626864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41080" y="4626864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84663" y="4626864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12680" y="4626864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77824" y="5020055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5840" y="5020055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37943" y="5020055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965960" y="5020055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Core Financials, GL, Accounting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58383" y="5020055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399" y="5020055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50023" y="5020055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78039" y="5020055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[Onshore – AU]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13063" y="5020055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41080" y="5020055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884663" y="5020055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12680" y="5020055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77824" y="5413247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5840" y="5413247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37943" y="5413247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965960" y="5413247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Procurement, Expenses, AP / AR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358383" y="5413247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399" y="5413247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050023" y="5413247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78039" y="5413247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[Offshore – IN]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13063" y="5413247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41080" y="5413247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884663" y="5413247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012680" y="5413247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7824" y="5806439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5840" y="5806439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837943" y="5806439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965960" y="5806439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FIN integrations &amp; Reporting / Prism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358383" y="5806439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399" y="5806439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050023" y="5806439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78039" y="5806439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[AU / IN]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513063" y="5806439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641080" y="5806439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884663" y="5806439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012680" y="5806439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7824" y="6272784"/>
            <a:ext cx="10442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23232"/>
                </a:solidFill>
                <a:latin typeface="Inter"/>
              </a:rPr>
              <a:t>Placeholder capacity — to be confirmed against the live FIN / HCM bench.</a:t>
            </a:r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pic>
        <p:nvPicPr>
          <p:cNvPr id="35" name="Picture 34" descr="A screen shot of a diagram&#10;&#10;AI-generated content may be incorrect.">
            <a:extLst>
              <a:ext uri="{FF2B5EF4-FFF2-40B4-BE49-F238E27FC236}">
                <a16:creationId xmlns:a16="http://schemas.microsoft.com/office/drawing/2014/main" id="{B076234D-C9BC-A483-757A-14C1E71951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87" b="4759"/>
          <a:stretch>
            <a:fillRect/>
          </a:stretch>
        </p:blipFill>
        <p:spPr bwMode="auto">
          <a:xfrm>
            <a:off x="2111518" y="1920240"/>
            <a:ext cx="7968963" cy="419317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ctor 13"/>
          <p:cNvCxnSpPr>
            <a:cxnSpLocks/>
          </p:cNvCxnSpPr>
          <p:nvPr/>
        </p:nvCxnSpPr>
        <p:spPr>
          <a:xfrm>
            <a:off x="6096000" y="4716999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9FBE9EEB-F172-D844-4773-AE08CB561A7E}"/>
              </a:ext>
            </a:extLst>
          </p:cNvPr>
          <p:cNvCxnSpPr>
            <a:cxnSpLocks/>
          </p:cNvCxnSpPr>
          <p:nvPr/>
        </p:nvCxnSpPr>
        <p:spPr>
          <a:xfrm>
            <a:off x="6096000" y="3594466"/>
            <a:ext cx="0" cy="27432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111111"/>
                </a:solidFill>
                <a:latin typeface="Inter"/>
              </a:rPr>
              <a:t>One integrated AMS team —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8637977-9C98-501F-1EAE-B376020457A1}"/>
              </a:ext>
            </a:extLst>
          </p:cNvPr>
          <p:cNvGrpSpPr/>
          <p:nvPr/>
        </p:nvGrpSpPr>
        <p:grpSpPr>
          <a:xfrm>
            <a:off x="3566890" y="2679192"/>
            <a:ext cx="4989423" cy="1115568"/>
            <a:chOff x="877824" y="2286000"/>
            <a:chExt cx="4989423" cy="1115568"/>
          </a:xfrm>
        </p:grpSpPr>
        <p:sp>
          <p:nvSpPr>
            <p:cNvPr id="5" name="Rectangle 4"/>
            <p:cNvSpPr/>
            <p:nvPr/>
          </p:nvSpPr>
          <p:spPr>
            <a:xfrm>
              <a:off x="877824" y="2286000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33856" y="2468880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Client Partner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33856" y="2852928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Strategic relationship &amp; sponsorship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18E2A6-043C-A0B7-9EFC-90A24DAF5DA2}"/>
              </a:ext>
            </a:extLst>
          </p:cNvPr>
          <p:cNvGrpSpPr/>
          <p:nvPr/>
        </p:nvGrpSpPr>
        <p:grpSpPr>
          <a:xfrm>
            <a:off x="3566889" y="3818927"/>
            <a:ext cx="4989423" cy="1115568"/>
            <a:chOff x="6324447" y="2351315"/>
            <a:chExt cx="4989423" cy="1115568"/>
          </a:xfrm>
        </p:grpSpPr>
        <p:sp>
          <p:nvSpPr>
            <p:cNvPr id="8" name="Rectangle 7"/>
            <p:cNvSpPr/>
            <p:nvPr/>
          </p:nvSpPr>
          <p:spPr>
            <a:xfrm>
              <a:off x="6324447" y="2351315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0479" y="2534195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Service Delivery Lead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0479" y="2918243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Day-to-day AMS operations &amp; SLAs</a:t>
              </a:r>
            </a:p>
          </p:txBody>
        </p:sp>
      </p:grpSp>
      <p:cxnSp>
        <p:nvCxnSpPr>
          <p:cNvPr id="11" name="Connector 10"/>
          <p:cNvCxnSpPr/>
          <p:nvPr/>
        </p:nvCxnSpPr>
        <p:spPr>
          <a:xfrm>
            <a:off x="3374866" y="4991315"/>
            <a:ext cx="0" cy="32004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</p:cNvCxnSpPr>
          <p:nvPr/>
        </p:nvCxnSpPr>
        <p:spPr>
          <a:xfrm>
            <a:off x="8821490" y="4991315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7477" y="4991315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80155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6187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187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6778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2810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810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305A14-AEBE-8779-B93F-7B2941E5C937}"/>
              </a:ext>
            </a:extLst>
          </p:cNvPr>
          <p:cNvGrpSpPr/>
          <p:nvPr/>
        </p:nvGrpSpPr>
        <p:grpSpPr>
          <a:xfrm>
            <a:off x="3566889" y="1708620"/>
            <a:ext cx="4989422" cy="815123"/>
            <a:chOff x="877824" y="5845628"/>
            <a:chExt cx="4989423" cy="815123"/>
          </a:xfrm>
        </p:grpSpPr>
        <p:sp>
          <p:nvSpPr>
            <p:cNvPr id="21" name="Rectangle 20"/>
            <p:cNvSpPr/>
            <p:nvPr/>
          </p:nvSpPr>
          <p:spPr>
            <a:xfrm>
              <a:off x="877824" y="5845628"/>
              <a:ext cx="4989423" cy="815123"/>
            </a:xfrm>
            <a:prstGeom prst="rect">
              <a:avLst/>
            </a:prstGeom>
            <a:solidFill>
              <a:srgbClr val="EA493F"/>
            </a:solidFill>
            <a:ln>
              <a:solid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133856" y="5925312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  <a:t>THOUGHT LEADERSHIP</a:t>
              </a:r>
              <a:b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</a:b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33856" y="6110803"/>
              <a:ext cx="4532223" cy="44871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br>
                <a:rPr lang="en-AU" sz="1050" b="1" i="0" spc="0" dirty="0">
                  <a:solidFill>
                    <a:srgbClr val="FFFFFF"/>
                  </a:solidFill>
                  <a:latin typeface="Inter"/>
                </a:rPr>
              </a:br>
              <a:r>
                <a:rPr lang="en-AU" sz="1050" b="1" i="0" spc="0" dirty="0">
                  <a:solidFill>
                    <a:srgbClr val="FFFFFF"/>
                  </a:solidFill>
                  <a:latin typeface="Inter"/>
                </a:rPr>
                <a:t>Strategic advisory · direct CEO access for escalation &amp; sponsorship.</a:t>
              </a:r>
            </a:p>
          </p:txBody>
        </p:sp>
      </p:grp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>
                <a:solidFill>
                  <a:srgbClr val="111111"/>
                </a:solidFill>
                <a:latin typeface="Inter"/>
              </a:rPr>
              <a:t>A partner, </a:t>
            </a:r>
            <a:r>
              <a:rPr lang="en-AU" sz="3400" b="1" i="0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 dirty="0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 dirty="0">
                <a:solidFill>
                  <a:srgbClr val="111111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 dirty="0">
                <a:solidFill>
                  <a:srgbClr val="323232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111111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323232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111111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323232"/>
                </a:solidFill>
                <a:latin typeface="Inter"/>
              </a:rPr>
              <a:t>From go-live into managed services — we grow with you.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400" b="1" i="0" spc="-110">
                <a:solidFill>
                  <a:srgbClr val="111111"/>
                </a:solidFill>
                <a:latin typeface="Inter"/>
              </a:rPr>
              <a:t>Let's build something </a:t>
            </a:r>
            <a:r>
              <a:rPr lang="en-AU" sz="4400" b="1" i="0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323232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0" i="0" spc="25">
                <a:solidFill>
                  <a:srgbClr val="323232"/>
                </a:solidFill>
                <a:latin typeface="Inter"/>
              </a:rPr>
              <a:t>Sydney · Melbourne · AU &amp; India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992</Words>
  <Application>Microsoft Macintosh PowerPoint</Application>
  <PresentationFormat>Widescreen</PresentationFormat>
  <Paragraphs>186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Zrno</cp:lastModifiedBy>
  <cp:revision>4</cp:revision>
  <dcterms:created xsi:type="dcterms:W3CDTF">2013-01-27T09:14:16Z</dcterms:created>
  <dcterms:modified xsi:type="dcterms:W3CDTF">2026-06-07T05:34:34Z</dcterms:modified>
  <cp:category/>
</cp:coreProperties>
</file>